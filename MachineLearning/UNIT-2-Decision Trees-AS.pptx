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61" r:id="rId3"/>
    <p:sldId id="285" r:id="rId4"/>
    <p:sldId id="284" r:id="rId5"/>
    <p:sldId id="295" r:id="rId6"/>
    <p:sldId id="286" r:id="rId7"/>
    <p:sldId id="293" r:id="rId8"/>
    <p:sldId id="294" r:id="rId9"/>
    <p:sldId id="287" r:id="rId10"/>
    <p:sldId id="288" r:id="rId11"/>
    <p:sldId id="304" r:id="rId12"/>
    <p:sldId id="305" r:id="rId13"/>
    <p:sldId id="306" r:id="rId14"/>
    <p:sldId id="302" r:id="rId15"/>
    <p:sldId id="289" r:id="rId16"/>
    <p:sldId id="291" r:id="rId17"/>
    <p:sldId id="283" r:id="rId18"/>
    <p:sldId id="267" r:id="rId19"/>
    <p:sldId id="262" r:id="rId20"/>
    <p:sldId id="296" r:id="rId21"/>
    <p:sldId id="270" r:id="rId22"/>
    <p:sldId id="264" r:id="rId23"/>
    <p:sldId id="301" r:id="rId24"/>
    <p:sldId id="297" r:id="rId25"/>
    <p:sldId id="298" r:id="rId26"/>
    <p:sldId id="299" r:id="rId27"/>
    <p:sldId id="300" r:id="rId28"/>
    <p:sldId id="310" r:id="rId29"/>
    <p:sldId id="324" r:id="rId30"/>
    <p:sldId id="325" r:id="rId31"/>
    <p:sldId id="326" r:id="rId32"/>
    <p:sldId id="327" r:id="rId33"/>
    <p:sldId id="312" r:id="rId34"/>
    <p:sldId id="313" r:id="rId35"/>
    <p:sldId id="314" r:id="rId36"/>
    <p:sldId id="315" r:id="rId37"/>
    <p:sldId id="316" r:id="rId38"/>
    <p:sldId id="317" r:id="rId39"/>
    <p:sldId id="318" r:id="rId40"/>
    <p:sldId id="319" r:id="rId41"/>
    <p:sldId id="320" r:id="rId42"/>
    <p:sldId id="321" r:id="rId43"/>
    <p:sldId id="309" r:id="rId44"/>
    <p:sldId id="323" r:id="rId45"/>
    <p:sldId id="265" r:id="rId46"/>
    <p:sldId id="282" r:id="rId47"/>
    <p:sldId id="308" r:id="rId48"/>
    <p:sldId id="307"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07" autoAdjust="0"/>
  </p:normalViewPr>
  <p:slideViewPr>
    <p:cSldViewPr>
      <p:cViewPr varScale="1">
        <p:scale>
          <a:sx n="59" d="100"/>
          <a:sy n="59" d="100"/>
        </p:scale>
        <p:origin x="1480" y="2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5" Type="http://schemas.openxmlformats.org/officeDocument/2006/relationships/image" Target="../media/image18.wmf"/><Relationship Id="rId4"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4"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2C41A6-9C6A-4708-B26E-A1405A6FB647}" type="datetimeFigureOut">
              <a:rPr lang="en-US" smtClean="0"/>
              <a:pPr/>
              <a:t>9/2/2025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0D67F8-7B86-49B2-A51D-A1D13FFBB81F}" type="slidenum">
              <a:rPr lang="en-US" smtClean="0"/>
              <a:pPr/>
              <a:t>‹#›</a:t>
            </a:fld>
            <a:endParaRPr lang="en-US"/>
          </a:p>
        </p:txBody>
      </p:sp>
    </p:spTree>
    <p:extLst>
      <p:ext uri="{BB962C8B-B14F-4D97-AF65-F5344CB8AC3E}">
        <p14:creationId xmlns:p14="http://schemas.microsoft.com/office/powerpoint/2010/main" val="4031650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dataset contains details of all the customers who had previously visited the portal.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We want to predict whether a new customer would buy a mobile or not, given various other features. Since the target value is a discrete 'Yes' or 'No', it is a classification problem.</a:t>
            </a:r>
            <a:endParaRPr lang="en-US" sz="1200" dirty="0" smtClean="0"/>
          </a:p>
          <a:p>
            <a:endParaRPr lang="en-IN" dirty="0"/>
          </a:p>
        </p:txBody>
      </p:sp>
      <p:sp>
        <p:nvSpPr>
          <p:cNvPr id="4" name="Slide Number Placeholder 3"/>
          <p:cNvSpPr>
            <a:spLocks noGrp="1"/>
          </p:cNvSpPr>
          <p:nvPr>
            <p:ph type="sldNum" sz="quarter" idx="10"/>
          </p:nvPr>
        </p:nvSpPr>
        <p:spPr/>
        <p:txBody>
          <a:bodyPr/>
          <a:lstStyle/>
          <a:p>
            <a:fld id="{4C0D67F8-7B86-49B2-A51D-A1D13FFBB81F}" type="slidenum">
              <a:rPr lang="en-US" smtClean="0"/>
              <a:pPr/>
              <a:t>3</a:t>
            </a:fld>
            <a:endParaRPr lang="en-US"/>
          </a:p>
        </p:txBody>
      </p:sp>
    </p:spTree>
    <p:extLst>
      <p:ext uri="{BB962C8B-B14F-4D97-AF65-F5344CB8AC3E}">
        <p14:creationId xmlns:p14="http://schemas.microsoft.com/office/powerpoint/2010/main" val="4042776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above diagram looks like an inverted tree. Also, since a decision is taken on how to split the data at each node of the tree, this algorithm is called a Decision Tree.</a:t>
            </a:r>
            <a:endParaRPr lang="en-IN" dirty="0"/>
          </a:p>
        </p:txBody>
      </p:sp>
      <p:sp>
        <p:nvSpPr>
          <p:cNvPr id="4" name="Slide Number Placeholder 3"/>
          <p:cNvSpPr>
            <a:spLocks noGrp="1"/>
          </p:cNvSpPr>
          <p:nvPr>
            <p:ph type="sldNum" sz="quarter" idx="10"/>
          </p:nvPr>
        </p:nvSpPr>
        <p:spPr/>
        <p:txBody>
          <a:bodyPr/>
          <a:lstStyle/>
          <a:p>
            <a:fld id="{4C0D67F8-7B86-49B2-A51D-A1D13FFBB81F}" type="slidenum">
              <a:rPr lang="en-US" smtClean="0"/>
              <a:pPr/>
              <a:t>10</a:t>
            </a:fld>
            <a:endParaRPr lang="en-US"/>
          </a:p>
        </p:txBody>
      </p:sp>
    </p:spTree>
    <p:extLst>
      <p:ext uri="{BB962C8B-B14F-4D97-AF65-F5344CB8AC3E}">
        <p14:creationId xmlns:p14="http://schemas.microsoft.com/office/powerpoint/2010/main" val="2197413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above diagram looks like an inverted tree. Also, since a decision is taken on how to split the data at each node of the tree, this algorithm is called a Decision Tree.</a:t>
            </a:r>
            <a:endParaRPr lang="en-IN" dirty="0"/>
          </a:p>
        </p:txBody>
      </p:sp>
      <p:sp>
        <p:nvSpPr>
          <p:cNvPr id="4" name="Slide Number Placeholder 3"/>
          <p:cNvSpPr>
            <a:spLocks noGrp="1"/>
          </p:cNvSpPr>
          <p:nvPr>
            <p:ph type="sldNum" sz="quarter" idx="10"/>
          </p:nvPr>
        </p:nvSpPr>
        <p:spPr/>
        <p:txBody>
          <a:bodyPr/>
          <a:lstStyle/>
          <a:p>
            <a:fld id="{4C0D67F8-7B86-49B2-A51D-A1D13FFBB81F}" type="slidenum">
              <a:rPr lang="en-US" smtClean="0"/>
              <a:pPr/>
              <a:t>14</a:t>
            </a:fld>
            <a:endParaRPr lang="en-US"/>
          </a:p>
        </p:txBody>
      </p:sp>
    </p:spTree>
    <p:extLst>
      <p:ext uri="{BB962C8B-B14F-4D97-AF65-F5344CB8AC3E}">
        <p14:creationId xmlns:p14="http://schemas.microsoft.com/office/powerpoint/2010/main" val="1726762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 takes three parameters:</a:t>
            </a:r>
          </a:p>
          <a:p>
            <a:r>
              <a:rPr lang="en-US" dirty="0" smtClean="0"/>
              <a:t>Instances – the set of instances or samples, for which, class labels are already known.</a:t>
            </a:r>
          </a:p>
          <a:p>
            <a:r>
              <a:rPr lang="en-US" dirty="0" err="1" smtClean="0"/>
              <a:t>Target_Attribute</a:t>
            </a:r>
            <a:r>
              <a:rPr lang="en-US" dirty="0" smtClean="0"/>
              <a:t> – the class label attribute.</a:t>
            </a:r>
          </a:p>
          <a:p>
            <a:r>
              <a:rPr lang="en-US" dirty="0" err="1" smtClean="0"/>
              <a:t>Attributes_List</a:t>
            </a:r>
            <a:r>
              <a:rPr lang="en-US" dirty="0" smtClean="0"/>
              <a:t> – the list of predictor attributes.</a:t>
            </a:r>
          </a:p>
          <a:p>
            <a:endParaRPr lang="en-IN" dirty="0"/>
          </a:p>
        </p:txBody>
      </p:sp>
      <p:sp>
        <p:nvSpPr>
          <p:cNvPr id="4" name="Slide Number Placeholder 3"/>
          <p:cNvSpPr>
            <a:spLocks noGrp="1"/>
          </p:cNvSpPr>
          <p:nvPr>
            <p:ph type="sldNum" sz="quarter" idx="10"/>
          </p:nvPr>
        </p:nvSpPr>
        <p:spPr/>
        <p:txBody>
          <a:bodyPr/>
          <a:lstStyle/>
          <a:p>
            <a:fld id="{4C0D67F8-7B86-49B2-A51D-A1D13FFBB81F}" type="slidenum">
              <a:rPr lang="en-US" smtClean="0"/>
              <a:pPr/>
              <a:t>16</a:t>
            </a:fld>
            <a:endParaRPr lang="en-US"/>
          </a:p>
        </p:txBody>
      </p:sp>
    </p:spTree>
    <p:extLst>
      <p:ext uri="{BB962C8B-B14F-4D97-AF65-F5344CB8AC3E}">
        <p14:creationId xmlns:p14="http://schemas.microsoft.com/office/powerpoint/2010/main" val="2387114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 typeface="Wingdings" panose="05000000000000000000" pitchFamily="2" charset="2"/>
              <a:buChar char="Ø"/>
            </a:pPr>
            <a:r>
              <a:rPr lang="en-US" sz="1200" dirty="0" smtClean="0">
                <a:latin typeface="Times New Roman" panose="02020603050405020304" pitchFamily="18" charset="0"/>
                <a:cs typeface="Times New Roman" panose="02020603050405020304" pitchFamily="18" charset="0"/>
              </a:rPr>
              <a:t>Attribute selection measures compare different predictor attributes and rank them for the purpose of model building. These measures convey information about the relevance of a predictor when compared to other predictors. </a:t>
            </a:r>
          </a:p>
          <a:p>
            <a:pPr marL="171450" indent="-171450" algn="just">
              <a:buFont typeface="Wingdings" panose="05000000000000000000" pitchFamily="2" charset="2"/>
              <a:buChar char="Ø"/>
            </a:pPr>
            <a:r>
              <a:rPr lang="en-US" sz="1200" dirty="0" smtClean="0">
                <a:latin typeface="Times New Roman" panose="02020603050405020304" pitchFamily="18" charset="0"/>
                <a:cs typeface="Times New Roman" panose="02020603050405020304" pitchFamily="18" charset="0"/>
              </a:rPr>
              <a:t>Decision tree algorithms makes use of the ranked list given by the attribute selection measures and then selects the best attribute to split the dataset</a:t>
            </a:r>
            <a:endParaRPr lang="en-IN" dirty="0"/>
          </a:p>
        </p:txBody>
      </p:sp>
      <p:sp>
        <p:nvSpPr>
          <p:cNvPr id="4" name="Slide Number Placeholder 3"/>
          <p:cNvSpPr>
            <a:spLocks noGrp="1"/>
          </p:cNvSpPr>
          <p:nvPr>
            <p:ph type="sldNum" sz="quarter" idx="10"/>
          </p:nvPr>
        </p:nvSpPr>
        <p:spPr/>
        <p:txBody>
          <a:bodyPr/>
          <a:lstStyle/>
          <a:p>
            <a:fld id="{4C0D67F8-7B86-49B2-A51D-A1D13FFBB81F}" type="slidenum">
              <a:rPr lang="en-US" smtClean="0"/>
              <a:pPr/>
              <a:t>17</a:t>
            </a:fld>
            <a:endParaRPr lang="en-US"/>
          </a:p>
        </p:txBody>
      </p:sp>
    </p:spTree>
    <p:extLst>
      <p:ext uri="{BB962C8B-B14F-4D97-AF65-F5344CB8AC3E}">
        <p14:creationId xmlns:p14="http://schemas.microsoft.com/office/powerpoint/2010/main" val="4291200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p:cNvSpPr>
            <a:spLocks noGrp="1" noChangeArrowheads="1"/>
          </p:cNvSpPr>
          <p:nvPr>
            <p:ph type="sldNum" sz="quarter"/>
          </p:nvPr>
        </p:nvSpPr>
        <p:spPr>
          <a:noFill/>
        </p:spPr>
        <p:txBody>
          <a:bodyPr/>
          <a:lstStyle/>
          <a:p>
            <a:pPr>
              <a:buFont typeface="Times New Roman" pitchFamily="18" charset="0"/>
              <a:buNone/>
            </a:pPr>
            <a:fld id="{0052D204-0D12-4DCF-B008-0C0620C6BD57}" type="slidenum">
              <a:rPr lang="en-US" smtClean="0">
                <a:latin typeface="Times New Roman" pitchFamily="18" charset="0"/>
              </a:rPr>
              <a:pPr>
                <a:buFont typeface="Times New Roman" pitchFamily="18" charset="0"/>
                <a:buNone/>
              </a:pPr>
              <a:t>19</a:t>
            </a:fld>
            <a:endParaRPr lang="en-US" smtClean="0">
              <a:latin typeface="Times New Roman" pitchFamily="18" charset="0"/>
            </a:endParaRPr>
          </a:p>
        </p:txBody>
      </p:sp>
      <p:sp>
        <p:nvSpPr>
          <p:cNvPr id="49155"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9156" name="Rectangle 2"/>
          <p:cNvSpPr>
            <a:spLocks noGrp="1" noChangeArrowheads="1"/>
          </p:cNvSpPr>
          <p:nvPr>
            <p:ph type="body"/>
          </p:nvPr>
        </p:nvSpPr>
        <p:spPr>
          <a:xfrm>
            <a:off x="914400" y="4343400"/>
            <a:ext cx="5029200" cy="4208463"/>
          </a:xfrm>
          <a:noFill/>
          <a:ln/>
        </p:spPr>
        <p:txBody>
          <a:bodyPr wrap="none"/>
          <a:lstStyle/>
          <a:p>
            <a:endParaRPr lang="en-US" smtClean="0">
              <a:latin typeface="Times New Roman" pitchFamily="18" charset="0"/>
            </a:endParaRPr>
          </a:p>
        </p:txBody>
      </p:sp>
    </p:spTree>
    <p:extLst>
      <p:ext uri="{BB962C8B-B14F-4D97-AF65-F5344CB8AC3E}">
        <p14:creationId xmlns:p14="http://schemas.microsoft.com/office/powerpoint/2010/main" val="1899305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Expected reduction in entropy caused by partitioning the collection according to an attribute.</a:t>
            </a:r>
            <a:endParaRPr lang="en-US" dirty="0"/>
          </a:p>
        </p:txBody>
      </p:sp>
      <p:sp>
        <p:nvSpPr>
          <p:cNvPr id="4" name="Slide Number Placeholder 3"/>
          <p:cNvSpPr>
            <a:spLocks noGrp="1"/>
          </p:cNvSpPr>
          <p:nvPr>
            <p:ph type="sldNum" sz="quarter" idx="10"/>
          </p:nvPr>
        </p:nvSpPr>
        <p:spPr/>
        <p:txBody>
          <a:bodyPr/>
          <a:lstStyle/>
          <a:p>
            <a:fld id="{4C0D67F8-7B86-49B2-A51D-A1D13FFBB81F}" type="slidenum">
              <a:rPr lang="en-US" smtClean="0"/>
              <a:pPr/>
              <a:t>21</a:t>
            </a:fld>
            <a:endParaRPr lang="en-US"/>
          </a:p>
        </p:txBody>
      </p:sp>
    </p:spTree>
    <p:extLst>
      <p:ext uri="{BB962C8B-B14F-4D97-AF65-F5344CB8AC3E}">
        <p14:creationId xmlns:p14="http://schemas.microsoft.com/office/powerpoint/2010/main" val="1755819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7"/>
          <p:cNvSpPr>
            <a:spLocks noGrp="1" noChangeArrowheads="1"/>
          </p:cNvSpPr>
          <p:nvPr>
            <p:ph type="sldNum" sz="quarter"/>
          </p:nvPr>
        </p:nvSpPr>
        <p:spPr>
          <a:noFill/>
        </p:spPr>
        <p:txBody>
          <a:bodyPr/>
          <a:lstStyle/>
          <a:p>
            <a:pPr>
              <a:buFont typeface="Times New Roman" pitchFamily="18" charset="0"/>
              <a:buNone/>
            </a:pPr>
            <a:fld id="{2691D475-CF95-4121-B39D-3F844AA5CF94}" type="slidenum">
              <a:rPr lang="en-US" smtClean="0">
                <a:latin typeface="Times New Roman" pitchFamily="18" charset="0"/>
              </a:rPr>
              <a:pPr>
                <a:buFont typeface="Times New Roman" pitchFamily="18" charset="0"/>
                <a:buNone/>
              </a:pPr>
              <a:t>22</a:t>
            </a:fld>
            <a:endParaRPr lang="en-US" smtClean="0">
              <a:latin typeface="Times New Roman" pitchFamily="18" charset="0"/>
            </a:endParaRPr>
          </a:p>
        </p:txBody>
      </p:sp>
      <p:sp>
        <p:nvSpPr>
          <p:cNvPr id="51203"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1204" name="Rectangle 2"/>
          <p:cNvSpPr>
            <a:spLocks noGrp="1" noChangeArrowheads="1"/>
          </p:cNvSpPr>
          <p:nvPr>
            <p:ph type="body"/>
          </p:nvPr>
        </p:nvSpPr>
        <p:spPr>
          <a:xfrm>
            <a:off x="914400" y="4343400"/>
            <a:ext cx="5029200" cy="4208463"/>
          </a:xfrm>
          <a:noFill/>
          <a:ln/>
        </p:spPr>
        <p:txBody>
          <a:bodyPr wrap="none"/>
          <a:lstStyle/>
          <a:p>
            <a:endParaRPr lang="en-US" dirty="0" smtClean="0">
              <a:latin typeface="Times New Roman" pitchFamily="18" charset="0"/>
            </a:endParaRPr>
          </a:p>
        </p:txBody>
      </p:sp>
    </p:spTree>
    <p:extLst>
      <p:ext uri="{BB962C8B-B14F-4D97-AF65-F5344CB8AC3E}">
        <p14:creationId xmlns:p14="http://schemas.microsoft.com/office/powerpoint/2010/main" val="3551039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5059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428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9274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6692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03375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1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7531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8234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9216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22919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57ccb72c3e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157ccb72c3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926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7"/>
          <p:cNvSpPr>
            <a:spLocks noGrp="1" noChangeArrowheads="1"/>
          </p:cNvSpPr>
          <p:nvPr>
            <p:ph type="sldNum" sz="quarter"/>
          </p:nvPr>
        </p:nvSpPr>
        <p:spPr>
          <a:noFill/>
        </p:spPr>
        <p:txBody>
          <a:bodyPr/>
          <a:lstStyle/>
          <a:p>
            <a:fld id="{3A1F5EBA-F936-4AFC-B146-5C4549A37559}" type="slidenum">
              <a:rPr lang="en-US" smtClean="0"/>
              <a:pPr/>
              <a:t>47</a:t>
            </a:fld>
            <a:endParaRPr lang="en-US" smtClean="0"/>
          </a:p>
        </p:txBody>
      </p:sp>
      <p:sp>
        <p:nvSpPr>
          <p:cNvPr id="60419"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60420" name="Rectangle 2"/>
          <p:cNvSpPr>
            <a:spLocks noGrp="1" noChangeArrowheads="1"/>
          </p:cNvSpPr>
          <p:nvPr>
            <p:ph type="body"/>
          </p:nvPr>
        </p:nvSpPr>
        <p:spPr>
          <a:xfrm>
            <a:off x="914400" y="4343400"/>
            <a:ext cx="5029200" cy="4208463"/>
          </a:xfrm>
          <a:noFill/>
          <a:ln/>
        </p:spPr>
        <p:txBody>
          <a:bodyPr wrap="none"/>
          <a:lstStyle/>
          <a:p>
            <a:endParaRPr lang="en-US" dirty="0" smtClean="0"/>
          </a:p>
        </p:txBody>
      </p:sp>
    </p:spTree>
    <p:extLst>
      <p:ext uri="{BB962C8B-B14F-4D97-AF65-F5344CB8AC3E}">
        <p14:creationId xmlns:p14="http://schemas.microsoft.com/office/powerpoint/2010/main" val="4703741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7"/>
          <p:cNvSpPr>
            <a:spLocks noGrp="1" noChangeArrowheads="1"/>
          </p:cNvSpPr>
          <p:nvPr>
            <p:ph type="sldNum" sz="quarter"/>
          </p:nvPr>
        </p:nvSpPr>
        <p:spPr>
          <a:noFill/>
        </p:spPr>
        <p:txBody>
          <a:bodyPr/>
          <a:lstStyle/>
          <a:p>
            <a:fld id="{096F38AC-E33A-477D-8670-5F2A3D80A421}" type="slidenum">
              <a:rPr lang="en-US" smtClean="0"/>
              <a:pPr/>
              <a:t>48</a:t>
            </a:fld>
            <a:endParaRPr lang="en-US" smtClean="0"/>
          </a:p>
        </p:txBody>
      </p:sp>
      <p:sp>
        <p:nvSpPr>
          <p:cNvPr id="61443"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61444" name="Rectangle 2"/>
          <p:cNvSpPr>
            <a:spLocks noGrp="1" noChangeArrowheads="1"/>
          </p:cNvSpPr>
          <p:nvPr>
            <p:ph type="body"/>
          </p:nvPr>
        </p:nvSpPr>
        <p:spPr>
          <a:xfrm>
            <a:off x="914400" y="4343400"/>
            <a:ext cx="5029200" cy="4208463"/>
          </a:xfrm>
          <a:noFill/>
          <a:ln/>
        </p:spPr>
        <p:txBody>
          <a:bodyPr wrap="none"/>
          <a:lstStyle/>
          <a:p>
            <a:endParaRPr lang="en-US" smtClean="0"/>
          </a:p>
        </p:txBody>
      </p:sp>
    </p:spTree>
    <p:extLst>
      <p:ext uri="{BB962C8B-B14F-4D97-AF65-F5344CB8AC3E}">
        <p14:creationId xmlns:p14="http://schemas.microsoft.com/office/powerpoint/2010/main" val="29016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B28266-621B-4E6C-B384-6411A00B5EC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8229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7200" y="3941763"/>
            <a:ext cx="8229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6553200" y="6248400"/>
            <a:ext cx="2133600" cy="457200"/>
          </a:xfrm>
          <a:prstGeom prst="rect">
            <a:avLst/>
          </a:prstGeom>
        </p:spPr>
        <p:txBody>
          <a:bodyPr/>
          <a:lstStyle>
            <a:lvl1pPr>
              <a:defRPr/>
            </a:lvl1pPr>
          </a:lstStyle>
          <a:p>
            <a:pPr>
              <a:defRPr/>
            </a:pPr>
            <a:fld id="{10A740CD-B69B-40DD-B352-CCA53735B5E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B28266-621B-4E6C-B384-6411A00B5EC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sefiks.com/2017/11/20/a-step-by-step-id3-decision-tree-example/"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hyperlink" Target="https://sefiks.com/2018/05/13/a-step-by-step-c4-5-decision-tree-example/"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2.bin"/><Relationship Id="rId7" Type="http://schemas.openxmlformats.org/officeDocument/2006/relationships/oleObject" Target="../embeddings/Microsoft_Word_97_-_2003_Document2.doc"/><Relationship Id="rId12"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5.wmf"/><Relationship Id="rId11" Type="http://schemas.openxmlformats.org/officeDocument/2006/relationships/oleObject" Target="../embeddings/Microsoft_Word_97_-_2003_Document4.doc"/><Relationship Id="rId5" Type="http://schemas.openxmlformats.org/officeDocument/2006/relationships/oleObject" Target="../embeddings/Microsoft_Word_97_-_2003_Document1.doc"/><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Microsoft_Word_97_-_2003_Document3.doc"/></Relationships>
</file>

<file path=ppt/slides/_rels/slide30.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Microsoft_Word_97_-_2003_Document5.doc"/><Relationship Id="rId7" Type="http://schemas.openxmlformats.org/officeDocument/2006/relationships/oleObject" Target="../embeddings/Microsoft_Word_97_-_2003_Document7.doc"/><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20.wmf"/><Relationship Id="rId5" Type="http://schemas.openxmlformats.org/officeDocument/2006/relationships/oleObject" Target="../embeddings/Microsoft_Word_97_-_2003_Document6.doc"/><Relationship Id="rId10" Type="http://schemas.openxmlformats.org/officeDocument/2006/relationships/image" Target="../media/image14.wmf"/><Relationship Id="rId4" Type="http://schemas.openxmlformats.org/officeDocument/2006/relationships/image" Target="../media/image19.wmf"/><Relationship Id="rId9"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22.wmf"/></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000" b="1" dirty="0"/>
              <a:t>Classification using Decision Trees</a:t>
            </a:r>
          </a:p>
        </p:txBody>
      </p:sp>
      <p:sp>
        <p:nvSpPr>
          <p:cNvPr id="3" name="Subtitle 2"/>
          <p:cNvSpPr>
            <a:spLocks noGrp="1"/>
          </p:cNvSpPr>
          <p:nvPr>
            <p:ph type="subTitle" idx="1"/>
          </p:nvPr>
        </p:nvSpPr>
        <p:spPr/>
        <p:txBody>
          <a:bodyPr/>
          <a:lstStyle/>
          <a:p>
            <a:r>
              <a:rPr lang="en-US" dirty="0" smtClean="0"/>
              <a:t>BY </a:t>
            </a:r>
          </a:p>
          <a:p>
            <a:r>
              <a:rPr lang="en-US" dirty="0"/>
              <a:t>A</a:t>
            </a:r>
            <a:r>
              <a:rPr lang="en-US" dirty="0" smtClean="0"/>
              <a:t>.SIRISHA</a:t>
            </a:r>
            <a:endParaRPr lang="en-US" dirty="0"/>
          </a:p>
        </p:txBody>
      </p:sp>
      <p:sp>
        <p:nvSpPr>
          <p:cNvPr id="4" name="Slide Number Placeholder 3"/>
          <p:cNvSpPr>
            <a:spLocks noGrp="1"/>
          </p:cNvSpPr>
          <p:nvPr>
            <p:ph type="sldNum" sz="quarter" idx="12"/>
          </p:nvPr>
        </p:nvSpPr>
        <p:spPr/>
        <p:txBody>
          <a:bodyPr/>
          <a:lstStyle/>
          <a:p>
            <a:fld id="{4EB28266-621B-4E6C-B384-6411A00B5EC3}"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smtClean="0"/>
              <a:t>Illustrating Classification Task</a:t>
            </a:r>
          </a:p>
        </p:txBody>
      </p:sp>
      <p:graphicFrame>
        <p:nvGraphicFramePr>
          <p:cNvPr id="1026" name="Object 3"/>
          <p:cNvGraphicFramePr>
            <a:graphicFrameLocks noGrp="1" noChangeAspect="1"/>
          </p:cNvGraphicFramePr>
          <p:nvPr>
            <p:ph idx="1"/>
            <p:extLst>
              <p:ext uri="{D42A27DB-BD31-4B8C-83A1-F6EECF244321}">
                <p14:modId xmlns:p14="http://schemas.microsoft.com/office/powerpoint/2010/main" val="3113207547"/>
              </p:ext>
            </p:extLst>
          </p:nvPr>
        </p:nvGraphicFramePr>
        <p:xfrm>
          <a:off x="1132681" y="1706587"/>
          <a:ext cx="6878637" cy="4530725"/>
        </p:xfrm>
        <a:graphic>
          <a:graphicData uri="http://schemas.openxmlformats.org/presentationml/2006/ole">
            <mc:AlternateContent xmlns:mc="http://schemas.openxmlformats.org/markup-compatibility/2006">
              <mc:Choice xmlns:v="urn:schemas-microsoft-com:vml" Requires="v">
                <p:oleObj spid="_x0000_s1057" name="Visio" r:id="rId3" imgW="8424875" imgH="6279741" progId="">
                  <p:embed/>
                </p:oleObj>
              </mc:Choice>
              <mc:Fallback>
                <p:oleObj name="Visio" r:id="rId3" imgW="8424875" imgH="6279741"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2681" y="1706587"/>
                        <a:ext cx="6878637"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4EB28266-621B-4E6C-B384-6411A00B5EC3}"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dirty="0" smtClean="0">
                <a:latin typeface="Times New Roman" panose="02020603050405020304" pitchFamily="18" charset="0"/>
                <a:cs typeface="Times New Roman" panose="02020603050405020304" pitchFamily="18" charset="0"/>
              </a:rPr>
              <a:t>Customer </a:t>
            </a:r>
            <a:r>
              <a:rPr lang="en-US" sz="3200" dirty="0">
                <a:latin typeface="Times New Roman" panose="02020603050405020304" pitchFamily="18" charset="0"/>
                <a:cs typeface="Times New Roman" panose="02020603050405020304" pitchFamily="18" charset="0"/>
              </a:rPr>
              <a:t>data set of an online mobile portal</a:t>
            </a:r>
            <a:endParaRPr lang="en-IN" sz="3200" dirty="0">
              <a:latin typeface="Times New Roman" panose="02020603050405020304" pitchFamily="18" charset="0"/>
              <a:cs typeface="Times New Roman" panose="02020603050405020304" pitchFamily="18" charset="0"/>
            </a:endParaRPr>
          </a:p>
        </p:txBody>
      </p:sp>
      <p:pic>
        <p:nvPicPr>
          <p:cNvPr id="4" name="Content Placeholder 3" descr="A table with numbers and words"/>
          <p:cNvPicPr>
            <a:picLocks noGrp="1" noChangeAspect="1"/>
          </p:cNvPicPr>
          <p:nvPr>
            <p:ph idx="1"/>
          </p:nvPr>
        </p:nvPicPr>
        <p:blipFill>
          <a:blip r:embed="rId3"/>
          <a:stretch>
            <a:fillRect/>
          </a:stretch>
        </p:blipFill>
        <p:spPr>
          <a:xfrm>
            <a:off x="1254396" y="875853"/>
            <a:ext cx="6375113" cy="5289451"/>
          </a:xfrm>
          <a:prstGeom prst="rect">
            <a:avLst/>
          </a:prstGeom>
        </p:spPr>
      </p:pic>
      <p:sp>
        <p:nvSpPr>
          <p:cNvPr id="5" name="Slide Number Placeholder 4"/>
          <p:cNvSpPr>
            <a:spLocks noGrp="1"/>
          </p:cNvSpPr>
          <p:nvPr>
            <p:ph type="sldNum" sz="quarter" idx="12"/>
          </p:nvPr>
        </p:nvSpPr>
        <p:spPr/>
        <p:txBody>
          <a:bodyPr/>
          <a:lstStyle/>
          <a:p>
            <a:fld id="{4EB28266-621B-4E6C-B384-6411A00B5EC3}" type="slidenum">
              <a:rPr lang="en-US" smtClean="0"/>
              <a:pPr/>
              <a:t>3</a:t>
            </a:fld>
            <a:endParaRPr lang="en-US"/>
          </a:p>
        </p:txBody>
      </p:sp>
      <p:sp>
        <p:nvSpPr>
          <p:cNvPr id="6" name="TextBox 5"/>
          <p:cNvSpPr txBox="1"/>
          <p:nvPr/>
        </p:nvSpPr>
        <p:spPr>
          <a:xfrm>
            <a:off x="251520" y="6330169"/>
            <a:ext cx="8208912" cy="646331"/>
          </a:xfrm>
          <a:prstGeom prst="rect">
            <a:avLst/>
          </a:prstGeom>
          <a:noFill/>
        </p:spPr>
        <p:txBody>
          <a:bodyPr wrap="square" rtlCol="0">
            <a:spAutoFit/>
          </a:bodyPr>
          <a:lstStyle/>
          <a:p>
            <a:r>
              <a:rPr lang="en-IN" dirty="0" smtClean="0"/>
              <a:t>Total Instances=14, No. of samples(</a:t>
            </a:r>
            <a:r>
              <a:rPr lang="en-IN" dirty="0" err="1" smtClean="0"/>
              <a:t>purchases_mobile</a:t>
            </a:r>
            <a:r>
              <a:rPr lang="en-IN" dirty="0" smtClean="0"/>
              <a:t>=‘yes’)=9.</a:t>
            </a:r>
          </a:p>
          <a:p>
            <a:r>
              <a:rPr lang="en-IN" dirty="0" smtClean="0"/>
              <a:t>		No</a:t>
            </a:r>
            <a:r>
              <a:rPr lang="en-IN" dirty="0"/>
              <a:t>. of </a:t>
            </a:r>
            <a:r>
              <a:rPr lang="en-IN" dirty="0" smtClean="0"/>
              <a:t>samples(</a:t>
            </a:r>
            <a:r>
              <a:rPr lang="en-IN" dirty="0" err="1" smtClean="0"/>
              <a:t>purchases_mobile</a:t>
            </a:r>
            <a:r>
              <a:rPr lang="en-IN" dirty="0" smtClean="0"/>
              <a:t>=‘No’)=5.</a:t>
            </a:r>
            <a:endParaRPr lang="en-IN" dirty="0"/>
          </a:p>
        </p:txBody>
      </p:sp>
    </p:spTree>
    <p:extLst>
      <p:ext uri="{BB962C8B-B14F-4D97-AF65-F5344CB8AC3E}">
        <p14:creationId xmlns:p14="http://schemas.microsoft.com/office/powerpoint/2010/main" val="34565025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Autofit/>
          </a:bodyPr>
          <a:lstStyle/>
          <a:p>
            <a:r>
              <a:rPr lang="en-US" sz="3000" dirty="0" smtClean="0">
                <a:latin typeface="Times New Roman" panose="02020603050405020304" pitchFamily="18" charset="0"/>
                <a:cs typeface="Times New Roman" panose="02020603050405020304" pitchFamily="18" charset="0"/>
              </a:rPr>
              <a:t>Predicting </a:t>
            </a:r>
            <a:r>
              <a:rPr lang="en-US" sz="3000" dirty="0">
                <a:latin typeface="Times New Roman" panose="02020603050405020304" pitchFamily="18" charset="0"/>
                <a:cs typeface="Times New Roman" panose="02020603050405020304" pitchFamily="18" charset="0"/>
              </a:rPr>
              <a:t>whether a new customer would buy a mobile or not</a:t>
            </a:r>
          </a:p>
        </p:txBody>
      </p:sp>
      <p:sp>
        <p:nvSpPr>
          <p:cNvPr id="3" name="Content Placeholder 2"/>
          <p:cNvSpPr>
            <a:spLocks noGrp="1"/>
          </p:cNvSpPr>
          <p:nvPr>
            <p:ph idx="1"/>
          </p:nvPr>
        </p:nvSpPr>
        <p:spPr>
          <a:xfrm>
            <a:off x="457200" y="980728"/>
            <a:ext cx="8229600" cy="5688632"/>
          </a:xfrm>
        </p:spPr>
        <p:txBody>
          <a:bodyPr>
            <a:noAutofit/>
          </a:bodyPr>
          <a:lstStyle/>
          <a:p>
            <a:pPr>
              <a:buFont typeface="Wingdings" panose="05000000000000000000" pitchFamily="2" charset="2"/>
              <a:buChar char="Ø"/>
            </a:pPr>
            <a:r>
              <a:rPr lang="en-US" sz="2100" dirty="0">
                <a:solidFill>
                  <a:srgbClr val="C00000"/>
                </a:solidFill>
                <a:latin typeface="Times New Roman" panose="02020603050405020304" pitchFamily="18" charset="0"/>
                <a:cs typeface="Times New Roman" panose="02020603050405020304" pitchFamily="18" charset="0"/>
              </a:rPr>
              <a:t>What is the probability of a male customer purchasing a mobile?</a:t>
            </a:r>
            <a:r>
              <a:rPr lang="en-US" sz="2100" dirty="0">
                <a:latin typeface="Times New Roman" panose="02020603050405020304" pitchFamily="18" charset="0"/>
                <a:cs typeface="Times New Roman" panose="02020603050405020304" pitchFamily="18" charset="0"/>
              </a:rPr>
              <a:t> </a:t>
            </a:r>
          </a:p>
          <a:p>
            <a:pPr marL="0" indent="0">
              <a:buNone/>
            </a:pPr>
            <a:r>
              <a:rPr lang="en-US" sz="2100" dirty="0">
                <a:latin typeface="Times New Roman" panose="02020603050405020304" pitchFamily="18" charset="0"/>
                <a:cs typeface="Times New Roman" panose="02020603050405020304" pitchFamily="18" charset="0"/>
              </a:rPr>
              <a:t>	</a:t>
            </a:r>
            <a:r>
              <a:rPr lang="en-US" sz="2100" dirty="0" err="1" smtClean="0">
                <a:latin typeface="Times New Roman" panose="02020603050405020304" pitchFamily="18" charset="0"/>
                <a:cs typeface="Times New Roman" panose="02020603050405020304" pitchFamily="18" charset="0"/>
              </a:rPr>
              <a:t>Ans</a:t>
            </a:r>
            <a:r>
              <a:rPr lang="en-US" sz="2100" dirty="0">
                <a:latin typeface="Times New Roman" panose="02020603050405020304" pitchFamily="18" charset="0"/>
                <a:cs typeface="Times New Roman" panose="02020603050405020304" pitchFamily="18" charset="0"/>
              </a:rPr>
              <a:t>: 6/8 = </a:t>
            </a:r>
            <a:r>
              <a:rPr lang="en-US" sz="2100" dirty="0" smtClean="0">
                <a:latin typeface="Times New Roman" panose="02020603050405020304" pitchFamily="18" charset="0"/>
                <a:cs typeface="Times New Roman" panose="02020603050405020304" pitchFamily="18" charset="0"/>
              </a:rPr>
              <a:t>0.75</a:t>
            </a:r>
          </a:p>
          <a:p>
            <a:pPr marL="0" indent="0">
              <a:buNone/>
            </a:pPr>
            <a:endParaRPr lang="en-US" sz="21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100" dirty="0" smtClean="0">
                <a:solidFill>
                  <a:srgbClr val="C00000"/>
                </a:solidFill>
                <a:latin typeface="Times New Roman" panose="02020603050405020304" pitchFamily="18" charset="0"/>
                <a:cs typeface="Times New Roman" panose="02020603050405020304" pitchFamily="18" charset="0"/>
              </a:rPr>
              <a:t>What </a:t>
            </a:r>
            <a:r>
              <a:rPr lang="en-US" sz="2100" dirty="0">
                <a:solidFill>
                  <a:srgbClr val="C00000"/>
                </a:solidFill>
                <a:latin typeface="Times New Roman" panose="02020603050405020304" pitchFamily="18" charset="0"/>
                <a:cs typeface="Times New Roman" panose="02020603050405020304" pitchFamily="18" charset="0"/>
              </a:rPr>
              <a:t>is the probability of a customer with medium budget purchasing a mobile?</a:t>
            </a:r>
          </a:p>
          <a:p>
            <a:pPr marL="0" indent="0">
              <a:buNone/>
            </a:pPr>
            <a:r>
              <a:rPr lang="en-US" sz="2100" dirty="0">
                <a:latin typeface="Times New Roman" panose="02020603050405020304" pitchFamily="18" charset="0"/>
                <a:cs typeface="Times New Roman" panose="02020603050405020304" pitchFamily="18" charset="0"/>
              </a:rPr>
              <a:t>	</a:t>
            </a:r>
            <a:r>
              <a:rPr lang="en-US" sz="2100" dirty="0" err="1" smtClean="0">
                <a:latin typeface="Times New Roman" panose="02020603050405020304" pitchFamily="18" charset="0"/>
                <a:cs typeface="Times New Roman" panose="02020603050405020304" pitchFamily="18" charset="0"/>
              </a:rPr>
              <a:t>Ans</a:t>
            </a:r>
            <a:r>
              <a:rPr lang="en-US" sz="2100" dirty="0">
                <a:latin typeface="Times New Roman" panose="02020603050405020304" pitchFamily="18" charset="0"/>
                <a:cs typeface="Times New Roman" panose="02020603050405020304" pitchFamily="18" charset="0"/>
              </a:rPr>
              <a:t>: 2/4 = </a:t>
            </a:r>
            <a:r>
              <a:rPr lang="en-US" sz="2100" dirty="0" smtClean="0">
                <a:latin typeface="Times New Roman" panose="02020603050405020304" pitchFamily="18" charset="0"/>
                <a:cs typeface="Times New Roman" panose="02020603050405020304" pitchFamily="18" charset="0"/>
              </a:rPr>
              <a:t>0.50</a:t>
            </a:r>
          </a:p>
          <a:p>
            <a:pPr marL="0" indent="0">
              <a:buNone/>
            </a:pPr>
            <a:endParaRPr lang="en-US" sz="21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100" dirty="0" smtClean="0">
                <a:solidFill>
                  <a:srgbClr val="C00000"/>
                </a:solidFill>
                <a:latin typeface="Times New Roman" panose="02020603050405020304" pitchFamily="18" charset="0"/>
                <a:cs typeface="Times New Roman" panose="02020603050405020304" pitchFamily="18" charset="0"/>
              </a:rPr>
              <a:t>What </a:t>
            </a:r>
            <a:r>
              <a:rPr lang="en-US" sz="2100" dirty="0">
                <a:solidFill>
                  <a:srgbClr val="C00000"/>
                </a:solidFill>
                <a:latin typeface="Times New Roman" panose="02020603050405020304" pitchFamily="18" charset="0"/>
                <a:cs typeface="Times New Roman" panose="02020603050405020304" pitchFamily="18" charset="0"/>
              </a:rPr>
              <a:t>is the probability of customer with the age group 30 to 60 </a:t>
            </a:r>
            <a:r>
              <a:rPr lang="en-US" sz="2100" dirty="0" err="1">
                <a:solidFill>
                  <a:srgbClr val="C00000"/>
                </a:solidFill>
                <a:latin typeface="Times New Roman" panose="02020603050405020304" pitchFamily="18" charset="0"/>
                <a:cs typeface="Times New Roman" panose="02020603050405020304" pitchFamily="18" charset="0"/>
              </a:rPr>
              <a:t>purchas</a:t>
            </a:r>
            <a:r>
              <a:rPr lang="en-US" sz="2100" dirty="0">
                <a:solidFill>
                  <a:srgbClr val="C00000"/>
                </a:solidFill>
                <a:latin typeface="Times New Roman" panose="02020603050405020304" pitchFamily="18" charset="0"/>
                <a:cs typeface="Times New Roman" panose="02020603050405020304" pitchFamily="18" charset="0"/>
              </a:rPr>
              <a:t> a mobile</a:t>
            </a:r>
            <a:r>
              <a:rPr lang="en-US" sz="2100" dirty="0">
                <a:latin typeface="Times New Roman" panose="02020603050405020304" pitchFamily="18" charset="0"/>
                <a:cs typeface="Times New Roman" panose="02020603050405020304" pitchFamily="18" charset="0"/>
              </a:rPr>
              <a:t>? </a:t>
            </a:r>
            <a:endParaRPr lang="en-US" sz="2100" dirty="0" smtClean="0">
              <a:latin typeface="Times New Roman" panose="02020603050405020304" pitchFamily="18" charset="0"/>
              <a:cs typeface="Times New Roman" panose="02020603050405020304" pitchFamily="18" charset="0"/>
            </a:endParaRPr>
          </a:p>
          <a:p>
            <a:pPr marL="0" indent="0">
              <a:buNone/>
            </a:pPr>
            <a:r>
              <a:rPr lang="en-US" sz="2100" dirty="0">
                <a:latin typeface="Times New Roman" panose="02020603050405020304" pitchFamily="18" charset="0"/>
                <a:cs typeface="Times New Roman" panose="02020603050405020304" pitchFamily="18" charset="0"/>
              </a:rPr>
              <a:t>	</a:t>
            </a:r>
            <a:r>
              <a:rPr lang="en-US" sz="2100" dirty="0" err="1" smtClean="0">
                <a:latin typeface="Times New Roman" panose="02020603050405020304" pitchFamily="18" charset="0"/>
                <a:cs typeface="Times New Roman" panose="02020603050405020304" pitchFamily="18" charset="0"/>
              </a:rPr>
              <a:t>Ans</a:t>
            </a:r>
            <a:r>
              <a:rPr lang="en-US" sz="2100" dirty="0">
                <a:latin typeface="Times New Roman" panose="02020603050405020304" pitchFamily="18" charset="0"/>
                <a:cs typeface="Times New Roman" panose="02020603050405020304" pitchFamily="18" charset="0"/>
              </a:rPr>
              <a:t>: 4/4 = </a:t>
            </a:r>
            <a:r>
              <a:rPr lang="en-US" sz="2100" dirty="0" smtClean="0">
                <a:latin typeface="Times New Roman" panose="02020603050405020304" pitchFamily="18" charset="0"/>
                <a:cs typeface="Times New Roman" panose="02020603050405020304" pitchFamily="18" charset="0"/>
              </a:rPr>
              <a:t>1</a:t>
            </a:r>
          </a:p>
          <a:p>
            <a:pPr>
              <a:buFont typeface="Wingdings" panose="05000000000000000000" pitchFamily="2" charset="2"/>
              <a:buChar char="Ø"/>
            </a:pPr>
            <a:endParaRPr lang="en-US" sz="21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It is observed that the historical </a:t>
            </a:r>
            <a:r>
              <a:rPr lang="en-US" sz="2100" i="1" dirty="0">
                <a:solidFill>
                  <a:srgbClr val="0000FF"/>
                </a:solidFill>
                <a:latin typeface="Times New Roman" panose="02020603050405020304" pitchFamily="18" charset="0"/>
                <a:cs typeface="Times New Roman" panose="02020603050405020304" pitchFamily="18" charset="0"/>
              </a:rPr>
              <a:t>data can be split on a particular predicto</a:t>
            </a:r>
            <a:r>
              <a:rPr lang="en-US" sz="2100" i="1" dirty="0">
                <a:latin typeface="Times New Roman" panose="02020603050405020304" pitchFamily="18" charset="0"/>
                <a:cs typeface="Times New Roman" panose="02020603050405020304" pitchFamily="18" charset="0"/>
              </a:rPr>
              <a:t>r into subsets of data in order to answer these questions</a:t>
            </a:r>
            <a:r>
              <a:rPr lang="en-US" sz="2100" i="1" dirty="0" smtClean="0">
                <a:latin typeface="Times New Roman" panose="02020603050405020304" pitchFamily="18" charset="0"/>
                <a:cs typeface="Times New Roman" panose="02020603050405020304" pitchFamily="18" charset="0"/>
              </a:rPr>
              <a:t>.</a:t>
            </a:r>
          </a:p>
          <a:p>
            <a:pPr marL="0" indent="0" algn="just">
              <a:buNone/>
            </a:pPr>
            <a:endParaRPr lang="en-US" sz="21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The </a:t>
            </a:r>
            <a:r>
              <a:rPr lang="en-US" sz="2100" i="1" dirty="0">
                <a:latin typeface="Times New Roman" panose="02020603050405020304" pitchFamily="18" charset="0"/>
                <a:cs typeface="Times New Roman" panose="02020603050405020304" pitchFamily="18" charset="0"/>
              </a:rPr>
              <a:t>information that is derived from these splits can help predict the outcome better.</a:t>
            </a:r>
          </a:p>
        </p:txBody>
      </p:sp>
      <p:sp>
        <p:nvSpPr>
          <p:cNvPr id="4" name="Slide Number Placeholder 3"/>
          <p:cNvSpPr>
            <a:spLocks noGrp="1"/>
          </p:cNvSpPr>
          <p:nvPr>
            <p:ph type="sldNum" sz="quarter" idx="12"/>
          </p:nvPr>
        </p:nvSpPr>
        <p:spPr/>
        <p:txBody>
          <a:bodyPr/>
          <a:lstStyle/>
          <a:p>
            <a:fld id="{4EB28266-621B-4E6C-B384-6411A00B5EC3}" type="slidenum">
              <a:rPr lang="en-US" smtClean="0"/>
              <a:pPr/>
              <a:t>4</a:t>
            </a:fld>
            <a:endParaRPr lang="en-US"/>
          </a:p>
        </p:txBody>
      </p:sp>
    </p:spTree>
    <p:extLst>
      <p:ext uri="{BB962C8B-B14F-4D97-AF65-F5344CB8AC3E}">
        <p14:creationId xmlns:p14="http://schemas.microsoft.com/office/powerpoint/2010/main" val="27131556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IN" sz="3600" b="1" dirty="0">
                <a:latin typeface="Times New Roman" panose="02020603050405020304" pitchFamily="18" charset="0"/>
                <a:cs typeface="Times New Roman" panose="02020603050405020304" pitchFamily="18" charset="0"/>
              </a:rPr>
              <a:t>Splitting the </a:t>
            </a:r>
            <a:r>
              <a:rPr lang="en-IN" sz="3600" b="1" dirty="0" smtClean="0">
                <a:latin typeface="Times New Roman" panose="02020603050405020304" pitchFamily="18" charset="0"/>
                <a:cs typeface="Times New Roman" panose="02020603050405020304" pitchFamily="18" charset="0"/>
              </a:rPr>
              <a:t>Dataset</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80728"/>
            <a:ext cx="8229600" cy="5616624"/>
          </a:xfrm>
          <a:ln w="38100">
            <a:solidFill>
              <a:schemeClr val="tx1"/>
            </a:solidFill>
          </a:ln>
        </p:spPr>
        <p:txBody>
          <a:bodyPr>
            <a:normAutofit/>
          </a:bodyPr>
          <a:lstStyle/>
          <a:p>
            <a:pPr algn="just"/>
            <a:r>
              <a:rPr lang="en-US" sz="2400" dirty="0" smtClean="0">
                <a:latin typeface="Times New Roman" panose="02020603050405020304" pitchFamily="18" charset="0"/>
                <a:cs typeface="Times New Roman" panose="02020603050405020304" pitchFamily="18" charset="0"/>
              </a:rPr>
              <a:t>Let </a:t>
            </a:r>
            <a:r>
              <a:rPr lang="en-US" sz="2400" dirty="0">
                <a:latin typeface="Times New Roman" panose="02020603050405020304" pitchFamily="18" charset="0"/>
                <a:cs typeface="Times New Roman" panose="02020603050405020304" pitchFamily="18" charset="0"/>
              </a:rPr>
              <a:t>us now split the data set on </a:t>
            </a:r>
            <a:r>
              <a:rPr lang="en-US" sz="2400" dirty="0" smtClean="0">
                <a:latin typeface="Times New Roman" panose="02020603050405020304" pitchFamily="18" charset="0"/>
                <a:cs typeface="Times New Roman" panose="02020603050405020304" pitchFamily="18" charset="0"/>
              </a:rPr>
              <a:t>‘</a:t>
            </a:r>
            <a:r>
              <a:rPr lang="en-US" sz="2400" dirty="0" smtClean="0">
                <a:solidFill>
                  <a:srgbClr val="0000FF"/>
                </a:solidFill>
                <a:latin typeface="Times New Roman" panose="02020603050405020304" pitchFamily="18" charset="0"/>
                <a:cs typeface="Times New Roman" panose="02020603050405020304" pitchFamily="18" charset="0"/>
              </a:rPr>
              <a:t>gender'</a:t>
            </a:r>
            <a:r>
              <a:rPr lang="en-US" sz="2400" dirty="0">
                <a:latin typeface="Times New Roman" panose="02020603050405020304" pitchFamily="18" charset="0"/>
                <a:cs typeface="Times New Roman" panose="02020603050405020304" pitchFamily="18" charset="0"/>
              </a:rPr>
              <a:t> attribute which takes one of 2 values - </a:t>
            </a:r>
            <a:r>
              <a:rPr lang="en-US" sz="2400" dirty="0" smtClean="0">
                <a:solidFill>
                  <a:srgbClr val="C00000"/>
                </a:solidFill>
                <a:latin typeface="Times New Roman" panose="02020603050405020304" pitchFamily="18" charset="0"/>
                <a:cs typeface="Times New Roman" panose="02020603050405020304" pitchFamily="18" charset="0"/>
              </a:rPr>
              <a:t>‘male'</a:t>
            </a:r>
            <a:r>
              <a:rPr lang="en-US" sz="2400" dirty="0">
                <a:solidFill>
                  <a:srgbClr val="C00000"/>
                </a:solidFill>
                <a:latin typeface="Times New Roman" panose="02020603050405020304" pitchFamily="18" charset="0"/>
                <a:cs typeface="Times New Roman" panose="02020603050405020304" pitchFamily="18" charset="0"/>
              </a:rPr>
              <a:t> or </a:t>
            </a:r>
            <a:r>
              <a:rPr lang="en-US" sz="2400" dirty="0" smtClean="0">
                <a:solidFill>
                  <a:srgbClr val="C00000"/>
                </a:solidFill>
                <a:latin typeface="Times New Roman" panose="02020603050405020304" pitchFamily="18" charset="0"/>
                <a:cs typeface="Times New Roman" panose="02020603050405020304" pitchFamily="18" charset="0"/>
              </a:rPr>
              <a:t>‘female'.</a:t>
            </a:r>
          </a:p>
          <a:p>
            <a:pPr algn="just"/>
            <a:r>
              <a:rPr lang="en-US" sz="2400" dirty="0" smtClean="0">
                <a:solidFill>
                  <a:srgbClr val="0000FF"/>
                </a:solidFill>
                <a:latin typeface="Times New Roman" panose="02020603050405020304" pitchFamily="18" charset="0"/>
                <a:cs typeface="Times New Roman" panose="02020603050405020304" pitchFamily="18" charset="0"/>
              </a:rPr>
              <a:t>gender=female  (</a:t>
            </a:r>
            <a:r>
              <a:rPr lang="en-US" sz="2400" dirty="0" smtClean="0">
                <a:latin typeface="Times New Roman" panose="02020603050405020304" pitchFamily="18" charset="0"/>
                <a:cs typeface="Times New Roman" panose="02020603050405020304" pitchFamily="18" charset="0"/>
              </a:rPr>
              <a:t>class label </a:t>
            </a:r>
            <a:r>
              <a:rPr lang="en-US" sz="2400" dirty="0" smtClean="0">
                <a:solidFill>
                  <a:srgbClr val="0000FF"/>
                </a:solidFill>
                <a:latin typeface="Times New Roman" panose="02020603050405020304" pitchFamily="18" charset="0"/>
                <a:cs typeface="Times New Roman" panose="02020603050405020304" pitchFamily="18" charset="0"/>
              </a:rPr>
              <a:t>yes:3,No:3), Total=6</a:t>
            </a:r>
            <a:endParaRPr lang="en-US" dirty="0" smtClean="0">
              <a:solidFill>
                <a:srgbClr val="C00000"/>
              </a:solidFill>
              <a:latin typeface="Times New Roman" panose="02020603050405020304" pitchFamily="18" charset="0"/>
              <a:cs typeface="Times New Roman" panose="02020603050405020304" pitchFamily="18" charset="0"/>
            </a:endParaRPr>
          </a:p>
          <a:p>
            <a:pPr marL="0" indent="0">
              <a:buNone/>
            </a:pPr>
            <a:endParaRPr lang="en-IN" dirty="0" smtClean="0"/>
          </a:p>
          <a:p>
            <a:pPr marL="0" indent="0">
              <a:buNone/>
            </a:pPr>
            <a:endParaRPr lang="en-IN" dirty="0"/>
          </a:p>
          <a:p>
            <a:pPr marL="0" indent="0">
              <a:buNone/>
            </a:pPr>
            <a:endParaRPr lang="en-US" sz="2200" dirty="0" smtClean="0">
              <a:solidFill>
                <a:srgbClr val="0000FF"/>
              </a:solidFill>
              <a:latin typeface="Times New Roman" panose="02020603050405020304" pitchFamily="18" charset="0"/>
              <a:cs typeface="Times New Roman" panose="02020603050405020304" pitchFamily="18" charset="0"/>
            </a:endParaRPr>
          </a:p>
          <a:p>
            <a:pPr marL="0" indent="0">
              <a:spcBef>
                <a:spcPts val="0"/>
              </a:spcBef>
              <a:buNone/>
            </a:pPr>
            <a:endParaRPr lang="en-US" sz="2200" dirty="0" smtClean="0">
              <a:solidFill>
                <a:srgbClr val="0000FF"/>
              </a:solidFill>
              <a:latin typeface="Times New Roman" panose="02020603050405020304" pitchFamily="18" charset="0"/>
              <a:cs typeface="Times New Roman" panose="02020603050405020304" pitchFamily="18" charset="0"/>
            </a:endParaRPr>
          </a:p>
          <a:p>
            <a:pPr>
              <a:spcBef>
                <a:spcPts val="0"/>
              </a:spcBef>
            </a:pPr>
            <a:r>
              <a:rPr lang="en-US" sz="2200" dirty="0" smtClean="0">
                <a:solidFill>
                  <a:srgbClr val="0000FF"/>
                </a:solidFill>
                <a:latin typeface="Times New Roman" panose="02020603050405020304" pitchFamily="18" charset="0"/>
                <a:cs typeface="Times New Roman" panose="02020603050405020304" pitchFamily="18" charset="0"/>
              </a:rPr>
              <a:t>gender=male  </a:t>
            </a:r>
            <a:r>
              <a:rPr lang="en-US" sz="2200" dirty="0">
                <a:latin typeface="Times New Roman" panose="02020603050405020304" pitchFamily="18" charset="0"/>
                <a:cs typeface="Times New Roman" panose="02020603050405020304" pitchFamily="18" charset="0"/>
              </a:rPr>
              <a:t>(class label </a:t>
            </a:r>
            <a:r>
              <a:rPr lang="en-US" sz="2200" dirty="0">
                <a:solidFill>
                  <a:srgbClr val="0000FF"/>
                </a:solidFill>
                <a:latin typeface="Times New Roman" panose="02020603050405020304" pitchFamily="18" charset="0"/>
                <a:cs typeface="Times New Roman" panose="02020603050405020304" pitchFamily="18" charset="0"/>
              </a:rPr>
              <a:t>yes </a:t>
            </a:r>
            <a:r>
              <a:rPr lang="en-US" sz="2200" dirty="0" smtClean="0">
                <a:solidFill>
                  <a:srgbClr val="0000FF"/>
                </a:solidFill>
                <a:latin typeface="Times New Roman" panose="02020603050405020304" pitchFamily="18" charset="0"/>
                <a:cs typeface="Times New Roman" panose="02020603050405020304" pitchFamily="18" charset="0"/>
              </a:rPr>
              <a:t>:6,No:2), Total=8</a:t>
            </a:r>
            <a:endParaRPr lang="en-US" sz="2200" dirty="0">
              <a:solidFill>
                <a:srgbClr val="0000FF"/>
              </a:solidFill>
              <a:latin typeface="Times New Roman" panose="02020603050405020304" pitchFamily="18" charset="0"/>
              <a:cs typeface="Times New Roman" panose="02020603050405020304" pitchFamily="18" charset="0"/>
            </a:endParaRPr>
          </a:p>
          <a:p>
            <a:pPr marL="0" indent="0">
              <a:buNone/>
            </a:pPr>
            <a:endParaRPr lang="en-IN" dirty="0" smtClean="0"/>
          </a:p>
          <a:p>
            <a:pPr marL="0" indent="0">
              <a:buNone/>
            </a:pPr>
            <a:endParaRPr lang="en-IN" dirty="0"/>
          </a:p>
        </p:txBody>
      </p:sp>
      <p:sp>
        <p:nvSpPr>
          <p:cNvPr id="4" name="Slide Number Placeholder 3"/>
          <p:cNvSpPr>
            <a:spLocks noGrp="1"/>
          </p:cNvSpPr>
          <p:nvPr>
            <p:ph type="sldNum" sz="quarter" idx="12"/>
          </p:nvPr>
        </p:nvSpPr>
        <p:spPr/>
        <p:txBody>
          <a:bodyPr/>
          <a:lstStyle/>
          <a:p>
            <a:fld id="{4EB28266-621B-4E6C-B384-6411A00B5EC3}" type="slidenum">
              <a:rPr lang="en-US" smtClean="0"/>
              <a:pPr/>
              <a:t>5</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432973381"/>
              </p:ext>
            </p:extLst>
          </p:nvPr>
        </p:nvGraphicFramePr>
        <p:xfrm>
          <a:off x="1160322" y="2276871"/>
          <a:ext cx="6219990" cy="1584178"/>
        </p:xfrm>
        <a:graphic>
          <a:graphicData uri="http://schemas.openxmlformats.org/drawingml/2006/table">
            <a:tbl>
              <a:tblPr>
                <a:tableStyleId>{5C22544A-7EE6-4342-B048-85BDC9FD1C3A}</a:tableStyleId>
              </a:tblPr>
              <a:tblGrid>
                <a:gridCol w="1002625"/>
                <a:gridCol w="891223"/>
                <a:gridCol w="1652475"/>
                <a:gridCol w="1002625"/>
                <a:gridCol w="1671042"/>
              </a:tblGrid>
              <a:tr h="274564">
                <a:tc>
                  <a:txBody>
                    <a:bodyPr/>
                    <a:lstStyle/>
                    <a:p>
                      <a:pPr algn="ctr" fontAlgn="b"/>
                      <a:r>
                        <a:rPr lang="en-IN" sz="1100" u="none" strike="noStrike" dirty="0" err="1" smtClean="0">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purchase_mobile</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218269">
                <a:tc>
                  <a:txBody>
                    <a:bodyPr/>
                    <a:lstStyle/>
                    <a:p>
                      <a:pPr algn="ctr" fontAlgn="b"/>
                      <a:r>
                        <a:rPr lang="en-IN" sz="1100" u="none" strike="noStrike" smtClean="0">
                          <a:effectLst/>
                        </a:rPr>
                        <a:t>below 30</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female</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no</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high</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218269">
                <a:tc>
                  <a:txBody>
                    <a:bodyPr/>
                    <a:lstStyle/>
                    <a:p>
                      <a:pPr algn="ctr" fontAlgn="b"/>
                      <a:r>
                        <a:rPr lang="en-IN" sz="1100" u="none" strike="noStrike" smtClean="0">
                          <a:effectLst/>
                        </a:rPr>
                        <a:t>above 60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female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a:effectLst/>
                        </a:rPr>
                        <a:t>yes</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low</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tc>
              </a:tr>
              <a:tr h="218269">
                <a:tc>
                  <a:txBody>
                    <a:bodyPr/>
                    <a:lstStyle/>
                    <a:p>
                      <a:pPr algn="ctr" fontAlgn="b"/>
                      <a:r>
                        <a:rPr lang="en-IN" sz="1100" u="none" strike="noStrike" smtClean="0">
                          <a:effectLst/>
                        </a:rPr>
                        <a:t>30 to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female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high</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r>
              <a:tr h="218269">
                <a:tc>
                  <a:txBody>
                    <a:bodyPr/>
                    <a:lstStyle/>
                    <a:p>
                      <a:pPr algn="ctr" fontAlgn="b"/>
                      <a:r>
                        <a:rPr lang="en-IN" sz="1100" u="none" strike="noStrike" smtClean="0">
                          <a:effectLst/>
                        </a:rPr>
                        <a:t>below 30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female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r>
              <a:tr h="218269">
                <a:tc>
                  <a:txBody>
                    <a:bodyPr/>
                    <a:lstStyle/>
                    <a:p>
                      <a:pPr algn="ctr" fontAlgn="b"/>
                      <a:r>
                        <a:rPr lang="en-IN" sz="1100" u="none" strike="noStrike" smtClean="0">
                          <a:effectLst/>
                        </a:rPr>
                        <a:t>30 to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female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r>
              <a:tr h="218269">
                <a:tc>
                  <a:txBody>
                    <a:bodyPr/>
                    <a:lstStyle/>
                    <a:p>
                      <a:pPr algn="ctr" fontAlgn="b"/>
                      <a:r>
                        <a:rPr lang="en-IN" sz="1100" u="none" strike="noStrike" dirty="0" smtClean="0">
                          <a:effectLst/>
                        </a:rPr>
                        <a:t>above 60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female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a:effectLst/>
                        </a:rPr>
                        <a:t>no</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medium</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712140479"/>
              </p:ext>
            </p:extLst>
          </p:nvPr>
        </p:nvGraphicFramePr>
        <p:xfrm>
          <a:off x="1043608" y="4509118"/>
          <a:ext cx="6552727" cy="2056231"/>
        </p:xfrm>
        <a:graphic>
          <a:graphicData uri="http://schemas.openxmlformats.org/drawingml/2006/table">
            <a:tbl>
              <a:tblPr>
                <a:tableStyleId>{5C22544A-7EE6-4342-B048-85BDC9FD1C3A}</a:tableStyleId>
              </a:tblPr>
              <a:tblGrid>
                <a:gridCol w="1056261"/>
                <a:gridCol w="938897"/>
                <a:gridCol w="2052121"/>
                <a:gridCol w="745013"/>
                <a:gridCol w="1760435"/>
              </a:tblGrid>
              <a:tr h="224025">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purchase_mobile</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224025">
                <a:tc>
                  <a:txBody>
                    <a:bodyPr/>
                    <a:lstStyle/>
                    <a:p>
                      <a:pPr algn="ctr" fontAlgn="b"/>
                      <a:r>
                        <a:rPr lang="en-IN" sz="1100" u="none" strike="noStrike" dirty="0">
                          <a:effectLst/>
                        </a:rPr>
                        <a:t>below 30</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male</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high</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224025">
                <a:tc>
                  <a:txBody>
                    <a:bodyPr/>
                    <a:lstStyle/>
                    <a:p>
                      <a:pPr algn="ctr" fontAlgn="b"/>
                      <a:r>
                        <a:rPr lang="en-IN" sz="1100" u="none" strike="noStrike" dirty="0">
                          <a:effectLst/>
                        </a:rPr>
                        <a:t>30 to 60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a:effectLst/>
                        </a:rPr>
                        <a:t>no</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low</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r>
              <a:tr h="264031">
                <a:tc>
                  <a:txBody>
                    <a:bodyPr/>
                    <a:lstStyle/>
                    <a:p>
                      <a:pPr algn="ctr" fontAlgn="b"/>
                      <a:r>
                        <a:rPr lang="en-IN" sz="1100" u="none" strike="noStrike">
                          <a:effectLst/>
                        </a:rPr>
                        <a:t>above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r>
              <a:tr h="224025">
                <a:tc>
                  <a:txBody>
                    <a:bodyPr/>
                    <a:lstStyle/>
                    <a:p>
                      <a:pPr algn="ctr" fontAlgn="b"/>
                      <a:r>
                        <a:rPr lang="en-IN" sz="1100" u="none" strike="noStrike">
                          <a:effectLst/>
                        </a:rPr>
                        <a:t>above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low</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r>
              <a:tr h="224025">
                <a:tc>
                  <a:txBody>
                    <a:bodyPr/>
                    <a:lstStyle/>
                    <a:p>
                      <a:pPr algn="ctr" fontAlgn="b"/>
                      <a:r>
                        <a:rPr lang="en-IN" sz="1100" u="none" strike="noStrike">
                          <a:effectLst/>
                        </a:rPr>
                        <a:t>below 30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tc>
              </a:tr>
              <a:tr h="224025">
                <a:tc>
                  <a:txBody>
                    <a:bodyPr/>
                    <a:lstStyle/>
                    <a:p>
                      <a:pPr algn="ctr" fontAlgn="b"/>
                      <a:r>
                        <a:rPr lang="en-IN" sz="1100" u="none" strike="noStrike">
                          <a:effectLst/>
                        </a:rPr>
                        <a:t>below 30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a:effectLst/>
                        </a:rPr>
                        <a:t>yes</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low</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r>
              <a:tr h="224025">
                <a:tc>
                  <a:txBody>
                    <a:bodyPr/>
                    <a:lstStyle/>
                    <a:p>
                      <a:pPr algn="ctr" fontAlgn="b"/>
                      <a:r>
                        <a:rPr lang="en-IN" sz="1100" u="none" strike="noStrike">
                          <a:effectLst/>
                        </a:rPr>
                        <a:t>above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a:effectLst/>
                        </a:rPr>
                        <a:t>yes</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r>
              <a:tr h="224025">
                <a:tc>
                  <a:txBody>
                    <a:bodyPr/>
                    <a:lstStyle/>
                    <a:p>
                      <a:pPr algn="ctr" fontAlgn="b"/>
                      <a:r>
                        <a:rPr lang="en-IN" sz="1100" u="none" strike="noStrike" dirty="0">
                          <a:effectLst/>
                        </a:rPr>
                        <a:t>30 to 60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male</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high</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r>
            </a:tbl>
          </a:graphicData>
        </a:graphic>
      </p:graphicFrame>
    </p:spTree>
    <p:extLst>
      <p:ext uri="{BB962C8B-B14F-4D97-AF65-F5344CB8AC3E}">
        <p14:creationId xmlns:p14="http://schemas.microsoft.com/office/powerpoint/2010/main" val="15012179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IN" sz="3600" b="1" dirty="0">
                <a:latin typeface="Times New Roman" panose="02020603050405020304" pitchFamily="18" charset="0"/>
                <a:cs typeface="Times New Roman" panose="02020603050405020304" pitchFamily="18" charset="0"/>
              </a:rPr>
              <a:t>Splitting the </a:t>
            </a:r>
            <a:r>
              <a:rPr lang="en-IN" sz="3600" b="1" dirty="0" smtClean="0">
                <a:latin typeface="Times New Roman" panose="02020603050405020304" pitchFamily="18" charset="0"/>
                <a:cs typeface="Times New Roman" panose="02020603050405020304" pitchFamily="18" charset="0"/>
              </a:rPr>
              <a:t>Dataset</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96752"/>
            <a:ext cx="8229600" cy="5400600"/>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Let </a:t>
            </a:r>
            <a:r>
              <a:rPr lang="en-US" sz="2400" dirty="0">
                <a:latin typeface="Times New Roman" panose="02020603050405020304" pitchFamily="18" charset="0"/>
                <a:cs typeface="Times New Roman" panose="02020603050405020304" pitchFamily="18" charset="0"/>
              </a:rPr>
              <a:t>us now split the data set on </a:t>
            </a:r>
            <a:r>
              <a:rPr lang="en-US" sz="2400" dirty="0" err="1" smtClean="0">
                <a:solidFill>
                  <a:srgbClr val="0000FF"/>
                </a:solidFill>
                <a:latin typeface="Times New Roman" panose="02020603050405020304" pitchFamily="18" charset="0"/>
                <a:cs typeface="Times New Roman" panose="02020603050405020304" pitchFamily="18" charset="0"/>
              </a:rPr>
              <a:t>employment_status</a:t>
            </a:r>
            <a:r>
              <a:rPr lang="en-US" sz="2400" dirty="0">
                <a:solidFill>
                  <a:srgbClr val="0000FF"/>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attribute which takes one of 2 values - </a:t>
            </a:r>
            <a:r>
              <a:rPr lang="en-US" sz="2400" dirty="0">
                <a:solidFill>
                  <a:srgbClr val="C00000"/>
                </a:solidFill>
                <a:latin typeface="Times New Roman" panose="02020603050405020304" pitchFamily="18" charset="0"/>
                <a:cs typeface="Times New Roman" panose="02020603050405020304" pitchFamily="18" charset="0"/>
              </a:rPr>
              <a:t>'yes' or 'no</a:t>
            </a:r>
            <a:r>
              <a:rPr lang="en-US" sz="2400" dirty="0" smtClean="0">
                <a:solidFill>
                  <a:srgbClr val="C00000"/>
                </a:solidFill>
                <a:latin typeface="Times New Roman" panose="02020603050405020304" pitchFamily="18" charset="0"/>
                <a:cs typeface="Times New Roman" panose="02020603050405020304" pitchFamily="18" charset="0"/>
              </a:rPr>
              <a:t>'.</a:t>
            </a:r>
          </a:p>
          <a:p>
            <a:pPr algn="just"/>
            <a:r>
              <a:rPr lang="en-US" sz="2400" dirty="0" err="1" smtClean="0">
                <a:solidFill>
                  <a:srgbClr val="0000FF"/>
                </a:solidFill>
                <a:latin typeface="Times New Roman" panose="02020603050405020304" pitchFamily="18" charset="0"/>
                <a:cs typeface="Times New Roman" panose="02020603050405020304" pitchFamily="18" charset="0"/>
              </a:rPr>
              <a:t>employment_status</a:t>
            </a:r>
            <a:r>
              <a:rPr lang="en-US" sz="2400" dirty="0" smtClean="0">
                <a:solidFill>
                  <a:srgbClr val="0000FF"/>
                </a:solidFill>
                <a:latin typeface="Times New Roman" panose="02020603050405020304" pitchFamily="18" charset="0"/>
                <a:cs typeface="Times New Roman" panose="02020603050405020304" pitchFamily="18" charset="0"/>
              </a:rPr>
              <a:t>=yes  (class label </a:t>
            </a:r>
            <a:r>
              <a:rPr lang="en-US" sz="2400" dirty="0" smtClean="0">
                <a:solidFill>
                  <a:srgbClr val="C00000"/>
                </a:solidFill>
                <a:latin typeface="Times New Roman" panose="02020603050405020304" pitchFamily="18" charset="0"/>
                <a:cs typeface="Times New Roman" panose="02020603050405020304" pitchFamily="18" charset="0"/>
              </a:rPr>
              <a:t>yes :6,No:1</a:t>
            </a:r>
            <a:r>
              <a:rPr lang="en-US" sz="2400" dirty="0" smtClean="0">
                <a:solidFill>
                  <a:srgbClr val="0000FF"/>
                </a:solidFill>
                <a:latin typeface="Times New Roman" panose="02020603050405020304" pitchFamily="18" charset="0"/>
                <a:cs typeface="Times New Roman" panose="02020603050405020304" pitchFamily="18" charset="0"/>
              </a:rPr>
              <a:t>), Total=7</a:t>
            </a:r>
          </a:p>
          <a:p>
            <a:pPr marL="0" indent="0" algn="just">
              <a:buNone/>
            </a:pPr>
            <a:endParaRPr lang="en-US" dirty="0">
              <a:solidFill>
                <a:srgbClr val="C00000"/>
              </a:solidFill>
              <a:latin typeface="Times New Roman" panose="02020603050405020304" pitchFamily="18" charset="0"/>
              <a:cs typeface="Times New Roman" panose="02020603050405020304" pitchFamily="18" charset="0"/>
            </a:endParaRPr>
          </a:p>
          <a:p>
            <a:endParaRPr lang="en-IN" dirty="0" smtClean="0"/>
          </a:p>
          <a:p>
            <a:pPr marL="0" indent="0">
              <a:buNone/>
            </a:pPr>
            <a:endParaRPr lang="en-IN" dirty="0"/>
          </a:p>
          <a:p>
            <a:r>
              <a:rPr lang="en-US" sz="2200" dirty="0" err="1" smtClean="0">
                <a:solidFill>
                  <a:srgbClr val="0000FF"/>
                </a:solidFill>
                <a:latin typeface="Times New Roman" panose="02020603050405020304" pitchFamily="18" charset="0"/>
                <a:cs typeface="Times New Roman" panose="02020603050405020304" pitchFamily="18" charset="0"/>
              </a:rPr>
              <a:t>employment_status</a:t>
            </a:r>
            <a:r>
              <a:rPr lang="en-US" sz="2200" dirty="0" smtClean="0">
                <a:solidFill>
                  <a:srgbClr val="0000FF"/>
                </a:solidFill>
                <a:latin typeface="Times New Roman" panose="02020603050405020304" pitchFamily="18" charset="0"/>
                <a:cs typeface="Times New Roman" panose="02020603050405020304" pitchFamily="18" charset="0"/>
              </a:rPr>
              <a:t>=No  </a:t>
            </a:r>
            <a:r>
              <a:rPr lang="en-US" sz="2200" dirty="0">
                <a:solidFill>
                  <a:srgbClr val="0000FF"/>
                </a:solidFill>
                <a:latin typeface="Times New Roman" panose="02020603050405020304" pitchFamily="18" charset="0"/>
                <a:cs typeface="Times New Roman" panose="02020603050405020304" pitchFamily="18" charset="0"/>
              </a:rPr>
              <a:t>(class label </a:t>
            </a:r>
            <a:r>
              <a:rPr lang="en-US" sz="2200" dirty="0">
                <a:solidFill>
                  <a:srgbClr val="C00000"/>
                </a:solidFill>
                <a:latin typeface="Times New Roman" panose="02020603050405020304" pitchFamily="18" charset="0"/>
                <a:cs typeface="Times New Roman" panose="02020603050405020304" pitchFamily="18" charset="0"/>
              </a:rPr>
              <a:t>yes </a:t>
            </a:r>
            <a:r>
              <a:rPr lang="en-US" sz="2200" dirty="0" smtClean="0">
                <a:solidFill>
                  <a:srgbClr val="C00000"/>
                </a:solidFill>
                <a:latin typeface="Times New Roman" panose="02020603050405020304" pitchFamily="18" charset="0"/>
                <a:cs typeface="Times New Roman" panose="02020603050405020304" pitchFamily="18" charset="0"/>
              </a:rPr>
              <a:t>:3,No:4</a:t>
            </a:r>
            <a:r>
              <a:rPr lang="en-US" sz="2200" dirty="0" smtClean="0">
                <a:solidFill>
                  <a:srgbClr val="0000FF"/>
                </a:solidFill>
                <a:latin typeface="Times New Roman" panose="02020603050405020304" pitchFamily="18" charset="0"/>
                <a:cs typeface="Times New Roman" panose="02020603050405020304" pitchFamily="18" charset="0"/>
              </a:rPr>
              <a:t>), Total=7</a:t>
            </a:r>
            <a:endParaRPr lang="en-US" sz="2200" dirty="0">
              <a:solidFill>
                <a:srgbClr val="0000FF"/>
              </a:solidFill>
              <a:latin typeface="Times New Roman" panose="02020603050405020304" pitchFamily="18" charset="0"/>
              <a:cs typeface="Times New Roman" panose="02020603050405020304" pitchFamily="18" charset="0"/>
            </a:endParaRPr>
          </a:p>
          <a:p>
            <a:endParaRPr lang="en-IN" dirty="0" smtClean="0"/>
          </a:p>
          <a:p>
            <a:endParaRPr lang="en-IN" dirty="0"/>
          </a:p>
        </p:txBody>
      </p:sp>
      <p:sp>
        <p:nvSpPr>
          <p:cNvPr id="4" name="Slide Number Placeholder 3"/>
          <p:cNvSpPr>
            <a:spLocks noGrp="1"/>
          </p:cNvSpPr>
          <p:nvPr>
            <p:ph type="sldNum" sz="quarter" idx="12"/>
          </p:nvPr>
        </p:nvSpPr>
        <p:spPr/>
        <p:txBody>
          <a:bodyPr/>
          <a:lstStyle/>
          <a:p>
            <a:fld id="{4EB28266-621B-4E6C-B384-6411A00B5EC3}" type="slidenum">
              <a:rPr lang="en-US" smtClean="0"/>
              <a:pPr/>
              <a:t>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722491943"/>
              </p:ext>
            </p:extLst>
          </p:nvPr>
        </p:nvGraphicFramePr>
        <p:xfrm>
          <a:off x="1187624" y="2450352"/>
          <a:ext cx="5184576" cy="1800200"/>
        </p:xfrm>
        <a:graphic>
          <a:graphicData uri="http://schemas.openxmlformats.org/drawingml/2006/table">
            <a:tbl>
              <a:tblPr>
                <a:tableStyleId>{5C22544A-7EE6-4342-B048-85BDC9FD1C3A}</a:tableStyleId>
              </a:tblPr>
              <a:tblGrid>
                <a:gridCol w="835723"/>
                <a:gridCol w="742864"/>
                <a:gridCol w="1554480"/>
                <a:gridCol w="658638"/>
                <a:gridCol w="1392871"/>
              </a:tblGrid>
              <a:tr h="225025">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a:effectLst/>
                        </a:rPr>
                        <a:t>gender</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purchase_mobile</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225025">
                <a:tc>
                  <a:txBody>
                    <a:bodyPr/>
                    <a:lstStyle/>
                    <a:p>
                      <a:pPr algn="ctr" fontAlgn="b"/>
                      <a:r>
                        <a:rPr lang="en-IN" sz="1100" u="none" strike="noStrike" dirty="0">
                          <a:effectLst/>
                        </a:rPr>
                        <a:t>above 60</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low</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225025">
                <a:tc>
                  <a:txBody>
                    <a:bodyPr/>
                    <a:lstStyle/>
                    <a:p>
                      <a:pPr algn="ctr" fontAlgn="b"/>
                      <a:r>
                        <a:rPr lang="en-IN" sz="1100" u="none" strike="noStrike" dirty="0">
                          <a:effectLst/>
                        </a:rPr>
                        <a:t>above 60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female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a:effectLst/>
                        </a:rPr>
                        <a:t>low</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225025">
                <a:tc>
                  <a:txBody>
                    <a:bodyPr/>
                    <a:lstStyle/>
                    <a:p>
                      <a:pPr algn="ctr" fontAlgn="b"/>
                      <a:r>
                        <a:rPr lang="en-IN" sz="1100" u="none" strike="noStrike">
                          <a:effectLst/>
                        </a:rPr>
                        <a:t>30 to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female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high</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225025">
                <a:tc>
                  <a:txBody>
                    <a:bodyPr/>
                    <a:lstStyle/>
                    <a:p>
                      <a:pPr algn="ctr" fontAlgn="b"/>
                      <a:r>
                        <a:rPr lang="en-IN" sz="1100" u="none" strike="noStrike">
                          <a:effectLst/>
                        </a:rPr>
                        <a:t>below 30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low</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225025">
                <a:tc>
                  <a:txBody>
                    <a:bodyPr/>
                    <a:lstStyle/>
                    <a:p>
                      <a:pPr algn="ctr" fontAlgn="b"/>
                      <a:r>
                        <a:rPr lang="en-IN" sz="1100" u="none" strike="noStrike">
                          <a:effectLst/>
                        </a:rPr>
                        <a:t>above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225025">
                <a:tc>
                  <a:txBody>
                    <a:bodyPr/>
                    <a:lstStyle/>
                    <a:p>
                      <a:pPr algn="ctr" fontAlgn="b"/>
                      <a:r>
                        <a:rPr lang="en-IN" sz="1100" u="none" strike="noStrike">
                          <a:effectLst/>
                        </a:rPr>
                        <a:t>below 30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225025">
                <a:tc>
                  <a:txBody>
                    <a:bodyPr/>
                    <a:lstStyle/>
                    <a:p>
                      <a:pPr algn="ctr" fontAlgn="b"/>
                      <a:r>
                        <a:rPr lang="en-IN" sz="1100" u="none" strike="noStrike">
                          <a:effectLst/>
                        </a:rPr>
                        <a:t>30 to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yes</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a:effectLst/>
                        </a:rPr>
                        <a:t>high</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531592681"/>
              </p:ext>
            </p:extLst>
          </p:nvPr>
        </p:nvGraphicFramePr>
        <p:xfrm>
          <a:off x="2627780" y="4725141"/>
          <a:ext cx="5544618" cy="1728192"/>
        </p:xfrm>
        <a:graphic>
          <a:graphicData uri="http://schemas.openxmlformats.org/drawingml/2006/table">
            <a:tbl>
              <a:tblPr>
                <a:tableStyleId>{5C22544A-7EE6-4342-B048-85BDC9FD1C3A}</a:tableStyleId>
              </a:tblPr>
              <a:tblGrid>
                <a:gridCol w="893760"/>
                <a:gridCol w="794452"/>
                <a:gridCol w="1473047"/>
                <a:gridCol w="893760"/>
                <a:gridCol w="1489599"/>
              </a:tblGrid>
              <a:tr h="362058">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employment_status</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purchase_mobile</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195162">
                <a:tc>
                  <a:txBody>
                    <a:bodyPr/>
                    <a:lstStyle/>
                    <a:p>
                      <a:pPr algn="ctr" fontAlgn="b"/>
                      <a:r>
                        <a:rPr lang="en-IN" sz="1100" u="none" strike="noStrike" dirty="0">
                          <a:effectLst/>
                        </a:rPr>
                        <a:t>below 30</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high</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195162">
                <a:tc>
                  <a:txBody>
                    <a:bodyPr/>
                    <a:lstStyle/>
                    <a:p>
                      <a:pPr algn="ctr" fontAlgn="b"/>
                      <a:r>
                        <a:rPr lang="en-IN" sz="1100" u="none" strike="noStrike">
                          <a:effectLst/>
                        </a:rPr>
                        <a:t>below 30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female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high</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195162">
                <a:tc>
                  <a:txBody>
                    <a:bodyPr/>
                    <a:lstStyle/>
                    <a:p>
                      <a:pPr algn="ctr" fontAlgn="b"/>
                      <a:r>
                        <a:rPr lang="en-IN" sz="1100" u="none" strike="noStrike">
                          <a:effectLst/>
                        </a:rPr>
                        <a:t>30 to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low</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95162">
                <a:tc>
                  <a:txBody>
                    <a:bodyPr/>
                    <a:lstStyle/>
                    <a:p>
                      <a:pPr algn="ctr" fontAlgn="b"/>
                      <a:r>
                        <a:rPr lang="en-IN" sz="1100" u="none" strike="noStrike">
                          <a:effectLst/>
                        </a:rPr>
                        <a:t>above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95162">
                <a:tc>
                  <a:txBody>
                    <a:bodyPr/>
                    <a:lstStyle/>
                    <a:p>
                      <a:pPr algn="ctr" fontAlgn="b"/>
                      <a:r>
                        <a:rPr lang="en-IN" sz="1100" u="none" strike="noStrike">
                          <a:effectLst/>
                        </a:rPr>
                        <a:t>below 30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a:effectLst/>
                        </a:rPr>
                        <a:t>medium</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195162">
                <a:tc>
                  <a:txBody>
                    <a:bodyPr/>
                    <a:lstStyle/>
                    <a:p>
                      <a:pPr algn="ctr" fontAlgn="b"/>
                      <a:r>
                        <a:rPr lang="en-IN" sz="1100" u="none" strike="noStrike">
                          <a:effectLst/>
                        </a:rPr>
                        <a:t>30 to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a:effectLst/>
                        </a:rPr>
                        <a:t>medium</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95162">
                <a:tc>
                  <a:txBody>
                    <a:bodyPr/>
                    <a:lstStyle/>
                    <a:p>
                      <a:pPr algn="ctr" fontAlgn="b"/>
                      <a:r>
                        <a:rPr lang="en-IN" sz="1100" u="none" strike="noStrike" dirty="0">
                          <a:effectLst/>
                        </a:rPr>
                        <a:t>above 60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female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b="1" u="none" strike="noStrike" dirty="0">
                          <a:solidFill>
                            <a:srgbClr val="C00000"/>
                          </a:solidFill>
                          <a:effectLst/>
                        </a:rPr>
                        <a:t>no</a:t>
                      </a:r>
                      <a:endParaRPr lang="en-IN" sz="1100" b="1"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bl>
          </a:graphicData>
        </a:graphic>
      </p:graphicFrame>
    </p:spTree>
    <p:extLst>
      <p:ext uri="{BB962C8B-B14F-4D97-AF65-F5344CB8AC3E}">
        <p14:creationId xmlns:p14="http://schemas.microsoft.com/office/powerpoint/2010/main" val="16214441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189" y="260648"/>
            <a:ext cx="8229600" cy="360040"/>
          </a:xfrm>
        </p:spPr>
        <p:txBody>
          <a:bodyPr>
            <a:normAutofit fontScale="90000"/>
          </a:bodyPr>
          <a:lstStyle/>
          <a:p>
            <a:r>
              <a:rPr lang="en-IN" sz="3600" b="1" dirty="0">
                <a:latin typeface="Times New Roman" panose="02020603050405020304" pitchFamily="18" charset="0"/>
                <a:cs typeface="Times New Roman" panose="02020603050405020304" pitchFamily="18" charset="0"/>
              </a:rPr>
              <a:t>Splitting the </a:t>
            </a:r>
            <a:r>
              <a:rPr lang="en-IN" sz="3600" b="1" dirty="0" smtClean="0">
                <a:latin typeface="Times New Roman" panose="02020603050405020304" pitchFamily="18" charset="0"/>
                <a:cs typeface="Times New Roman" panose="02020603050405020304" pitchFamily="18" charset="0"/>
              </a:rPr>
              <a:t>Dataset</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251520" y="1600200"/>
            <a:ext cx="3528392" cy="4525963"/>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First, split the dataset on the </a:t>
            </a:r>
            <a:r>
              <a:rPr lang="en-US" dirty="0">
                <a:solidFill>
                  <a:srgbClr val="0000FF"/>
                </a:solidFill>
                <a:latin typeface="Times New Roman" panose="02020603050405020304" pitchFamily="18" charset="0"/>
                <a:cs typeface="Times New Roman" panose="02020603050405020304" pitchFamily="18" charset="0"/>
              </a:rPr>
              <a:t>'budget'</a:t>
            </a:r>
            <a:r>
              <a:rPr lang="en-US" dirty="0">
                <a:latin typeface="Times New Roman" panose="02020603050405020304" pitchFamily="18" charset="0"/>
                <a:cs typeface="Times New Roman" panose="02020603050405020304" pitchFamily="18" charset="0"/>
              </a:rPr>
              <a:t> attribute, which takes one of the 3 values - </a:t>
            </a:r>
            <a:r>
              <a:rPr lang="en-US" dirty="0">
                <a:solidFill>
                  <a:srgbClr val="C00000"/>
                </a:solidFill>
                <a:latin typeface="Times New Roman" panose="02020603050405020304" pitchFamily="18" charset="0"/>
                <a:cs typeface="Times New Roman" panose="02020603050405020304" pitchFamily="18" charset="0"/>
              </a:rPr>
              <a:t>'low', 'medium' or 'high‘.</a:t>
            </a:r>
          </a:p>
          <a:p>
            <a:pPr algn="just"/>
            <a:endParaRPr lang="en-US" dirty="0">
              <a:solidFill>
                <a:srgbClr val="C0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is observed that the above split does not result in any </a:t>
            </a:r>
            <a:r>
              <a:rPr lang="en-US" dirty="0">
                <a:solidFill>
                  <a:srgbClr val="0000FF"/>
                </a:solidFill>
                <a:latin typeface="Times New Roman" panose="02020603050405020304" pitchFamily="18" charset="0"/>
                <a:cs typeface="Times New Roman" panose="02020603050405020304" pitchFamily="18" charset="0"/>
              </a:rPr>
              <a:t>subset that contains the instances of class label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purchases_mobile</a:t>
            </a:r>
            <a:r>
              <a:rPr lang="en-US" dirty="0">
                <a:latin typeface="Times New Roman" panose="02020603050405020304" pitchFamily="18" charset="0"/>
                <a:cs typeface="Times New Roman" panose="02020603050405020304" pitchFamily="18" charset="0"/>
              </a:rPr>
              <a:t>")</a:t>
            </a:r>
            <a:r>
              <a:rPr lang="en-US" dirty="0">
                <a:solidFill>
                  <a:srgbClr val="0000FF"/>
                </a:solidFill>
                <a:latin typeface="Times New Roman" panose="02020603050405020304" pitchFamily="18" charset="0"/>
                <a:cs typeface="Times New Roman" panose="02020603050405020304" pitchFamily="18" charset="0"/>
              </a:rPr>
              <a:t> either </a:t>
            </a:r>
            <a:r>
              <a:rPr lang="en-US" dirty="0">
                <a:solidFill>
                  <a:srgbClr val="C00000"/>
                </a:solidFill>
                <a:latin typeface="Times New Roman" panose="02020603050405020304" pitchFamily="18" charset="0"/>
                <a:cs typeface="Times New Roman" panose="02020603050405020304" pitchFamily="18" charset="0"/>
              </a:rPr>
              <a:t>only 'yes'</a:t>
            </a:r>
            <a:r>
              <a:rPr lang="en-US" dirty="0">
                <a:solidFill>
                  <a:srgbClr val="0000FF"/>
                </a:solidFill>
                <a:latin typeface="Times New Roman" panose="02020603050405020304" pitchFamily="18" charset="0"/>
                <a:cs typeface="Times New Roman" panose="02020603050405020304" pitchFamily="18" charset="0"/>
              </a:rPr>
              <a:t> or </a:t>
            </a:r>
            <a:r>
              <a:rPr lang="en-US" dirty="0">
                <a:solidFill>
                  <a:srgbClr val="C00000"/>
                </a:solidFill>
                <a:latin typeface="Times New Roman" panose="02020603050405020304" pitchFamily="18" charset="0"/>
                <a:cs typeface="Times New Roman" panose="02020603050405020304" pitchFamily="18" charset="0"/>
              </a:rPr>
              <a:t>only 'no'.</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means, </a:t>
            </a:r>
            <a:r>
              <a:rPr lang="en-US" b="1" dirty="0">
                <a:latin typeface="Times New Roman" panose="02020603050405020304" pitchFamily="18" charset="0"/>
                <a:cs typeface="Times New Roman" panose="02020603050405020304" pitchFamily="18" charset="0"/>
              </a:rPr>
              <a:t>just by looking at the 'budget' value, you cannot predict if a person will buy a mobile.</a:t>
            </a:r>
          </a:p>
          <a:p>
            <a:pPr marL="0" indent="0" algn="just">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Content Placeholder 4"/>
          <p:cNvSpPr>
            <a:spLocks noGrp="1"/>
          </p:cNvSpPr>
          <p:nvPr>
            <p:ph sz="half" idx="2"/>
          </p:nvPr>
        </p:nvSpPr>
        <p:spPr>
          <a:xfrm>
            <a:off x="3747973" y="908049"/>
            <a:ext cx="4906888" cy="5813426"/>
          </a:xfrm>
        </p:spPr>
        <p:txBody>
          <a:bodyPr>
            <a:normAutofit fontScale="70000" lnSpcReduction="20000"/>
          </a:bodyPr>
          <a:lstStyle/>
          <a:p>
            <a:r>
              <a:rPr lang="en-IN" dirty="0" smtClean="0">
                <a:solidFill>
                  <a:srgbClr val="0000FF"/>
                </a:solidFill>
              </a:rPr>
              <a:t>Budget=low (</a:t>
            </a:r>
            <a:r>
              <a:rPr lang="en-IN" dirty="0" smtClean="0">
                <a:solidFill>
                  <a:srgbClr val="C00000"/>
                </a:solidFill>
              </a:rPr>
              <a:t>yes: 3, No :1</a:t>
            </a:r>
            <a:r>
              <a:rPr lang="en-IN" dirty="0" smtClean="0">
                <a:solidFill>
                  <a:srgbClr val="0000FF"/>
                </a:solidFill>
              </a:rPr>
              <a:t>)  </a:t>
            </a:r>
            <a:r>
              <a:rPr lang="en-IN" dirty="0" smtClean="0"/>
              <a:t>, Total =4</a:t>
            </a:r>
          </a:p>
          <a:p>
            <a:pPr marL="0" indent="0">
              <a:buNone/>
            </a:pPr>
            <a:endParaRPr lang="en-IN" dirty="0" smtClean="0"/>
          </a:p>
          <a:p>
            <a:pPr marL="0" indent="0">
              <a:buNone/>
            </a:pPr>
            <a:r>
              <a:rPr lang="en-IN" dirty="0" smtClean="0"/>
              <a:t>   </a:t>
            </a:r>
          </a:p>
          <a:p>
            <a:pPr marL="0" indent="0">
              <a:buNone/>
            </a:pPr>
            <a:endParaRPr lang="en-IN" dirty="0"/>
          </a:p>
          <a:p>
            <a:pPr marL="0" indent="0">
              <a:buNone/>
            </a:pPr>
            <a:endParaRPr lang="en-IN" dirty="0" smtClean="0"/>
          </a:p>
          <a:p>
            <a:pPr marL="0" indent="0">
              <a:buNone/>
            </a:pPr>
            <a:endParaRPr lang="en-IN" dirty="0"/>
          </a:p>
          <a:p>
            <a:r>
              <a:rPr lang="en-IN" dirty="0" smtClean="0">
                <a:solidFill>
                  <a:srgbClr val="0000FF"/>
                </a:solidFill>
              </a:rPr>
              <a:t>Budget= medium  </a:t>
            </a:r>
            <a:r>
              <a:rPr lang="en-IN" dirty="0" smtClean="0">
                <a:solidFill>
                  <a:srgbClr val="C00000"/>
                </a:solidFill>
              </a:rPr>
              <a:t>(yes:4,No:2</a:t>
            </a:r>
            <a:r>
              <a:rPr lang="en-IN" dirty="0" smtClean="0">
                <a:solidFill>
                  <a:srgbClr val="0000FF"/>
                </a:solidFill>
              </a:rPr>
              <a:t>), Total =6</a:t>
            </a:r>
          </a:p>
          <a:p>
            <a:pPr marL="0" indent="0">
              <a:buNone/>
            </a:pPr>
            <a:r>
              <a:rPr lang="en-IN" dirty="0"/>
              <a:t> </a:t>
            </a:r>
            <a:r>
              <a:rPr lang="en-IN" dirty="0" smtClean="0"/>
              <a:t> </a:t>
            </a:r>
            <a:endParaRPr lang="en-IN" dirty="0"/>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endParaRPr lang="en-IN" dirty="0" smtClean="0"/>
          </a:p>
          <a:p>
            <a:r>
              <a:rPr lang="en-IN" dirty="0" smtClean="0">
                <a:solidFill>
                  <a:srgbClr val="0000FF"/>
                </a:solidFill>
              </a:rPr>
              <a:t>Budget= high (</a:t>
            </a:r>
            <a:r>
              <a:rPr lang="en-IN" dirty="0" smtClean="0">
                <a:solidFill>
                  <a:srgbClr val="C00000"/>
                </a:solidFill>
              </a:rPr>
              <a:t>yes:2, No: 2</a:t>
            </a:r>
            <a:r>
              <a:rPr lang="en-IN" dirty="0" smtClean="0">
                <a:solidFill>
                  <a:srgbClr val="0000FF"/>
                </a:solidFill>
              </a:rPr>
              <a:t>), Total=4</a:t>
            </a:r>
          </a:p>
          <a:p>
            <a:pPr marL="0" indent="0">
              <a:buNone/>
            </a:pPr>
            <a:endParaRPr lang="en-IN" dirty="0"/>
          </a:p>
          <a:p>
            <a:pPr marL="0" indent="0">
              <a:buNone/>
            </a:pPr>
            <a:endParaRPr lang="en-IN" dirty="0"/>
          </a:p>
        </p:txBody>
      </p:sp>
      <p:sp>
        <p:nvSpPr>
          <p:cNvPr id="4" name="Slide Number Placeholder 3"/>
          <p:cNvSpPr>
            <a:spLocks noGrp="1"/>
          </p:cNvSpPr>
          <p:nvPr>
            <p:ph type="sldNum" sz="quarter" idx="12"/>
          </p:nvPr>
        </p:nvSpPr>
        <p:spPr/>
        <p:txBody>
          <a:bodyPr/>
          <a:lstStyle/>
          <a:p>
            <a:fld id="{4EB28266-621B-4E6C-B384-6411A00B5EC3}" type="slidenum">
              <a:rPr lang="en-US" smtClean="0"/>
              <a:pPr/>
              <a:t>7</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262342014"/>
              </p:ext>
            </p:extLst>
          </p:nvPr>
        </p:nvGraphicFramePr>
        <p:xfrm>
          <a:off x="3995937" y="1268760"/>
          <a:ext cx="4776096" cy="1277979"/>
        </p:xfrm>
        <a:graphic>
          <a:graphicData uri="http://schemas.openxmlformats.org/drawingml/2006/table">
            <a:tbl>
              <a:tblPr>
                <a:tableStyleId>{5C22544A-7EE6-4342-B048-85BDC9FD1C3A}</a:tableStyleId>
              </a:tblPr>
              <a:tblGrid>
                <a:gridCol w="769878"/>
                <a:gridCol w="684336"/>
                <a:gridCol w="1268873"/>
                <a:gridCol w="769878"/>
                <a:gridCol w="1283131"/>
              </a:tblGrid>
              <a:tr h="411751">
                <a:tc>
                  <a:txBody>
                    <a:bodyPr/>
                    <a:lstStyle/>
                    <a:p>
                      <a:pPr algn="ctr" fontAlgn="b"/>
                      <a:r>
                        <a:rPr lang="en-IN" sz="1100" u="none" strike="noStrike" dirty="0" err="1" smtClean="0">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smtClean="0">
                          <a:effectLst/>
                        </a:rPr>
                        <a:t>budget</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purchase_mobile</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216557">
                <a:tc>
                  <a:txBody>
                    <a:bodyPr/>
                    <a:lstStyle/>
                    <a:p>
                      <a:pPr algn="ctr" fontAlgn="b"/>
                      <a:r>
                        <a:rPr lang="en-IN" sz="1100" u="none" strike="noStrike" dirty="0">
                          <a:effectLst/>
                        </a:rPr>
                        <a:t>30 to 60</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low</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216557">
                <a:tc>
                  <a:txBody>
                    <a:bodyPr/>
                    <a:lstStyle/>
                    <a:p>
                      <a:pPr algn="ctr" fontAlgn="b"/>
                      <a:r>
                        <a:rPr lang="en-IN" sz="1100" u="none" strike="noStrike" dirty="0">
                          <a:effectLst/>
                        </a:rPr>
                        <a:t>above 60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low</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216557">
                <a:tc>
                  <a:txBody>
                    <a:bodyPr/>
                    <a:lstStyle/>
                    <a:p>
                      <a:pPr algn="ctr" fontAlgn="b"/>
                      <a:r>
                        <a:rPr lang="en-IN" sz="1100" u="none" strike="noStrike">
                          <a:effectLst/>
                        </a:rPr>
                        <a:t>above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low</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216557">
                <a:tc>
                  <a:txBody>
                    <a:bodyPr/>
                    <a:lstStyle/>
                    <a:p>
                      <a:pPr algn="ctr" fontAlgn="b"/>
                      <a:r>
                        <a:rPr lang="en-IN" sz="1100" u="none" strike="noStrike" dirty="0">
                          <a:effectLst/>
                        </a:rPr>
                        <a:t>below 30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low</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671349395"/>
              </p:ext>
            </p:extLst>
          </p:nvPr>
        </p:nvGraphicFramePr>
        <p:xfrm>
          <a:off x="3995937" y="3101401"/>
          <a:ext cx="4824536" cy="1466595"/>
        </p:xfrm>
        <a:graphic>
          <a:graphicData uri="http://schemas.openxmlformats.org/drawingml/2006/table">
            <a:tbl>
              <a:tblPr>
                <a:tableStyleId>{5C22544A-7EE6-4342-B048-85BDC9FD1C3A}</a:tableStyleId>
              </a:tblPr>
              <a:tblGrid>
                <a:gridCol w="777686"/>
                <a:gridCol w="662473"/>
                <a:gridCol w="1361184"/>
                <a:gridCol w="727050"/>
                <a:gridCol w="1296143"/>
              </a:tblGrid>
              <a:tr h="334537">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a:effectLst/>
                        </a:rPr>
                        <a:t>budget</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purchase_mobile</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6737">
                <a:tc>
                  <a:txBody>
                    <a:bodyPr/>
                    <a:lstStyle/>
                    <a:p>
                      <a:pPr algn="ctr" fontAlgn="b"/>
                      <a:r>
                        <a:rPr lang="en-IN" sz="1100" u="none" strike="noStrike" dirty="0">
                          <a:effectLst/>
                        </a:rPr>
                        <a:t>above 60</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no</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medium</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248373">
                <a:tc>
                  <a:txBody>
                    <a:bodyPr/>
                    <a:lstStyle/>
                    <a:p>
                      <a:pPr algn="ctr" fontAlgn="b"/>
                      <a:r>
                        <a:rPr lang="en-IN" sz="1100" u="none" strike="noStrike">
                          <a:effectLst/>
                        </a:rPr>
                        <a:t>below 30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no</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medium</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176737">
                <a:tc>
                  <a:txBody>
                    <a:bodyPr/>
                    <a:lstStyle/>
                    <a:p>
                      <a:pPr algn="ctr" fontAlgn="b"/>
                      <a:r>
                        <a:rPr lang="en-IN" sz="1100" u="none" strike="noStrike" dirty="0">
                          <a:effectLst/>
                        </a:rPr>
                        <a:t>above 60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medium</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76737">
                <a:tc>
                  <a:txBody>
                    <a:bodyPr/>
                    <a:lstStyle/>
                    <a:p>
                      <a:pPr algn="ctr" fontAlgn="b"/>
                      <a:r>
                        <a:rPr lang="en-IN" sz="1100" u="none" strike="noStrike">
                          <a:effectLst/>
                        </a:rPr>
                        <a:t>below 30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medium</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76737">
                <a:tc>
                  <a:txBody>
                    <a:bodyPr/>
                    <a:lstStyle/>
                    <a:p>
                      <a:pPr algn="ctr" fontAlgn="b"/>
                      <a:r>
                        <a:rPr lang="en-IN" sz="1100" u="none" strike="noStrike">
                          <a:effectLst/>
                        </a:rPr>
                        <a:t>30 to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medium</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76737">
                <a:tc>
                  <a:txBody>
                    <a:bodyPr/>
                    <a:lstStyle/>
                    <a:p>
                      <a:pPr algn="ctr" fontAlgn="b"/>
                      <a:r>
                        <a:rPr lang="en-IN" sz="1100" u="none" strike="noStrike" dirty="0">
                          <a:effectLst/>
                        </a:rPr>
                        <a:t>above 60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female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medium</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942615110"/>
              </p:ext>
            </p:extLst>
          </p:nvPr>
        </p:nvGraphicFramePr>
        <p:xfrm>
          <a:off x="3995937" y="5301207"/>
          <a:ext cx="4824536" cy="1055143"/>
        </p:xfrm>
        <a:graphic>
          <a:graphicData uri="http://schemas.openxmlformats.org/drawingml/2006/table">
            <a:tbl>
              <a:tblPr>
                <a:tableStyleId>{5C22544A-7EE6-4342-B048-85BDC9FD1C3A}</a:tableStyleId>
              </a:tblPr>
              <a:tblGrid>
                <a:gridCol w="777687"/>
                <a:gridCol w="691278"/>
                <a:gridCol w="1281742"/>
                <a:gridCol w="719095"/>
                <a:gridCol w="1354734"/>
              </a:tblGrid>
              <a:tr h="212029">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a:effectLst/>
                        </a:rPr>
                        <a:t>gender</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a:effectLst/>
                        </a:rPr>
                        <a:t>budget</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purchase_mobile</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184312">
                <a:tc>
                  <a:txBody>
                    <a:bodyPr/>
                    <a:lstStyle/>
                    <a:p>
                      <a:pPr algn="ctr" fontAlgn="b"/>
                      <a:r>
                        <a:rPr lang="en-IN" sz="1100" u="none" strike="noStrike" dirty="0">
                          <a:effectLst/>
                        </a:rPr>
                        <a:t>below 30</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smtClean="0">
                          <a:solidFill>
                            <a:srgbClr val="C00000"/>
                          </a:solidFill>
                          <a:effectLst/>
                        </a:rPr>
                        <a:t>High</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290178">
                <a:tc>
                  <a:txBody>
                    <a:bodyPr/>
                    <a:lstStyle/>
                    <a:p>
                      <a:pPr algn="ctr" fontAlgn="b"/>
                      <a:r>
                        <a:rPr lang="en-IN" sz="1100" u="none" strike="noStrike" dirty="0">
                          <a:effectLst/>
                        </a:rPr>
                        <a:t>below 30</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female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high</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184312">
                <a:tc>
                  <a:txBody>
                    <a:bodyPr/>
                    <a:lstStyle/>
                    <a:p>
                      <a:pPr algn="ctr" fontAlgn="b"/>
                      <a:r>
                        <a:rPr lang="en-IN" sz="1100" u="none" strike="noStrike">
                          <a:effectLst/>
                        </a:rPr>
                        <a:t>30 to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female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high</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84312">
                <a:tc>
                  <a:txBody>
                    <a:bodyPr/>
                    <a:lstStyle/>
                    <a:p>
                      <a:pPr algn="ctr" fontAlgn="b"/>
                      <a:r>
                        <a:rPr lang="en-IN" sz="1100" u="none" strike="noStrike">
                          <a:effectLst/>
                        </a:rPr>
                        <a:t>30 to 60</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high</a:t>
                      </a:r>
                      <a:endParaRPr lang="en-IN" sz="1100" b="0" i="0" u="none" strike="noStrike" dirty="0">
                        <a:solidFill>
                          <a:srgbClr val="C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bl>
          </a:graphicData>
        </a:graphic>
      </p:graphicFrame>
    </p:spTree>
    <p:extLst>
      <p:ext uri="{BB962C8B-B14F-4D97-AF65-F5344CB8AC3E}">
        <p14:creationId xmlns:p14="http://schemas.microsoft.com/office/powerpoint/2010/main" val="42295179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189" y="260648"/>
            <a:ext cx="8229600" cy="360040"/>
          </a:xfrm>
        </p:spPr>
        <p:txBody>
          <a:bodyPr>
            <a:normAutofit fontScale="90000"/>
          </a:bodyPr>
          <a:lstStyle/>
          <a:p>
            <a:r>
              <a:rPr lang="en-IN" sz="3600" b="1" dirty="0">
                <a:latin typeface="Times New Roman" panose="02020603050405020304" pitchFamily="18" charset="0"/>
                <a:cs typeface="Times New Roman" panose="02020603050405020304" pitchFamily="18" charset="0"/>
              </a:rPr>
              <a:t>Splitting the </a:t>
            </a:r>
            <a:r>
              <a:rPr lang="en-IN" sz="3600" b="1" dirty="0" smtClean="0">
                <a:latin typeface="Times New Roman" panose="02020603050405020304" pitchFamily="18" charset="0"/>
                <a:cs typeface="Times New Roman" panose="02020603050405020304" pitchFamily="18" charset="0"/>
              </a:rPr>
              <a:t>Dataset</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251520" y="1268760"/>
            <a:ext cx="3528392" cy="4857403"/>
          </a:xfrm>
        </p:spPr>
        <p:txBody>
          <a:bodyPr>
            <a:normAutofit fontScale="70000" lnSpcReduction="20000"/>
          </a:bodyPr>
          <a:lstStyle/>
          <a:p>
            <a:pPr algn="just"/>
            <a:r>
              <a:rPr lang="en-US" dirty="0" smtClean="0">
                <a:latin typeface="Times New Roman" panose="02020603050405020304" pitchFamily="18" charset="0"/>
                <a:cs typeface="Times New Roman" panose="02020603050405020304" pitchFamily="18" charset="0"/>
              </a:rPr>
              <a:t>Split </a:t>
            </a:r>
            <a:r>
              <a:rPr lang="en-US" dirty="0">
                <a:latin typeface="Times New Roman" panose="02020603050405020304" pitchFamily="18" charset="0"/>
                <a:cs typeface="Times New Roman" panose="02020603050405020304" pitchFamily="18" charset="0"/>
              </a:rPr>
              <a:t>the dataset on the </a:t>
            </a:r>
            <a:r>
              <a:rPr lang="en-US" dirty="0" smtClean="0">
                <a:solidFill>
                  <a:srgbClr val="0000FF"/>
                </a:solidFill>
                <a:latin typeface="Times New Roman" panose="02020603050405020304" pitchFamily="18" charset="0"/>
                <a:cs typeface="Times New Roman" panose="02020603050405020304" pitchFamily="18" charset="0"/>
              </a:rPr>
              <a:t>‘</a:t>
            </a:r>
            <a:r>
              <a:rPr lang="en-US" dirty="0" err="1" smtClean="0">
                <a:solidFill>
                  <a:srgbClr val="0000FF"/>
                </a:solidFill>
                <a:latin typeface="Times New Roman" panose="02020603050405020304" pitchFamily="18" charset="0"/>
                <a:cs typeface="Times New Roman" panose="02020603050405020304" pitchFamily="18" charset="0"/>
              </a:rPr>
              <a:t>age_group</a:t>
            </a:r>
            <a:r>
              <a:rPr lang="en-US" dirty="0" smtClean="0">
                <a:solidFill>
                  <a:srgbClr val="0000FF"/>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attribute, which takes one of the 3 values - </a:t>
            </a:r>
            <a:r>
              <a:rPr lang="en-US" dirty="0" smtClean="0">
                <a:solidFill>
                  <a:srgbClr val="C00000"/>
                </a:solidFill>
                <a:latin typeface="Times New Roman" panose="02020603050405020304" pitchFamily="18" charset="0"/>
                <a:cs typeface="Times New Roman" panose="02020603050405020304" pitchFamily="18" charset="0"/>
              </a:rPr>
              <a:t>‘below 30,’30 to 60’,</a:t>
            </a: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      above 60.</a:t>
            </a:r>
            <a:endParaRPr lang="en-US" dirty="0">
              <a:solidFill>
                <a:srgbClr val="C00000"/>
              </a:solidFill>
              <a:latin typeface="Times New Roman" panose="02020603050405020304" pitchFamily="18" charset="0"/>
              <a:cs typeface="Times New Roman" panose="02020603050405020304" pitchFamily="18" charset="0"/>
            </a:endParaRPr>
          </a:p>
          <a:p>
            <a:pPr algn="just"/>
            <a:endParaRPr lang="en-US" dirty="0">
              <a:solidFill>
                <a:srgbClr val="C0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is observed that the above split </a:t>
            </a:r>
            <a:r>
              <a:rPr lang="en-US" dirty="0" smtClean="0">
                <a:latin typeface="Times New Roman" panose="02020603050405020304" pitchFamily="18" charset="0"/>
                <a:cs typeface="Times New Roman" panose="02020603050405020304" pitchFamily="18" charset="0"/>
              </a:rPr>
              <a:t>resulted in </a:t>
            </a:r>
            <a:r>
              <a:rPr lang="en-US" dirty="0" smtClean="0">
                <a:solidFill>
                  <a:srgbClr val="0000FF"/>
                </a:solidFill>
                <a:latin typeface="Times New Roman" panose="02020603050405020304" pitchFamily="18" charset="0"/>
                <a:cs typeface="Times New Roman" panose="02020603050405020304" pitchFamily="18" charset="0"/>
              </a:rPr>
              <a:t>one</a:t>
            </a:r>
            <a:r>
              <a:rPr lang="en-US" dirty="0" smtClean="0">
                <a:latin typeface="Times New Roman" panose="02020603050405020304" pitchFamily="18" charset="0"/>
                <a:cs typeface="Times New Roman" panose="02020603050405020304" pitchFamily="18" charset="0"/>
              </a:rPr>
              <a:t> </a:t>
            </a:r>
            <a:r>
              <a:rPr lang="en-US" dirty="0" smtClean="0">
                <a:solidFill>
                  <a:srgbClr val="0000FF"/>
                </a:solidFill>
                <a:latin typeface="Times New Roman" panose="02020603050405020304" pitchFamily="18" charset="0"/>
                <a:cs typeface="Times New Roman" panose="02020603050405020304" pitchFamily="18" charset="0"/>
              </a:rPr>
              <a:t>subset </a:t>
            </a:r>
            <a:r>
              <a:rPr lang="en-US" dirty="0">
                <a:solidFill>
                  <a:srgbClr val="0000FF"/>
                </a:solidFill>
                <a:latin typeface="Times New Roman" panose="02020603050405020304" pitchFamily="18" charset="0"/>
                <a:cs typeface="Times New Roman" panose="02020603050405020304" pitchFamily="18" charset="0"/>
              </a:rPr>
              <a:t>that contains the instances of </a:t>
            </a:r>
            <a:r>
              <a:rPr lang="en-US" dirty="0" smtClean="0">
                <a:solidFill>
                  <a:srgbClr val="0000FF"/>
                </a:solidFill>
                <a:latin typeface="Times New Roman" panose="02020603050405020304" pitchFamily="18" charset="0"/>
                <a:cs typeface="Times New Roman" panose="02020603050405020304" pitchFamily="18" charset="0"/>
              </a:rPr>
              <a:t>class("</a:t>
            </a:r>
            <a:r>
              <a:rPr lang="en-US" dirty="0" err="1">
                <a:solidFill>
                  <a:srgbClr val="0000FF"/>
                </a:solidFill>
                <a:latin typeface="Times New Roman" panose="02020603050405020304" pitchFamily="18" charset="0"/>
                <a:cs typeface="Times New Roman" panose="02020603050405020304" pitchFamily="18" charset="0"/>
              </a:rPr>
              <a:t>purchases_mobile</a:t>
            </a:r>
            <a:r>
              <a:rPr lang="en-US" dirty="0">
                <a:solidFill>
                  <a:srgbClr val="0000FF"/>
                </a:solidFill>
                <a:latin typeface="Times New Roman" panose="02020603050405020304" pitchFamily="18" charset="0"/>
                <a:cs typeface="Times New Roman" panose="02020603050405020304" pitchFamily="18" charset="0"/>
              </a:rPr>
              <a:t>")</a:t>
            </a:r>
            <a:r>
              <a:rPr lang="en-US" dirty="0" smtClean="0">
                <a:solidFill>
                  <a:srgbClr val="0000FF"/>
                </a:solidFill>
                <a:latin typeface="Times New Roman" panose="02020603050405020304" pitchFamily="18" charset="0"/>
                <a:cs typeface="Times New Roman" panose="02020603050405020304" pitchFamily="18" charset="0"/>
              </a:rPr>
              <a:t> label </a:t>
            </a:r>
            <a:r>
              <a:rPr lang="en-US" dirty="0" smtClean="0">
                <a:solidFill>
                  <a:srgbClr val="C00000"/>
                </a:solidFill>
                <a:latin typeface="Times New Roman" panose="02020603050405020304" pitchFamily="18" charset="0"/>
                <a:cs typeface="Times New Roman" panose="02020603050405020304" pitchFamily="18" charset="0"/>
              </a:rPr>
              <a:t>only </a:t>
            </a:r>
            <a:r>
              <a:rPr lang="en-US" dirty="0">
                <a:solidFill>
                  <a:srgbClr val="C00000"/>
                </a:solidFill>
                <a:latin typeface="Times New Roman" panose="02020603050405020304" pitchFamily="18" charset="0"/>
                <a:cs typeface="Times New Roman" panose="02020603050405020304" pitchFamily="18" charset="0"/>
              </a:rPr>
              <a:t>'yes'</a:t>
            </a:r>
            <a:r>
              <a:rPr lang="en-US" dirty="0">
                <a:solidFill>
                  <a:srgbClr val="0000FF"/>
                </a:solidFill>
                <a:latin typeface="Times New Roman" panose="02020603050405020304" pitchFamily="18" charset="0"/>
                <a:cs typeface="Times New Roman" panose="02020603050405020304" pitchFamily="18" charset="0"/>
              </a:rPr>
              <a:t> </a:t>
            </a:r>
            <a:endParaRPr lang="en-US" dirty="0">
              <a:solidFill>
                <a:srgbClr val="C00000"/>
              </a:solidFill>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means, </a:t>
            </a:r>
            <a:r>
              <a:rPr lang="en-US" b="1" dirty="0">
                <a:latin typeface="Times New Roman" panose="02020603050405020304" pitchFamily="18" charset="0"/>
                <a:cs typeface="Times New Roman" panose="02020603050405020304" pitchFamily="18" charset="0"/>
              </a:rPr>
              <a:t>just by looking at the </a:t>
            </a:r>
            <a:r>
              <a:rPr lang="en-US" b="1" dirty="0" smtClean="0">
                <a:latin typeface="Times New Roman" panose="02020603050405020304" pitchFamily="18" charset="0"/>
                <a:cs typeface="Times New Roman" panose="02020603050405020304" pitchFamily="18" charset="0"/>
              </a:rPr>
              <a:t>‘</a:t>
            </a:r>
            <a:r>
              <a:rPr lang="en-US" b="1" dirty="0" err="1" smtClean="0">
                <a:latin typeface="Times New Roman" panose="02020603050405020304" pitchFamily="18" charset="0"/>
                <a:cs typeface="Times New Roman" panose="02020603050405020304" pitchFamily="18" charset="0"/>
              </a:rPr>
              <a:t>age_group</a:t>
            </a:r>
            <a:r>
              <a:rPr lang="en-US" b="1" dirty="0" smtClean="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value, you </a:t>
            </a:r>
            <a:r>
              <a:rPr lang="en-US" b="1" dirty="0" smtClean="0">
                <a:latin typeface="Times New Roman" panose="02020603050405020304" pitchFamily="18" charset="0"/>
                <a:cs typeface="Times New Roman" panose="02020603050405020304" pitchFamily="18" charset="0"/>
              </a:rPr>
              <a:t>may predict</a:t>
            </a:r>
            <a:r>
              <a:rPr lang="en-US" b="1" dirty="0">
                <a:latin typeface="Times New Roman" panose="02020603050405020304" pitchFamily="18" charset="0"/>
                <a:cs typeface="Times New Roman" panose="02020603050405020304" pitchFamily="18" charset="0"/>
              </a:rPr>
              <a:t> if a person will buy a mobile.</a:t>
            </a:r>
          </a:p>
          <a:p>
            <a:pPr marL="0" indent="0" algn="just">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Content Placeholder 4"/>
          <p:cNvSpPr>
            <a:spLocks noGrp="1"/>
          </p:cNvSpPr>
          <p:nvPr>
            <p:ph sz="half" idx="2"/>
          </p:nvPr>
        </p:nvSpPr>
        <p:spPr>
          <a:xfrm>
            <a:off x="3779912" y="923122"/>
            <a:ext cx="4906888" cy="5433228"/>
          </a:xfrm>
        </p:spPr>
        <p:txBody>
          <a:bodyPr>
            <a:normAutofit fontScale="70000" lnSpcReduction="20000"/>
          </a:bodyPr>
          <a:lstStyle/>
          <a:p>
            <a:pPr marL="0" indent="0">
              <a:buNone/>
            </a:pPr>
            <a:r>
              <a:rPr lang="en-IN" b="1" dirty="0" err="1" smtClean="0">
                <a:solidFill>
                  <a:srgbClr val="C00000"/>
                </a:solidFill>
              </a:rPr>
              <a:t>Age_group</a:t>
            </a:r>
            <a:r>
              <a:rPr lang="en-IN" b="1" dirty="0" smtClean="0">
                <a:solidFill>
                  <a:srgbClr val="C00000"/>
                </a:solidFill>
              </a:rPr>
              <a:t>=30 to 60 (yes: 4, No :0)  , Total =4</a:t>
            </a:r>
          </a:p>
          <a:p>
            <a:pPr marL="0" indent="0">
              <a:buNone/>
            </a:pPr>
            <a:endParaRPr lang="en-IN" dirty="0" smtClean="0"/>
          </a:p>
          <a:p>
            <a:pPr marL="0" indent="0">
              <a:buNone/>
            </a:pPr>
            <a:r>
              <a:rPr lang="en-IN" dirty="0" smtClean="0"/>
              <a:t>   </a:t>
            </a:r>
          </a:p>
          <a:p>
            <a:pPr marL="0" indent="0">
              <a:buNone/>
            </a:pPr>
            <a:endParaRPr lang="en-IN" dirty="0"/>
          </a:p>
          <a:p>
            <a:pPr marL="0" indent="0">
              <a:buNone/>
            </a:pPr>
            <a:endParaRPr lang="en-IN" dirty="0" smtClean="0"/>
          </a:p>
          <a:p>
            <a:pPr marL="0" indent="0">
              <a:buNone/>
            </a:pPr>
            <a:endParaRPr lang="en-IN" dirty="0"/>
          </a:p>
          <a:p>
            <a:pPr marL="0" indent="0">
              <a:buNone/>
            </a:pPr>
            <a:r>
              <a:rPr lang="en-IN" dirty="0" err="1">
                <a:solidFill>
                  <a:srgbClr val="0000FF"/>
                </a:solidFill>
              </a:rPr>
              <a:t>Age_group</a:t>
            </a:r>
            <a:r>
              <a:rPr lang="en-IN" dirty="0" smtClean="0">
                <a:solidFill>
                  <a:srgbClr val="0000FF"/>
                </a:solidFill>
              </a:rPr>
              <a:t>= below 30(yes</a:t>
            </a:r>
            <a:r>
              <a:rPr lang="en-IN" dirty="0">
                <a:solidFill>
                  <a:srgbClr val="0000FF"/>
                </a:solidFill>
              </a:rPr>
              <a:t>: </a:t>
            </a:r>
            <a:r>
              <a:rPr lang="en-IN" dirty="0" smtClean="0">
                <a:solidFill>
                  <a:srgbClr val="0000FF"/>
                </a:solidFill>
              </a:rPr>
              <a:t>2, </a:t>
            </a:r>
            <a:r>
              <a:rPr lang="en-IN" dirty="0">
                <a:solidFill>
                  <a:srgbClr val="0000FF"/>
                </a:solidFill>
              </a:rPr>
              <a:t>No </a:t>
            </a:r>
            <a:r>
              <a:rPr lang="en-IN" dirty="0" smtClean="0">
                <a:solidFill>
                  <a:srgbClr val="0000FF"/>
                </a:solidFill>
              </a:rPr>
              <a:t>:3)  </a:t>
            </a:r>
            <a:r>
              <a:rPr lang="en-IN" dirty="0">
                <a:solidFill>
                  <a:srgbClr val="0000FF"/>
                </a:solidFill>
              </a:rPr>
              <a:t>, Total </a:t>
            </a:r>
            <a:r>
              <a:rPr lang="en-IN" dirty="0" smtClean="0">
                <a:solidFill>
                  <a:srgbClr val="0000FF"/>
                </a:solidFill>
              </a:rPr>
              <a:t>=5</a:t>
            </a:r>
            <a:endParaRPr lang="en-IN" dirty="0">
              <a:solidFill>
                <a:srgbClr val="0000FF"/>
              </a:solidFill>
            </a:endParaRPr>
          </a:p>
          <a:p>
            <a:pPr marL="0" indent="0">
              <a:buNone/>
            </a:pPr>
            <a:r>
              <a:rPr lang="en-IN" dirty="0" smtClean="0"/>
              <a:t>  </a:t>
            </a:r>
            <a:endParaRPr lang="en-IN" dirty="0"/>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r>
              <a:rPr lang="en-IN" dirty="0" err="1" smtClean="0">
                <a:solidFill>
                  <a:srgbClr val="0000FF"/>
                </a:solidFill>
              </a:rPr>
              <a:t>Age_group</a:t>
            </a:r>
            <a:r>
              <a:rPr lang="en-IN" dirty="0" smtClean="0">
                <a:solidFill>
                  <a:srgbClr val="0000FF"/>
                </a:solidFill>
              </a:rPr>
              <a:t>=above </a:t>
            </a:r>
            <a:r>
              <a:rPr lang="en-IN" dirty="0">
                <a:solidFill>
                  <a:srgbClr val="0000FF"/>
                </a:solidFill>
              </a:rPr>
              <a:t>60 (yes: </a:t>
            </a:r>
            <a:r>
              <a:rPr lang="en-IN" dirty="0" smtClean="0">
                <a:solidFill>
                  <a:srgbClr val="0000FF"/>
                </a:solidFill>
              </a:rPr>
              <a:t>3, </a:t>
            </a:r>
            <a:r>
              <a:rPr lang="en-IN" dirty="0">
                <a:solidFill>
                  <a:srgbClr val="0000FF"/>
                </a:solidFill>
              </a:rPr>
              <a:t>No </a:t>
            </a:r>
            <a:r>
              <a:rPr lang="en-IN" dirty="0" smtClean="0">
                <a:solidFill>
                  <a:srgbClr val="0000FF"/>
                </a:solidFill>
              </a:rPr>
              <a:t>:2)  </a:t>
            </a:r>
            <a:r>
              <a:rPr lang="en-IN" dirty="0">
                <a:solidFill>
                  <a:srgbClr val="0000FF"/>
                </a:solidFill>
              </a:rPr>
              <a:t>, Total </a:t>
            </a:r>
            <a:r>
              <a:rPr lang="en-IN" dirty="0" smtClean="0">
                <a:solidFill>
                  <a:srgbClr val="0000FF"/>
                </a:solidFill>
              </a:rPr>
              <a:t>=5</a:t>
            </a:r>
            <a:endParaRPr lang="en-IN" dirty="0">
              <a:solidFill>
                <a:srgbClr val="0000FF"/>
              </a:solidFill>
            </a:endParaRPr>
          </a:p>
          <a:p>
            <a:pPr marL="0" indent="0">
              <a:buNone/>
            </a:pPr>
            <a:endParaRPr lang="en-IN" dirty="0"/>
          </a:p>
          <a:p>
            <a:pPr marL="0" indent="0">
              <a:buNone/>
            </a:pPr>
            <a:endParaRPr lang="en-IN" dirty="0"/>
          </a:p>
        </p:txBody>
      </p:sp>
      <p:sp>
        <p:nvSpPr>
          <p:cNvPr id="4" name="Slide Number Placeholder 3"/>
          <p:cNvSpPr>
            <a:spLocks noGrp="1"/>
          </p:cNvSpPr>
          <p:nvPr>
            <p:ph type="sldNum" sz="quarter" idx="12"/>
          </p:nvPr>
        </p:nvSpPr>
        <p:spPr/>
        <p:txBody>
          <a:bodyPr/>
          <a:lstStyle/>
          <a:p>
            <a:fld id="{4EB28266-621B-4E6C-B384-6411A00B5EC3}" type="slidenum">
              <a:rPr lang="en-US" smtClean="0"/>
              <a:pPr/>
              <a:t>8</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1769727820"/>
              </p:ext>
            </p:extLst>
          </p:nvPr>
        </p:nvGraphicFramePr>
        <p:xfrm>
          <a:off x="3995937" y="1268760"/>
          <a:ext cx="4776096" cy="1277979"/>
        </p:xfrm>
        <a:graphic>
          <a:graphicData uri="http://schemas.openxmlformats.org/drawingml/2006/table">
            <a:tbl>
              <a:tblPr>
                <a:tableStyleId>{5C22544A-7EE6-4342-B048-85BDC9FD1C3A}</a:tableStyleId>
              </a:tblPr>
              <a:tblGrid>
                <a:gridCol w="769878"/>
                <a:gridCol w="684336"/>
                <a:gridCol w="1268873"/>
                <a:gridCol w="769878"/>
                <a:gridCol w="1283131"/>
              </a:tblGrid>
              <a:tr h="411751">
                <a:tc>
                  <a:txBody>
                    <a:bodyPr/>
                    <a:lstStyle/>
                    <a:p>
                      <a:pPr algn="ctr" fontAlgn="b"/>
                      <a:r>
                        <a:rPr lang="en-IN" sz="1100" b="0" i="0" u="none" strike="noStrike" dirty="0" err="1">
                          <a:solidFill>
                            <a:srgbClr val="000000"/>
                          </a:solidFill>
                          <a:effectLst/>
                          <a:latin typeface="Aptos Narrow"/>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Aptos Narrow"/>
                        </a:rPr>
                        <a:t>gender</a:t>
                      </a: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employment_status</a:t>
                      </a: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budget</a:t>
                      </a: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purchase_mobile</a:t>
                      </a:r>
                    </a:p>
                  </a:txBody>
                  <a:tcPr marL="6350" marR="6350" marT="6350" marB="0" anchor="b">
                    <a:lnB w="12700" cap="flat" cmpd="sng" algn="ctr">
                      <a:solidFill>
                        <a:schemeClr val="tx1"/>
                      </a:solidFill>
                      <a:prstDash val="solid"/>
                      <a:round/>
                      <a:headEnd type="none" w="med" len="med"/>
                      <a:tailEnd type="none" w="med" len="med"/>
                    </a:lnB>
                  </a:tcPr>
                </a:tc>
              </a:tr>
              <a:tr h="216557">
                <a:tc>
                  <a:txBody>
                    <a:bodyPr/>
                    <a:lstStyle/>
                    <a:p>
                      <a:pPr algn="ctr" fontAlgn="b"/>
                      <a:r>
                        <a:rPr lang="en-IN" sz="1100" b="1" i="0" u="none" strike="noStrike" dirty="0">
                          <a:solidFill>
                            <a:srgbClr val="000000"/>
                          </a:solidFill>
                          <a:effectLst/>
                          <a:latin typeface="Aptos Narrow"/>
                        </a:rPr>
                        <a:t>30 to 60</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male</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Aptos Narrow"/>
                        </a:rPr>
                        <a:t>no</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low</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C00000"/>
                          </a:solidFill>
                          <a:effectLst/>
                          <a:latin typeface="Aptos Narrow"/>
                        </a:rPr>
                        <a:t>yes</a:t>
                      </a:r>
                    </a:p>
                  </a:txBody>
                  <a:tcPr marL="6350" marR="6350" marT="6350" marB="0" anchor="b">
                    <a:lnT w="12700" cap="flat" cmpd="sng" algn="ctr">
                      <a:solidFill>
                        <a:schemeClr val="tx1"/>
                      </a:solidFill>
                      <a:prstDash val="solid"/>
                      <a:round/>
                      <a:headEnd type="none" w="med" len="med"/>
                      <a:tailEnd type="none" w="med" len="med"/>
                    </a:lnT>
                  </a:tcPr>
                </a:tc>
              </a:tr>
              <a:tr h="216557">
                <a:tc>
                  <a:txBody>
                    <a:bodyPr/>
                    <a:lstStyle/>
                    <a:p>
                      <a:pPr algn="ctr" fontAlgn="b"/>
                      <a:r>
                        <a:rPr lang="en-IN" sz="1100" b="1" i="0" u="none" strike="noStrike" dirty="0">
                          <a:solidFill>
                            <a:srgbClr val="000000"/>
                          </a:solidFill>
                          <a:effectLst/>
                          <a:latin typeface="Aptos Narrow"/>
                        </a:rPr>
                        <a:t>30 to 60</a:t>
                      </a:r>
                    </a:p>
                  </a:txBody>
                  <a:tcPr marL="6350" marR="6350" marT="6350" marB="0" anchor="b"/>
                </a:tc>
                <a:tc>
                  <a:txBody>
                    <a:bodyPr/>
                    <a:lstStyle/>
                    <a:p>
                      <a:pPr algn="ctr" fontAlgn="b"/>
                      <a:r>
                        <a:rPr lang="en-IN" sz="1100" b="0" i="0" u="none" strike="noStrike" dirty="0">
                          <a:solidFill>
                            <a:srgbClr val="000000"/>
                          </a:solidFill>
                          <a:effectLst/>
                          <a:latin typeface="Aptos Narrow"/>
                        </a:rPr>
                        <a:t>female</a:t>
                      </a:r>
                    </a:p>
                  </a:txBody>
                  <a:tcPr marL="6350" marR="6350" marT="6350" marB="0" anchor="b"/>
                </a:tc>
                <a:tc>
                  <a:txBody>
                    <a:bodyPr/>
                    <a:lstStyle/>
                    <a:p>
                      <a:pPr algn="ctr" fontAlgn="b"/>
                      <a:r>
                        <a:rPr lang="en-IN" sz="1100" b="0" i="0" u="none" strike="noStrike" dirty="0">
                          <a:solidFill>
                            <a:srgbClr val="000000"/>
                          </a:solidFill>
                          <a:effectLst/>
                          <a:latin typeface="Aptos Narrow"/>
                        </a:rPr>
                        <a:t>yes</a:t>
                      </a:r>
                    </a:p>
                  </a:txBody>
                  <a:tcPr marL="6350" marR="6350" marT="6350" marB="0" anchor="b"/>
                </a:tc>
                <a:tc>
                  <a:txBody>
                    <a:bodyPr/>
                    <a:lstStyle/>
                    <a:p>
                      <a:pPr algn="ctr" fontAlgn="b"/>
                      <a:r>
                        <a:rPr lang="en-IN" sz="1100" b="0" i="0" u="none" strike="noStrike">
                          <a:solidFill>
                            <a:srgbClr val="000000"/>
                          </a:solidFill>
                          <a:effectLst/>
                          <a:latin typeface="Aptos Narrow"/>
                        </a:rPr>
                        <a:t>high</a:t>
                      </a:r>
                    </a:p>
                  </a:txBody>
                  <a:tcPr marL="6350" marR="6350" marT="6350" marB="0" anchor="b"/>
                </a:tc>
                <a:tc>
                  <a:txBody>
                    <a:bodyPr/>
                    <a:lstStyle/>
                    <a:p>
                      <a:pPr algn="ctr" fontAlgn="b"/>
                      <a:r>
                        <a:rPr lang="en-IN" sz="1100" b="0" i="0" u="none" strike="noStrike" dirty="0">
                          <a:solidFill>
                            <a:srgbClr val="C00000"/>
                          </a:solidFill>
                          <a:effectLst/>
                          <a:latin typeface="Aptos Narrow"/>
                        </a:rPr>
                        <a:t>yes</a:t>
                      </a:r>
                    </a:p>
                  </a:txBody>
                  <a:tcPr marL="6350" marR="6350" marT="6350" marB="0" anchor="b"/>
                </a:tc>
              </a:tr>
              <a:tr h="216557">
                <a:tc>
                  <a:txBody>
                    <a:bodyPr/>
                    <a:lstStyle/>
                    <a:p>
                      <a:pPr algn="ctr" fontAlgn="b"/>
                      <a:r>
                        <a:rPr lang="en-IN" sz="1100" b="1" i="0" u="none" strike="noStrike" dirty="0">
                          <a:solidFill>
                            <a:srgbClr val="000000"/>
                          </a:solidFill>
                          <a:effectLst/>
                          <a:latin typeface="Aptos Narrow"/>
                        </a:rPr>
                        <a:t>30 to 60</a:t>
                      </a:r>
                    </a:p>
                  </a:txBody>
                  <a:tcPr marL="6350" marR="6350" marT="6350" marB="0" anchor="b"/>
                </a:tc>
                <a:tc>
                  <a:txBody>
                    <a:bodyPr/>
                    <a:lstStyle/>
                    <a:p>
                      <a:pPr algn="ctr" fontAlgn="b"/>
                      <a:r>
                        <a:rPr lang="en-IN" sz="1100" b="0" i="0" u="none" strike="noStrike">
                          <a:solidFill>
                            <a:srgbClr val="000000"/>
                          </a:solidFill>
                          <a:effectLst/>
                          <a:latin typeface="Aptos Narrow"/>
                        </a:rPr>
                        <a:t>female</a:t>
                      </a:r>
                    </a:p>
                  </a:txBody>
                  <a:tcPr marL="6350" marR="6350" marT="6350" marB="0" anchor="b"/>
                </a:tc>
                <a:tc>
                  <a:txBody>
                    <a:bodyPr/>
                    <a:lstStyle/>
                    <a:p>
                      <a:pPr algn="ctr" fontAlgn="b"/>
                      <a:r>
                        <a:rPr lang="en-IN" sz="1100" b="0" i="0" u="none" strike="noStrike">
                          <a:solidFill>
                            <a:srgbClr val="000000"/>
                          </a:solidFill>
                          <a:effectLst/>
                          <a:latin typeface="Aptos Narrow"/>
                        </a:rPr>
                        <a:t>no</a:t>
                      </a:r>
                    </a:p>
                  </a:txBody>
                  <a:tcPr marL="6350" marR="6350" marT="6350" marB="0" anchor="b"/>
                </a:tc>
                <a:tc>
                  <a:txBody>
                    <a:bodyPr/>
                    <a:lstStyle/>
                    <a:p>
                      <a:pPr algn="ctr" fontAlgn="b"/>
                      <a:r>
                        <a:rPr lang="en-IN" sz="1100" b="0" i="0" u="none" strike="noStrike">
                          <a:solidFill>
                            <a:srgbClr val="000000"/>
                          </a:solidFill>
                          <a:effectLst/>
                          <a:latin typeface="Aptos Narrow"/>
                        </a:rPr>
                        <a:t>medium</a:t>
                      </a:r>
                    </a:p>
                  </a:txBody>
                  <a:tcPr marL="6350" marR="6350" marT="6350" marB="0" anchor="b"/>
                </a:tc>
                <a:tc>
                  <a:txBody>
                    <a:bodyPr/>
                    <a:lstStyle/>
                    <a:p>
                      <a:pPr algn="ctr" fontAlgn="b"/>
                      <a:r>
                        <a:rPr lang="en-IN" sz="1100" b="0" i="0" u="none" strike="noStrike" dirty="0">
                          <a:solidFill>
                            <a:srgbClr val="C00000"/>
                          </a:solidFill>
                          <a:effectLst/>
                          <a:latin typeface="Aptos Narrow"/>
                        </a:rPr>
                        <a:t>yes</a:t>
                      </a:r>
                    </a:p>
                  </a:txBody>
                  <a:tcPr marL="6350" marR="6350" marT="6350" marB="0" anchor="b"/>
                </a:tc>
              </a:tr>
              <a:tr h="216557">
                <a:tc>
                  <a:txBody>
                    <a:bodyPr/>
                    <a:lstStyle/>
                    <a:p>
                      <a:pPr algn="ctr" fontAlgn="b"/>
                      <a:r>
                        <a:rPr lang="en-IN" sz="1100" b="1" i="0" u="none" strike="noStrike" dirty="0">
                          <a:solidFill>
                            <a:srgbClr val="000000"/>
                          </a:solidFill>
                          <a:effectLst/>
                          <a:latin typeface="Aptos Narrow"/>
                        </a:rPr>
                        <a:t>30 to 60</a:t>
                      </a:r>
                    </a:p>
                  </a:txBody>
                  <a:tcPr marL="6350" marR="6350" marT="6350" marB="0" anchor="b"/>
                </a:tc>
                <a:tc>
                  <a:txBody>
                    <a:bodyPr/>
                    <a:lstStyle/>
                    <a:p>
                      <a:pPr algn="ctr" fontAlgn="b"/>
                      <a:r>
                        <a:rPr lang="en-IN" sz="1100" b="0" i="0" u="none" strike="noStrike" dirty="0">
                          <a:solidFill>
                            <a:srgbClr val="000000"/>
                          </a:solidFill>
                          <a:effectLst/>
                          <a:latin typeface="Aptos Narrow"/>
                        </a:rPr>
                        <a:t>male</a:t>
                      </a:r>
                    </a:p>
                  </a:txBody>
                  <a:tcPr marL="6350" marR="6350" marT="6350" marB="0" anchor="b"/>
                </a:tc>
                <a:tc>
                  <a:txBody>
                    <a:bodyPr/>
                    <a:lstStyle/>
                    <a:p>
                      <a:pPr algn="ctr" fontAlgn="b"/>
                      <a:r>
                        <a:rPr lang="en-IN" sz="1100" b="0" i="0" u="none" strike="noStrike" dirty="0">
                          <a:solidFill>
                            <a:srgbClr val="000000"/>
                          </a:solidFill>
                          <a:effectLst/>
                          <a:latin typeface="Aptos Narrow"/>
                        </a:rPr>
                        <a:t>yes</a:t>
                      </a:r>
                    </a:p>
                  </a:txBody>
                  <a:tcPr marL="6350" marR="6350" marT="6350" marB="0" anchor="b"/>
                </a:tc>
                <a:tc>
                  <a:txBody>
                    <a:bodyPr/>
                    <a:lstStyle/>
                    <a:p>
                      <a:pPr algn="ctr" fontAlgn="b"/>
                      <a:r>
                        <a:rPr lang="en-IN" sz="1100" b="0" i="0" u="none" strike="noStrike">
                          <a:solidFill>
                            <a:srgbClr val="000000"/>
                          </a:solidFill>
                          <a:effectLst/>
                          <a:latin typeface="Aptos Narrow"/>
                        </a:rPr>
                        <a:t>high</a:t>
                      </a:r>
                    </a:p>
                  </a:txBody>
                  <a:tcPr marL="6350" marR="6350" marT="6350" marB="0" anchor="b"/>
                </a:tc>
                <a:tc>
                  <a:txBody>
                    <a:bodyPr/>
                    <a:lstStyle/>
                    <a:p>
                      <a:pPr algn="ctr" fontAlgn="b"/>
                      <a:r>
                        <a:rPr lang="en-IN" sz="1100" b="0" i="0" u="none" strike="noStrike" dirty="0">
                          <a:solidFill>
                            <a:srgbClr val="C00000"/>
                          </a:solidFill>
                          <a:effectLst/>
                          <a:latin typeface="Aptos Narrow"/>
                        </a:rPr>
                        <a:t>yes</a:t>
                      </a:r>
                    </a:p>
                  </a:txBody>
                  <a:tcPr marL="6350" marR="6350" marT="6350" marB="0" anchor="b"/>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14966291"/>
              </p:ext>
            </p:extLst>
          </p:nvPr>
        </p:nvGraphicFramePr>
        <p:xfrm>
          <a:off x="4022451" y="5007631"/>
          <a:ext cx="4664349" cy="1172652"/>
        </p:xfrm>
        <a:graphic>
          <a:graphicData uri="http://schemas.openxmlformats.org/drawingml/2006/table">
            <a:tbl>
              <a:tblPr>
                <a:tableStyleId>{5C22544A-7EE6-4342-B048-85BDC9FD1C3A}</a:tableStyleId>
              </a:tblPr>
              <a:tblGrid>
                <a:gridCol w="751865"/>
                <a:gridCol w="668325"/>
                <a:gridCol w="1239185"/>
                <a:gridCol w="751865"/>
                <a:gridCol w="1253109"/>
              </a:tblGrid>
              <a:tr h="302702">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a:effectLst/>
                        </a:rPr>
                        <a:t>gender</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purchase_mobile</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163166">
                <a:tc>
                  <a:txBody>
                    <a:bodyPr/>
                    <a:lstStyle/>
                    <a:p>
                      <a:pPr algn="ctr" fontAlgn="b"/>
                      <a:r>
                        <a:rPr lang="en-IN" sz="1100" b="1" u="none" strike="noStrike" dirty="0">
                          <a:effectLst/>
                        </a:rPr>
                        <a:t>above 60</a:t>
                      </a:r>
                      <a:endParaRPr lang="en-IN" sz="1100" b="1"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163166">
                <a:tc>
                  <a:txBody>
                    <a:bodyPr/>
                    <a:lstStyle/>
                    <a:p>
                      <a:pPr algn="ctr" fontAlgn="b"/>
                      <a:r>
                        <a:rPr lang="en-IN" sz="1100" b="1" u="none" strike="noStrike" dirty="0">
                          <a:effectLst/>
                        </a:rPr>
                        <a:t>above 60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low</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63166">
                <a:tc>
                  <a:txBody>
                    <a:bodyPr/>
                    <a:lstStyle/>
                    <a:p>
                      <a:pPr algn="ctr" fontAlgn="b"/>
                      <a:r>
                        <a:rPr lang="en-IN" sz="1100" b="1" u="none" strike="noStrike" dirty="0">
                          <a:effectLst/>
                        </a:rPr>
                        <a:t>above 60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low</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163166">
                <a:tc>
                  <a:txBody>
                    <a:bodyPr/>
                    <a:lstStyle/>
                    <a:p>
                      <a:pPr algn="ctr" fontAlgn="b"/>
                      <a:r>
                        <a:rPr lang="en-IN" sz="1100" b="1" u="none" strike="noStrike" dirty="0">
                          <a:effectLst/>
                        </a:rPr>
                        <a:t>above 60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63166">
                <a:tc>
                  <a:txBody>
                    <a:bodyPr/>
                    <a:lstStyle/>
                    <a:p>
                      <a:pPr algn="ctr" fontAlgn="b"/>
                      <a:r>
                        <a:rPr lang="en-IN" sz="1100" b="1" u="none" strike="noStrike" dirty="0">
                          <a:effectLst/>
                        </a:rPr>
                        <a:t>above 60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female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medium</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603858398"/>
              </p:ext>
            </p:extLst>
          </p:nvPr>
        </p:nvGraphicFramePr>
        <p:xfrm>
          <a:off x="3995937" y="3197688"/>
          <a:ext cx="4720852" cy="1386564"/>
        </p:xfrm>
        <a:graphic>
          <a:graphicData uri="http://schemas.openxmlformats.org/drawingml/2006/table">
            <a:tbl>
              <a:tblPr>
                <a:tableStyleId>{5C22544A-7EE6-4342-B048-85BDC9FD1C3A}</a:tableStyleId>
              </a:tblPr>
              <a:tblGrid>
                <a:gridCol w="760973"/>
                <a:gridCol w="676421"/>
                <a:gridCol w="1254196"/>
                <a:gridCol w="760973"/>
                <a:gridCol w="1268289"/>
              </a:tblGrid>
              <a:tr h="335418">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employment_status</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purchase_mobile</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327942">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high</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180801">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high</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180801">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medium</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180801">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low</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r h="180801">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bl>
          </a:graphicData>
        </a:graphic>
      </p:graphicFrame>
    </p:spTree>
    <p:extLst>
      <p:ext uri="{BB962C8B-B14F-4D97-AF65-F5344CB8AC3E}">
        <p14:creationId xmlns:p14="http://schemas.microsoft.com/office/powerpoint/2010/main" val="23334509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Autofit/>
          </a:bodyPr>
          <a:lstStyle/>
          <a:p>
            <a:r>
              <a:rPr lang="en-IN" sz="3600" b="1" dirty="0">
                <a:latin typeface="Times New Roman" panose="02020603050405020304" pitchFamily="18" charset="0"/>
                <a:cs typeface="Times New Roman" panose="02020603050405020304" pitchFamily="18" charset="0"/>
              </a:rPr>
              <a:t>Splitting the Dataset</a:t>
            </a:r>
            <a:endParaRPr lang="en-IN" sz="3600" dirty="0"/>
          </a:p>
        </p:txBody>
      </p:sp>
      <p:sp>
        <p:nvSpPr>
          <p:cNvPr id="3" name="Content Placeholder 2"/>
          <p:cNvSpPr>
            <a:spLocks noGrp="1"/>
          </p:cNvSpPr>
          <p:nvPr>
            <p:ph idx="1"/>
          </p:nvPr>
        </p:nvSpPr>
        <p:spPr>
          <a:xfrm>
            <a:off x="457200" y="1124744"/>
            <a:ext cx="8229600" cy="5001419"/>
          </a:xfrm>
        </p:spPr>
        <p:txBody>
          <a:bodyPr>
            <a:normAutofit/>
          </a:bodyPr>
          <a:lstStyle/>
          <a:p>
            <a:pPr algn="just"/>
            <a:r>
              <a:rPr lang="en-US" sz="2400" dirty="0">
                <a:latin typeface="Times New Roman" panose="02020603050405020304" pitchFamily="18" charset="0"/>
                <a:cs typeface="Times New Roman" panose="02020603050405020304" pitchFamily="18" charset="0"/>
              </a:rPr>
              <a:t>A subset which contains instances belonging to only one class label is called a </a:t>
            </a:r>
            <a:r>
              <a:rPr lang="en-US" sz="2400" b="1" dirty="0">
                <a:latin typeface="Times New Roman" panose="02020603050405020304" pitchFamily="18" charset="0"/>
                <a:cs typeface="Times New Roman" panose="02020603050405020304" pitchFamily="18" charset="0"/>
              </a:rPr>
              <a:t>pure (homogeneous)</a:t>
            </a:r>
            <a:r>
              <a:rPr lang="en-US" sz="2400" dirty="0">
                <a:latin typeface="Times New Roman" panose="02020603050405020304" pitchFamily="18" charset="0"/>
                <a:cs typeface="Times New Roman" panose="02020603050405020304" pitchFamily="18" charset="0"/>
              </a:rPr>
              <a:t> subset. </a:t>
            </a:r>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i="1" dirty="0">
                <a:solidFill>
                  <a:srgbClr val="0000FF"/>
                </a:solidFill>
                <a:latin typeface="Times New Roman" panose="02020603050405020304" pitchFamily="18" charset="0"/>
                <a:cs typeface="Times New Roman" panose="02020603050405020304" pitchFamily="18" charset="0"/>
              </a:rPr>
              <a:t>predictor attribute on which the dataset is split to obtain the maximum number of pure subsets</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called the </a:t>
            </a:r>
            <a:r>
              <a:rPr lang="en-US" sz="2400" b="1" dirty="0">
                <a:latin typeface="Times New Roman" panose="02020603050405020304" pitchFamily="18" charset="0"/>
                <a:cs typeface="Times New Roman" panose="02020603050405020304" pitchFamily="18" charset="0"/>
              </a:rPr>
              <a:t>best attribute</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At this point, you can observe that the subsets formed for </a:t>
            </a:r>
            <a:r>
              <a:rPr lang="en-US" sz="2400" b="1" dirty="0">
                <a:solidFill>
                  <a:srgbClr val="C00000"/>
                </a:solidFill>
                <a:latin typeface="Times New Roman" panose="02020603050405020304" pitchFamily="18" charset="0"/>
                <a:cs typeface="Times New Roman" panose="02020603050405020304" pitchFamily="18" charset="0"/>
              </a:rPr>
              <a:t>age group</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'below 30' </a:t>
            </a:r>
            <a:r>
              <a:rPr lang="en-US" sz="2400" dirty="0">
                <a:latin typeface="Times New Roman" panose="02020603050405020304" pitchFamily="18" charset="0"/>
                <a:cs typeface="Times New Roman" panose="02020603050405020304" pitchFamily="18" charset="0"/>
              </a:rPr>
              <a:t>and </a:t>
            </a:r>
            <a:r>
              <a:rPr lang="en-US" sz="2400" b="1" dirty="0">
                <a:latin typeface="Times New Roman" panose="02020603050405020304" pitchFamily="18" charset="0"/>
                <a:cs typeface="Times New Roman" panose="02020603050405020304" pitchFamily="18" charset="0"/>
              </a:rPr>
              <a:t>'above 60' </a:t>
            </a:r>
            <a:r>
              <a:rPr lang="en-US" sz="2400" dirty="0">
                <a:latin typeface="Times New Roman" panose="02020603050405020304" pitchFamily="18" charset="0"/>
                <a:cs typeface="Times New Roman" panose="02020603050405020304" pitchFamily="18" charset="0"/>
              </a:rPr>
              <a:t>categories are </a:t>
            </a:r>
            <a:r>
              <a:rPr lang="en-US" sz="2400" b="1" dirty="0">
                <a:latin typeface="Times New Roman" panose="02020603050405020304" pitchFamily="18" charset="0"/>
                <a:cs typeface="Times New Roman" panose="02020603050405020304" pitchFamily="18" charset="0"/>
              </a:rPr>
              <a:t>impure</a:t>
            </a:r>
            <a:r>
              <a:rPr lang="en-US" sz="2400" dirty="0">
                <a:latin typeface="Times New Roman" panose="02020603050405020304" pitchFamily="18" charset="0"/>
                <a:cs typeface="Times New Roman" panose="02020603050405020304" pitchFamily="18" charset="0"/>
              </a:rPr>
              <a:t>. Hence, the next goal is to keep splitting the impure subsets based on other attributes, until a pure subset is derived.</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9</a:t>
            </a:fld>
            <a:endParaRPr lang="en-US" dirty="0"/>
          </a:p>
        </p:txBody>
      </p:sp>
    </p:spTree>
    <p:extLst>
      <p:ext uri="{BB962C8B-B14F-4D97-AF65-F5344CB8AC3E}">
        <p14:creationId xmlns:p14="http://schemas.microsoft.com/office/powerpoint/2010/main" val="12903984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Autofit/>
          </a:bodyPr>
          <a:lstStyle/>
          <a:p>
            <a:r>
              <a:rPr lang="en-IN" sz="3600" b="1" dirty="0">
                <a:latin typeface="Times New Roman" panose="02020603050405020304" pitchFamily="18" charset="0"/>
                <a:cs typeface="Times New Roman" panose="02020603050405020304" pitchFamily="18" charset="0"/>
              </a:rPr>
              <a:t>Splitting </a:t>
            </a:r>
            <a:r>
              <a:rPr lang="en-IN" sz="3600" b="1" dirty="0" smtClean="0">
                <a:latin typeface="Times New Roman" panose="02020603050405020304" pitchFamily="18" charset="0"/>
                <a:cs typeface="Times New Roman" panose="02020603050405020304" pitchFamily="18" charset="0"/>
              </a:rPr>
              <a:t>process</a:t>
            </a:r>
            <a:endParaRPr lang="en-IN" sz="3600" dirty="0"/>
          </a:p>
        </p:txBody>
      </p:sp>
      <p:sp>
        <p:nvSpPr>
          <p:cNvPr id="3" name="Content Placeholder 2"/>
          <p:cNvSpPr>
            <a:spLocks noGrp="1"/>
          </p:cNvSpPr>
          <p:nvPr>
            <p:ph idx="1"/>
          </p:nvPr>
        </p:nvSpPr>
        <p:spPr>
          <a:xfrm>
            <a:off x="457200" y="1052736"/>
            <a:ext cx="8229600" cy="5073427"/>
          </a:xfrm>
        </p:spPr>
        <p:txBody>
          <a:bodyPr/>
          <a:lstStyle/>
          <a:p>
            <a:r>
              <a:rPr lang="en-US" sz="2400" dirty="0">
                <a:latin typeface="Times New Roman" panose="02020603050405020304" pitchFamily="18" charset="0"/>
                <a:cs typeface="Times New Roman" panose="02020603050405020304" pitchFamily="18" charset="0"/>
              </a:rPr>
              <a:t>The end result of the splitting process for the sample data </a:t>
            </a:r>
            <a:r>
              <a:rPr lang="en-US" sz="2400" dirty="0" smtClean="0">
                <a:latin typeface="Times New Roman" panose="02020603050405020304" pitchFamily="18" charset="0"/>
                <a:cs typeface="Times New Roman" panose="02020603050405020304" pitchFamily="18" charset="0"/>
              </a:rPr>
              <a:t>based on the </a:t>
            </a:r>
            <a:r>
              <a:rPr lang="en-US" sz="2400" dirty="0" smtClean="0">
                <a:solidFill>
                  <a:srgbClr val="0000FF"/>
                </a:solidFill>
                <a:latin typeface="Times New Roman" panose="02020603050405020304" pitchFamily="18" charset="0"/>
                <a:cs typeface="Times New Roman" panose="02020603050405020304" pitchFamily="18" charset="0"/>
              </a:rPr>
              <a:t>split </a:t>
            </a:r>
            <a:r>
              <a:rPr lang="en-US" sz="2400" dirty="0" err="1" smtClean="0">
                <a:solidFill>
                  <a:srgbClr val="0000FF"/>
                </a:solidFill>
                <a:latin typeface="Times New Roman" panose="02020603050405020304" pitchFamily="18" charset="0"/>
                <a:cs typeface="Times New Roman" panose="02020603050405020304" pitchFamily="18" charset="0"/>
              </a:rPr>
              <a:t>attribute:</a:t>
            </a:r>
            <a:r>
              <a:rPr lang="en-US" sz="2400" b="1" dirty="0" err="1" smtClean="0">
                <a:solidFill>
                  <a:srgbClr val="C00000"/>
                </a:solidFill>
                <a:latin typeface="Times New Roman" panose="02020603050405020304" pitchFamily="18" charset="0"/>
                <a:cs typeface="Times New Roman" panose="02020603050405020304" pitchFamily="18" charset="0"/>
              </a:rPr>
              <a:t>age_group</a:t>
            </a:r>
            <a:r>
              <a:rPr lang="en-US" sz="2400" dirty="0" smtClean="0">
                <a:solidFill>
                  <a:srgbClr val="0000FF"/>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results </a:t>
            </a:r>
            <a:r>
              <a:rPr lang="en-US" sz="2400" dirty="0">
                <a:latin typeface="Times New Roman" panose="02020603050405020304" pitchFamily="18" charset="0"/>
                <a:cs typeface="Times New Roman" panose="02020603050405020304" pitchFamily="18" charset="0"/>
              </a:rPr>
              <a:t>in the following splits</a:t>
            </a:r>
            <a:r>
              <a:rPr lang="en-US" sz="2400" dirty="0" smtClean="0">
                <a:latin typeface="Times New Roman" panose="02020603050405020304" pitchFamily="18" charset="0"/>
                <a:cs typeface="Times New Roman" panose="02020603050405020304" pitchFamily="18" charset="0"/>
              </a:rPr>
              <a:t>:</a:t>
            </a:r>
          </a:p>
          <a:p>
            <a:endParaRPr lang="en-IN" dirty="0"/>
          </a:p>
        </p:txBody>
      </p:sp>
      <p:pic>
        <p:nvPicPr>
          <p:cNvPr id="4" name="Picture 3"/>
          <p:cNvPicPr>
            <a:picLocks noChangeAspect="1"/>
          </p:cNvPicPr>
          <p:nvPr/>
        </p:nvPicPr>
        <p:blipFill rotWithShape="1">
          <a:blip r:embed="rId3"/>
          <a:srcRect r="-2147" b="57862"/>
          <a:stretch/>
        </p:blipFill>
        <p:spPr>
          <a:xfrm>
            <a:off x="107504" y="1880829"/>
            <a:ext cx="8928992" cy="1224135"/>
          </a:xfrm>
          <a:prstGeom prst="rect">
            <a:avLst/>
          </a:prstGeom>
          <a:ln>
            <a:solidFill>
              <a:srgbClr val="0033CC"/>
            </a:solidFill>
          </a:ln>
        </p:spPr>
      </p:pic>
      <p:sp>
        <p:nvSpPr>
          <p:cNvPr id="5" name="Slide Number Placeholder 4"/>
          <p:cNvSpPr>
            <a:spLocks noGrp="1"/>
          </p:cNvSpPr>
          <p:nvPr>
            <p:ph type="sldNum" sz="quarter" idx="12"/>
          </p:nvPr>
        </p:nvSpPr>
        <p:spPr/>
        <p:txBody>
          <a:bodyPr/>
          <a:lstStyle/>
          <a:p>
            <a:fld id="{4EB28266-621B-4E6C-B384-6411A00B5EC3}" type="slidenum">
              <a:rPr lang="en-US" smtClean="0"/>
              <a:pPr/>
              <a:t>10</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052340202"/>
              </p:ext>
            </p:extLst>
          </p:nvPr>
        </p:nvGraphicFramePr>
        <p:xfrm>
          <a:off x="2555776" y="3443163"/>
          <a:ext cx="3672407" cy="1065958"/>
        </p:xfrm>
        <a:graphic>
          <a:graphicData uri="http://schemas.openxmlformats.org/drawingml/2006/table">
            <a:tbl>
              <a:tblPr>
                <a:tableStyleId>{5C22544A-7EE6-4342-B048-85BDC9FD1C3A}</a:tableStyleId>
              </a:tblPr>
              <a:tblGrid>
                <a:gridCol w="954374"/>
                <a:gridCol w="464291"/>
                <a:gridCol w="860871"/>
                <a:gridCol w="522326"/>
                <a:gridCol w="870545"/>
              </a:tblGrid>
              <a:tr h="350970">
                <a:tc>
                  <a:txBody>
                    <a:bodyPr/>
                    <a:lstStyle/>
                    <a:p>
                      <a:pPr algn="ctr" fontAlgn="b"/>
                      <a:r>
                        <a:rPr lang="en-IN" sz="1100" b="0" i="0" u="none" strike="noStrike" dirty="0" err="1">
                          <a:solidFill>
                            <a:srgbClr val="000000"/>
                          </a:solidFill>
                          <a:effectLst/>
                          <a:latin typeface="Aptos Narrow"/>
                        </a:rPr>
                        <a:t>age_group</a:t>
                      </a:r>
                      <a:endParaRPr lang="en-IN" sz="1100" b="0" i="0" u="none" strike="noStrike" dirty="0">
                        <a:solidFill>
                          <a:srgbClr val="000000"/>
                        </a:solidFill>
                        <a:effectLst/>
                        <a:latin typeface="Aptos Narrow"/>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Aptos Narrow"/>
                        </a:rPr>
                        <a:t>gender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employment_status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budget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purchase_mobile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8747">
                <a:tc>
                  <a:txBody>
                    <a:bodyPr/>
                    <a:lstStyle/>
                    <a:p>
                      <a:pPr algn="ctr" fontAlgn="b"/>
                      <a:r>
                        <a:rPr lang="en-IN" sz="1100" b="1" i="0" u="none" strike="noStrike" dirty="0">
                          <a:solidFill>
                            <a:srgbClr val="000000"/>
                          </a:solidFill>
                          <a:effectLst/>
                          <a:latin typeface="Aptos Narrow"/>
                        </a:rPr>
                        <a:t>30 to 60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Aptos Narrow"/>
                        </a:rPr>
                        <a:t>male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Aptos Narrow"/>
                        </a:rPr>
                        <a:t>no</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low</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100" b="1" i="0" u="none" strike="noStrike" dirty="0">
                          <a:solidFill>
                            <a:srgbClr val="0000FF"/>
                          </a:solidFill>
                          <a:effectLst/>
                          <a:latin typeface="Aptos Narrow"/>
                        </a:rPr>
                        <a:t>yes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r>
              <a:tr h="178747">
                <a:tc>
                  <a:txBody>
                    <a:bodyPr/>
                    <a:lstStyle/>
                    <a:p>
                      <a:pPr algn="ctr" fontAlgn="b"/>
                      <a:r>
                        <a:rPr lang="en-IN" sz="1100" b="1" i="0" u="none" strike="noStrike" dirty="0">
                          <a:solidFill>
                            <a:srgbClr val="000000"/>
                          </a:solidFill>
                          <a:effectLst/>
                          <a:latin typeface="Aptos Narrow"/>
                        </a:rPr>
                        <a:t>30 to 60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b"/>
                      <a:r>
                        <a:rPr lang="en-IN" sz="1100" b="0" i="0" u="none" strike="noStrike" dirty="0">
                          <a:solidFill>
                            <a:srgbClr val="000000"/>
                          </a:solidFill>
                          <a:effectLst/>
                          <a:latin typeface="Aptos Narrow"/>
                        </a:rPr>
                        <a:t>female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b"/>
                      <a:r>
                        <a:rPr lang="en-IN" sz="1100" b="0" i="0" u="none" strike="noStrike" dirty="0">
                          <a:solidFill>
                            <a:srgbClr val="000000"/>
                          </a:solidFill>
                          <a:effectLst/>
                          <a:latin typeface="Aptos Narrow"/>
                        </a:rPr>
                        <a:t>yes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b"/>
                      <a:r>
                        <a:rPr lang="en-IN" sz="1100" b="0" i="0" u="none" strike="noStrike" dirty="0">
                          <a:solidFill>
                            <a:srgbClr val="000000"/>
                          </a:solidFill>
                          <a:effectLst/>
                          <a:latin typeface="Aptos Narrow"/>
                        </a:rPr>
                        <a:t>high</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b"/>
                      <a:r>
                        <a:rPr lang="en-IN" sz="1100" b="1" i="0" u="none" strike="noStrike" dirty="0">
                          <a:solidFill>
                            <a:srgbClr val="0000FF"/>
                          </a:solidFill>
                          <a:effectLst/>
                          <a:latin typeface="Aptos Narrow"/>
                        </a:rPr>
                        <a:t>yes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78747">
                <a:tc>
                  <a:txBody>
                    <a:bodyPr/>
                    <a:lstStyle/>
                    <a:p>
                      <a:pPr algn="ctr" fontAlgn="b"/>
                      <a:r>
                        <a:rPr lang="en-IN" sz="1100" b="1" i="0" u="none" strike="noStrike" dirty="0">
                          <a:solidFill>
                            <a:srgbClr val="000000"/>
                          </a:solidFill>
                          <a:effectLst/>
                          <a:latin typeface="Aptos Narrow"/>
                        </a:rPr>
                        <a:t>30 to 60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b"/>
                      <a:r>
                        <a:rPr lang="en-IN" sz="1100" b="0" i="0" u="none" strike="noStrike">
                          <a:solidFill>
                            <a:srgbClr val="000000"/>
                          </a:solidFill>
                          <a:effectLst/>
                          <a:latin typeface="Aptos Narrow"/>
                        </a:rPr>
                        <a:t>female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b"/>
                      <a:r>
                        <a:rPr lang="en-IN" sz="1100" b="0" i="0" u="none" strike="noStrike">
                          <a:solidFill>
                            <a:srgbClr val="000000"/>
                          </a:solidFill>
                          <a:effectLst/>
                          <a:latin typeface="Aptos Narrow"/>
                        </a:rPr>
                        <a:t>no</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b"/>
                      <a:r>
                        <a:rPr lang="en-IN" sz="1100" b="0" i="0" u="none" strike="noStrike">
                          <a:solidFill>
                            <a:srgbClr val="000000"/>
                          </a:solidFill>
                          <a:effectLst/>
                          <a:latin typeface="Aptos Narrow"/>
                        </a:rPr>
                        <a:t>medium</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b"/>
                      <a:r>
                        <a:rPr lang="en-IN" sz="1100" b="1" i="0" u="none" strike="noStrike" dirty="0">
                          <a:solidFill>
                            <a:srgbClr val="0000FF"/>
                          </a:solidFill>
                          <a:effectLst/>
                          <a:latin typeface="Aptos Narrow"/>
                        </a:rPr>
                        <a:t>yes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78747">
                <a:tc>
                  <a:txBody>
                    <a:bodyPr/>
                    <a:lstStyle/>
                    <a:p>
                      <a:pPr algn="ctr" fontAlgn="b"/>
                      <a:r>
                        <a:rPr lang="en-IN" sz="1100" b="1" i="0" u="none" strike="noStrike" dirty="0">
                          <a:solidFill>
                            <a:srgbClr val="000000"/>
                          </a:solidFill>
                          <a:effectLst/>
                          <a:latin typeface="Aptos Narrow"/>
                        </a:rPr>
                        <a:t>30 to 60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Aptos Narrow"/>
                        </a:rPr>
                        <a:t>male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Aptos Narrow"/>
                        </a:rPr>
                        <a:t>yes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high</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100" b="1" i="0" u="none" strike="noStrike" dirty="0">
                          <a:solidFill>
                            <a:srgbClr val="0000FF"/>
                          </a:solidFill>
                          <a:effectLst/>
                          <a:latin typeface="Aptos Narrow"/>
                        </a:rPr>
                        <a:t>yes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267464692"/>
              </p:ext>
            </p:extLst>
          </p:nvPr>
        </p:nvGraphicFramePr>
        <p:xfrm>
          <a:off x="131287" y="4833580"/>
          <a:ext cx="3792641" cy="1211580"/>
        </p:xfrm>
        <a:graphic>
          <a:graphicData uri="http://schemas.openxmlformats.org/drawingml/2006/table">
            <a:tbl>
              <a:tblPr>
                <a:tableStyleId>{5C22544A-7EE6-4342-B048-85BDC9FD1C3A}</a:tableStyleId>
              </a:tblPr>
              <a:tblGrid>
                <a:gridCol w="1056337"/>
                <a:gridCol w="576064"/>
                <a:gridCol w="792088"/>
                <a:gridCol w="576064"/>
                <a:gridCol w="792088"/>
              </a:tblGrid>
              <a:tr h="334899">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employment_status</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purchase_mobile</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170562">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high</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no</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170562">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high</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r>
              <a:tr h="170562">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medium</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r>
              <a:tr h="170562">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male</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low</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r>
              <a:tr h="170562">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female</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566040643"/>
              </p:ext>
            </p:extLst>
          </p:nvPr>
        </p:nvGraphicFramePr>
        <p:xfrm>
          <a:off x="5220071" y="4710312"/>
          <a:ext cx="3816425" cy="1392776"/>
        </p:xfrm>
        <a:graphic>
          <a:graphicData uri="http://schemas.openxmlformats.org/drawingml/2006/table">
            <a:tbl>
              <a:tblPr>
                <a:tableStyleId>{5C22544A-7EE6-4342-B048-85BDC9FD1C3A}</a:tableStyleId>
              </a:tblPr>
              <a:tblGrid>
                <a:gridCol w="707327"/>
                <a:gridCol w="454689"/>
                <a:gridCol w="881371"/>
                <a:gridCol w="747729"/>
                <a:gridCol w="1025309"/>
              </a:tblGrid>
              <a:tr h="335418">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employment_status</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purchase_mobile</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327942">
                <a:tc>
                  <a:txBody>
                    <a:bodyPr/>
                    <a:lstStyle/>
                    <a:p>
                      <a:pPr algn="ctr" fontAlgn="b"/>
                      <a:r>
                        <a:rPr lang="en-IN" sz="1100" b="1" i="0" u="none" strike="noStrike" dirty="0">
                          <a:solidFill>
                            <a:srgbClr val="000000"/>
                          </a:solidFill>
                          <a:effectLst/>
                          <a:latin typeface="Aptos Narrow"/>
                        </a:rPr>
                        <a:t>above 60</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male</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no</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medium</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yes</a:t>
                      </a:r>
                    </a:p>
                  </a:txBody>
                  <a:tcPr marL="6350" marR="6350" marT="6350" marB="0" anchor="b">
                    <a:lnT w="12700" cap="flat" cmpd="sng" algn="ctr">
                      <a:solidFill>
                        <a:schemeClr val="tx1"/>
                      </a:solidFill>
                      <a:prstDash val="solid"/>
                      <a:round/>
                      <a:headEnd type="none" w="med" len="med"/>
                      <a:tailEnd type="none" w="med" len="med"/>
                    </a:lnT>
                  </a:tcPr>
                </a:tc>
              </a:tr>
              <a:tr h="180801">
                <a:tc>
                  <a:txBody>
                    <a:bodyPr/>
                    <a:lstStyle/>
                    <a:p>
                      <a:pPr algn="ctr" fontAlgn="b"/>
                      <a:r>
                        <a:rPr lang="en-IN" sz="1100" b="1" i="0" u="none" strike="noStrike" dirty="0">
                          <a:solidFill>
                            <a:srgbClr val="000000"/>
                          </a:solidFill>
                          <a:effectLst/>
                          <a:latin typeface="Aptos Narrow"/>
                        </a:rPr>
                        <a:t>above 60</a:t>
                      </a:r>
                    </a:p>
                  </a:txBody>
                  <a:tcPr marL="6350" marR="6350" marT="6350" marB="0" anchor="b"/>
                </a:tc>
                <a:tc>
                  <a:txBody>
                    <a:bodyPr/>
                    <a:lstStyle/>
                    <a:p>
                      <a:pPr algn="ctr" fontAlgn="b"/>
                      <a:r>
                        <a:rPr lang="en-IN" sz="1100" b="0" i="0" u="none" strike="noStrike">
                          <a:solidFill>
                            <a:srgbClr val="000000"/>
                          </a:solidFill>
                          <a:effectLst/>
                          <a:latin typeface="Aptos Narrow"/>
                        </a:rPr>
                        <a:t>male</a:t>
                      </a:r>
                    </a:p>
                  </a:txBody>
                  <a:tcPr marL="6350" marR="6350" marT="6350" marB="0" anchor="b"/>
                </a:tc>
                <a:tc>
                  <a:txBody>
                    <a:bodyPr/>
                    <a:lstStyle/>
                    <a:p>
                      <a:pPr algn="ctr" fontAlgn="b"/>
                      <a:r>
                        <a:rPr lang="en-IN" sz="1100" b="0" i="0" u="none" strike="noStrike">
                          <a:solidFill>
                            <a:srgbClr val="000000"/>
                          </a:solidFill>
                          <a:effectLst/>
                          <a:latin typeface="Aptos Narrow"/>
                        </a:rPr>
                        <a:t>yes</a:t>
                      </a:r>
                    </a:p>
                  </a:txBody>
                  <a:tcPr marL="6350" marR="6350" marT="6350" marB="0" anchor="b"/>
                </a:tc>
                <a:tc>
                  <a:txBody>
                    <a:bodyPr/>
                    <a:lstStyle/>
                    <a:p>
                      <a:pPr algn="ctr" fontAlgn="b"/>
                      <a:r>
                        <a:rPr lang="en-IN" sz="1100" b="0" i="0" u="none" strike="noStrike">
                          <a:solidFill>
                            <a:srgbClr val="000000"/>
                          </a:solidFill>
                          <a:effectLst/>
                          <a:latin typeface="Aptos Narrow"/>
                        </a:rPr>
                        <a:t>low</a:t>
                      </a:r>
                    </a:p>
                  </a:txBody>
                  <a:tcPr marL="6350" marR="6350" marT="6350" marB="0" anchor="b"/>
                </a:tc>
                <a:tc>
                  <a:txBody>
                    <a:bodyPr/>
                    <a:lstStyle/>
                    <a:p>
                      <a:pPr algn="ctr" fontAlgn="b"/>
                      <a:r>
                        <a:rPr lang="en-IN" sz="1100" b="0" i="0" u="none" strike="noStrike">
                          <a:solidFill>
                            <a:srgbClr val="000000"/>
                          </a:solidFill>
                          <a:effectLst/>
                          <a:latin typeface="Aptos Narrow"/>
                        </a:rPr>
                        <a:t>yes</a:t>
                      </a:r>
                    </a:p>
                  </a:txBody>
                  <a:tcPr marL="6350" marR="6350" marT="6350" marB="0" anchor="b"/>
                </a:tc>
              </a:tr>
              <a:tr h="180801">
                <a:tc>
                  <a:txBody>
                    <a:bodyPr/>
                    <a:lstStyle/>
                    <a:p>
                      <a:pPr algn="ctr" fontAlgn="b"/>
                      <a:r>
                        <a:rPr lang="en-IN" sz="1100" b="1" i="0" u="none" strike="noStrike" dirty="0">
                          <a:solidFill>
                            <a:srgbClr val="000000"/>
                          </a:solidFill>
                          <a:effectLst/>
                          <a:latin typeface="Aptos Narrow"/>
                        </a:rPr>
                        <a:t>above 60</a:t>
                      </a:r>
                    </a:p>
                  </a:txBody>
                  <a:tcPr marL="6350" marR="6350" marT="6350" marB="0" anchor="b"/>
                </a:tc>
                <a:tc>
                  <a:txBody>
                    <a:bodyPr/>
                    <a:lstStyle/>
                    <a:p>
                      <a:pPr algn="ctr" fontAlgn="b"/>
                      <a:r>
                        <a:rPr lang="en-IN" sz="1100" b="0" i="0" u="none" strike="noStrike">
                          <a:solidFill>
                            <a:srgbClr val="000000"/>
                          </a:solidFill>
                          <a:effectLst/>
                          <a:latin typeface="Aptos Narrow"/>
                        </a:rPr>
                        <a:t>female</a:t>
                      </a:r>
                    </a:p>
                  </a:txBody>
                  <a:tcPr marL="6350" marR="6350" marT="6350" marB="0" anchor="b"/>
                </a:tc>
                <a:tc>
                  <a:txBody>
                    <a:bodyPr/>
                    <a:lstStyle/>
                    <a:p>
                      <a:pPr algn="ctr" fontAlgn="b"/>
                      <a:r>
                        <a:rPr lang="en-IN" sz="1100" b="0" i="0" u="none" strike="noStrike">
                          <a:solidFill>
                            <a:srgbClr val="000000"/>
                          </a:solidFill>
                          <a:effectLst/>
                          <a:latin typeface="Aptos Narrow"/>
                        </a:rPr>
                        <a:t>yes</a:t>
                      </a:r>
                    </a:p>
                  </a:txBody>
                  <a:tcPr marL="6350" marR="6350" marT="6350" marB="0" anchor="b"/>
                </a:tc>
                <a:tc>
                  <a:txBody>
                    <a:bodyPr/>
                    <a:lstStyle/>
                    <a:p>
                      <a:pPr algn="ctr" fontAlgn="b"/>
                      <a:r>
                        <a:rPr lang="en-IN" sz="1100" b="0" i="0" u="none" strike="noStrike">
                          <a:solidFill>
                            <a:srgbClr val="000000"/>
                          </a:solidFill>
                          <a:effectLst/>
                          <a:latin typeface="Aptos Narrow"/>
                        </a:rPr>
                        <a:t>low</a:t>
                      </a:r>
                    </a:p>
                  </a:txBody>
                  <a:tcPr marL="6350" marR="6350" marT="6350" marB="0" anchor="b"/>
                </a:tc>
                <a:tc>
                  <a:txBody>
                    <a:bodyPr/>
                    <a:lstStyle/>
                    <a:p>
                      <a:pPr algn="ctr" fontAlgn="b"/>
                      <a:r>
                        <a:rPr lang="en-IN" sz="1100" b="0" i="0" u="none" strike="noStrike">
                          <a:solidFill>
                            <a:srgbClr val="000000"/>
                          </a:solidFill>
                          <a:effectLst/>
                          <a:latin typeface="Aptos Narrow"/>
                        </a:rPr>
                        <a:t>no</a:t>
                      </a:r>
                    </a:p>
                  </a:txBody>
                  <a:tcPr marL="6350" marR="6350" marT="6350" marB="0" anchor="b"/>
                </a:tc>
              </a:tr>
              <a:tr h="180801">
                <a:tc>
                  <a:txBody>
                    <a:bodyPr/>
                    <a:lstStyle/>
                    <a:p>
                      <a:pPr algn="ctr" fontAlgn="b"/>
                      <a:r>
                        <a:rPr lang="en-IN" sz="1100" b="1" i="0" u="none" strike="noStrike" dirty="0">
                          <a:solidFill>
                            <a:srgbClr val="000000"/>
                          </a:solidFill>
                          <a:effectLst/>
                          <a:latin typeface="Aptos Narrow"/>
                        </a:rPr>
                        <a:t>above 60</a:t>
                      </a:r>
                    </a:p>
                  </a:txBody>
                  <a:tcPr marL="6350" marR="6350" marT="6350" marB="0" anchor="b"/>
                </a:tc>
                <a:tc>
                  <a:txBody>
                    <a:bodyPr/>
                    <a:lstStyle/>
                    <a:p>
                      <a:pPr algn="ctr" fontAlgn="b"/>
                      <a:r>
                        <a:rPr lang="en-IN" sz="1100" b="0" i="0" u="none" strike="noStrike">
                          <a:solidFill>
                            <a:srgbClr val="000000"/>
                          </a:solidFill>
                          <a:effectLst/>
                          <a:latin typeface="Aptos Narrow"/>
                        </a:rPr>
                        <a:t>male</a:t>
                      </a:r>
                    </a:p>
                  </a:txBody>
                  <a:tcPr marL="6350" marR="6350" marT="6350" marB="0" anchor="b"/>
                </a:tc>
                <a:tc>
                  <a:txBody>
                    <a:bodyPr/>
                    <a:lstStyle/>
                    <a:p>
                      <a:pPr algn="ctr" fontAlgn="b"/>
                      <a:r>
                        <a:rPr lang="en-IN" sz="1100" b="0" i="0" u="none" strike="noStrike">
                          <a:solidFill>
                            <a:srgbClr val="000000"/>
                          </a:solidFill>
                          <a:effectLst/>
                          <a:latin typeface="Aptos Narrow"/>
                        </a:rPr>
                        <a:t>yes</a:t>
                      </a:r>
                    </a:p>
                  </a:txBody>
                  <a:tcPr marL="6350" marR="6350" marT="6350" marB="0" anchor="b"/>
                </a:tc>
                <a:tc>
                  <a:txBody>
                    <a:bodyPr/>
                    <a:lstStyle/>
                    <a:p>
                      <a:pPr algn="ctr" fontAlgn="b"/>
                      <a:r>
                        <a:rPr lang="en-IN" sz="1100" b="0" i="0" u="none" strike="noStrike">
                          <a:solidFill>
                            <a:srgbClr val="000000"/>
                          </a:solidFill>
                          <a:effectLst/>
                          <a:latin typeface="Aptos Narrow"/>
                        </a:rPr>
                        <a:t>medium</a:t>
                      </a:r>
                    </a:p>
                  </a:txBody>
                  <a:tcPr marL="6350" marR="6350" marT="6350" marB="0" anchor="b"/>
                </a:tc>
                <a:tc>
                  <a:txBody>
                    <a:bodyPr/>
                    <a:lstStyle/>
                    <a:p>
                      <a:pPr algn="ctr" fontAlgn="b"/>
                      <a:r>
                        <a:rPr lang="en-IN" sz="1100" b="0" i="0" u="none" strike="noStrike">
                          <a:solidFill>
                            <a:srgbClr val="000000"/>
                          </a:solidFill>
                          <a:effectLst/>
                          <a:latin typeface="Aptos Narrow"/>
                        </a:rPr>
                        <a:t>yes</a:t>
                      </a:r>
                    </a:p>
                  </a:txBody>
                  <a:tcPr marL="6350" marR="6350" marT="6350" marB="0" anchor="b"/>
                </a:tc>
              </a:tr>
              <a:tr h="180801">
                <a:tc>
                  <a:txBody>
                    <a:bodyPr/>
                    <a:lstStyle/>
                    <a:p>
                      <a:pPr algn="ctr" fontAlgn="b"/>
                      <a:r>
                        <a:rPr lang="en-IN" sz="1100" b="1" i="0" u="none" strike="noStrike" dirty="0">
                          <a:solidFill>
                            <a:srgbClr val="000000"/>
                          </a:solidFill>
                          <a:effectLst/>
                          <a:latin typeface="Aptos Narrow"/>
                        </a:rPr>
                        <a:t>above 60</a:t>
                      </a:r>
                    </a:p>
                  </a:txBody>
                  <a:tcPr marL="6350" marR="6350" marT="6350" marB="0" anchor="b"/>
                </a:tc>
                <a:tc>
                  <a:txBody>
                    <a:bodyPr/>
                    <a:lstStyle/>
                    <a:p>
                      <a:pPr algn="ctr" fontAlgn="b"/>
                      <a:r>
                        <a:rPr lang="en-IN" sz="1100" b="0" i="0" u="none" strike="noStrike">
                          <a:solidFill>
                            <a:srgbClr val="000000"/>
                          </a:solidFill>
                          <a:effectLst/>
                          <a:latin typeface="Aptos Narrow"/>
                        </a:rPr>
                        <a:t>female</a:t>
                      </a:r>
                    </a:p>
                  </a:txBody>
                  <a:tcPr marL="6350" marR="6350" marT="6350" marB="0" anchor="b"/>
                </a:tc>
                <a:tc>
                  <a:txBody>
                    <a:bodyPr/>
                    <a:lstStyle/>
                    <a:p>
                      <a:pPr algn="ctr" fontAlgn="b"/>
                      <a:r>
                        <a:rPr lang="en-IN" sz="1100" b="0" i="0" u="none" strike="noStrike">
                          <a:solidFill>
                            <a:srgbClr val="000000"/>
                          </a:solidFill>
                          <a:effectLst/>
                          <a:latin typeface="Aptos Narrow"/>
                        </a:rPr>
                        <a:t>no</a:t>
                      </a:r>
                    </a:p>
                  </a:txBody>
                  <a:tcPr marL="6350" marR="6350" marT="6350" marB="0" anchor="b"/>
                </a:tc>
                <a:tc>
                  <a:txBody>
                    <a:bodyPr/>
                    <a:lstStyle/>
                    <a:p>
                      <a:pPr algn="ctr" fontAlgn="b"/>
                      <a:r>
                        <a:rPr lang="en-IN" sz="1100" b="0" i="0" u="none" strike="noStrike">
                          <a:solidFill>
                            <a:srgbClr val="000000"/>
                          </a:solidFill>
                          <a:effectLst/>
                          <a:latin typeface="Aptos Narrow"/>
                        </a:rPr>
                        <a:t>medium</a:t>
                      </a:r>
                    </a:p>
                  </a:txBody>
                  <a:tcPr marL="6350" marR="6350" marT="6350" marB="0" anchor="b"/>
                </a:tc>
                <a:tc>
                  <a:txBody>
                    <a:bodyPr/>
                    <a:lstStyle/>
                    <a:p>
                      <a:pPr algn="ctr" fontAlgn="b"/>
                      <a:r>
                        <a:rPr lang="en-IN" sz="1100" b="0" i="0" u="none" strike="noStrike" dirty="0">
                          <a:solidFill>
                            <a:srgbClr val="000000"/>
                          </a:solidFill>
                          <a:effectLst/>
                          <a:latin typeface="Aptos Narrow"/>
                        </a:rPr>
                        <a:t>no</a:t>
                      </a:r>
                    </a:p>
                  </a:txBody>
                  <a:tcPr marL="6350" marR="6350" marT="6350" marB="0" anchor="b"/>
                </a:tc>
              </a:tr>
            </a:tbl>
          </a:graphicData>
        </a:graphic>
      </p:graphicFrame>
      <p:cxnSp>
        <p:nvCxnSpPr>
          <p:cNvPr id="10" name="Straight Arrow Connector 9"/>
          <p:cNvCxnSpPr/>
          <p:nvPr/>
        </p:nvCxnSpPr>
        <p:spPr>
          <a:xfrm>
            <a:off x="1619672" y="3104964"/>
            <a:ext cx="0" cy="16561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a:off x="7020272" y="2996952"/>
            <a:ext cx="0" cy="16561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4283968" y="2894721"/>
            <a:ext cx="0" cy="462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81662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IN" sz="3600" b="1" dirty="0">
                <a:latin typeface="Times New Roman" panose="02020603050405020304" pitchFamily="18" charset="0"/>
                <a:cs typeface="Times New Roman" panose="02020603050405020304" pitchFamily="18" charset="0"/>
              </a:rPr>
              <a:t>Splitting the </a:t>
            </a:r>
            <a:r>
              <a:rPr lang="en-IN" sz="3600" b="1" dirty="0" smtClean="0">
                <a:latin typeface="Times New Roman" panose="02020603050405020304" pitchFamily="18" charset="0"/>
                <a:cs typeface="Times New Roman" panose="02020603050405020304" pitchFamily="18" charset="0"/>
              </a:rPr>
              <a:t>Dataset</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80728"/>
            <a:ext cx="8229600" cy="5616624"/>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After the attribute </a:t>
            </a:r>
            <a:r>
              <a:rPr lang="en-US" sz="2400" dirty="0" err="1" smtClean="0">
                <a:solidFill>
                  <a:srgbClr val="0000FF"/>
                </a:solidFill>
                <a:latin typeface="Times New Roman" panose="02020603050405020304" pitchFamily="18" charset="0"/>
                <a:cs typeface="Times New Roman" panose="02020603050405020304" pitchFamily="18" charset="0"/>
              </a:rPr>
              <a:t>age_group</a:t>
            </a:r>
            <a:r>
              <a:rPr lang="en-US" sz="2400" dirty="0" smtClean="0">
                <a:solidFill>
                  <a:srgbClr val="0000FF"/>
                </a:solidFill>
                <a:latin typeface="Times New Roman" panose="02020603050405020304" pitchFamily="18" charset="0"/>
                <a:cs typeface="Times New Roman" panose="02020603050405020304" pitchFamily="18" charset="0"/>
              </a:rPr>
              <a:t>=</a:t>
            </a:r>
            <a:r>
              <a:rPr lang="en-US" sz="2400" dirty="0" smtClean="0">
                <a:solidFill>
                  <a:srgbClr val="C00000"/>
                </a:solidFill>
                <a:latin typeface="Times New Roman" panose="02020603050405020304" pitchFamily="18" charset="0"/>
                <a:cs typeface="Times New Roman" panose="02020603050405020304" pitchFamily="18" charset="0"/>
              </a:rPr>
              <a:t>below 30</a:t>
            </a:r>
            <a:r>
              <a:rPr lang="en-US" sz="2400" dirty="0" smtClean="0">
                <a:latin typeface="Times New Roman" panose="02020603050405020304" pitchFamily="18" charset="0"/>
                <a:cs typeface="Times New Roman" panose="02020603050405020304" pitchFamily="18" charset="0"/>
              </a:rPr>
              <a:t>, let </a:t>
            </a:r>
            <a:r>
              <a:rPr lang="en-US" sz="2400" dirty="0">
                <a:latin typeface="Times New Roman" panose="02020603050405020304" pitchFamily="18" charset="0"/>
                <a:cs typeface="Times New Roman" panose="02020603050405020304" pitchFamily="18" charset="0"/>
              </a:rPr>
              <a:t>us now split the data set on </a:t>
            </a:r>
            <a:r>
              <a:rPr lang="en-US" sz="2400" dirty="0" smtClean="0">
                <a:latin typeface="Times New Roman" panose="02020603050405020304" pitchFamily="18" charset="0"/>
                <a:cs typeface="Times New Roman" panose="02020603050405020304" pitchFamily="18" charset="0"/>
              </a:rPr>
              <a:t>‘</a:t>
            </a:r>
            <a:r>
              <a:rPr lang="en-US" sz="2400" dirty="0" smtClean="0">
                <a:solidFill>
                  <a:srgbClr val="0000FF"/>
                </a:solidFill>
                <a:latin typeface="Times New Roman" panose="02020603050405020304" pitchFamily="18" charset="0"/>
                <a:cs typeface="Times New Roman" panose="02020603050405020304" pitchFamily="18" charset="0"/>
              </a:rPr>
              <a:t>gender'</a:t>
            </a:r>
            <a:r>
              <a:rPr lang="en-US" sz="2400" dirty="0">
                <a:latin typeface="Times New Roman" panose="02020603050405020304" pitchFamily="18" charset="0"/>
                <a:cs typeface="Times New Roman" panose="02020603050405020304" pitchFamily="18" charset="0"/>
              </a:rPr>
              <a:t> attribute which takes one of 2 values - </a:t>
            </a:r>
            <a:r>
              <a:rPr lang="en-US" sz="2400" dirty="0" smtClean="0">
                <a:solidFill>
                  <a:srgbClr val="C00000"/>
                </a:solidFill>
                <a:latin typeface="Times New Roman" panose="02020603050405020304" pitchFamily="18" charset="0"/>
                <a:cs typeface="Times New Roman" panose="02020603050405020304" pitchFamily="18" charset="0"/>
              </a:rPr>
              <a:t>‘male'</a:t>
            </a:r>
            <a:r>
              <a:rPr lang="en-US" sz="2400" dirty="0">
                <a:solidFill>
                  <a:srgbClr val="C00000"/>
                </a:solidFill>
                <a:latin typeface="Times New Roman" panose="02020603050405020304" pitchFamily="18" charset="0"/>
                <a:cs typeface="Times New Roman" panose="02020603050405020304" pitchFamily="18" charset="0"/>
              </a:rPr>
              <a:t> or </a:t>
            </a:r>
            <a:r>
              <a:rPr lang="en-US" sz="2400" dirty="0" smtClean="0">
                <a:solidFill>
                  <a:srgbClr val="C00000"/>
                </a:solidFill>
                <a:latin typeface="Times New Roman" panose="02020603050405020304" pitchFamily="18" charset="0"/>
                <a:cs typeface="Times New Roman" panose="02020603050405020304" pitchFamily="18" charset="0"/>
              </a:rPr>
              <a:t>‘female'.</a:t>
            </a:r>
          </a:p>
          <a:p>
            <a:pPr algn="just"/>
            <a:r>
              <a:rPr lang="en-US" sz="2400" dirty="0" smtClean="0">
                <a:solidFill>
                  <a:srgbClr val="0000FF"/>
                </a:solidFill>
                <a:latin typeface="Times New Roman" panose="02020603050405020304" pitchFamily="18" charset="0"/>
                <a:cs typeface="Times New Roman" panose="02020603050405020304" pitchFamily="18" charset="0"/>
              </a:rPr>
              <a:t>gender=male  (</a:t>
            </a:r>
            <a:r>
              <a:rPr lang="en-US" sz="2400" dirty="0" smtClean="0">
                <a:latin typeface="Times New Roman" panose="02020603050405020304" pitchFamily="18" charset="0"/>
                <a:cs typeface="Times New Roman" panose="02020603050405020304" pitchFamily="18" charset="0"/>
              </a:rPr>
              <a:t>class label </a:t>
            </a:r>
            <a:r>
              <a:rPr lang="en-US" sz="2400" dirty="0" smtClean="0">
                <a:solidFill>
                  <a:srgbClr val="0000FF"/>
                </a:solidFill>
                <a:latin typeface="Times New Roman" panose="02020603050405020304" pitchFamily="18" charset="0"/>
                <a:cs typeface="Times New Roman" panose="02020603050405020304" pitchFamily="18" charset="0"/>
              </a:rPr>
              <a:t>yes:1,No:2), Total=3</a:t>
            </a:r>
            <a:endParaRPr lang="en-US" dirty="0" smtClean="0">
              <a:solidFill>
                <a:srgbClr val="C00000"/>
              </a:solidFill>
              <a:latin typeface="Times New Roman" panose="02020603050405020304" pitchFamily="18" charset="0"/>
              <a:cs typeface="Times New Roman" panose="02020603050405020304" pitchFamily="18" charset="0"/>
            </a:endParaRPr>
          </a:p>
          <a:p>
            <a:pPr marL="0" indent="0">
              <a:buNone/>
            </a:pPr>
            <a:endParaRPr lang="en-IN" dirty="0" smtClean="0"/>
          </a:p>
          <a:p>
            <a:pPr marL="0" indent="0">
              <a:buNone/>
            </a:pPr>
            <a:endParaRPr lang="en-IN" dirty="0"/>
          </a:p>
          <a:p>
            <a:pPr marL="0" indent="0">
              <a:buNone/>
            </a:pPr>
            <a:endParaRPr lang="en-US" sz="2200" dirty="0" smtClean="0">
              <a:solidFill>
                <a:srgbClr val="0000FF"/>
              </a:solidFill>
              <a:latin typeface="Times New Roman" panose="02020603050405020304" pitchFamily="18" charset="0"/>
              <a:cs typeface="Times New Roman" panose="02020603050405020304" pitchFamily="18" charset="0"/>
            </a:endParaRPr>
          </a:p>
          <a:p>
            <a:pPr>
              <a:spcBef>
                <a:spcPts val="0"/>
              </a:spcBef>
            </a:pPr>
            <a:r>
              <a:rPr lang="en-US" sz="2200" dirty="0" smtClean="0">
                <a:solidFill>
                  <a:srgbClr val="0000FF"/>
                </a:solidFill>
                <a:latin typeface="Times New Roman" panose="02020603050405020304" pitchFamily="18" charset="0"/>
                <a:cs typeface="Times New Roman" panose="02020603050405020304" pitchFamily="18" charset="0"/>
              </a:rPr>
              <a:t>gender=male  </a:t>
            </a:r>
            <a:r>
              <a:rPr lang="en-US" sz="2200" dirty="0">
                <a:latin typeface="Times New Roman" panose="02020603050405020304" pitchFamily="18" charset="0"/>
                <a:cs typeface="Times New Roman" panose="02020603050405020304" pitchFamily="18" charset="0"/>
              </a:rPr>
              <a:t>(class label </a:t>
            </a:r>
            <a:r>
              <a:rPr lang="en-US" sz="2200" dirty="0">
                <a:solidFill>
                  <a:srgbClr val="0000FF"/>
                </a:solidFill>
                <a:latin typeface="Times New Roman" panose="02020603050405020304" pitchFamily="18" charset="0"/>
                <a:cs typeface="Times New Roman" panose="02020603050405020304" pitchFamily="18" charset="0"/>
              </a:rPr>
              <a:t>yes </a:t>
            </a:r>
            <a:r>
              <a:rPr lang="en-US" sz="2200" dirty="0" smtClean="0">
                <a:solidFill>
                  <a:srgbClr val="0000FF"/>
                </a:solidFill>
                <a:latin typeface="Times New Roman" panose="02020603050405020304" pitchFamily="18" charset="0"/>
                <a:cs typeface="Times New Roman" panose="02020603050405020304" pitchFamily="18" charset="0"/>
              </a:rPr>
              <a:t>:1,No:1), Total=2</a:t>
            </a:r>
            <a:endParaRPr lang="en-US" sz="2200" dirty="0">
              <a:solidFill>
                <a:srgbClr val="0000FF"/>
              </a:solidFill>
              <a:latin typeface="Times New Roman" panose="02020603050405020304" pitchFamily="18" charset="0"/>
              <a:cs typeface="Times New Roman" panose="02020603050405020304" pitchFamily="18" charset="0"/>
            </a:endParaRPr>
          </a:p>
          <a:p>
            <a:pPr marL="0" indent="0">
              <a:buNone/>
            </a:pPr>
            <a:endParaRPr lang="en-IN" dirty="0" smtClean="0"/>
          </a:p>
          <a:p>
            <a:pPr marL="0" indent="0">
              <a:buNone/>
            </a:pPr>
            <a:endParaRPr lang="en-IN" dirty="0"/>
          </a:p>
        </p:txBody>
      </p:sp>
      <p:sp>
        <p:nvSpPr>
          <p:cNvPr id="4" name="Slide Number Placeholder 3"/>
          <p:cNvSpPr>
            <a:spLocks noGrp="1"/>
          </p:cNvSpPr>
          <p:nvPr>
            <p:ph type="sldNum" sz="quarter" idx="12"/>
          </p:nvPr>
        </p:nvSpPr>
        <p:spPr/>
        <p:txBody>
          <a:bodyPr/>
          <a:lstStyle/>
          <a:p>
            <a:fld id="{4EB28266-621B-4E6C-B384-6411A00B5EC3}" type="slidenum">
              <a:rPr lang="en-US" smtClean="0"/>
              <a:pPr/>
              <a:t>11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112934649"/>
              </p:ext>
            </p:extLst>
          </p:nvPr>
        </p:nvGraphicFramePr>
        <p:xfrm>
          <a:off x="1475657" y="2773027"/>
          <a:ext cx="5616623" cy="1088020"/>
        </p:xfrm>
        <a:graphic>
          <a:graphicData uri="http://schemas.openxmlformats.org/drawingml/2006/table">
            <a:tbl>
              <a:tblPr>
                <a:tableStyleId>{5C22544A-7EE6-4342-B048-85BDC9FD1C3A}</a:tableStyleId>
              </a:tblPr>
              <a:tblGrid>
                <a:gridCol w="905366"/>
                <a:gridCol w="804770"/>
                <a:gridCol w="1492177"/>
                <a:gridCol w="905366"/>
                <a:gridCol w="1508944"/>
              </a:tblGrid>
              <a:tr h="415735">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purchase_mobile</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224095">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0000FF"/>
                          </a:solidFill>
                          <a:effectLst/>
                        </a:rPr>
                        <a:t>male</a:t>
                      </a:r>
                      <a:endParaRPr lang="en-IN" sz="1100" b="0" i="0" u="none" strike="noStrike" dirty="0">
                        <a:solidFill>
                          <a:srgbClr val="0000FF"/>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high</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224095">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0000FF"/>
                          </a:solidFill>
                          <a:effectLst/>
                        </a:rPr>
                        <a:t>male</a:t>
                      </a:r>
                      <a:endParaRPr lang="en-IN" sz="1100" b="0" i="0" u="none" strike="noStrike" dirty="0">
                        <a:solidFill>
                          <a:srgbClr val="0000FF"/>
                        </a:solidFill>
                        <a:effectLst/>
                        <a:latin typeface="Aptos Narrow"/>
                      </a:endParaRPr>
                    </a:p>
                  </a:txBody>
                  <a:tcPr marL="6350" marR="6350" marT="6350" marB="0" anchor="b"/>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a:effectLst/>
                        </a:rPr>
                        <a:t>medium</a:t>
                      </a:r>
                      <a:endParaRPr lang="en-IN" sz="1100" b="0" i="0" u="none" strike="noStrike">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tc>
              </a:tr>
              <a:tr h="224095">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0000FF"/>
                          </a:solidFill>
                          <a:effectLst/>
                        </a:rPr>
                        <a:t>male</a:t>
                      </a:r>
                      <a:endParaRPr lang="en-IN" sz="1100" b="0" i="0" u="none" strike="noStrike" dirty="0">
                        <a:solidFill>
                          <a:srgbClr val="0000FF"/>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low</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32306766"/>
              </p:ext>
            </p:extLst>
          </p:nvPr>
        </p:nvGraphicFramePr>
        <p:xfrm>
          <a:off x="1547096" y="4676216"/>
          <a:ext cx="5617192" cy="1273063"/>
        </p:xfrm>
        <a:graphic>
          <a:graphicData uri="http://schemas.openxmlformats.org/drawingml/2006/table">
            <a:tbl>
              <a:tblPr>
                <a:tableStyleId>{5C22544A-7EE6-4342-B048-85BDC9FD1C3A}</a:tableStyleId>
              </a:tblPr>
              <a:tblGrid>
                <a:gridCol w="905458"/>
                <a:gridCol w="804851"/>
                <a:gridCol w="1492329"/>
                <a:gridCol w="905458"/>
                <a:gridCol w="1509096"/>
              </a:tblGrid>
              <a:tr h="612619">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employment_status</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purchase_mobile</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330222">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0000FF"/>
                          </a:solidFill>
                          <a:effectLst/>
                        </a:rPr>
                        <a:t>female</a:t>
                      </a:r>
                      <a:endParaRPr lang="en-IN" sz="1100" b="0" i="0" u="none" strike="noStrike" dirty="0">
                        <a:solidFill>
                          <a:srgbClr val="0000FF"/>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rPr>
                        <a:t>no</a:t>
                      </a:r>
                      <a:endParaRPr lang="en-IN" sz="1100" b="0" i="0" u="none" strike="noStrike" dirty="0">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a:effectLst/>
                        </a:rPr>
                        <a:t>high</a:t>
                      </a:r>
                      <a:endParaRPr lang="en-IN" sz="1100" b="0" i="0" u="none" strike="noStrike">
                        <a:solidFill>
                          <a:srgbClr val="0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u="none" strike="noStrike" dirty="0">
                          <a:solidFill>
                            <a:srgbClr val="C00000"/>
                          </a:solidFill>
                          <a:effectLst/>
                        </a:rPr>
                        <a:t>no</a:t>
                      </a:r>
                      <a:endParaRPr lang="en-IN" sz="1100" b="0" i="0" u="none" strike="noStrike" dirty="0">
                        <a:solidFill>
                          <a:srgbClr val="C00000"/>
                        </a:solidFill>
                        <a:effectLst/>
                        <a:latin typeface="Aptos Narrow"/>
                      </a:endParaRPr>
                    </a:p>
                  </a:txBody>
                  <a:tcPr marL="6350" marR="6350" marT="6350" marB="0" anchor="b">
                    <a:lnT w="12700" cap="flat" cmpd="sng" algn="ctr">
                      <a:solidFill>
                        <a:schemeClr val="tx1"/>
                      </a:solidFill>
                      <a:prstDash val="solid"/>
                      <a:round/>
                      <a:headEnd type="none" w="med" len="med"/>
                      <a:tailEnd type="none" w="med" len="med"/>
                    </a:lnT>
                  </a:tcPr>
                </a:tc>
              </a:tr>
              <a:tr h="330222">
                <a:tc>
                  <a:txBody>
                    <a:bodyPr/>
                    <a:lstStyle/>
                    <a:p>
                      <a:pPr algn="ctr" fontAlgn="b"/>
                      <a:r>
                        <a:rPr lang="en-IN" sz="1100" b="1" u="none" strike="noStrike" dirty="0">
                          <a:effectLst/>
                        </a:rPr>
                        <a:t>below 30</a:t>
                      </a:r>
                      <a:endParaRPr lang="en-IN" sz="1100" b="1"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0000FF"/>
                          </a:solidFill>
                          <a:effectLst/>
                        </a:rPr>
                        <a:t>female</a:t>
                      </a:r>
                      <a:endParaRPr lang="en-IN" sz="1100" b="0" i="0" u="none" strike="noStrike" dirty="0">
                        <a:solidFill>
                          <a:srgbClr val="0000FF"/>
                        </a:solidFill>
                        <a:effectLst/>
                        <a:latin typeface="Aptos Narrow"/>
                      </a:endParaRPr>
                    </a:p>
                  </a:txBody>
                  <a:tcPr marL="6350" marR="6350" marT="6350" marB="0" anchor="b"/>
                </a:tc>
                <a:tc>
                  <a:txBody>
                    <a:bodyPr/>
                    <a:lstStyle/>
                    <a:p>
                      <a:pPr algn="ctr" fontAlgn="b"/>
                      <a:r>
                        <a:rPr lang="en-IN" sz="1100" u="none" strike="noStrike" dirty="0">
                          <a:effectLst/>
                        </a:rPr>
                        <a:t>yes</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effectLst/>
                        </a:rPr>
                        <a:t>medium</a:t>
                      </a:r>
                      <a:endParaRPr lang="en-IN" sz="1100" b="0" i="0" u="none" strike="noStrike" dirty="0">
                        <a:solidFill>
                          <a:srgbClr val="000000"/>
                        </a:solidFill>
                        <a:effectLst/>
                        <a:latin typeface="Aptos Narrow"/>
                      </a:endParaRPr>
                    </a:p>
                  </a:txBody>
                  <a:tcPr marL="6350" marR="6350" marT="6350" marB="0" anchor="b"/>
                </a:tc>
                <a:tc>
                  <a:txBody>
                    <a:bodyPr/>
                    <a:lstStyle/>
                    <a:p>
                      <a:pPr algn="ctr" fontAlgn="b"/>
                      <a:r>
                        <a:rPr lang="en-IN" sz="1100" u="none" strike="noStrike" dirty="0">
                          <a:solidFill>
                            <a:srgbClr val="C00000"/>
                          </a:solidFill>
                          <a:effectLst/>
                        </a:rPr>
                        <a:t>yes</a:t>
                      </a:r>
                      <a:endParaRPr lang="en-IN" sz="1100" b="0" i="0" u="none" strike="noStrike" dirty="0">
                        <a:solidFill>
                          <a:srgbClr val="C00000"/>
                        </a:solidFill>
                        <a:effectLst/>
                        <a:latin typeface="Aptos Narrow"/>
                      </a:endParaRPr>
                    </a:p>
                  </a:txBody>
                  <a:tcPr marL="6350" marR="6350" marT="6350" marB="0" anchor="b"/>
                </a:tc>
              </a:tr>
            </a:tbl>
          </a:graphicData>
        </a:graphic>
      </p:graphicFrame>
    </p:spTree>
    <p:extLst>
      <p:ext uri="{BB962C8B-B14F-4D97-AF65-F5344CB8AC3E}">
        <p14:creationId xmlns:p14="http://schemas.microsoft.com/office/powerpoint/2010/main" val="41513581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IN" sz="3600" b="1" dirty="0">
                <a:latin typeface="Times New Roman" panose="02020603050405020304" pitchFamily="18" charset="0"/>
                <a:cs typeface="Times New Roman" panose="02020603050405020304" pitchFamily="18" charset="0"/>
              </a:rPr>
              <a:t>Splitting the </a:t>
            </a:r>
            <a:r>
              <a:rPr lang="en-IN" sz="3600" b="1" dirty="0" smtClean="0">
                <a:latin typeface="Times New Roman" panose="02020603050405020304" pitchFamily="18" charset="0"/>
                <a:cs typeface="Times New Roman" panose="02020603050405020304" pitchFamily="18" charset="0"/>
              </a:rPr>
              <a:t>Dataset</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80728"/>
            <a:ext cx="8229600" cy="5616624"/>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After the attribute </a:t>
            </a:r>
            <a:r>
              <a:rPr lang="en-US" sz="2400" dirty="0" err="1" smtClean="0">
                <a:solidFill>
                  <a:srgbClr val="0000FF"/>
                </a:solidFill>
                <a:latin typeface="Times New Roman" panose="02020603050405020304" pitchFamily="18" charset="0"/>
                <a:cs typeface="Times New Roman" panose="02020603050405020304" pitchFamily="18" charset="0"/>
              </a:rPr>
              <a:t>age_group</a:t>
            </a:r>
            <a:r>
              <a:rPr lang="en-US" sz="2400" dirty="0" smtClean="0">
                <a:solidFill>
                  <a:srgbClr val="0000FF"/>
                </a:solidFill>
                <a:latin typeface="Times New Roman" panose="02020603050405020304" pitchFamily="18" charset="0"/>
                <a:cs typeface="Times New Roman" panose="02020603050405020304" pitchFamily="18" charset="0"/>
              </a:rPr>
              <a:t>=</a:t>
            </a:r>
            <a:r>
              <a:rPr lang="en-US" sz="2400" dirty="0" smtClean="0">
                <a:solidFill>
                  <a:srgbClr val="C00000"/>
                </a:solidFill>
                <a:latin typeface="Times New Roman" panose="02020603050405020304" pitchFamily="18" charset="0"/>
                <a:cs typeface="Times New Roman" panose="02020603050405020304" pitchFamily="18" charset="0"/>
              </a:rPr>
              <a:t>above 60</a:t>
            </a:r>
            <a:r>
              <a:rPr lang="en-US" sz="2400" dirty="0" smtClean="0">
                <a:latin typeface="Times New Roman" panose="02020603050405020304" pitchFamily="18" charset="0"/>
                <a:cs typeface="Times New Roman" panose="02020603050405020304" pitchFamily="18" charset="0"/>
              </a:rPr>
              <a:t>, let </a:t>
            </a:r>
            <a:r>
              <a:rPr lang="en-US" sz="2400" dirty="0">
                <a:latin typeface="Times New Roman" panose="02020603050405020304" pitchFamily="18" charset="0"/>
                <a:cs typeface="Times New Roman" panose="02020603050405020304" pitchFamily="18" charset="0"/>
              </a:rPr>
              <a:t>us now split the data set on </a:t>
            </a:r>
            <a:r>
              <a:rPr lang="en-US" sz="2400" dirty="0" smtClean="0">
                <a:latin typeface="Times New Roman" panose="02020603050405020304" pitchFamily="18" charset="0"/>
                <a:cs typeface="Times New Roman" panose="02020603050405020304" pitchFamily="18" charset="0"/>
              </a:rPr>
              <a:t>‘</a:t>
            </a:r>
            <a:r>
              <a:rPr lang="en-US" sz="2400" dirty="0" smtClean="0">
                <a:solidFill>
                  <a:srgbClr val="0000FF"/>
                </a:solidFill>
                <a:latin typeface="Times New Roman" panose="02020603050405020304" pitchFamily="18" charset="0"/>
                <a:cs typeface="Times New Roman" panose="02020603050405020304" pitchFamily="18" charset="0"/>
              </a:rPr>
              <a:t>gender'</a:t>
            </a:r>
            <a:r>
              <a:rPr lang="en-US" sz="2400" dirty="0">
                <a:latin typeface="Times New Roman" panose="02020603050405020304" pitchFamily="18" charset="0"/>
                <a:cs typeface="Times New Roman" panose="02020603050405020304" pitchFamily="18" charset="0"/>
              </a:rPr>
              <a:t> attribute which takes one of 2 values - </a:t>
            </a:r>
            <a:r>
              <a:rPr lang="en-US" sz="2400" dirty="0" smtClean="0">
                <a:solidFill>
                  <a:srgbClr val="C00000"/>
                </a:solidFill>
                <a:latin typeface="Times New Roman" panose="02020603050405020304" pitchFamily="18" charset="0"/>
                <a:cs typeface="Times New Roman" panose="02020603050405020304" pitchFamily="18" charset="0"/>
              </a:rPr>
              <a:t>‘male'</a:t>
            </a:r>
            <a:r>
              <a:rPr lang="en-US" sz="2400" dirty="0">
                <a:solidFill>
                  <a:srgbClr val="C00000"/>
                </a:solidFill>
                <a:latin typeface="Times New Roman" panose="02020603050405020304" pitchFamily="18" charset="0"/>
                <a:cs typeface="Times New Roman" panose="02020603050405020304" pitchFamily="18" charset="0"/>
              </a:rPr>
              <a:t> or </a:t>
            </a:r>
            <a:r>
              <a:rPr lang="en-US" sz="2400" dirty="0" smtClean="0">
                <a:solidFill>
                  <a:srgbClr val="C00000"/>
                </a:solidFill>
                <a:latin typeface="Times New Roman" panose="02020603050405020304" pitchFamily="18" charset="0"/>
                <a:cs typeface="Times New Roman" panose="02020603050405020304" pitchFamily="18" charset="0"/>
              </a:rPr>
              <a:t>‘female'.</a:t>
            </a:r>
          </a:p>
          <a:p>
            <a:pPr algn="just"/>
            <a:r>
              <a:rPr lang="en-US" sz="2400" dirty="0" smtClean="0">
                <a:solidFill>
                  <a:srgbClr val="0000FF"/>
                </a:solidFill>
                <a:latin typeface="Times New Roman" panose="02020603050405020304" pitchFamily="18" charset="0"/>
                <a:cs typeface="Times New Roman" panose="02020603050405020304" pitchFamily="18" charset="0"/>
              </a:rPr>
              <a:t>gender=male  (</a:t>
            </a:r>
            <a:r>
              <a:rPr lang="en-US" sz="2400" dirty="0" smtClean="0">
                <a:latin typeface="Times New Roman" panose="02020603050405020304" pitchFamily="18" charset="0"/>
                <a:cs typeface="Times New Roman" panose="02020603050405020304" pitchFamily="18" charset="0"/>
              </a:rPr>
              <a:t>class label </a:t>
            </a:r>
            <a:r>
              <a:rPr lang="en-US" sz="2400" dirty="0" smtClean="0">
                <a:solidFill>
                  <a:srgbClr val="0000FF"/>
                </a:solidFill>
                <a:latin typeface="Times New Roman" panose="02020603050405020304" pitchFamily="18" charset="0"/>
                <a:cs typeface="Times New Roman" panose="02020603050405020304" pitchFamily="18" charset="0"/>
              </a:rPr>
              <a:t>yes:3,No:0), Total=3</a:t>
            </a:r>
            <a:endParaRPr lang="en-US" dirty="0" smtClean="0">
              <a:solidFill>
                <a:srgbClr val="C00000"/>
              </a:solidFill>
              <a:latin typeface="Times New Roman" panose="02020603050405020304" pitchFamily="18" charset="0"/>
              <a:cs typeface="Times New Roman" panose="02020603050405020304" pitchFamily="18" charset="0"/>
            </a:endParaRPr>
          </a:p>
          <a:p>
            <a:pPr marL="0" indent="0">
              <a:buNone/>
            </a:pPr>
            <a:endParaRPr lang="en-IN" dirty="0" smtClean="0"/>
          </a:p>
          <a:p>
            <a:pPr marL="0" indent="0">
              <a:buNone/>
            </a:pPr>
            <a:endParaRPr lang="en-IN" dirty="0"/>
          </a:p>
          <a:p>
            <a:pPr marL="0" indent="0">
              <a:buNone/>
            </a:pPr>
            <a:endParaRPr lang="en-US" sz="2200" dirty="0" smtClean="0">
              <a:solidFill>
                <a:srgbClr val="0000FF"/>
              </a:solidFill>
              <a:latin typeface="Times New Roman" panose="02020603050405020304" pitchFamily="18" charset="0"/>
              <a:cs typeface="Times New Roman" panose="02020603050405020304" pitchFamily="18" charset="0"/>
            </a:endParaRPr>
          </a:p>
          <a:p>
            <a:pPr>
              <a:spcBef>
                <a:spcPts val="0"/>
              </a:spcBef>
            </a:pPr>
            <a:r>
              <a:rPr lang="en-US" sz="2200" dirty="0" smtClean="0">
                <a:solidFill>
                  <a:srgbClr val="0000FF"/>
                </a:solidFill>
                <a:latin typeface="Times New Roman" panose="02020603050405020304" pitchFamily="18" charset="0"/>
                <a:cs typeface="Times New Roman" panose="02020603050405020304" pitchFamily="18" charset="0"/>
              </a:rPr>
              <a:t>gender=female  </a:t>
            </a:r>
            <a:r>
              <a:rPr lang="en-US" sz="2200" dirty="0">
                <a:latin typeface="Times New Roman" panose="02020603050405020304" pitchFamily="18" charset="0"/>
                <a:cs typeface="Times New Roman" panose="02020603050405020304" pitchFamily="18" charset="0"/>
              </a:rPr>
              <a:t>(class label </a:t>
            </a:r>
            <a:r>
              <a:rPr lang="en-US" sz="2200" dirty="0">
                <a:solidFill>
                  <a:srgbClr val="0000FF"/>
                </a:solidFill>
                <a:latin typeface="Times New Roman" panose="02020603050405020304" pitchFamily="18" charset="0"/>
                <a:cs typeface="Times New Roman" panose="02020603050405020304" pitchFamily="18" charset="0"/>
              </a:rPr>
              <a:t>yes </a:t>
            </a:r>
            <a:r>
              <a:rPr lang="en-US" sz="2200" dirty="0" smtClean="0">
                <a:solidFill>
                  <a:srgbClr val="0000FF"/>
                </a:solidFill>
                <a:latin typeface="Times New Roman" panose="02020603050405020304" pitchFamily="18" charset="0"/>
                <a:cs typeface="Times New Roman" panose="02020603050405020304" pitchFamily="18" charset="0"/>
              </a:rPr>
              <a:t>:0,No:2), Total=2</a:t>
            </a:r>
            <a:endParaRPr lang="en-US" sz="2200" dirty="0">
              <a:solidFill>
                <a:srgbClr val="0000FF"/>
              </a:solidFill>
              <a:latin typeface="Times New Roman" panose="02020603050405020304" pitchFamily="18" charset="0"/>
              <a:cs typeface="Times New Roman" panose="02020603050405020304" pitchFamily="18" charset="0"/>
            </a:endParaRPr>
          </a:p>
          <a:p>
            <a:pPr marL="0" indent="0">
              <a:buNone/>
            </a:pPr>
            <a:endParaRPr lang="en-IN" dirty="0" smtClean="0"/>
          </a:p>
          <a:p>
            <a:pPr marL="0" indent="0">
              <a:buNone/>
            </a:pPr>
            <a:endParaRPr lang="en-IN" dirty="0"/>
          </a:p>
        </p:txBody>
      </p:sp>
      <p:sp>
        <p:nvSpPr>
          <p:cNvPr id="4" name="Slide Number Placeholder 3"/>
          <p:cNvSpPr>
            <a:spLocks noGrp="1"/>
          </p:cNvSpPr>
          <p:nvPr>
            <p:ph type="sldNum" sz="quarter" idx="12"/>
          </p:nvPr>
        </p:nvSpPr>
        <p:spPr/>
        <p:txBody>
          <a:bodyPr/>
          <a:lstStyle/>
          <a:p>
            <a:fld id="{4EB28266-621B-4E6C-B384-6411A00B5EC3}" type="slidenum">
              <a:rPr lang="en-US" smtClean="0"/>
              <a:pPr/>
              <a:t>12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176232271"/>
              </p:ext>
            </p:extLst>
          </p:nvPr>
        </p:nvGraphicFramePr>
        <p:xfrm>
          <a:off x="1475657" y="2773027"/>
          <a:ext cx="5616623" cy="1088020"/>
        </p:xfrm>
        <a:graphic>
          <a:graphicData uri="http://schemas.openxmlformats.org/drawingml/2006/table">
            <a:tbl>
              <a:tblPr>
                <a:tableStyleId>{5C22544A-7EE6-4342-B048-85BDC9FD1C3A}</a:tableStyleId>
              </a:tblPr>
              <a:tblGrid>
                <a:gridCol w="905366"/>
                <a:gridCol w="804770"/>
                <a:gridCol w="1492177"/>
                <a:gridCol w="905366"/>
                <a:gridCol w="1508944"/>
              </a:tblGrid>
              <a:tr h="415735">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purchase_mobile</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224095">
                <a:tc>
                  <a:txBody>
                    <a:bodyPr/>
                    <a:lstStyle/>
                    <a:p>
                      <a:pPr algn="ctr" fontAlgn="b"/>
                      <a:r>
                        <a:rPr lang="en-IN" sz="1100" b="1" i="0" u="none" strike="noStrike" dirty="0">
                          <a:solidFill>
                            <a:srgbClr val="000000"/>
                          </a:solidFill>
                          <a:effectLst/>
                          <a:latin typeface="Aptos Narrow"/>
                        </a:rPr>
                        <a:t>above 60</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male</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no</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medium</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C00000"/>
                          </a:solidFill>
                          <a:effectLst/>
                          <a:latin typeface="Aptos Narrow"/>
                        </a:rPr>
                        <a:t>yes</a:t>
                      </a:r>
                    </a:p>
                  </a:txBody>
                  <a:tcPr marL="6350" marR="6350" marT="6350" marB="0" anchor="b">
                    <a:lnT w="12700" cap="flat" cmpd="sng" algn="ctr">
                      <a:solidFill>
                        <a:schemeClr val="tx1"/>
                      </a:solidFill>
                      <a:prstDash val="solid"/>
                      <a:round/>
                      <a:headEnd type="none" w="med" len="med"/>
                      <a:tailEnd type="none" w="med" len="med"/>
                    </a:lnT>
                  </a:tcPr>
                </a:tc>
              </a:tr>
              <a:tr h="224095">
                <a:tc>
                  <a:txBody>
                    <a:bodyPr/>
                    <a:lstStyle/>
                    <a:p>
                      <a:pPr algn="ctr" fontAlgn="b"/>
                      <a:r>
                        <a:rPr lang="en-IN" sz="1100" b="1" i="0" u="none" strike="noStrike" dirty="0">
                          <a:solidFill>
                            <a:srgbClr val="000000"/>
                          </a:solidFill>
                          <a:effectLst/>
                          <a:latin typeface="Aptos Narrow"/>
                        </a:rPr>
                        <a:t>above 60</a:t>
                      </a:r>
                    </a:p>
                  </a:txBody>
                  <a:tcPr marL="6350" marR="6350" marT="6350" marB="0" anchor="b"/>
                </a:tc>
                <a:tc>
                  <a:txBody>
                    <a:bodyPr/>
                    <a:lstStyle/>
                    <a:p>
                      <a:pPr algn="ctr" fontAlgn="b"/>
                      <a:r>
                        <a:rPr lang="en-IN" sz="1100" b="0" i="0" u="none" strike="noStrike">
                          <a:solidFill>
                            <a:srgbClr val="000000"/>
                          </a:solidFill>
                          <a:effectLst/>
                          <a:latin typeface="Aptos Narrow"/>
                        </a:rPr>
                        <a:t>male</a:t>
                      </a:r>
                    </a:p>
                  </a:txBody>
                  <a:tcPr marL="6350" marR="6350" marT="6350" marB="0" anchor="b"/>
                </a:tc>
                <a:tc>
                  <a:txBody>
                    <a:bodyPr/>
                    <a:lstStyle/>
                    <a:p>
                      <a:pPr algn="ctr" fontAlgn="b"/>
                      <a:r>
                        <a:rPr lang="en-IN" sz="1100" b="0" i="0" u="none" strike="noStrike">
                          <a:solidFill>
                            <a:srgbClr val="000000"/>
                          </a:solidFill>
                          <a:effectLst/>
                          <a:latin typeface="Aptos Narrow"/>
                        </a:rPr>
                        <a:t>yes</a:t>
                      </a:r>
                    </a:p>
                  </a:txBody>
                  <a:tcPr marL="6350" marR="6350" marT="6350" marB="0" anchor="b"/>
                </a:tc>
                <a:tc>
                  <a:txBody>
                    <a:bodyPr/>
                    <a:lstStyle/>
                    <a:p>
                      <a:pPr algn="ctr" fontAlgn="b"/>
                      <a:r>
                        <a:rPr lang="en-IN" sz="1100" b="0" i="0" u="none" strike="noStrike">
                          <a:solidFill>
                            <a:srgbClr val="000000"/>
                          </a:solidFill>
                          <a:effectLst/>
                          <a:latin typeface="Aptos Narrow"/>
                        </a:rPr>
                        <a:t>low</a:t>
                      </a:r>
                    </a:p>
                  </a:txBody>
                  <a:tcPr marL="6350" marR="6350" marT="6350" marB="0" anchor="b"/>
                </a:tc>
                <a:tc>
                  <a:txBody>
                    <a:bodyPr/>
                    <a:lstStyle/>
                    <a:p>
                      <a:pPr algn="ctr" fontAlgn="b"/>
                      <a:r>
                        <a:rPr lang="en-IN" sz="1100" b="0" i="0" u="none" strike="noStrike" dirty="0">
                          <a:solidFill>
                            <a:srgbClr val="C00000"/>
                          </a:solidFill>
                          <a:effectLst/>
                          <a:latin typeface="Aptos Narrow"/>
                        </a:rPr>
                        <a:t>yes</a:t>
                      </a:r>
                    </a:p>
                  </a:txBody>
                  <a:tcPr marL="6350" marR="6350" marT="6350" marB="0" anchor="b"/>
                </a:tc>
              </a:tr>
              <a:tr h="224095">
                <a:tc>
                  <a:txBody>
                    <a:bodyPr/>
                    <a:lstStyle/>
                    <a:p>
                      <a:pPr algn="ctr" fontAlgn="b"/>
                      <a:r>
                        <a:rPr lang="en-IN" sz="1100" b="1" i="0" u="none" strike="noStrike" dirty="0">
                          <a:solidFill>
                            <a:srgbClr val="000000"/>
                          </a:solidFill>
                          <a:effectLst/>
                          <a:latin typeface="Aptos Narrow"/>
                        </a:rPr>
                        <a:t>above 60</a:t>
                      </a:r>
                    </a:p>
                  </a:txBody>
                  <a:tcPr marL="6350" marR="6350" marT="6350" marB="0" anchor="b"/>
                </a:tc>
                <a:tc>
                  <a:txBody>
                    <a:bodyPr/>
                    <a:lstStyle/>
                    <a:p>
                      <a:pPr algn="ctr" fontAlgn="b"/>
                      <a:r>
                        <a:rPr lang="en-IN" sz="1100" b="0" i="0" u="none" strike="noStrike">
                          <a:solidFill>
                            <a:srgbClr val="000000"/>
                          </a:solidFill>
                          <a:effectLst/>
                          <a:latin typeface="Aptos Narrow"/>
                        </a:rPr>
                        <a:t>male</a:t>
                      </a:r>
                    </a:p>
                  </a:txBody>
                  <a:tcPr marL="6350" marR="6350" marT="6350" marB="0" anchor="b"/>
                </a:tc>
                <a:tc>
                  <a:txBody>
                    <a:bodyPr/>
                    <a:lstStyle/>
                    <a:p>
                      <a:pPr algn="ctr" fontAlgn="b"/>
                      <a:r>
                        <a:rPr lang="en-IN" sz="1100" b="0" i="0" u="none" strike="noStrike">
                          <a:solidFill>
                            <a:srgbClr val="000000"/>
                          </a:solidFill>
                          <a:effectLst/>
                          <a:latin typeface="Aptos Narrow"/>
                        </a:rPr>
                        <a:t>yes</a:t>
                      </a:r>
                    </a:p>
                  </a:txBody>
                  <a:tcPr marL="6350" marR="6350" marT="6350" marB="0" anchor="b"/>
                </a:tc>
                <a:tc>
                  <a:txBody>
                    <a:bodyPr/>
                    <a:lstStyle/>
                    <a:p>
                      <a:pPr algn="ctr" fontAlgn="b"/>
                      <a:r>
                        <a:rPr lang="en-IN" sz="1100" b="0" i="0" u="none" strike="noStrike">
                          <a:solidFill>
                            <a:srgbClr val="000000"/>
                          </a:solidFill>
                          <a:effectLst/>
                          <a:latin typeface="Aptos Narrow"/>
                        </a:rPr>
                        <a:t>medium</a:t>
                      </a:r>
                    </a:p>
                  </a:txBody>
                  <a:tcPr marL="6350" marR="6350" marT="6350" marB="0" anchor="b"/>
                </a:tc>
                <a:tc>
                  <a:txBody>
                    <a:bodyPr/>
                    <a:lstStyle/>
                    <a:p>
                      <a:pPr algn="ctr" fontAlgn="b"/>
                      <a:r>
                        <a:rPr lang="en-IN" sz="1100" b="0" i="0" u="none" strike="noStrike" dirty="0">
                          <a:solidFill>
                            <a:srgbClr val="C00000"/>
                          </a:solidFill>
                          <a:effectLst/>
                          <a:latin typeface="Aptos Narrow"/>
                        </a:rPr>
                        <a:t>yes</a:t>
                      </a:r>
                    </a:p>
                  </a:txBody>
                  <a:tcPr marL="6350" marR="6350" marT="6350" marB="0" anchor="b"/>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355462506"/>
              </p:ext>
            </p:extLst>
          </p:nvPr>
        </p:nvGraphicFramePr>
        <p:xfrm>
          <a:off x="1547096" y="4676216"/>
          <a:ext cx="5617192" cy="1273063"/>
        </p:xfrm>
        <a:graphic>
          <a:graphicData uri="http://schemas.openxmlformats.org/drawingml/2006/table">
            <a:tbl>
              <a:tblPr>
                <a:tableStyleId>{5C22544A-7EE6-4342-B048-85BDC9FD1C3A}</a:tableStyleId>
              </a:tblPr>
              <a:tblGrid>
                <a:gridCol w="905458"/>
                <a:gridCol w="804851"/>
                <a:gridCol w="1492329"/>
                <a:gridCol w="905458"/>
                <a:gridCol w="1509096"/>
              </a:tblGrid>
              <a:tr h="612619">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employment_status</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purchase_mobile</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330222">
                <a:tc>
                  <a:txBody>
                    <a:bodyPr/>
                    <a:lstStyle/>
                    <a:p>
                      <a:pPr algn="ctr" fontAlgn="b"/>
                      <a:r>
                        <a:rPr lang="en-IN" sz="1100" b="1" i="0" u="none" strike="noStrike" dirty="0">
                          <a:solidFill>
                            <a:srgbClr val="000000"/>
                          </a:solidFill>
                          <a:effectLst/>
                          <a:latin typeface="Aptos Narrow"/>
                        </a:rPr>
                        <a:t>above 60</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female</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yes</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low</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C00000"/>
                          </a:solidFill>
                          <a:effectLst/>
                          <a:latin typeface="Aptos Narrow"/>
                        </a:rPr>
                        <a:t>no</a:t>
                      </a:r>
                    </a:p>
                  </a:txBody>
                  <a:tcPr marL="6350" marR="6350" marT="6350" marB="0" anchor="b">
                    <a:lnT w="12700" cap="flat" cmpd="sng" algn="ctr">
                      <a:solidFill>
                        <a:schemeClr val="tx1"/>
                      </a:solidFill>
                      <a:prstDash val="solid"/>
                      <a:round/>
                      <a:headEnd type="none" w="med" len="med"/>
                      <a:tailEnd type="none" w="med" len="med"/>
                    </a:lnT>
                  </a:tcPr>
                </a:tc>
              </a:tr>
              <a:tr h="330222">
                <a:tc>
                  <a:txBody>
                    <a:bodyPr/>
                    <a:lstStyle/>
                    <a:p>
                      <a:pPr algn="ctr" fontAlgn="b"/>
                      <a:r>
                        <a:rPr lang="en-IN" sz="1100" b="1" i="0" u="none" strike="noStrike" dirty="0">
                          <a:solidFill>
                            <a:srgbClr val="000000"/>
                          </a:solidFill>
                          <a:effectLst/>
                          <a:latin typeface="Aptos Narrow"/>
                        </a:rPr>
                        <a:t>above 60</a:t>
                      </a:r>
                    </a:p>
                  </a:txBody>
                  <a:tcPr marL="6350" marR="6350" marT="6350" marB="0" anchor="b"/>
                </a:tc>
                <a:tc>
                  <a:txBody>
                    <a:bodyPr/>
                    <a:lstStyle/>
                    <a:p>
                      <a:pPr algn="ctr" fontAlgn="b"/>
                      <a:r>
                        <a:rPr lang="en-IN" sz="1100" b="0" i="0" u="none" strike="noStrike">
                          <a:solidFill>
                            <a:srgbClr val="000000"/>
                          </a:solidFill>
                          <a:effectLst/>
                          <a:latin typeface="Aptos Narrow"/>
                        </a:rPr>
                        <a:t>female</a:t>
                      </a:r>
                    </a:p>
                  </a:txBody>
                  <a:tcPr marL="6350" marR="6350" marT="6350" marB="0" anchor="b"/>
                </a:tc>
                <a:tc>
                  <a:txBody>
                    <a:bodyPr/>
                    <a:lstStyle/>
                    <a:p>
                      <a:pPr algn="ctr" fontAlgn="b"/>
                      <a:r>
                        <a:rPr lang="en-IN" sz="1100" b="0" i="0" u="none" strike="noStrike">
                          <a:solidFill>
                            <a:srgbClr val="000000"/>
                          </a:solidFill>
                          <a:effectLst/>
                          <a:latin typeface="Aptos Narrow"/>
                        </a:rPr>
                        <a:t>no</a:t>
                      </a:r>
                    </a:p>
                  </a:txBody>
                  <a:tcPr marL="6350" marR="6350" marT="6350" marB="0" anchor="b"/>
                </a:tc>
                <a:tc>
                  <a:txBody>
                    <a:bodyPr/>
                    <a:lstStyle/>
                    <a:p>
                      <a:pPr algn="ctr" fontAlgn="b"/>
                      <a:r>
                        <a:rPr lang="en-IN" sz="1100" b="0" i="0" u="none" strike="noStrike">
                          <a:solidFill>
                            <a:srgbClr val="000000"/>
                          </a:solidFill>
                          <a:effectLst/>
                          <a:latin typeface="Aptos Narrow"/>
                        </a:rPr>
                        <a:t>medium</a:t>
                      </a:r>
                    </a:p>
                  </a:txBody>
                  <a:tcPr marL="6350" marR="6350" marT="6350" marB="0" anchor="b"/>
                </a:tc>
                <a:tc>
                  <a:txBody>
                    <a:bodyPr/>
                    <a:lstStyle/>
                    <a:p>
                      <a:pPr algn="ctr" fontAlgn="b"/>
                      <a:r>
                        <a:rPr lang="en-IN" sz="1100" b="0" i="0" u="none" strike="noStrike" dirty="0">
                          <a:solidFill>
                            <a:srgbClr val="C00000"/>
                          </a:solidFill>
                          <a:effectLst/>
                          <a:latin typeface="Aptos Narrow"/>
                        </a:rPr>
                        <a:t>no</a:t>
                      </a:r>
                    </a:p>
                  </a:txBody>
                  <a:tcPr marL="6350" marR="6350" marT="6350" marB="0" anchor="b"/>
                </a:tc>
              </a:tr>
            </a:tbl>
          </a:graphicData>
        </a:graphic>
      </p:graphicFrame>
    </p:spTree>
    <p:extLst>
      <p:ext uri="{BB962C8B-B14F-4D97-AF65-F5344CB8AC3E}">
        <p14:creationId xmlns:p14="http://schemas.microsoft.com/office/powerpoint/2010/main" val="12461758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IN" sz="3600" b="1" dirty="0">
                <a:latin typeface="Times New Roman" panose="02020603050405020304" pitchFamily="18" charset="0"/>
                <a:cs typeface="Times New Roman" panose="02020603050405020304" pitchFamily="18" charset="0"/>
              </a:rPr>
              <a:t>Splitting the </a:t>
            </a:r>
            <a:r>
              <a:rPr lang="en-IN" sz="3600" b="1" dirty="0" smtClean="0">
                <a:latin typeface="Times New Roman" panose="02020603050405020304" pitchFamily="18" charset="0"/>
                <a:cs typeface="Times New Roman" panose="02020603050405020304" pitchFamily="18" charset="0"/>
              </a:rPr>
              <a:t>Dataset</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80728"/>
            <a:ext cx="8229600" cy="5616624"/>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After the attribute </a:t>
            </a:r>
            <a:r>
              <a:rPr lang="en-US" sz="2400" dirty="0" err="1" smtClean="0">
                <a:solidFill>
                  <a:srgbClr val="0000FF"/>
                </a:solidFill>
                <a:latin typeface="Times New Roman" panose="02020603050405020304" pitchFamily="18" charset="0"/>
                <a:cs typeface="Times New Roman" panose="02020603050405020304" pitchFamily="18" charset="0"/>
              </a:rPr>
              <a:t>age_group</a:t>
            </a:r>
            <a:r>
              <a:rPr lang="en-US" sz="2400" dirty="0" smtClean="0">
                <a:latin typeface="Times New Roman" panose="02020603050405020304" pitchFamily="18" charset="0"/>
                <a:cs typeface="Times New Roman" panose="02020603050405020304" pitchFamily="18" charset="0"/>
              </a:rPr>
              <a:t>, let </a:t>
            </a:r>
            <a:r>
              <a:rPr lang="en-US" sz="2400" dirty="0">
                <a:latin typeface="Times New Roman" panose="02020603050405020304" pitchFamily="18" charset="0"/>
                <a:cs typeface="Times New Roman" panose="02020603050405020304" pitchFamily="18" charset="0"/>
              </a:rPr>
              <a:t>us now split the data set on </a:t>
            </a:r>
            <a:r>
              <a:rPr lang="en-US" sz="2400" dirty="0" smtClean="0">
                <a:latin typeface="Times New Roman" panose="02020603050405020304" pitchFamily="18" charset="0"/>
                <a:cs typeface="Times New Roman" panose="02020603050405020304" pitchFamily="18" charset="0"/>
              </a:rPr>
              <a:t>‘</a:t>
            </a:r>
            <a:r>
              <a:rPr lang="en-US" sz="2400" dirty="0" err="1" smtClean="0">
                <a:solidFill>
                  <a:srgbClr val="0000FF"/>
                </a:solidFill>
                <a:latin typeface="Times New Roman" panose="02020603050405020304" pitchFamily="18" charset="0"/>
                <a:cs typeface="Times New Roman" panose="02020603050405020304" pitchFamily="18" charset="0"/>
              </a:rPr>
              <a:t>employment_status</a:t>
            </a:r>
            <a:r>
              <a:rPr lang="en-US" sz="2400" dirty="0" smtClean="0">
                <a:solidFill>
                  <a:srgbClr val="0000FF"/>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attribute which takes one of 2 values - </a:t>
            </a:r>
            <a:r>
              <a:rPr lang="en-US" sz="2400" dirty="0" smtClean="0">
                <a:solidFill>
                  <a:srgbClr val="C00000"/>
                </a:solidFill>
                <a:latin typeface="Times New Roman" panose="02020603050405020304" pitchFamily="18" charset="0"/>
                <a:cs typeface="Times New Roman" panose="02020603050405020304" pitchFamily="18" charset="0"/>
              </a:rPr>
              <a:t>‘yes'</a:t>
            </a:r>
            <a:r>
              <a:rPr lang="en-US" sz="2400" dirty="0">
                <a:solidFill>
                  <a:srgbClr val="C00000"/>
                </a:solidFill>
                <a:latin typeface="Times New Roman" panose="02020603050405020304" pitchFamily="18" charset="0"/>
                <a:cs typeface="Times New Roman" panose="02020603050405020304" pitchFamily="18" charset="0"/>
              </a:rPr>
              <a:t> or </a:t>
            </a:r>
            <a:r>
              <a:rPr lang="en-US" sz="2400" dirty="0" smtClean="0">
                <a:solidFill>
                  <a:srgbClr val="C00000"/>
                </a:solidFill>
                <a:latin typeface="Times New Roman" panose="02020603050405020304" pitchFamily="18" charset="0"/>
                <a:cs typeface="Times New Roman" panose="02020603050405020304" pitchFamily="18" charset="0"/>
              </a:rPr>
              <a:t>‘no'.</a:t>
            </a:r>
          </a:p>
          <a:p>
            <a:pPr algn="just"/>
            <a:r>
              <a:rPr lang="en-US" sz="2400" dirty="0" err="1">
                <a:solidFill>
                  <a:srgbClr val="0000FF"/>
                </a:solidFill>
                <a:latin typeface="Times New Roman" panose="02020603050405020304" pitchFamily="18" charset="0"/>
                <a:cs typeface="Times New Roman" panose="02020603050405020304" pitchFamily="18" charset="0"/>
              </a:rPr>
              <a:t>employment_status</a:t>
            </a:r>
            <a:r>
              <a:rPr lang="en-US" sz="2400" dirty="0">
                <a:solidFill>
                  <a:srgbClr val="0000FF"/>
                </a:solidFill>
                <a:latin typeface="Times New Roman" panose="02020603050405020304" pitchFamily="18" charset="0"/>
                <a:cs typeface="Times New Roman" panose="02020603050405020304" pitchFamily="18" charset="0"/>
              </a:rPr>
              <a:t> </a:t>
            </a:r>
            <a:r>
              <a:rPr lang="en-US" sz="2400" dirty="0" smtClean="0">
                <a:solidFill>
                  <a:srgbClr val="0000FF"/>
                </a:solidFill>
                <a:latin typeface="Times New Roman" panose="02020603050405020304" pitchFamily="18" charset="0"/>
                <a:cs typeface="Times New Roman" panose="02020603050405020304" pitchFamily="18" charset="0"/>
              </a:rPr>
              <a:t>= </a:t>
            </a:r>
            <a:r>
              <a:rPr lang="en-US" sz="2400" dirty="0" smtClean="0">
                <a:solidFill>
                  <a:srgbClr val="C00000"/>
                </a:solidFill>
                <a:latin typeface="Times New Roman" panose="02020603050405020304" pitchFamily="18" charset="0"/>
                <a:cs typeface="Times New Roman" panose="02020603050405020304" pitchFamily="18" charset="0"/>
              </a:rPr>
              <a:t>no </a:t>
            </a:r>
            <a:r>
              <a:rPr lang="en-US" sz="2400" dirty="0" smtClean="0">
                <a:solidFill>
                  <a:srgbClr val="0000FF"/>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class label </a:t>
            </a:r>
            <a:r>
              <a:rPr lang="en-US" sz="2400" dirty="0" smtClean="0">
                <a:solidFill>
                  <a:srgbClr val="0000FF"/>
                </a:solidFill>
                <a:latin typeface="Times New Roman" panose="02020603050405020304" pitchFamily="18" charset="0"/>
                <a:cs typeface="Times New Roman" panose="02020603050405020304" pitchFamily="18" charset="0"/>
              </a:rPr>
              <a:t>yes:0,No:3), Total=3</a:t>
            </a:r>
            <a:endParaRPr lang="en-US" dirty="0" smtClean="0">
              <a:solidFill>
                <a:srgbClr val="C00000"/>
              </a:solidFill>
              <a:latin typeface="Times New Roman" panose="02020603050405020304" pitchFamily="18" charset="0"/>
              <a:cs typeface="Times New Roman" panose="02020603050405020304" pitchFamily="18" charset="0"/>
            </a:endParaRPr>
          </a:p>
          <a:p>
            <a:pPr marL="0" indent="0">
              <a:buNone/>
            </a:pPr>
            <a:endParaRPr lang="en-IN" dirty="0" smtClean="0"/>
          </a:p>
          <a:p>
            <a:pPr marL="0" indent="0">
              <a:buNone/>
            </a:pPr>
            <a:endParaRPr lang="en-IN" dirty="0"/>
          </a:p>
          <a:p>
            <a:pPr marL="0" indent="0">
              <a:buNone/>
            </a:pPr>
            <a:endParaRPr lang="en-US" sz="2200" dirty="0" smtClean="0">
              <a:solidFill>
                <a:srgbClr val="0000FF"/>
              </a:solidFill>
              <a:latin typeface="Times New Roman" panose="02020603050405020304" pitchFamily="18" charset="0"/>
              <a:cs typeface="Times New Roman" panose="02020603050405020304" pitchFamily="18" charset="0"/>
            </a:endParaRPr>
          </a:p>
          <a:p>
            <a:pPr>
              <a:spcBef>
                <a:spcPts val="0"/>
              </a:spcBef>
            </a:pPr>
            <a:r>
              <a:rPr lang="en-US" sz="2000" dirty="0" err="1">
                <a:solidFill>
                  <a:srgbClr val="0000FF"/>
                </a:solidFill>
                <a:latin typeface="Times New Roman" panose="02020603050405020304" pitchFamily="18" charset="0"/>
                <a:cs typeface="Times New Roman" panose="02020603050405020304" pitchFamily="18" charset="0"/>
              </a:rPr>
              <a:t>employment_status</a:t>
            </a:r>
            <a:r>
              <a:rPr lang="en-US" sz="2000" dirty="0">
                <a:solidFill>
                  <a:srgbClr val="0000FF"/>
                </a:solidFill>
                <a:latin typeface="Times New Roman" panose="02020603050405020304" pitchFamily="18" charset="0"/>
                <a:cs typeface="Times New Roman" panose="02020603050405020304" pitchFamily="18" charset="0"/>
              </a:rPr>
              <a:t> </a:t>
            </a:r>
            <a:r>
              <a:rPr lang="en-US" sz="2200" dirty="0" smtClean="0">
                <a:solidFill>
                  <a:srgbClr val="0000FF"/>
                </a:solidFill>
                <a:latin typeface="Times New Roman" panose="02020603050405020304" pitchFamily="18" charset="0"/>
                <a:cs typeface="Times New Roman" panose="02020603050405020304" pitchFamily="18" charset="0"/>
              </a:rPr>
              <a:t>=</a:t>
            </a:r>
            <a:r>
              <a:rPr lang="en-US" sz="2200" dirty="0" smtClean="0">
                <a:solidFill>
                  <a:srgbClr val="C00000"/>
                </a:solidFill>
                <a:latin typeface="Times New Roman" panose="02020603050405020304" pitchFamily="18" charset="0"/>
                <a:cs typeface="Times New Roman" panose="02020603050405020304" pitchFamily="18" charset="0"/>
              </a:rPr>
              <a:t>yes</a:t>
            </a:r>
            <a:r>
              <a:rPr lang="en-US" sz="2200" dirty="0" smtClean="0">
                <a:solidFill>
                  <a:srgbClr val="0000FF"/>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(class label </a:t>
            </a:r>
            <a:r>
              <a:rPr lang="en-US" sz="2200" dirty="0">
                <a:solidFill>
                  <a:srgbClr val="0000FF"/>
                </a:solidFill>
                <a:latin typeface="Times New Roman" panose="02020603050405020304" pitchFamily="18" charset="0"/>
                <a:cs typeface="Times New Roman" panose="02020603050405020304" pitchFamily="18" charset="0"/>
              </a:rPr>
              <a:t>yes </a:t>
            </a:r>
            <a:r>
              <a:rPr lang="en-US" sz="2200" dirty="0" smtClean="0">
                <a:solidFill>
                  <a:srgbClr val="0000FF"/>
                </a:solidFill>
                <a:latin typeface="Times New Roman" panose="02020603050405020304" pitchFamily="18" charset="0"/>
                <a:cs typeface="Times New Roman" panose="02020603050405020304" pitchFamily="18" charset="0"/>
              </a:rPr>
              <a:t>:2,No:0), Total=2</a:t>
            </a:r>
            <a:endParaRPr lang="en-US" sz="2200" dirty="0">
              <a:solidFill>
                <a:srgbClr val="0000FF"/>
              </a:solidFill>
              <a:latin typeface="Times New Roman" panose="02020603050405020304" pitchFamily="18" charset="0"/>
              <a:cs typeface="Times New Roman" panose="02020603050405020304" pitchFamily="18" charset="0"/>
            </a:endParaRPr>
          </a:p>
          <a:p>
            <a:pPr marL="0" indent="0">
              <a:buNone/>
            </a:pPr>
            <a:endParaRPr lang="en-IN" dirty="0" smtClean="0"/>
          </a:p>
          <a:p>
            <a:pPr marL="0" indent="0">
              <a:buNone/>
            </a:pPr>
            <a:endParaRPr lang="en-IN" dirty="0"/>
          </a:p>
        </p:txBody>
      </p:sp>
      <p:sp>
        <p:nvSpPr>
          <p:cNvPr id="4" name="Slide Number Placeholder 3"/>
          <p:cNvSpPr>
            <a:spLocks noGrp="1"/>
          </p:cNvSpPr>
          <p:nvPr>
            <p:ph type="sldNum" sz="quarter" idx="12"/>
          </p:nvPr>
        </p:nvSpPr>
        <p:spPr/>
        <p:txBody>
          <a:bodyPr/>
          <a:lstStyle/>
          <a:p>
            <a:fld id="{4EB28266-621B-4E6C-B384-6411A00B5EC3}" type="slidenum">
              <a:rPr lang="en-US" smtClean="0"/>
              <a:pPr/>
              <a:t>13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329507647"/>
              </p:ext>
            </p:extLst>
          </p:nvPr>
        </p:nvGraphicFramePr>
        <p:xfrm>
          <a:off x="1475657" y="2773027"/>
          <a:ext cx="5616623" cy="1088020"/>
        </p:xfrm>
        <a:graphic>
          <a:graphicData uri="http://schemas.openxmlformats.org/drawingml/2006/table">
            <a:tbl>
              <a:tblPr>
                <a:tableStyleId>{5C22544A-7EE6-4342-B048-85BDC9FD1C3A}</a:tableStyleId>
              </a:tblPr>
              <a:tblGrid>
                <a:gridCol w="905366"/>
                <a:gridCol w="804770"/>
                <a:gridCol w="1492177"/>
                <a:gridCol w="905366"/>
                <a:gridCol w="1508944"/>
              </a:tblGrid>
              <a:tr h="415735">
                <a:tc>
                  <a:txBody>
                    <a:bodyPr/>
                    <a:lstStyle/>
                    <a:p>
                      <a:pPr algn="ctr" fontAlgn="b"/>
                      <a:r>
                        <a:rPr lang="en-IN" sz="1100" u="none" strike="noStrike" dirty="0" err="1">
                          <a:effectLst/>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gender</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employment_status</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a:effectLst/>
                        </a:rPr>
                        <a:t>budget</a:t>
                      </a:r>
                      <a:endParaRPr lang="en-IN" sz="1100" b="0" i="0" u="none" strike="noStrike">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u="none" strike="noStrike" dirty="0" err="1">
                          <a:effectLst/>
                        </a:rPr>
                        <a:t>purchase_mobile</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r>
              <a:tr h="224095">
                <a:tc>
                  <a:txBody>
                    <a:bodyPr/>
                    <a:lstStyle/>
                    <a:p>
                      <a:pPr algn="ctr" fontAlgn="b"/>
                      <a:r>
                        <a:rPr lang="en-IN" sz="1100" b="1" i="0" u="none" strike="noStrike" dirty="0">
                          <a:solidFill>
                            <a:srgbClr val="000000"/>
                          </a:solidFill>
                          <a:effectLst/>
                          <a:latin typeface="Aptos Narrow"/>
                        </a:rPr>
                        <a:t>below 30</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male</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C00000"/>
                          </a:solidFill>
                          <a:effectLst/>
                          <a:latin typeface="Aptos Narrow"/>
                        </a:rPr>
                        <a:t>no</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high</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C00000"/>
                          </a:solidFill>
                          <a:effectLst/>
                          <a:latin typeface="Aptos Narrow"/>
                        </a:rPr>
                        <a:t>no</a:t>
                      </a:r>
                    </a:p>
                  </a:txBody>
                  <a:tcPr marL="6350" marR="6350" marT="6350" marB="0" anchor="b">
                    <a:lnT w="12700" cap="flat" cmpd="sng" algn="ctr">
                      <a:solidFill>
                        <a:schemeClr val="tx1"/>
                      </a:solidFill>
                      <a:prstDash val="solid"/>
                      <a:round/>
                      <a:headEnd type="none" w="med" len="med"/>
                      <a:tailEnd type="none" w="med" len="med"/>
                    </a:lnT>
                  </a:tcPr>
                </a:tc>
              </a:tr>
              <a:tr h="224095">
                <a:tc>
                  <a:txBody>
                    <a:bodyPr/>
                    <a:lstStyle/>
                    <a:p>
                      <a:pPr algn="ctr" fontAlgn="b"/>
                      <a:r>
                        <a:rPr lang="en-IN" sz="1100" b="1" i="0" u="none" strike="noStrike" dirty="0">
                          <a:solidFill>
                            <a:srgbClr val="000000"/>
                          </a:solidFill>
                          <a:effectLst/>
                          <a:latin typeface="Aptos Narrow"/>
                        </a:rPr>
                        <a:t>below 30</a:t>
                      </a:r>
                    </a:p>
                  </a:txBody>
                  <a:tcPr marL="6350" marR="6350" marT="6350" marB="0" anchor="b"/>
                </a:tc>
                <a:tc>
                  <a:txBody>
                    <a:bodyPr/>
                    <a:lstStyle/>
                    <a:p>
                      <a:pPr algn="ctr" fontAlgn="b"/>
                      <a:r>
                        <a:rPr lang="en-IN" sz="1100" b="0" i="0" u="none" strike="noStrike">
                          <a:solidFill>
                            <a:srgbClr val="000000"/>
                          </a:solidFill>
                          <a:effectLst/>
                          <a:latin typeface="Aptos Narrow"/>
                        </a:rPr>
                        <a:t>female</a:t>
                      </a:r>
                    </a:p>
                  </a:txBody>
                  <a:tcPr marL="6350" marR="6350" marT="6350" marB="0" anchor="b"/>
                </a:tc>
                <a:tc>
                  <a:txBody>
                    <a:bodyPr/>
                    <a:lstStyle/>
                    <a:p>
                      <a:pPr algn="ctr" fontAlgn="b"/>
                      <a:r>
                        <a:rPr lang="en-IN" sz="1100" b="0" i="0" u="none" strike="noStrike" dirty="0">
                          <a:solidFill>
                            <a:srgbClr val="C00000"/>
                          </a:solidFill>
                          <a:effectLst/>
                          <a:latin typeface="Aptos Narrow"/>
                        </a:rPr>
                        <a:t>no</a:t>
                      </a:r>
                    </a:p>
                  </a:txBody>
                  <a:tcPr marL="6350" marR="6350" marT="6350" marB="0" anchor="b"/>
                </a:tc>
                <a:tc>
                  <a:txBody>
                    <a:bodyPr/>
                    <a:lstStyle/>
                    <a:p>
                      <a:pPr algn="ctr" fontAlgn="b"/>
                      <a:r>
                        <a:rPr lang="en-IN" sz="1100" b="0" i="0" u="none" strike="noStrike">
                          <a:solidFill>
                            <a:srgbClr val="000000"/>
                          </a:solidFill>
                          <a:effectLst/>
                          <a:latin typeface="Aptos Narrow"/>
                        </a:rPr>
                        <a:t>high</a:t>
                      </a:r>
                    </a:p>
                  </a:txBody>
                  <a:tcPr marL="6350" marR="6350" marT="6350" marB="0" anchor="b"/>
                </a:tc>
                <a:tc>
                  <a:txBody>
                    <a:bodyPr/>
                    <a:lstStyle/>
                    <a:p>
                      <a:pPr algn="ctr" fontAlgn="b"/>
                      <a:r>
                        <a:rPr lang="en-IN" sz="1100" b="0" i="0" u="none" strike="noStrike" dirty="0">
                          <a:solidFill>
                            <a:srgbClr val="C00000"/>
                          </a:solidFill>
                          <a:effectLst/>
                          <a:latin typeface="Aptos Narrow"/>
                        </a:rPr>
                        <a:t>no</a:t>
                      </a:r>
                    </a:p>
                  </a:txBody>
                  <a:tcPr marL="6350" marR="6350" marT="6350" marB="0" anchor="b"/>
                </a:tc>
              </a:tr>
              <a:tr h="224095">
                <a:tc>
                  <a:txBody>
                    <a:bodyPr/>
                    <a:lstStyle/>
                    <a:p>
                      <a:pPr algn="ctr" fontAlgn="b"/>
                      <a:r>
                        <a:rPr lang="en-IN" sz="1100" b="1" i="0" u="none" strike="noStrike" dirty="0">
                          <a:solidFill>
                            <a:srgbClr val="000000"/>
                          </a:solidFill>
                          <a:effectLst/>
                          <a:latin typeface="Aptos Narrow"/>
                        </a:rPr>
                        <a:t>below 30</a:t>
                      </a:r>
                    </a:p>
                  </a:txBody>
                  <a:tcPr marL="6350" marR="6350" marT="6350" marB="0" anchor="b"/>
                </a:tc>
                <a:tc>
                  <a:txBody>
                    <a:bodyPr/>
                    <a:lstStyle/>
                    <a:p>
                      <a:pPr algn="ctr" fontAlgn="b"/>
                      <a:r>
                        <a:rPr lang="en-IN" sz="1100" b="0" i="0" u="none" strike="noStrike">
                          <a:solidFill>
                            <a:srgbClr val="000000"/>
                          </a:solidFill>
                          <a:effectLst/>
                          <a:latin typeface="Aptos Narrow"/>
                        </a:rPr>
                        <a:t>male</a:t>
                      </a:r>
                    </a:p>
                  </a:txBody>
                  <a:tcPr marL="6350" marR="6350" marT="6350" marB="0" anchor="b"/>
                </a:tc>
                <a:tc>
                  <a:txBody>
                    <a:bodyPr/>
                    <a:lstStyle/>
                    <a:p>
                      <a:pPr algn="ctr" fontAlgn="b"/>
                      <a:r>
                        <a:rPr lang="en-IN" sz="1100" b="0" i="0" u="none" strike="noStrike" dirty="0">
                          <a:solidFill>
                            <a:srgbClr val="C00000"/>
                          </a:solidFill>
                          <a:effectLst/>
                          <a:latin typeface="Aptos Narrow"/>
                        </a:rPr>
                        <a:t>no</a:t>
                      </a:r>
                    </a:p>
                  </a:txBody>
                  <a:tcPr marL="6350" marR="6350" marT="6350" marB="0" anchor="b"/>
                </a:tc>
                <a:tc>
                  <a:txBody>
                    <a:bodyPr/>
                    <a:lstStyle/>
                    <a:p>
                      <a:pPr algn="ctr" fontAlgn="b"/>
                      <a:r>
                        <a:rPr lang="en-IN" sz="1100" b="0" i="0" u="none" strike="noStrike">
                          <a:solidFill>
                            <a:srgbClr val="000000"/>
                          </a:solidFill>
                          <a:effectLst/>
                          <a:latin typeface="Aptos Narrow"/>
                        </a:rPr>
                        <a:t>medium</a:t>
                      </a:r>
                    </a:p>
                  </a:txBody>
                  <a:tcPr marL="6350" marR="6350" marT="6350" marB="0" anchor="b"/>
                </a:tc>
                <a:tc>
                  <a:txBody>
                    <a:bodyPr/>
                    <a:lstStyle/>
                    <a:p>
                      <a:pPr algn="ctr" fontAlgn="b"/>
                      <a:r>
                        <a:rPr lang="en-IN" sz="1100" b="0" i="0" u="none" strike="noStrike" dirty="0">
                          <a:solidFill>
                            <a:srgbClr val="C00000"/>
                          </a:solidFill>
                          <a:effectLst/>
                          <a:latin typeface="Aptos Narrow"/>
                        </a:rPr>
                        <a:t>no</a:t>
                      </a:r>
                    </a:p>
                  </a:txBody>
                  <a:tcPr marL="6350" marR="6350" marT="6350" marB="0" anchor="b"/>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1258856"/>
              </p:ext>
            </p:extLst>
          </p:nvPr>
        </p:nvGraphicFramePr>
        <p:xfrm>
          <a:off x="1547096" y="4676216"/>
          <a:ext cx="5617192" cy="1273063"/>
        </p:xfrm>
        <a:graphic>
          <a:graphicData uri="http://schemas.openxmlformats.org/drawingml/2006/table">
            <a:tbl>
              <a:tblPr>
                <a:tableStyleId>{5C22544A-7EE6-4342-B048-85BDC9FD1C3A}</a:tableStyleId>
              </a:tblPr>
              <a:tblGrid>
                <a:gridCol w="905458"/>
                <a:gridCol w="804851"/>
                <a:gridCol w="1492329"/>
                <a:gridCol w="905458"/>
                <a:gridCol w="1509096"/>
              </a:tblGrid>
              <a:tr h="612619">
                <a:tc>
                  <a:txBody>
                    <a:bodyPr/>
                    <a:lstStyle/>
                    <a:p>
                      <a:pPr algn="ctr" fontAlgn="b"/>
                      <a:r>
                        <a:rPr lang="en-IN" sz="1100" b="0" i="0" u="none" strike="noStrike" dirty="0" err="1">
                          <a:solidFill>
                            <a:srgbClr val="000000"/>
                          </a:solidFill>
                          <a:effectLst/>
                          <a:latin typeface="Aptos Narrow"/>
                        </a:rPr>
                        <a:t>age_group</a:t>
                      </a:r>
                      <a:endParaRPr lang="en-IN" sz="1100" b="0" i="0" u="none" strike="noStrike" dirty="0">
                        <a:solidFill>
                          <a:srgbClr val="000000"/>
                        </a:solidFill>
                        <a:effectLst/>
                        <a:latin typeface="Aptos Narrow"/>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gender</a:t>
                      </a: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employment_status</a:t>
                      </a: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budget</a:t>
                      </a: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Aptos Narrow"/>
                        </a:rPr>
                        <a:t>purchase_mobile</a:t>
                      </a:r>
                    </a:p>
                  </a:txBody>
                  <a:tcPr marL="6350" marR="6350" marT="6350" marB="0" anchor="b">
                    <a:lnB w="12700" cap="flat" cmpd="sng" algn="ctr">
                      <a:solidFill>
                        <a:schemeClr val="tx1"/>
                      </a:solidFill>
                      <a:prstDash val="solid"/>
                      <a:round/>
                      <a:headEnd type="none" w="med" len="med"/>
                      <a:tailEnd type="none" w="med" len="med"/>
                    </a:lnB>
                  </a:tcPr>
                </a:tc>
              </a:tr>
              <a:tr h="330222">
                <a:tc>
                  <a:txBody>
                    <a:bodyPr/>
                    <a:lstStyle/>
                    <a:p>
                      <a:pPr algn="ctr" fontAlgn="b"/>
                      <a:r>
                        <a:rPr lang="en-IN" sz="1100" b="1" i="0" u="none" strike="noStrike" dirty="0">
                          <a:solidFill>
                            <a:srgbClr val="000000"/>
                          </a:solidFill>
                          <a:effectLst/>
                          <a:latin typeface="Aptos Narrow"/>
                        </a:rPr>
                        <a:t>below 30</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male</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C00000"/>
                          </a:solidFill>
                          <a:effectLst/>
                          <a:latin typeface="Aptos Narrow"/>
                        </a:rPr>
                        <a:t>yes</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Aptos Narrow"/>
                        </a:rPr>
                        <a:t>low</a:t>
                      </a: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IN" sz="1100" b="0" i="0" u="none" strike="noStrike" dirty="0">
                          <a:solidFill>
                            <a:srgbClr val="C00000"/>
                          </a:solidFill>
                          <a:effectLst/>
                          <a:latin typeface="Aptos Narrow"/>
                        </a:rPr>
                        <a:t>yes</a:t>
                      </a:r>
                    </a:p>
                  </a:txBody>
                  <a:tcPr marL="6350" marR="6350" marT="6350" marB="0" anchor="b">
                    <a:lnT w="12700" cap="flat" cmpd="sng" algn="ctr">
                      <a:solidFill>
                        <a:schemeClr val="tx1"/>
                      </a:solidFill>
                      <a:prstDash val="solid"/>
                      <a:round/>
                      <a:headEnd type="none" w="med" len="med"/>
                      <a:tailEnd type="none" w="med" len="med"/>
                    </a:lnT>
                  </a:tcPr>
                </a:tc>
              </a:tr>
              <a:tr h="330222">
                <a:tc>
                  <a:txBody>
                    <a:bodyPr/>
                    <a:lstStyle/>
                    <a:p>
                      <a:pPr algn="ctr" fontAlgn="b"/>
                      <a:r>
                        <a:rPr lang="en-IN" sz="1100" b="1" i="0" u="none" strike="noStrike" dirty="0">
                          <a:solidFill>
                            <a:srgbClr val="000000"/>
                          </a:solidFill>
                          <a:effectLst/>
                          <a:latin typeface="Aptos Narrow"/>
                        </a:rPr>
                        <a:t>below 30</a:t>
                      </a:r>
                    </a:p>
                  </a:txBody>
                  <a:tcPr marL="6350" marR="6350" marT="6350" marB="0" anchor="b"/>
                </a:tc>
                <a:tc>
                  <a:txBody>
                    <a:bodyPr/>
                    <a:lstStyle/>
                    <a:p>
                      <a:pPr algn="ctr" fontAlgn="b"/>
                      <a:r>
                        <a:rPr lang="en-IN" sz="1100" b="0" i="0" u="none" strike="noStrike">
                          <a:solidFill>
                            <a:srgbClr val="000000"/>
                          </a:solidFill>
                          <a:effectLst/>
                          <a:latin typeface="Aptos Narrow"/>
                        </a:rPr>
                        <a:t>female</a:t>
                      </a:r>
                    </a:p>
                  </a:txBody>
                  <a:tcPr marL="6350" marR="6350" marT="6350" marB="0" anchor="b"/>
                </a:tc>
                <a:tc>
                  <a:txBody>
                    <a:bodyPr/>
                    <a:lstStyle/>
                    <a:p>
                      <a:pPr algn="ctr" fontAlgn="b"/>
                      <a:r>
                        <a:rPr lang="en-IN" sz="1100" b="0" i="0" u="none" strike="noStrike" dirty="0">
                          <a:solidFill>
                            <a:srgbClr val="C00000"/>
                          </a:solidFill>
                          <a:effectLst/>
                          <a:latin typeface="Aptos Narrow"/>
                        </a:rPr>
                        <a:t>yes</a:t>
                      </a:r>
                    </a:p>
                  </a:txBody>
                  <a:tcPr marL="6350" marR="6350" marT="6350" marB="0" anchor="b"/>
                </a:tc>
                <a:tc>
                  <a:txBody>
                    <a:bodyPr/>
                    <a:lstStyle/>
                    <a:p>
                      <a:pPr algn="ctr" fontAlgn="b"/>
                      <a:r>
                        <a:rPr lang="en-IN" sz="1100" b="0" i="0" u="none" strike="noStrike">
                          <a:solidFill>
                            <a:srgbClr val="000000"/>
                          </a:solidFill>
                          <a:effectLst/>
                          <a:latin typeface="Aptos Narrow"/>
                        </a:rPr>
                        <a:t>medium</a:t>
                      </a:r>
                    </a:p>
                  </a:txBody>
                  <a:tcPr marL="6350" marR="6350" marT="6350" marB="0" anchor="b"/>
                </a:tc>
                <a:tc>
                  <a:txBody>
                    <a:bodyPr/>
                    <a:lstStyle/>
                    <a:p>
                      <a:pPr algn="ctr" fontAlgn="b"/>
                      <a:r>
                        <a:rPr lang="en-IN" sz="1100" b="0" i="0" u="none" strike="noStrike" dirty="0">
                          <a:solidFill>
                            <a:srgbClr val="C00000"/>
                          </a:solidFill>
                          <a:effectLst/>
                          <a:latin typeface="Aptos Narrow"/>
                        </a:rPr>
                        <a:t>yes</a:t>
                      </a:r>
                    </a:p>
                  </a:txBody>
                  <a:tcPr marL="6350" marR="6350" marT="6350" marB="0" anchor="b"/>
                </a:tc>
              </a:tr>
            </a:tbl>
          </a:graphicData>
        </a:graphic>
      </p:graphicFrame>
    </p:spTree>
    <p:extLst>
      <p:ext uri="{BB962C8B-B14F-4D97-AF65-F5344CB8AC3E}">
        <p14:creationId xmlns:p14="http://schemas.microsoft.com/office/powerpoint/2010/main" val="21184662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Autofit/>
          </a:bodyPr>
          <a:lstStyle/>
          <a:p>
            <a:r>
              <a:rPr lang="en-IN" sz="3600" b="1" dirty="0">
                <a:latin typeface="Times New Roman" panose="02020603050405020304" pitchFamily="18" charset="0"/>
                <a:cs typeface="Times New Roman" panose="02020603050405020304" pitchFamily="18" charset="0"/>
              </a:rPr>
              <a:t>Splitting </a:t>
            </a:r>
            <a:r>
              <a:rPr lang="en-IN" sz="3600" b="1" dirty="0" smtClean="0">
                <a:latin typeface="Times New Roman" panose="02020603050405020304" pitchFamily="18" charset="0"/>
                <a:cs typeface="Times New Roman" panose="02020603050405020304" pitchFamily="18" charset="0"/>
              </a:rPr>
              <a:t>process</a:t>
            </a:r>
            <a:endParaRPr lang="en-IN" sz="3600" dirty="0"/>
          </a:p>
        </p:txBody>
      </p:sp>
      <p:sp>
        <p:nvSpPr>
          <p:cNvPr id="3" name="Content Placeholder 2"/>
          <p:cNvSpPr>
            <a:spLocks noGrp="1"/>
          </p:cNvSpPr>
          <p:nvPr>
            <p:ph idx="1"/>
          </p:nvPr>
        </p:nvSpPr>
        <p:spPr>
          <a:xfrm>
            <a:off x="457200" y="1052736"/>
            <a:ext cx="8229600" cy="5073427"/>
          </a:xfrm>
        </p:spPr>
        <p:txBody>
          <a:bodyPr/>
          <a:lstStyle/>
          <a:p>
            <a:r>
              <a:rPr lang="en-US" sz="2400" dirty="0">
                <a:latin typeface="Times New Roman" panose="02020603050405020304" pitchFamily="18" charset="0"/>
                <a:cs typeface="Times New Roman" panose="02020603050405020304" pitchFamily="18" charset="0"/>
              </a:rPr>
              <a:t>The end result of the splitting process for the sample data results in the following splits</a:t>
            </a:r>
            <a:r>
              <a:rPr lang="en-US" sz="2400" dirty="0" smtClean="0">
                <a:latin typeface="Times New Roman" panose="02020603050405020304" pitchFamily="18" charset="0"/>
                <a:cs typeface="Times New Roman" panose="02020603050405020304" pitchFamily="18" charset="0"/>
              </a:rPr>
              <a:t>:</a:t>
            </a:r>
          </a:p>
          <a:p>
            <a:endParaRPr lang="en-IN" dirty="0"/>
          </a:p>
        </p:txBody>
      </p:sp>
      <p:pic>
        <p:nvPicPr>
          <p:cNvPr id="4" name="Picture 3"/>
          <p:cNvPicPr>
            <a:picLocks noChangeAspect="1"/>
          </p:cNvPicPr>
          <p:nvPr/>
        </p:nvPicPr>
        <p:blipFill>
          <a:blip r:embed="rId3"/>
          <a:stretch>
            <a:fillRect/>
          </a:stretch>
        </p:blipFill>
        <p:spPr>
          <a:xfrm>
            <a:off x="457201" y="2310839"/>
            <a:ext cx="8435280" cy="3930417"/>
          </a:xfrm>
          <a:prstGeom prst="rect">
            <a:avLst/>
          </a:prstGeom>
        </p:spPr>
      </p:pic>
      <p:sp>
        <p:nvSpPr>
          <p:cNvPr id="5" name="Slide Number Placeholder 4"/>
          <p:cNvSpPr>
            <a:spLocks noGrp="1"/>
          </p:cNvSpPr>
          <p:nvPr>
            <p:ph type="sldNum" sz="quarter" idx="12"/>
          </p:nvPr>
        </p:nvSpPr>
        <p:spPr/>
        <p:txBody>
          <a:bodyPr/>
          <a:lstStyle/>
          <a:p>
            <a:fld id="{4EB28266-621B-4E6C-B384-6411A00B5EC3}" type="slidenum">
              <a:rPr lang="en-US" smtClean="0"/>
              <a:pPr/>
              <a:t>14</a:t>
            </a:fld>
            <a:endParaRPr lang="en-US"/>
          </a:p>
        </p:txBody>
      </p:sp>
    </p:spTree>
    <p:extLst>
      <p:ext uri="{BB962C8B-B14F-4D97-AF65-F5344CB8AC3E}">
        <p14:creationId xmlns:p14="http://schemas.microsoft.com/office/powerpoint/2010/main" val="2854647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74638"/>
            <a:ext cx="8229600" cy="346050"/>
          </a:xfrm>
        </p:spPr>
        <p:txBody>
          <a:bodyPr>
            <a:noAutofit/>
          </a:bodyPr>
          <a:lstStyle/>
          <a:p>
            <a:r>
              <a:rPr lang="en-IN" sz="3600" b="1" dirty="0">
                <a:latin typeface="Times New Roman" panose="02020603050405020304" pitchFamily="18" charset="0"/>
                <a:cs typeface="Times New Roman" panose="02020603050405020304" pitchFamily="18" charset="0"/>
              </a:rPr>
              <a:t>Decision Tree </a:t>
            </a:r>
            <a:r>
              <a:rPr lang="en-IN" sz="3600" b="1" dirty="0" smtClean="0">
                <a:latin typeface="Times New Roman" panose="02020603050405020304" pitchFamily="18" charset="0"/>
                <a:cs typeface="Times New Roman" panose="02020603050405020304" pitchFamily="18" charset="0"/>
              </a:rPr>
              <a:t>definition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0356" y="780123"/>
            <a:ext cx="8229600" cy="5361459"/>
          </a:xfrm>
        </p:spPr>
        <p:txBody>
          <a:bodyPr>
            <a:normAutofit/>
          </a:bodyPr>
          <a:lstStyle/>
          <a:p>
            <a:r>
              <a:rPr lang="en-US" sz="2000" b="1" dirty="0">
                <a:latin typeface="Times New Roman" panose="02020603050405020304" pitchFamily="18" charset="0"/>
                <a:cs typeface="Times New Roman" panose="02020603050405020304" pitchFamily="18" charset="0"/>
              </a:rPr>
              <a:t>A decision tree is a tree-like structure in which:</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root node and each internal node </a:t>
            </a:r>
            <a:r>
              <a:rPr lang="en-US" sz="2000" dirty="0">
                <a:solidFill>
                  <a:srgbClr val="C00000"/>
                </a:solidFill>
                <a:latin typeface="Times New Roman" panose="02020603050405020304" pitchFamily="18" charset="0"/>
                <a:cs typeface="Times New Roman" panose="02020603050405020304" pitchFamily="18" charset="0"/>
              </a:rPr>
              <a:t>represent a "test" on an attribute </a:t>
            </a:r>
            <a:r>
              <a:rPr lang="en-US" sz="2000" dirty="0">
                <a:latin typeface="Times New Roman" panose="02020603050405020304" pitchFamily="18" charset="0"/>
                <a:cs typeface="Times New Roman" panose="02020603050405020304" pitchFamily="18" charset="0"/>
              </a:rPr>
              <a:t>of an instance in the dataset.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dirty="0">
                <a:solidFill>
                  <a:srgbClr val="C00000"/>
                </a:solidFill>
                <a:latin typeface="Times New Roman" panose="02020603050405020304" pitchFamily="18" charset="0"/>
                <a:cs typeface="Times New Roman" panose="02020603050405020304" pitchFamily="18" charset="0"/>
              </a:rPr>
              <a:t>outcome of each tes</a:t>
            </a:r>
            <a:r>
              <a:rPr lang="en-US" sz="2000" dirty="0">
                <a:latin typeface="Times New Roman" panose="02020603050405020304" pitchFamily="18" charset="0"/>
                <a:cs typeface="Times New Roman" panose="02020603050405020304" pitchFamily="18" charset="0"/>
              </a:rPr>
              <a:t>t is represented by the </a:t>
            </a:r>
            <a:r>
              <a:rPr lang="en-US" sz="2000" dirty="0">
                <a:solidFill>
                  <a:srgbClr val="C00000"/>
                </a:solidFill>
                <a:latin typeface="Times New Roman" panose="02020603050405020304" pitchFamily="18" charset="0"/>
                <a:cs typeface="Times New Roman" panose="02020603050405020304" pitchFamily="18" charset="0"/>
              </a:rPr>
              <a:t>corresponding branches.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node that does not branch further is called a </a:t>
            </a:r>
            <a:r>
              <a:rPr lang="en-US" sz="2000" dirty="0">
                <a:solidFill>
                  <a:srgbClr val="C00000"/>
                </a:solidFill>
                <a:latin typeface="Times New Roman" panose="02020603050405020304" pitchFamily="18" charset="0"/>
                <a:cs typeface="Times New Roman" panose="02020603050405020304" pitchFamily="18" charset="0"/>
              </a:rPr>
              <a:t>leaf node and represents the class </a:t>
            </a:r>
            <a:r>
              <a:rPr lang="en-US" sz="2000" dirty="0" smtClean="0">
                <a:solidFill>
                  <a:srgbClr val="C00000"/>
                </a:solidFill>
                <a:latin typeface="Times New Roman" panose="02020603050405020304" pitchFamily="18" charset="0"/>
                <a:cs typeface="Times New Roman" panose="02020603050405020304" pitchFamily="18" charset="0"/>
              </a:rPr>
              <a:t>labels</a:t>
            </a:r>
            <a:r>
              <a:rPr lang="en-US" sz="2000" dirty="0" smtClean="0">
                <a:solidFill>
                  <a:srgbClr val="C00000"/>
                </a:solidFill>
              </a:rPr>
              <a:t>.</a:t>
            </a:r>
            <a:endParaRPr lang="en-US" sz="2000" dirty="0">
              <a:solidFill>
                <a:srgbClr val="C00000"/>
              </a:solidFill>
            </a:endParaRPr>
          </a:p>
          <a:p>
            <a:pPr marL="0" indent="0">
              <a:buNone/>
            </a:pPr>
            <a:endParaRPr lang="en-IN" sz="2000" dirty="0"/>
          </a:p>
        </p:txBody>
      </p:sp>
      <p:sp>
        <p:nvSpPr>
          <p:cNvPr id="5" name="Slide Number Placeholder 4"/>
          <p:cNvSpPr>
            <a:spLocks noGrp="1"/>
          </p:cNvSpPr>
          <p:nvPr>
            <p:ph type="sldNum" sz="quarter" idx="12"/>
          </p:nvPr>
        </p:nvSpPr>
        <p:spPr/>
        <p:txBody>
          <a:bodyPr/>
          <a:lstStyle/>
          <a:p>
            <a:fld id="{4EB28266-621B-4E6C-B384-6411A00B5EC3}" type="slidenum">
              <a:rPr lang="en-US" smtClean="0"/>
              <a:pPr/>
              <a:t>15</a:t>
            </a:fld>
            <a:endParaRPr lang="en-US"/>
          </a:p>
        </p:txBody>
      </p:sp>
      <p:pic>
        <p:nvPicPr>
          <p:cNvPr id="4" name="Picture 3"/>
          <p:cNvPicPr>
            <a:picLocks noChangeAspect="1"/>
          </p:cNvPicPr>
          <p:nvPr/>
        </p:nvPicPr>
        <p:blipFill>
          <a:blip r:embed="rId2"/>
          <a:stretch>
            <a:fillRect/>
          </a:stretch>
        </p:blipFill>
        <p:spPr>
          <a:xfrm>
            <a:off x="611560" y="2927586"/>
            <a:ext cx="7776864" cy="3321380"/>
          </a:xfrm>
          <a:prstGeom prst="rect">
            <a:avLst/>
          </a:prstGeom>
        </p:spPr>
      </p:pic>
    </p:spTree>
    <p:extLst>
      <p:ext uri="{BB962C8B-B14F-4D97-AF65-F5344CB8AC3E}">
        <p14:creationId xmlns:p14="http://schemas.microsoft.com/office/powerpoint/2010/main" val="37167962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r>
              <a:rPr lang="en-IN" sz="3600" b="1" dirty="0">
                <a:latin typeface="Times New Roman" panose="02020603050405020304" pitchFamily="18" charset="0"/>
                <a:cs typeface="Times New Roman" panose="02020603050405020304" pitchFamily="18" charset="0"/>
              </a:rPr>
              <a:t>Decision Tree Algorithm</a:t>
            </a:r>
            <a:endParaRPr lang="en-IN" sz="36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rotWithShape="1">
          <a:blip r:embed="rId3"/>
          <a:srcRect r="2724"/>
          <a:stretch/>
        </p:blipFill>
        <p:spPr>
          <a:xfrm>
            <a:off x="457200" y="2204864"/>
            <a:ext cx="8003232" cy="4325989"/>
          </a:xfrm>
          <a:prstGeom prst="rect">
            <a:avLst/>
          </a:prstGeom>
        </p:spPr>
      </p:pic>
      <p:sp>
        <p:nvSpPr>
          <p:cNvPr id="5" name="Slide Number Placeholder 4"/>
          <p:cNvSpPr>
            <a:spLocks noGrp="1"/>
          </p:cNvSpPr>
          <p:nvPr>
            <p:ph type="sldNum" sz="quarter" idx="12"/>
          </p:nvPr>
        </p:nvSpPr>
        <p:spPr/>
        <p:txBody>
          <a:bodyPr/>
          <a:lstStyle/>
          <a:p>
            <a:fld id="{4EB28266-621B-4E6C-B384-6411A00B5EC3}" type="slidenum">
              <a:rPr lang="en-US" smtClean="0"/>
              <a:pPr/>
              <a:t>16</a:t>
            </a:fld>
            <a:endParaRPr lang="en-US"/>
          </a:p>
        </p:txBody>
      </p:sp>
      <p:sp>
        <p:nvSpPr>
          <p:cNvPr id="6" name="Rectangle 5"/>
          <p:cNvSpPr/>
          <p:nvPr/>
        </p:nvSpPr>
        <p:spPr>
          <a:xfrm>
            <a:off x="323528" y="836712"/>
            <a:ext cx="7992888" cy="1323439"/>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It takes three parameters:</a:t>
            </a:r>
          </a:p>
          <a:p>
            <a:r>
              <a:rPr lang="en-US" sz="2000" dirty="0">
                <a:solidFill>
                  <a:srgbClr val="0000FF"/>
                </a:solidFill>
                <a:latin typeface="Times New Roman" panose="02020603050405020304" pitchFamily="18" charset="0"/>
                <a:cs typeface="Times New Roman" panose="02020603050405020304" pitchFamily="18" charset="0"/>
              </a:rPr>
              <a:t>Instances </a:t>
            </a:r>
            <a:r>
              <a:rPr lang="en-US" sz="2000" dirty="0">
                <a:latin typeface="Times New Roman" panose="02020603050405020304" pitchFamily="18" charset="0"/>
                <a:cs typeface="Times New Roman" panose="02020603050405020304" pitchFamily="18" charset="0"/>
              </a:rPr>
              <a:t>– the set of instances or </a:t>
            </a:r>
            <a:r>
              <a:rPr lang="en-US" sz="2000" dirty="0" smtClean="0">
                <a:latin typeface="Times New Roman" panose="02020603050405020304" pitchFamily="18" charset="0"/>
                <a:cs typeface="Times New Roman" panose="02020603050405020304" pitchFamily="18" charset="0"/>
              </a:rPr>
              <a:t>samples with known </a:t>
            </a:r>
            <a:r>
              <a:rPr lang="en-US" sz="2000" dirty="0">
                <a:latin typeface="Times New Roman" panose="02020603050405020304" pitchFamily="18" charset="0"/>
                <a:cs typeface="Times New Roman" panose="02020603050405020304" pitchFamily="18" charset="0"/>
              </a:rPr>
              <a:t>class </a:t>
            </a:r>
            <a:r>
              <a:rPr lang="en-US" sz="2000" dirty="0" smtClean="0">
                <a:latin typeface="Times New Roman" panose="02020603050405020304" pitchFamily="18" charset="0"/>
                <a:cs typeface="Times New Roman" panose="02020603050405020304" pitchFamily="18" charset="0"/>
              </a:rPr>
              <a:t>labels.</a:t>
            </a:r>
            <a:endParaRPr lang="en-US" sz="2000" dirty="0">
              <a:latin typeface="Times New Roman" panose="02020603050405020304" pitchFamily="18" charset="0"/>
              <a:cs typeface="Times New Roman" panose="02020603050405020304" pitchFamily="18" charset="0"/>
            </a:endParaRPr>
          </a:p>
          <a:p>
            <a:r>
              <a:rPr lang="en-US" sz="2000" dirty="0" err="1">
                <a:solidFill>
                  <a:srgbClr val="0000FF"/>
                </a:solidFill>
                <a:latin typeface="Times New Roman" panose="02020603050405020304" pitchFamily="18" charset="0"/>
                <a:cs typeface="Times New Roman" panose="02020603050405020304" pitchFamily="18" charset="0"/>
              </a:rPr>
              <a:t>Target_Attribute</a:t>
            </a:r>
            <a:r>
              <a:rPr lang="en-US" sz="2000" dirty="0">
                <a:latin typeface="Times New Roman" panose="02020603050405020304" pitchFamily="18" charset="0"/>
                <a:cs typeface="Times New Roman" panose="02020603050405020304" pitchFamily="18" charset="0"/>
              </a:rPr>
              <a:t> – the class label attribute.</a:t>
            </a:r>
          </a:p>
          <a:p>
            <a:r>
              <a:rPr lang="en-US" sz="2000" dirty="0" err="1">
                <a:solidFill>
                  <a:srgbClr val="0000FF"/>
                </a:solidFill>
                <a:latin typeface="Times New Roman" panose="02020603050405020304" pitchFamily="18" charset="0"/>
                <a:cs typeface="Times New Roman" panose="02020603050405020304" pitchFamily="18" charset="0"/>
              </a:rPr>
              <a:t>Attributes_List</a:t>
            </a:r>
            <a:r>
              <a:rPr lang="en-US" sz="2000" dirty="0">
                <a:latin typeface="Times New Roman" panose="02020603050405020304" pitchFamily="18" charset="0"/>
                <a:cs typeface="Times New Roman" panose="02020603050405020304" pitchFamily="18" charset="0"/>
              </a:rPr>
              <a:t> – the list of predictor attributes.</a:t>
            </a:r>
          </a:p>
        </p:txBody>
      </p:sp>
    </p:spTree>
    <p:extLst>
      <p:ext uri="{BB962C8B-B14F-4D97-AF65-F5344CB8AC3E}">
        <p14:creationId xmlns:p14="http://schemas.microsoft.com/office/powerpoint/2010/main" val="13195291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600" b="1" dirty="0" smtClean="0">
                <a:latin typeface="Times New Roman" panose="02020603050405020304" pitchFamily="18" charset="0"/>
                <a:cs typeface="Times New Roman" panose="02020603050405020304" pitchFamily="18" charset="0"/>
              </a:rPr>
              <a:t>Attribute selection Measures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96752"/>
            <a:ext cx="8229600" cy="5256584"/>
          </a:xfrm>
        </p:spPr>
        <p:txBody>
          <a:bodyPr>
            <a:normAutofit fontScale="92500" lnSpcReduction="10000"/>
          </a:bodyPr>
          <a:lstStyle/>
          <a:p>
            <a:pPr algn="just"/>
            <a:r>
              <a:rPr lang="en-US" sz="2400" dirty="0">
                <a:latin typeface="Times New Roman" panose="02020603050405020304" pitchFamily="18" charset="0"/>
                <a:cs typeface="Times New Roman" panose="02020603050405020304" pitchFamily="18" charset="0"/>
              </a:rPr>
              <a:t>The selection of the </a:t>
            </a:r>
            <a:r>
              <a:rPr lang="en-US" sz="2400" b="1" dirty="0">
                <a:latin typeface="Times New Roman" panose="02020603050405020304" pitchFamily="18" charset="0"/>
                <a:cs typeface="Times New Roman" panose="02020603050405020304" pitchFamily="18" charset="0"/>
              </a:rPr>
              <a:t>best attribute</a:t>
            </a:r>
            <a:r>
              <a:rPr lang="en-US" sz="2400" dirty="0">
                <a:latin typeface="Times New Roman" panose="02020603050405020304" pitchFamily="18" charset="0"/>
                <a:cs typeface="Times New Roman" panose="02020603050405020304" pitchFamily="18" charset="0"/>
              </a:rPr>
              <a:t> is performed based on various attribute selection measures</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Three </a:t>
            </a:r>
            <a:r>
              <a:rPr lang="en-US" sz="2400" dirty="0">
                <a:latin typeface="Times New Roman" panose="02020603050405020304" pitchFamily="18" charset="0"/>
                <a:cs typeface="Times New Roman" panose="02020603050405020304" pitchFamily="18" charset="0"/>
              </a:rPr>
              <a:t>of the most commonly used attribute selection measures to induct a decision tree are:</a:t>
            </a:r>
          </a:p>
          <a:p>
            <a:pPr lvl="1"/>
            <a:r>
              <a:rPr lang="en-US" sz="2400" b="1" dirty="0">
                <a:latin typeface="Times New Roman" panose="02020603050405020304" pitchFamily="18" charset="0"/>
                <a:cs typeface="Times New Roman" panose="02020603050405020304" pitchFamily="18" charset="0"/>
              </a:rPr>
              <a:t>Information gain</a:t>
            </a:r>
          </a:p>
          <a:p>
            <a:pPr lvl="1"/>
            <a:r>
              <a:rPr lang="en-US" sz="2400" b="1" dirty="0">
                <a:latin typeface="Times New Roman" panose="02020603050405020304" pitchFamily="18" charset="0"/>
                <a:cs typeface="Times New Roman" panose="02020603050405020304" pitchFamily="18" charset="0"/>
              </a:rPr>
              <a:t>Gain ratio</a:t>
            </a:r>
          </a:p>
          <a:p>
            <a:pPr lvl="1"/>
            <a:r>
              <a:rPr lang="en-US" sz="2400" b="1" dirty="0" err="1">
                <a:latin typeface="Times New Roman" panose="02020603050405020304" pitchFamily="18" charset="0"/>
                <a:cs typeface="Times New Roman" panose="02020603050405020304" pitchFamily="18" charset="0"/>
              </a:rPr>
              <a:t>Gini</a:t>
            </a:r>
            <a:r>
              <a:rPr lang="en-US" sz="2400" b="1"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Index</a:t>
            </a:r>
          </a:p>
          <a:p>
            <a:pPr lvl="1"/>
            <a:endParaRPr lang="en-US" sz="2400" b="1" dirty="0">
              <a:latin typeface="Times New Roman" panose="02020603050405020304" pitchFamily="18" charset="0"/>
              <a:cs typeface="Times New Roman" panose="02020603050405020304" pitchFamily="18" charset="0"/>
            </a:endParaRPr>
          </a:p>
          <a:p>
            <a:pPr marL="342900" lvl="1" indent="-342900">
              <a:buFont typeface="Arial" pitchFamily="34" charset="0"/>
              <a:buChar char="•"/>
            </a:pPr>
            <a:r>
              <a:rPr lang="en-US" sz="2400" dirty="0">
                <a:latin typeface="Times New Roman" panose="02020603050405020304" pitchFamily="18" charset="0"/>
                <a:cs typeface="Times New Roman" panose="02020603050405020304" pitchFamily="18" charset="0"/>
              </a:rPr>
              <a:t>Attribute selection measures compare different predictor attributes and rank them for the purpose of model </a:t>
            </a:r>
            <a:r>
              <a:rPr lang="en-US" sz="2400" dirty="0" smtClean="0">
                <a:latin typeface="Times New Roman" panose="02020603050405020304" pitchFamily="18" charset="0"/>
                <a:cs typeface="Times New Roman" panose="02020603050405020304" pitchFamily="18" charset="0"/>
              </a:rPr>
              <a:t>building.</a:t>
            </a:r>
          </a:p>
          <a:p>
            <a:pPr marL="0" lvl="1" indent="0">
              <a:buNone/>
            </a:pPr>
            <a:endParaRPr lang="en-US" sz="2400" dirty="0">
              <a:latin typeface="Times New Roman" panose="02020603050405020304" pitchFamily="18" charset="0"/>
              <a:cs typeface="Times New Roman" panose="02020603050405020304" pitchFamily="18" charset="0"/>
            </a:endParaRPr>
          </a:p>
          <a:p>
            <a:pPr marL="342900" lvl="1" indent="-342900">
              <a:buFont typeface="Arial" pitchFamily="34" charset="0"/>
              <a:buChar char="•"/>
            </a:pPr>
            <a:r>
              <a:rPr lang="en-US" sz="2400" dirty="0">
                <a:latin typeface="Times New Roman" panose="02020603050405020304" pitchFamily="18" charset="0"/>
                <a:cs typeface="Times New Roman" panose="02020603050405020304" pitchFamily="18" charset="0"/>
              </a:rPr>
              <a:t>Decision tree algorithms makes use of the ranked list given by the attribute selection measures and then selects the best attribute to split the dataset</a:t>
            </a:r>
            <a:endParaRPr lang="en-IN" sz="2400" dirty="0">
              <a:latin typeface="Times New Roman" panose="02020603050405020304" pitchFamily="18" charset="0"/>
              <a:cs typeface="Times New Roman" panose="02020603050405020304" pitchFamily="18" charset="0"/>
            </a:endParaRPr>
          </a:p>
          <a:p>
            <a:pPr marL="457200" lvl="1"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17</a:t>
            </a:fld>
            <a:endParaRPr lang="en-US"/>
          </a:p>
        </p:txBody>
      </p:sp>
    </p:spTree>
    <p:extLst>
      <p:ext uri="{BB962C8B-B14F-4D97-AF65-F5344CB8AC3E}">
        <p14:creationId xmlns:p14="http://schemas.microsoft.com/office/powerpoint/2010/main" val="39929558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US" sz="3600" dirty="0" smtClean="0">
                <a:latin typeface="Times New Roman" pitchFamily="18" charset="0"/>
                <a:cs typeface="Times New Roman" pitchFamily="18" charset="0"/>
              </a:rPr>
              <a:t>Constructing Decision </a:t>
            </a:r>
            <a:r>
              <a:rPr lang="en-US" sz="3600" dirty="0">
                <a:latin typeface="Times New Roman" pitchFamily="18" charset="0"/>
                <a:cs typeface="Times New Roman" pitchFamily="18" charset="0"/>
              </a:rPr>
              <a:t>T</a:t>
            </a:r>
            <a:r>
              <a:rPr lang="en-US" sz="3600" dirty="0" smtClean="0">
                <a:latin typeface="Times New Roman" pitchFamily="18" charset="0"/>
                <a:cs typeface="Times New Roman" pitchFamily="18" charset="0"/>
              </a:rPr>
              <a:t>rees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There are different decision tree algorithms, but they are almost all variants of the same principle: </a:t>
            </a:r>
          </a:p>
          <a:p>
            <a:pPr lvl="1" algn="just">
              <a:buFont typeface="Wingdings" pitchFamily="2" charset="2"/>
              <a:buChar char="Ø"/>
            </a:pPr>
            <a:r>
              <a:rPr lang="en-US" sz="2000" dirty="0" smtClean="0">
                <a:latin typeface="Times New Roman" pitchFamily="18" charset="0"/>
                <a:cs typeface="Times New Roman" pitchFamily="18" charset="0"/>
              </a:rPr>
              <a:t>The algorithms build the tree in a greedy manner starting at the root, choosing the most </a:t>
            </a:r>
            <a:r>
              <a:rPr lang="en-US" sz="2000" dirty="0" smtClean="0">
                <a:solidFill>
                  <a:srgbClr val="FF0000"/>
                </a:solidFill>
                <a:latin typeface="Times New Roman" pitchFamily="18" charset="0"/>
                <a:cs typeface="Times New Roman" pitchFamily="18" charset="0"/>
              </a:rPr>
              <a:t>informative feature </a:t>
            </a:r>
            <a:r>
              <a:rPr lang="en-US" sz="2000" dirty="0" smtClean="0">
                <a:latin typeface="Times New Roman" pitchFamily="18" charset="0"/>
                <a:cs typeface="Times New Roman" pitchFamily="18" charset="0"/>
              </a:rPr>
              <a:t>at each step.</a:t>
            </a:r>
          </a:p>
          <a:p>
            <a:pPr lvl="1" algn="just">
              <a:buNone/>
            </a:pPr>
            <a:endParaRPr lang="en-US" sz="20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In 1948 Claude Shannon proposed the measure of information </a:t>
            </a:r>
            <a:r>
              <a:rPr lang="en-US" sz="2400" b="1" dirty="0" smtClean="0">
                <a:solidFill>
                  <a:srgbClr val="0000FF"/>
                </a:solidFill>
                <a:latin typeface="Times New Roman" pitchFamily="18" charset="0"/>
                <a:cs typeface="Times New Roman" pitchFamily="18" charset="0"/>
              </a:rPr>
              <a:t>entropy, </a:t>
            </a:r>
            <a:r>
              <a:rPr lang="en-US" sz="2400" dirty="0" smtClean="0">
                <a:latin typeface="Times New Roman" pitchFamily="18" charset="0"/>
                <a:cs typeface="Times New Roman" pitchFamily="18" charset="0"/>
              </a:rPr>
              <a:t>which describes the </a:t>
            </a:r>
            <a:r>
              <a:rPr lang="en-US" sz="2400" b="1" dirty="0" smtClean="0">
                <a:latin typeface="Times New Roman" pitchFamily="18" charset="0"/>
                <a:cs typeface="Times New Roman" pitchFamily="18" charset="0"/>
              </a:rPr>
              <a:t>amount of impurity in a collection of training examples.</a:t>
            </a:r>
          </a:p>
          <a:p>
            <a:pPr marL="0" indent="0" algn="just">
              <a:buNone/>
            </a:pPr>
            <a:endParaRPr lang="en-US" sz="2400" b="1"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lvl="1" algn="just">
              <a:buNone/>
            </a:pPr>
            <a:endParaRPr lang="en-US" sz="20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18</a:t>
            </a:fld>
            <a:endParaRPr 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4941169"/>
            <a:ext cx="4680520"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1"/>
          <p:cNvSpPr>
            <a:spLocks noGrp="1" noChangeArrowheads="1"/>
          </p:cNvSpPr>
          <p:nvPr>
            <p:ph type="title"/>
          </p:nvPr>
        </p:nvSpPr>
        <p:spPr>
          <a:xfrm>
            <a:off x="685800" y="457200"/>
            <a:ext cx="7772400" cy="609600"/>
          </a:xfrm>
        </p:spPr>
        <p:txBody>
          <a:bodyPr>
            <a:noAutofit/>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NZ" sz="3600" b="1" dirty="0" smtClean="0">
                <a:latin typeface="Times New Roman" pitchFamily="18" charset="0"/>
                <a:cs typeface="Times New Roman" pitchFamily="18" charset="0"/>
              </a:rPr>
              <a:t>Entropy</a:t>
            </a:r>
          </a:p>
        </p:txBody>
      </p:sp>
      <p:sp>
        <p:nvSpPr>
          <p:cNvPr id="23557" name="Rectangle 2"/>
          <p:cNvSpPr>
            <a:spLocks noGrp="1" noChangeArrowheads="1"/>
          </p:cNvSpPr>
          <p:nvPr>
            <p:ph type="body" idx="1"/>
          </p:nvPr>
        </p:nvSpPr>
        <p:spPr>
          <a:xfrm>
            <a:off x="685800" y="1295400"/>
            <a:ext cx="7772400" cy="4869904"/>
          </a:xfrm>
        </p:spPr>
        <p:txBody>
          <a:bodyPr/>
          <a:lstStyle/>
          <a:p>
            <a:pPr marL="341313" indent="-341313" algn="just" eaLnBrk="1" hangingPunct="1">
              <a:buClr>
                <a:srgbClr val="160AEB"/>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NZ" sz="2400" dirty="0" smtClean="0">
                <a:latin typeface="Times New Roman" pitchFamily="18" charset="0"/>
                <a:cs typeface="Times New Roman" pitchFamily="18" charset="0"/>
              </a:rPr>
              <a:t>Let F be a feature with possible values f</a:t>
            </a:r>
            <a:r>
              <a:rPr lang="en-NZ" sz="2400" baseline="-25000" dirty="0" smtClean="0">
                <a:latin typeface="Times New Roman" pitchFamily="18" charset="0"/>
                <a:cs typeface="Times New Roman" pitchFamily="18" charset="0"/>
              </a:rPr>
              <a:t>1</a:t>
            </a:r>
            <a:r>
              <a:rPr lang="en-NZ" sz="2400" dirty="0" smtClean="0">
                <a:latin typeface="Times New Roman" pitchFamily="18" charset="0"/>
                <a:cs typeface="Times New Roman" pitchFamily="18" charset="0"/>
              </a:rPr>
              <a:t>, …, f</a:t>
            </a:r>
            <a:r>
              <a:rPr lang="en-NZ" sz="2400" baseline="-25000" dirty="0" smtClean="0">
                <a:latin typeface="Times New Roman" pitchFamily="18" charset="0"/>
                <a:cs typeface="Times New Roman" pitchFamily="18" charset="0"/>
              </a:rPr>
              <a:t>n</a:t>
            </a:r>
          </a:p>
          <a:p>
            <a:pPr marL="341313" indent="-341313" algn="just" eaLnBrk="1" hangingPunct="1">
              <a:buClr>
                <a:srgbClr val="160AEB"/>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NZ" sz="2400" dirty="0" smtClean="0">
                <a:latin typeface="Times New Roman" pitchFamily="18" charset="0"/>
                <a:cs typeface="Times New Roman" pitchFamily="18" charset="0"/>
              </a:rPr>
              <a:t>Let p</a:t>
            </a:r>
            <a:r>
              <a:rPr lang="en-NZ" sz="2400" baseline="-25000" dirty="0" smtClean="0">
                <a:latin typeface="Times New Roman" pitchFamily="18" charset="0"/>
                <a:cs typeface="Times New Roman" pitchFamily="18" charset="0"/>
              </a:rPr>
              <a:t>i</a:t>
            </a:r>
            <a:r>
              <a:rPr lang="en-NZ" sz="2400" dirty="0" smtClean="0">
                <a:latin typeface="Times New Roman" pitchFamily="18" charset="0"/>
                <a:cs typeface="Times New Roman" pitchFamily="18" charset="0"/>
              </a:rPr>
              <a:t> is the proportion of the data that has value F=</a:t>
            </a:r>
            <a:r>
              <a:rPr lang="en-NZ" sz="2400" dirty="0" err="1" smtClean="0">
                <a:latin typeface="Times New Roman" pitchFamily="18" charset="0"/>
                <a:cs typeface="Times New Roman" pitchFamily="18" charset="0"/>
              </a:rPr>
              <a:t>f</a:t>
            </a:r>
            <a:r>
              <a:rPr lang="en-NZ" sz="2400" baseline="-25000" dirty="0" err="1" smtClean="0">
                <a:latin typeface="Times New Roman" pitchFamily="18" charset="0"/>
                <a:cs typeface="Times New Roman" pitchFamily="18" charset="0"/>
              </a:rPr>
              <a:t>i</a:t>
            </a:r>
            <a:r>
              <a:rPr lang="en-NZ" sz="2400" dirty="0" smtClean="0">
                <a:latin typeface="Times New Roman" pitchFamily="18" charset="0"/>
                <a:cs typeface="Times New Roman" pitchFamily="18" charset="0"/>
              </a:rPr>
              <a:t>.</a:t>
            </a:r>
          </a:p>
          <a:p>
            <a:pPr marL="341313" indent="-341313" algn="just" eaLnBrk="1" hangingPunct="1">
              <a:buClr>
                <a:srgbClr val="160AEB"/>
              </a:buClr>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NZ" sz="2400" dirty="0" smtClean="0">
              <a:latin typeface="Times New Roman" pitchFamily="18" charset="0"/>
              <a:cs typeface="Times New Roman" pitchFamily="18" charset="0"/>
            </a:endParaRPr>
          </a:p>
          <a:p>
            <a:pPr marL="341313" indent="-341313" algn="just" eaLnBrk="1" hangingPunct="1">
              <a:buClr>
                <a:srgbClr val="160AEB"/>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NZ" sz="2400" dirty="0" smtClean="0">
                <a:latin typeface="Times New Roman" pitchFamily="18" charset="0"/>
                <a:cs typeface="Times New Roman" pitchFamily="18" charset="0"/>
              </a:rPr>
              <a:t>Entropy</a:t>
            </a:r>
            <a:r>
              <a:rPr lang="en-NZ" sz="2400" b="1" dirty="0" smtClean="0">
                <a:latin typeface="Times New Roman" pitchFamily="18" charset="0"/>
                <a:cs typeface="Times New Roman" pitchFamily="18" charset="0"/>
              </a:rPr>
              <a:t> </a:t>
            </a:r>
            <a:r>
              <a:rPr lang="en-NZ" sz="2400" dirty="0" smtClean="0">
                <a:latin typeface="Times New Roman" pitchFamily="18" charset="0"/>
                <a:cs typeface="Times New Roman" pitchFamily="18" charset="0"/>
              </a:rPr>
              <a:t>tells us </a:t>
            </a:r>
            <a:r>
              <a:rPr lang="en-NZ" sz="2400" dirty="0" smtClean="0">
                <a:solidFill>
                  <a:srgbClr val="0000FF"/>
                </a:solidFill>
                <a:latin typeface="Times New Roman" pitchFamily="18" charset="0"/>
                <a:cs typeface="Times New Roman" pitchFamily="18" charset="0"/>
              </a:rPr>
              <a:t>how much extra information we get from knowing the value of the feature</a:t>
            </a:r>
            <a:r>
              <a:rPr lang="en-NZ" sz="2400" dirty="0" smtClean="0">
                <a:latin typeface="Times New Roman" pitchFamily="18" charset="0"/>
                <a:cs typeface="Times New Roman" pitchFamily="18" charset="0"/>
              </a:rPr>
              <a:t>, </a:t>
            </a:r>
            <a:r>
              <a:rPr lang="en-NZ" sz="2400" dirty="0" err="1" smtClean="0">
                <a:latin typeface="Times New Roman" pitchFamily="18" charset="0"/>
                <a:cs typeface="Times New Roman" pitchFamily="18" charset="0"/>
              </a:rPr>
              <a:t>i.e</a:t>
            </a:r>
            <a:r>
              <a:rPr lang="en-NZ" sz="2400" dirty="0" smtClean="0">
                <a:latin typeface="Times New Roman" pitchFamily="18" charset="0"/>
                <a:cs typeface="Times New Roman" pitchFamily="18" charset="0"/>
              </a:rPr>
              <a:t>, F=f</a:t>
            </a:r>
            <a:r>
              <a:rPr lang="en-NZ" sz="2400" baseline="-25000" dirty="0" smtClean="0">
                <a:latin typeface="Times New Roman" pitchFamily="18" charset="0"/>
                <a:cs typeface="Times New Roman" pitchFamily="18" charset="0"/>
              </a:rPr>
              <a:t>i</a:t>
            </a:r>
            <a:r>
              <a:rPr lang="en-NZ" sz="2400" dirty="0" smtClean="0">
                <a:latin typeface="Times New Roman" pitchFamily="18" charset="0"/>
                <a:cs typeface="Times New Roman" pitchFamily="18" charset="0"/>
              </a:rPr>
              <a:t> for a given data point .</a:t>
            </a:r>
          </a:p>
          <a:p>
            <a:pPr marL="341313" indent="-341313" algn="just" eaLnBrk="1" hangingPunct="1">
              <a:buClr>
                <a:srgbClr val="160AEB"/>
              </a:buClr>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NZ" sz="2400" i="1" baseline="-25000" dirty="0" smtClean="0">
              <a:latin typeface="Times New Roman" pitchFamily="18" charset="0"/>
              <a:cs typeface="Times New Roman" pitchFamily="18" charset="0"/>
            </a:endParaRPr>
          </a:p>
          <a:p>
            <a:pPr marL="341313" indent="-341313" algn="just" eaLnBrk="1" hangingPunct="1">
              <a:buClr>
                <a:srgbClr val="160AEB"/>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NZ" sz="2400" dirty="0" smtClean="0">
                <a:latin typeface="Times New Roman" pitchFamily="18" charset="0"/>
                <a:cs typeface="Times New Roman" pitchFamily="18" charset="0"/>
              </a:rPr>
              <a:t>Makes sense to pick the features that provides the most information</a:t>
            </a:r>
          </a:p>
          <a:p>
            <a:pPr marL="341313" indent="-341313" algn="just" eaLnBrk="1" hangingPunct="1">
              <a:buClr>
                <a:srgbClr val="160AEB"/>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NZ" sz="2400" dirty="0" smtClean="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4EB28266-621B-4E6C-B384-6411A00B5EC3}" type="slidenum">
              <a:rPr lang="en-US" smtClean="0"/>
              <a:pPr/>
              <a:t>19</a:t>
            </a:fld>
            <a:endParaRPr lang="en-US"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4941169"/>
            <a:ext cx="4680520"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Autofit/>
          </a:bodyPr>
          <a:lstStyle/>
          <a:p>
            <a:r>
              <a:rPr lang="en-NZ" sz="3600" b="1" dirty="0">
                <a:latin typeface="Times New Roman" pitchFamily="18" charset="0"/>
                <a:cs typeface="Times New Roman" pitchFamily="18" charset="0"/>
              </a:rPr>
              <a:t>Entropy</a:t>
            </a:r>
            <a:endParaRPr lang="en-IN" sz="3600" dirty="0"/>
          </a:p>
        </p:txBody>
      </p:sp>
      <p:sp>
        <p:nvSpPr>
          <p:cNvPr id="3" name="Content Placeholder 2"/>
          <p:cNvSpPr>
            <a:spLocks noGrp="1"/>
          </p:cNvSpPr>
          <p:nvPr>
            <p:ph idx="1"/>
          </p:nvPr>
        </p:nvSpPr>
        <p:spPr>
          <a:xfrm>
            <a:off x="457200" y="1340768"/>
            <a:ext cx="8229600" cy="5112568"/>
          </a:xfrm>
        </p:spPr>
        <p:txBody>
          <a:bodyPr>
            <a:normAutofit lnSpcReduction="10000"/>
          </a:bodyPr>
          <a:lstStyle/>
          <a:p>
            <a:r>
              <a:rPr lang="en-US" sz="2400" dirty="0">
                <a:solidFill>
                  <a:srgbClr val="0000FF"/>
                </a:solidFill>
                <a:latin typeface="Times New Roman" pitchFamily="18" charset="0"/>
                <a:cs typeface="Times New Roman" pitchFamily="18" charset="0"/>
              </a:rPr>
              <a:t>T</a:t>
            </a:r>
            <a:r>
              <a:rPr lang="en-US" sz="2400" dirty="0" smtClean="0">
                <a:solidFill>
                  <a:srgbClr val="0000FF"/>
                </a:solidFill>
                <a:latin typeface="Times New Roman" pitchFamily="18" charset="0"/>
                <a:cs typeface="Times New Roman" pitchFamily="18" charset="0"/>
              </a:rPr>
              <a:t>he </a:t>
            </a:r>
            <a:r>
              <a:rPr lang="en-US" sz="2400" dirty="0">
                <a:solidFill>
                  <a:srgbClr val="0000FF"/>
                </a:solidFill>
                <a:latin typeface="Times New Roman" pitchFamily="18" charset="0"/>
                <a:cs typeface="Times New Roman" pitchFamily="18" charset="0"/>
              </a:rPr>
              <a:t>entropy is 0 </a:t>
            </a:r>
            <a:r>
              <a:rPr lang="en-US" sz="2400" dirty="0">
                <a:solidFill>
                  <a:srgbClr val="C00000"/>
                </a:solidFill>
                <a:latin typeface="Times New Roman" pitchFamily="18" charset="0"/>
                <a:cs typeface="Times New Roman" pitchFamily="18" charset="0"/>
              </a:rPr>
              <a:t>if all members of S belong to the same class</a:t>
            </a:r>
            <a:r>
              <a:rPr lang="en-US" sz="2400" dirty="0">
                <a:solidFill>
                  <a:srgbClr val="0000FF"/>
                </a:solidFill>
                <a:latin typeface="Times New Roman" pitchFamily="18" charset="0"/>
                <a:cs typeface="Times New Roman" pitchFamily="18" charset="0"/>
              </a:rPr>
              <a:t>. </a:t>
            </a:r>
            <a:endParaRPr lang="en-US" sz="2400" dirty="0" smtClean="0">
              <a:solidFill>
                <a:srgbClr val="0000FF"/>
              </a:solidFill>
              <a:latin typeface="Times New Roman" pitchFamily="18" charset="0"/>
              <a:cs typeface="Times New Roman" pitchFamily="18" charset="0"/>
            </a:endParaRPr>
          </a:p>
          <a:p>
            <a:pPr marL="857250" lvl="1" indent="-457200">
              <a:buFont typeface="Wingdings" panose="05000000000000000000" pitchFamily="2" charset="2"/>
              <a:buChar char="Ø"/>
            </a:pPr>
            <a:r>
              <a:rPr lang="en-US" sz="2400" dirty="0" smtClean="0">
                <a:latin typeface="Times New Roman" pitchFamily="18" charset="0"/>
                <a:cs typeface="Times New Roman" pitchFamily="18" charset="0"/>
              </a:rPr>
              <a:t>For example</a:t>
            </a:r>
            <a:r>
              <a:rPr lang="en-US" sz="2400" dirty="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pPr marL="400050" lvl="1" indent="0">
              <a:buNone/>
            </a:pPr>
            <a:r>
              <a:rPr lang="en-US" sz="2400" dirty="0" smtClean="0">
                <a:latin typeface="Times New Roman" pitchFamily="18" charset="0"/>
                <a:cs typeface="Times New Roman" pitchFamily="18" charset="0"/>
              </a:rPr>
              <a:t>if </a:t>
            </a:r>
            <a:r>
              <a:rPr lang="en-US" sz="2400" dirty="0">
                <a:latin typeface="Times New Roman" pitchFamily="18" charset="0"/>
                <a:cs typeface="Times New Roman" pitchFamily="18" charset="0"/>
              </a:rPr>
              <a:t>all members are positive (</a:t>
            </a:r>
            <a:r>
              <a:rPr lang="en-US" sz="2400" dirty="0" smtClean="0">
                <a:latin typeface="Times New Roman" pitchFamily="18" charset="0"/>
                <a:cs typeface="Times New Roman" pitchFamily="18" charset="0"/>
              </a:rPr>
              <a:t>p+ </a:t>
            </a:r>
            <a:r>
              <a:rPr lang="en-US" sz="2400" dirty="0">
                <a:latin typeface="Times New Roman" pitchFamily="18" charset="0"/>
                <a:cs typeface="Times New Roman" pitchFamily="18" charset="0"/>
              </a:rPr>
              <a:t>= I), then </a:t>
            </a:r>
            <a:r>
              <a:rPr lang="en-US" sz="2400" dirty="0" smtClean="0">
                <a:latin typeface="Times New Roman" pitchFamily="18" charset="0"/>
                <a:cs typeface="Times New Roman" pitchFamily="18" charset="0"/>
              </a:rPr>
              <a:t>p- </a:t>
            </a:r>
            <a:r>
              <a:rPr lang="en-US" sz="2400" dirty="0">
                <a:latin typeface="Times New Roman" pitchFamily="18" charset="0"/>
                <a:cs typeface="Times New Roman" pitchFamily="18" charset="0"/>
              </a:rPr>
              <a:t>is 0, and </a:t>
            </a:r>
            <a:endParaRPr lang="en-US" sz="2400" dirty="0" smtClean="0">
              <a:latin typeface="Times New Roman" pitchFamily="18" charset="0"/>
              <a:cs typeface="Times New Roman" pitchFamily="18" charset="0"/>
            </a:endParaRPr>
          </a:p>
          <a:p>
            <a:pPr marL="457200" lvl="1" indent="0" algn="ctr">
              <a:buNone/>
            </a:pPr>
            <a:r>
              <a:rPr lang="en-US" sz="2400" dirty="0" smtClean="0">
                <a:latin typeface="Times New Roman" pitchFamily="18" charset="0"/>
                <a:cs typeface="Times New Roman" pitchFamily="18" charset="0"/>
              </a:rPr>
              <a:t>Entropy(S</a:t>
            </a:r>
            <a:r>
              <a:rPr lang="en-US" sz="2400" dirty="0">
                <a:latin typeface="Times New Roman" pitchFamily="18" charset="0"/>
                <a:cs typeface="Times New Roman" pitchFamily="18" charset="0"/>
              </a:rPr>
              <a:t>) = -1 . log2(1) - 0 . log2 0 </a:t>
            </a:r>
            <a:endParaRPr lang="en-US" sz="2400" dirty="0" smtClean="0">
              <a:latin typeface="Times New Roman" pitchFamily="18" charset="0"/>
              <a:cs typeface="Times New Roman" pitchFamily="18" charset="0"/>
            </a:endParaRPr>
          </a:p>
          <a:p>
            <a:pPr marL="400050" lvl="1" indent="0" algn="ctr">
              <a:buNone/>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 </a:t>
            </a:r>
            <a:r>
              <a:rPr lang="en-US" sz="2400" dirty="0">
                <a:latin typeface="Times New Roman" pitchFamily="18" charset="0"/>
                <a:cs typeface="Times New Roman" pitchFamily="18" charset="0"/>
              </a:rPr>
              <a:t>-1 . 0 - 0 . log2 0 </a:t>
            </a:r>
            <a:endParaRPr lang="en-US" sz="2400" dirty="0" smtClean="0">
              <a:latin typeface="Times New Roman" pitchFamily="18" charset="0"/>
              <a:cs typeface="Times New Roman" pitchFamily="18" charset="0"/>
            </a:endParaRPr>
          </a:p>
          <a:p>
            <a:pPr marL="400050" lvl="1" indent="0" algn="ctr">
              <a:buNone/>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0. </a:t>
            </a:r>
            <a:endParaRPr lang="en-US" sz="2400" dirty="0" smtClean="0">
              <a:latin typeface="Times New Roman" pitchFamily="18" charset="0"/>
              <a:cs typeface="Times New Roman" pitchFamily="18" charset="0"/>
            </a:endParaRPr>
          </a:p>
          <a:p>
            <a:pPr marL="400050" lvl="1" indent="0" algn="ctr">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en-US" sz="2400" dirty="0">
                <a:solidFill>
                  <a:srgbClr val="0000FF"/>
                </a:solidFill>
                <a:latin typeface="Times New Roman" pitchFamily="18" charset="0"/>
                <a:cs typeface="Times New Roman" pitchFamily="18" charset="0"/>
              </a:rPr>
              <a:t>T</a:t>
            </a:r>
            <a:r>
              <a:rPr lang="en-US" sz="2400" dirty="0" smtClean="0">
                <a:solidFill>
                  <a:srgbClr val="0000FF"/>
                </a:solidFill>
                <a:latin typeface="Times New Roman" pitchFamily="18" charset="0"/>
                <a:cs typeface="Times New Roman" pitchFamily="18" charset="0"/>
              </a:rPr>
              <a:t>he </a:t>
            </a:r>
            <a:r>
              <a:rPr lang="en-US" sz="2400" dirty="0">
                <a:solidFill>
                  <a:srgbClr val="0000FF"/>
                </a:solidFill>
                <a:latin typeface="Times New Roman" pitchFamily="18" charset="0"/>
                <a:cs typeface="Times New Roman" pitchFamily="18" charset="0"/>
              </a:rPr>
              <a:t>entropy is 1 when the </a:t>
            </a:r>
            <a:r>
              <a:rPr lang="en-US" sz="2400" dirty="0">
                <a:solidFill>
                  <a:srgbClr val="C00000"/>
                </a:solidFill>
                <a:latin typeface="Times New Roman" pitchFamily="18" charset="0"/>
                <a:cs typeface="Times New Roman" pitchFamily="18" charset="0"/>
              </a:rPr>
              <a:t>collection contains an equal number of positive and negative examples</a:t>
            </a:r>
            <a:r>
              <a:rPr lang="en-US" sz="2400" dirty="0" smtClean="0">
                <a:solidFill>
                  <a:srgbClr val="C00000"/>
                </a:solidFill>
                <a:latin typeface="Times New Roman" pitchFamily="18" charset="0"/>
                <a:cs typeface="Times New Roman" pitchFamily="18" charset="0"/>
              </a:rPr>
              <a:t>.</a:t>
            </a:r>
          </a:p>
          <a:p>
            <a:pPr marL="0" indent="0" algn="just">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If </a:t>
            </a:r>
            <a:r>
              <a:rPr lang="en-US" sz="2400" dirty="0">
                <a:latin typeface="Times New Roman" pitchFamily="18" charset="0"/>
                <a:cs typeface="Times New Roman" pitchFamily="18" charset="0"/>
              </a:rPr>
              <a:t>the </a:t>
            </a:r>
            <a:r>
              <a:rPr lang="en-US" sz="2400" dirty="0">
                <a:solidFill>
                  <a:srgbClr val="C00000"/>
                </a:solidFill>
                <a:latin typeface="Times New Roman" pitchFamily="18" charset="0"/>
                <a:cs typeface="Times New Roman" pitchFamily="18" charset="0"/>
              </a:rPr>
              <a:t>collection contains unequal numbers of positive and negative </a:t>
            </a:r>
            <a:r>
              <a:rPr lang="en-US" sz="2400" dirty="0" smtClean="0">
                <a:solidFill>
                  <a:srgbClr val="C00000"/>
                </a:solidFill>
                <a:latin typeface="Times New Roman" pitchFamily="18" charset="0"/>
                <a:cs typeface="Times New Roman" pitchFamily="18" charset="0"/>
              </a:rPr>
              <a:t>examples</a:t>
            </a:r>
            <a:r>
              <a:rPr lang="en-US" sz="2400" dirty="0">
                <a:latin typeface="Times New Roman" pitchFamily="18" charset="0"/>
                <a:cs typeface="Times New Roman" pitchFamily="18" charset="0"/>
              </a:rPr>
              <a:t>, The entropy is between 0 and 1</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20</a:t>
            </a:fld>
            <a:endParaRPr lang="en-US"/>
          </a:p>
        </p:txBody>
      </p:sp>
    </p:spTree>
    <p:extLst>
      <p:ext uri="{BB962C8B-B14F-4D97-AF65-F5344CB8AC3E}">
        <p14:creationId xmlns:p14="http://schemas.microsoft.com/office/powerpoint/2010/main" val="1866230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anose="02020603050405020304" pitchFamily="18" charset="0"/>
                <a:cs typeface="Times New Roman" panose="02020603050405020304" pitchFamily="18" charset="0"/>
              </a:rPr>
              <a:t>Information Gain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417638"/>
            <a:ext cx="8229600" cy="4708525"/>
          </a:xfrm>
        </p:spPr>
        <p:txBody>
          <a:bodyPr>
            <a:normAutofit/>
          </a:bodyPr>
          <a:lstStyle/>
          <a:p>
            <a:pPr algn="just"/>
            <a:r>
              <a:rPr lang="en-US" sz="2400" dirty="0" smtClean="0">
                <a:latin typeface="Times New Roman" pitchFamily="18" charset="0"/>
                <a:cs typeface="Times New Roman" pitchFamily="18" charset="0"/>
              </a:rPr>
              <a:t>The important idea is to work out </a:t>
            </a:r>
            <a:r>
              <a:rPr lang="en-US" sz="2400" dirty="0" smtClean="0">
                <a:solidFill>
                  <a:srgbClr val="7030A0"/>
                </a:solidFill>
                <a:latin typeface="Times New Roman" pitchFamily="18" charset="0"/>
                <a:cs typeface="Times New Roman" pitchFamily="18" charset="0"/>
              </a:rPr>
              <a:t>how much the entropy of the whole training set would decrease if we choose each particular feature for the next classification step</a:t>
            </a:r>
            <a:r>
              <a:rPr lang="en-US" sz="2400" dirty="0" smtClean="0">
                <a:latin typeface="Times New Roman" pitchFamily="18" charset="0"/>
                <a:cs typeface="Times New Roman" pitchFamily="18" charset="0"/>
              </a:rPr>
              <a:t>. This is known as the information gain.</a:t>
            </a:r>
          </a:p>
          <a:p>
            <a:pPr>
              <a:buNone/>
            </a:pPr>
            <a:endParaRPr lang="en-US" sz="2400" dirty="0" smtClean="0">
              <a:latin typeface="Times New Roman" pitchFamily="18" charset="0"/>
              <a:cs typeface="Times New Roman" pitchFamily="18" charset="0"/>
            </a:endParaRPr>
          </a:p>
          <a:p>
            <a:pPr algn="just"/>
            <a:r>
              <a:rPr lang="en-US" sz="2400" dirty="0">
                <a:solidFill>
                  <a:srgbClr val="C00000"/>
                </a:solidFill>
                <a:latin typeface="Times New Roman" pitchFamily="18" charset="0"/>
                <a:cs typeface="Times New Roman" pitchFamily="18" charset="0"/>
              </a:rPr>
              <a:t>I</a:t>
            </a:r>
            <a:r>
              <a:rPr lang="en-US" sz="2400" dirty="0" smtClean="0">
                <a:solidFill>
                  <a:srgbClr val="C00000"/>
                </a:solidFill>
                <a:latin typeface="Times New Roman" pitchFamily="18" charset="0"/>
                <a:cs typeface="Times New Roman" pitchFamily="18" charset="0"/>
              </a:rPr>
              <a:t>nformation gain is defined as the entropy of the whole set minus the entropy when a particular feature is chosen.</a:t>
            </a:r>
          </a:p>
          <a:p>
            <a:pPr marL="0" indent="0" algn="just">
              <a:buNone/>
            </a:pPr>
            <a:r>
              <a:rPr lang="en-US" sz="2400" dirty="0" smtClean="0">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Information gain</a:t>
            </a:r>
            <a:r>
              <a:rPr lang="en-US" sz="2400" dirty="0" smtClean="0">
                <a:latin typeface="Times New Roman" pitchFamily="18" charset="0"/>
                <a:cs typeface="Times New Roman" pitchFamily="18" charset="0"/>
              </a:rPr>
              <a:t> also defined as the </a:t>
            </a:r>
            <a:r>
              <a:rPr lang="en-US" sz="2400" dirty="0" smtClean="0">
                <a:solidFill>
                  <a:srgbClr val="0000FF"/>
                </a:solidFill>
                <a:latin typeface="Times New Roman" pitchFamily="18" charset="0"/>
                <a:cs typeface="Times New Roman" pitchFamily="18" charset="0"/>
              </a:rPr>
              <a:t>Expected </a:t>
            </a:r>
            <a:r>
              <a:rPr lang="en-US" sz="2400" dirty="0">
                <a:solidFill>
                  <a:srgbClr val="0000FF"/>
                </a:solidFill>
                <a:latin typeface="Times New Roman" pitchFamily="18" charset="0"/>
                <a:cs typeface="Times New Roman" pitchFamily="18" charset="0"/>
              </a:rPr>
              <a:t>reduction in entropy caused by partitioning the collection according to an attribute.</a:t>
            </a:r>
          </a:p>
          <a:p>
            <a:pPr algn="just"/>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1"/>
          <p:cNvSpPr>
            <a:spLocks noGrp="1" noChangeArrowheads="1"/>
          </p:cNvSpPr>
          <p:nvPr>
            <p:ph type="title"/>
          </p:nvPr>
        </p:nvSpPr>
        <p:spPr>
          <a:xfrm>
            <a:off x="685800" y="332656"/>
            <a:ext cx="7772400" cy="648072"/>
          </a:xfrm>
        </p:spPr>
        <p:txBody>
          <a:bodyPr>
            <a:normAutofit/>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NZ" sz="3600" b="1" dirty="0" smtClean="0">
                <a:latin typeface="Times New Roman" panose="02020603050405020304" pitchFamily="18" charset="0"/>
                <a:cs typeface="Times New Roman" panose="02020603050405020304" pitchFamily="18" charset="0"/>
              </a:rPr>
              <a:t>Information Gain</a:t>
            </a:r>
          </a:p>
        </p:txBody>
      </p:sp>
      <p:sp>
        <p:nvSpPr>
          <p:cNvPr id="25605" name="Rectangle 2"/>
          <p:cNvSpPr>
            <a:spLocks noGrp="1" noChangeArrowheads="1"/>
          </p:cNvSpPr>
          <p:nvPr>
            <p:ph type="body" idx="1"/>
          </p:nvPr>
        </p:nvSpPr>
        <p:spPr>
          <a:xfrm>
            <a:off x="457200" y="2686059"/>
            <a:ext cx="8435280" cy="3479245"/>
          </a:xfrm>
        </p:spPr>
        <p:txBody>
          <a:bodyPr>
            <a:normAutofit/>
          </a:bodyPr>
          <a:lstStyle/>
          <a:p>
            <a:pPr marL="341313" indent="-341313" algn="just">
              <a:buClr>
                <a:srgbClr val="160AEB"/>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a:latin typeface="Times New Roman" panose="02020603050405020304" pitchFamily="18" charset="0"/>
                <a:cs typeface="Times New Roman" panose="02020603050405020304" pitchFamily="18" charset="0"/>
              </a:rPr>
              <a:t>where</a:t>
            </a:r>
            <a:r>
              <a:rPr lang="en-US" sz="2400" b="1" dirty="0">
                <a:latin typeface="Times New Roman" panose="02020603050405020304" pitchFamily="18" charset="0"/>
                <a:cs typeface="Times New Roman" panose="02020603050405020304" pitchFamily="18" charset="0"/>
              </a:rPr>
              <a:t> S </a:t>
            </a:r>
            <a:r>
              <a:rPr lang="en-US" sz="2400" dirty="0">
                <a:latin typeface="Times New Roman" panose="02020603050405020304" pitchFamily="18" charset="0"/>
                <a:cs typeface="Times New Roman" panose="02020603050405020304" pitchFamily="18" charset="0"/>
              </a:rPr>
              <a:t>is the set of examples</a:t>
            </a:r>
            <a:r>
              <a:rPr lang="en-US" sz="2400" dirty="0" smtClean="0">
                <a:latin typeface="Times New Roman" panose="02020603050405020304" pitchFamily="18" charset="0"/>
                <a:cs typeface="Times New Roman" panose="02020603050405020304" pitchFamily="18" charset="0"/>
              </a:rPr>
              <a:t>,</a:t>
            </a:r>
          </a:p>
          <a:p>
            <a:pPr marL="341313" indent="-341313" algn="just">
              <a:buClr>
                <a:srgbClr val="160AEB"/>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latin typeface="Times New Roman" panose="02020603050405020304" pitchFamily="18" charset="0"/>
                <a:cs typeface="Times New Roman" panose="02020603050405020304" pitchFamily="18" charset="0"/>
              </a:rPr>
              <a:t>v</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a possible </a:t>
            </a:r>
            <a:r>
              <a:rPr lang="en-US" sz="2400" dirty="0" smtClean="0">
                <a:latin typeface="Times New Roman" panose="02020603050405020304" pitchFamily="18" charset="0"/>
                <a:cs typeface="Times New Roman" panose="02020603050405020304" pitchFamily="18" charset="0"/>
              </a:rPr>
              <a:t>value out </a:t>
            </a:r>
            <a:r>
              <a:rPr lang="en-US" sz="2400" dirty="0">
                <a:latin typeface="Times New Roman" panose="02020603050405020304" pitchFamily="18" charset="0"/>
                <a:cs typeface="Times New Roman" panose="02020603050405020304" pitchFamily="18" charset="0"/>
              </a:rPr>
              <a:t>of the set of all possible </a:t>
            </a:r>
            <a:r>
              <a:rPr lang="en-US" sz="2400" dirty="0" smtClean="0">
                <a:latin typeface="Times New Roman" panose="02020603050405020304" pitchFamily="18" charset="0"/>
                <a:cs typeface="Times New Roman" panose="02020603050405020304" pitchFamily="18" charset="0"/>
              </a:rPr>
              <a:t>ones of the feature “A”, </a:t>
            </a:r>
            <a:r>
              <a:rPr lang="en-US" sz="2400" dirty="0">
                <a:latin typeface="Times New Roman" panose="02020603050405020304" pitchFamily="18" charset="0"/>
                <a:cs typeface="Times New Roman" panose="02020603050405020304" pitchFamily="18" charset="0"/>
              </a:rPr>
              <a:t>and </a:t>
            </a:r>
            <a:r>
              <a:rPr lang="en-US" sz="2400" b="1" dirty="0">
                <a:latin typeface="Times New Roman" panose="02020603050405020304" pitchFamily="18" charset="0"/>
                <a:cs typeface="Times New Roman" panose="02020603050405020304" pitchFamily="18" charset="0"/>
              </a:rPr>
              <a:t>|</a:t>
            </a:r>
            <a:r>
              <a:rPr lang="en-US" sz="2400" b="1" dirty="0" err="1" smtClean="0">
                <a:latin typeface="Times New Roman" panose="02020603050405020304" pitchFamily="18" charset="0"/>
                <a:cs typeface="Times New Roman" panose="02020603050405020304" pitchFamily="18" charset="0"/>
              </a:rPr>
              <a:t>S</a:t>
            </a:r>
            <a:r>
              <a:rPr lang="en-US" sz="2400" b="1" baseline="-25000" dirty="0" err="1" smtClean="0">
                <a:latin typeface="Times New Roman" panose="02020603050405020304" pitchFamily="18" charset="0"/>
                <a:cs typeface="Times New Roman" panose="02020603050405020304" pitchFamily="18" charset="0"/>
              </a:rPr>
              <a:t>v</a:t>
            </a:r>
            <a:r>
              <a:rPr lang="en-US" sz="2400" b="1" baseline="-25000"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a count of the number of members of S that have value </a:t>
            </a:r>
            <a:r>
              <a:rPr lang="en-US" sz="2400" dirty="0" smtClean="0">
                <a:latin typeface="Times New Roman" panose="02020603050405020304" pitchFamily="18" charset="0"/>
                <a:cs typeface="Times New Roman" panose="02020603050405020304" pitchFamily="18" charset="0"/>
              </a:rPr>
              <a:t>v </a:t>
            </a:r>
            <a:r>
              <a:rPr lang="en-US" sz="2400" dirty="0">
                <a:latin typeface="Times New Roman" panose="02020603050405020304" pitchFamily="18" charset="0"/>
                <a:cs typeface="Times New Roman" panose="02020603050405020304" pitchFamily="18" charset="0"/>
              </a:rPr>
              <a:t>for feature </a:t>
            </a:r>
            <a:r>
              <a:rPr lang="en-US" sz="2400" dirty="0" smtClean="0">
                <a:latin typeface="Times New Roman" panose="02020603050405020304" pitchFamily="18" charset="0"/>
                <a:cs typeface="Times New Roman" panose="02020603050405020304" pitchFamily="18" charset="0"/>
              </a:rPr>
              <a:t>“A”.</a:t>
            </a:r>
            <a:endParaRPr lang="en-US" sz="2400" dirty="0">
              <a:latin typeface="Times New Roman" panose="02020603050405020304" pitchFamily="18" charset="0"/>
              <a:cs typeface="Times New Roman" panose="02020603050405020304" pitchFamily="18" charset="0"/>
            </a:endParaRPr>
          </a:p>
          <a:p>
            <a:pPr marL="341313" indent="-341313" algn="just">
              <a:buClr>
                <a:srgbClr val="160AEB"/>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NZ" sz="2400" dirty="0" smtClean="0">
                <a:solidFill>
                  <a:srgbClr val="0000FF"/>
                </a:solidFill>
                <a:latin typeface="Times New Roman" pitchFamily="18" charset="0"/>
                <a:cs typeface="Times New Roman" pitchFamily="18" charset="0"/>
              </a:rPr>
              <a:t>Choose </a:t>
            </a:r>
            <a:r>
              <a:rPr lang="en-NZ" sz="2400" dirty="0">
                <a:solidFill>
                  <a:srgbClr val="0000FF"/>
                </a:solidFill>
                <a:latin typeface="Times New Roman" pitchFamily="18" charset="0"/>
                <a:cs typeface="Times New Roman" pitchFamily="18" charset="0"/>
              </a:rPr>
              <a:t>the feature that provides the highest information gain over all examples</a:t>
            </a:r>
          </a:p>
          <a:p>
            <a:pPr marL="341313" lvl="1" indent="-341313" algn="just">
              <a:buClr>
                <a:srgbClr val="160AEB"/>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NZ" sz="2400" dirty="0" smtClean="0">
                <a:latin typeface="Times New Roman" pitchFamily="18" charset="0"/>
                <a:cs typeface="Times New Roman" pitchFamily="18" charset="0"/>
              </a:rPr>
              <a:t>At </a:t>
            </a:r>
            <a:r>
              <a:rPr lang="en-NZ" sz="2400" dirty="0">
                <a:latin typeface="Times New Roman" pitchFamily="18" charset="0"/>
                <a:cs typeface="Times New Roman" pitchFamily="18" charset="0"/>
              </a:rPr>
              <a:t>each stage, </a:t>
            </a:r>
            <a:r>
              <a:rPr lang="en-NZ" sz="2400" b="1" dirty="0">
                <a:latin typeface="Times New Roman" pitchFamily="18" charset="0"/>
                <a:cs typeface="Times New Roman" pitchFamily="18" charset="0"/>
              </a:rPr>
              <a:t>pick the feature with </a:t>
            </a:r>
            <a:r>
              <a:rPr lang="en-NZ" sz="2400" dirty="0">
                <a:latin typeface="Times New Roman" pitchFamily="18" charset="0"/>
                <a:cs typeface="Times New Roman" pitchFamily="18" charset="0"/>
              </a:rPr>
              <a:t>the </a:t>
            </a:r>
            <a:r>
              <a:rPr lang="en-NZ" sz="2400" b="1" dirty="0">
                <a:latin typeface="Times New Roman" pitchFamily="18" charset="0"/>
                <a:cs typeface="Times New Roman" pitchFamily="18" charset="0"/>
              </a:rPr>
              <a:t>highest information gain</a:t>
            </a:r>
          </a:p>
        </p:txBody>
      </p:sp>
      <p:sp>
        <p:nvSpPr>
          <p:cNvPr id="2" name="Slide Number Placeholder 1"/>
          <p:cNvSpPr>
            <a:spLocks noGrp="1"/>
          </p:cNvSpPr>
          <p:nvPr>
            <p:ph type="sldNum" sz="quarter" idx="12"/>
          </p:nvPr>
        </p:nvSpPr>
        <p:spPr/>
        <p:txBody>
          <a:bodyPr/>
          <a:lstStyle/>
          <a:p>
            <a:fld id="{4EB28266-621B-4E6C-B384-6411A00B5EC3}" type="slidenum">
              <a:rPr lang="en-US" smtClean="0"/>
              <a:pPr/>
              <a:t>22</a:t>
            </a:fld>
            <a:endParaRPr lang="en-US" dirty="0"/>
          </a:p>
        </p:txBody>
      </p:sp>
      <p:pic>
        <p:nvPicPr>
          <p:cNvPr id="3" name="Picture 2"/>
          <p:cNvPicPr>
            <a:picLocks noChangeAspect="1"/>
          </p:cNvPicPr>
          <p:nvPr/>
        </p:nvPicPr>
        <p:blipFill>
          <a:blip r:embed="rId3"/>
          <a:stretch>
            <a:fillRect/>
          </a:stretch>
        </p:blipFill>
        <p:spPr>
          <a:xfrm>
            <a:off x="899593" y="1152533"/>
            <a:ext cx="7787208" cy="1169457"/>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4294967295"/>
          </p:nvPr>
        </p:nvPicPr>
        <p:blipFill rotWithShape="1">
          <a:blip r:embed="rId2" cstate="print"/>
          <a:srcRect l="24627" t="21198" r="24045" b="33514"/>
          <a:stretch/>
        </p:blipFill>
        <p:spPr bwMode="auto">
          <a:xfrm>
            <a:off x="539552" y="124095"/>
            <a:ext cx="7344816" cy="6192688"/>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4EB28266-621B-4E6C-B384-6411A00B5EC3}" type="slidenum">
              <a:rPr lang="en-US" smtClean="0"/>
              <a:pPr/>
              <a:t>23</a:t>
            </a:fld>
            <a:endParaRPr lang="en-US"/>
          </a:p>
        </p:txBody>
      </p:sp>
      <p:pic>
        <p:nvPicPr>
          <p:cNvPr id="5" name="Picture 3"/>
          <p:cNvPicPr>
            <a:picLocks noChangeAspect="1" noChangeArrowheads="1"/>
          </p:cNvPicPr>
          <p:nvPr/>
        </p:nvPicPr>
        <p:blipFill>
          <a:blip r:embed="rId3" cstate="print"/>
          <a:srcRect/>
          <a:stretch>
            <a:fillRect/>
          </a:stretch>
        </p:blipFill>
        <p:spPr bwMode="auto">
          <a:xfrm>
            <a:off x="3059832" y="3861048"/>
            <a:ext cx="4032449" cy="477653"/>
          </a:xfrm>
          <a:prstGeom prst="rect">
            <a:avLst/>
          </a:prstGeom>
          <a:noFill/>
          <a:ln w="9525">
            <a:noFill/>
            <a:round/>
            <a:headEnd/>
            <a:tailEnd/>
          </a:ln>
        </p:spPr>
      </p:pic>
    </p:spTree>
    <p:extLst>
      <p:ext uri="{BB962C8B-B14F-4D97-AF65-F5344CB8AC3E}">
        <p14:creationId xmlns:p14="http://schemas.microsoft.com/office/powerpoint/2010/main" val="333108732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US" sz="3600" dirty="0" smtClean="0">
                <a:latin typeface="Times New Roman" panose="02020603050405020304" pitchFamily="18" charset="0"/>
                <a:cs typeface="Times New Roman" panose="02020603050405020304" pitchFamily="18" charset="0"/>
              </a:rPr>
              <a:t>Dataset</a:t>
            </a:r>
            <a:endParaRPr lang="en-IN"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24</a:t>
            </a:fld>
            <a:endParaRPr lang="en-US"/>
          </a:p>
        </p:txBody>
      </p:sp>
      <p:pic>
        <p:nvPicPr>
          <p:cNvPr id="2560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980728"/>
            <a:ext cx="8568951" cy="5145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7144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636" y="314307"/>
            <a:ext cx="8229600" cy="1143000"/>
          </a:xfrm>
        </p:spPr>
        <p:txBody>
          <a:bodyPr>
            <a:normAutofit/>
          </a:bodyPr>
          <a:lstStyle/>
          <a:p>
            <a:r>
              <a:rPr lang="en-US" sz="3600" dirty="0" smtClean="0">
                <a:latin typeface="Times New Roman" panose="02020603050405020304" pitchFamily="18" charset="0"/>
                <a:cs typeface="Times New Roman" panose="02020603050405020304" pitchFamily="18" charset="0"/>
              </a:rPr>
              <a:t>Information Gain for Wind</a:t>
            </a:r>
            <a:endParaRPr lang="en-IN"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25</a:t>
            </a:fld>
            <a:endParaRPr lang="en-US"/>
          </a:p>
        </p:txBody>
      </p:sp>
      <p:pic>
        <p:nvPicPr>
          <p:cNvPr id="2253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7" y="1484784"/>
            <a:ext cx="7888985" cy="4536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8747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600" dirty="0" smtClean="0">
                <a:latin typeface="Times New Roman" panose="02020603050405020304" pitchFamily="18" charset="0"/>
                <a:cs typeface="Times New Roman" panose="02020603050405020304" pitchFamily="18" charset="0"/>
              </a:rPr>
              <a:t>Information Gain for all four attributes</a:t>
            </a:r>
            <a:endParaRPr lang="en-IN"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26</a:t>
            </a:fld>
            <a:endParaRPr lang="en-US"/>
          </a:p>
        </p:txBody>
      </p:sp>
      <p:pic>
        <p:nvPicPr>
          <p:cNvPr id="266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0" y="1412776"/>
            <a:ext cx="7704856" cy="208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57200" y="3836070"/>
            <a:ext cx="7931224" cy="2677656"/>
          </a:xfrm>
          <a:prstGeom prst="rect">
            <a:avLst/>
          </a:prstGeom>
        </p:spPr>
        <p:txBody>
          <a:bodyPr wrap="square">
            <a:spAutoFit/>
          </a:bodyPr>
          <a:lstStyle/>
          <a:p>
            <a:pPr marL="342900" indent="-342900" algn="just">
              <a:buFont typeface="Wingdings" panose="05000000000000000000" pitchFamily="2" charset="2"/>
              <a:buChar char="Ø"/>
            </a:pPr>
            <a:r>
              <a:rPr lang="en-US" sz="2400" dirty="0" smtClean="0">
                <a:latin typeface="Times New Roman" pitchFamily="18" charset="0"/>
                <a:cs typeface="Times New Roman" pitchFamily="18" charset="0"/>
              </a:rPr>
              <a:t>According to the information gain measure, the </a:t>
            </a:r>
            <a:r>
              <a:rPr lang="en-US" sz="2400" dirty="0" smtClean="0">
                <a:solidFill>
                  <a:srgbClr val="FF0000"/>
                </a:solidFill>
                <a:latin typeface="Times New Roman" pitchFamily="18" charset="0"/>
                <a:cs typeface="Times New Roman" pitchFamily="18" charset="0"/>
              </a:rPr>
              <a:t>Outlook attribute </a:t>
            </a:r>
            <a:r>
              <a:rPr lang="en-US" sz="2400" dirty="0" smtClean="0">
                <a:latin typeface="Times New Roman" pitchFamily="18" charset="0"/>
                <a:cs typeface="Times New Roman" pitchFamily="18" charset="0"/>
              </a:rPr>
              <a:t>provides the best prediction of the target attribute, </a:t>
            </a:r>
            <a:r>
              <a:rPr lang="en-US" sz="2400" dirty="0" smtClean="0">
                <a:solidFill>
                  <a:srgbClr val="00B050"/>
                </a:solidFill>
                <a:latin typeface="Times New Roman" pitchFamily="18" charset="0"/>
                <a:cs typeface="Times New Roman" pitchFamily="18" charset="0"/>
              </a:rPr>
              <a:t>Play Tennis</a:t>
            </a:r>
            <a:r>
              <a:rPr lang="en-US" sz="2400" dirty="0" smtClean="0">
                <a:latin typeface="Times New Roman" pitchFamily="18" charset="0"/>
                <a:cs typeface="Times New Roman" pitchFamily="18" charset="0"/>
              </a:rPr>
              <a:t>, over the training examples.</a:t>
            </a:r>
          </a:p>
          <a:p>
            <a:pPr marL="342900" indent="-342900" algn="just">
              <a:buFont typeface="Wingdings" panose="05000000000000000000" pitchFamily="2" charset="2"/>
              <a:buChar char="Ø"/>
            </a:pPr>
            <a:endParaRPr lang="en-US" sz="2400" dirty="0">
              <a:latin typeface="Times New Roman" pitchFamily="18" charset="0"/>
              <a:cs typeface="Times New Roman" pitchFamily="18" charset="0"/>
            </a:endParaRPr>
          </a:p>
          <a:p>
            <a:pPr marL="342900" indent="-342900" algn="just">
              <a:buFont typeface="Wingdings" panose="05000000000000000000" pitchFamily="2" charset="2"/>
              <a:buChar char="Ø"/>
            </a:pPr>
            <a:r>
              <a:rPr lang="en-US" sz="2400" dirty="0" smtClean="0">
                <a:latin typeface="Times New Roman" pitchFamily="18" charset="0"/>
                <a:cs typeface="Times New Roman" pitchFamily="18" charset="0"/>
              </a:rPr>
              <a:t> Therefore, Outlook is selected as the decision attribute for the root node, and branches are created below the root for each of its possible values (i.e., </a:t>
            </a:r>
            <a:r>
              <a:rPr lang="en-US" sz="2400" dirty="0" smtClean="0">
                <a:solidFill>
                  <a:srgbClr val="0000FF"/>
                </a:solidFill>
                <a:latin typeface="Times New Roman" pitchFamily="18" charset="0"/>
                <a:cs typeface="Times New Roman" pitchFamily="18" charset="0"/>
              </a:rPr>
              <a:t>Sunny, Overcast, and Rain)</a:t>
            </a:r>
            <a:endParaRPr lang="en-IN"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923670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EB28266-621B-4E6C-B384-6411A00B5EC3}" type="slidenum">
              <a:rPr lang="en-US" smtClean="0"/>
              <a:pPr/>
              <a:t>27</a:t>
            </a:fld>
            <a:endParaRPr lang="en-US"/>
          </a:p>
        </p:txBody>
      </p:sp>
      <p:pic>
        <p:nvPicPr>
          <p:cNvPr id="276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54" y="340593"/>
            <a:ext cx="7858046" cy="6198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Straight Connector 3"/>
          <p:cNvCxnSpPr/>
          <p:nvPr/>
        </p:nvCxnSpPr>
        <p:spPr>
          <a:xfrm>
            <a:off x="6462640" y="5805264"/>
            <a:ext cx="1152128" cy="0"/>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668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CART</a:t>
            </a:r>
            <a:endParaRPr/>
          </a:p>
        </p:txBody>
      </p:sp>
      <p:sp>
        <p:nvSpPr>
          <p:cNvPr id="85" name="Google Shape;85;p1"/>
          <p:cNvSpPr/>
          <p:nvPr/>
        </p:nvSpPr>
        <p:spPr>
          <a:xfrm>
            <a:off x="457200" y="1676400"/>
            <a:ext cx="7772400" cy="40934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600" b="0" i="0" u="none" strike="noStrike" cap="none">
                <a:solidFill>
                  <a:schemeClr val="dk1"/>
                </a:solidFill>
                <a:latin typeface="Calibri"/>
                <a:ea typeface="Calibri"/>
                <a:cs typeface="Calibri"/>
                <a:sym typeface="Calibri"/>
              </a:rPr>
              <a:t>Decision tree algorithms still keep their popularity because they can produce transparent decisions. </a:t>
            </a:r>
            <a:r>
              <a:rPr lang="en-US" sz="2600" b="0" i="0" u="sng" strike="noStrike" cap="none">
                <a:solidFill>
                  <a:schemeClr val="dk1"/>
                </a:solidFill>
                <a:latin typeface="Calibri"/>
                <a:ea typeface="Calibri"/>
                <a:cs typeface="Calibri"/>
                <a:sym typeface="Calibri"/>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ID3</a:t>
            </a:r>
            <a:r>
              <a:rPr lang="en-US" sz="2600" b="0" i="0" u="none" strike="noStrike" cap="none">
                <a:solidFill>
                  <a:schemeClr val="dk1"/>
                </a:solidFill>
                <a:latin typeface="Calibri"/>
                <a:ea typeface="Calibri"/>
                <a:cs typeface="Calibri"/>
                <a:sym typeface="Calibri"/>
              </a:rPr>
              <a:t> uses </a:t>
            </a:r>
            <a:r>
              <a:rPr lang="en-US" sz="2600" b="1" i="0" u="none" strike="noStrike" cap="none">
                <a:solidFill>
                  <a:schemeClr val="dk1"/>
                </a:solidFill>
                <a:latin typeface="Calibri"/>
                <a:ea typeface="Calibri"/>
                <a:cs typeface="Calibri"/>
                <a:sym typeface="Calibri"/>
              </a:rPr>
              <a:t>information gain </a:t>
            </a:r>
            <a:r>
              <a:rPr lang="en-US" sz="2600" b="0" i="0" u="none" strike="noStrike" cap="none">
                <a:solidFill>
                  <a:schemeClr val="dk1"/>
                </a:solidFill>
                <a:latin typeface="Calibri"/>
                <a:ea typeface="Calibri"/>
                <a:cs typeface="Calibri"/>
                <a:sym typeface="Calibri"/>
              </a:rPr>
              <a:t>whereas </a:t>
            </a:r>
            <a:r>
              <a:rPr lang="en-US" sz="2600" b="0" i="0" u="sng" strike="noStrike" cap="none">
                <a:solidFill>
                  <a:schemeClr val="dk1"/>
                </a:solidFill>
                <a:latin typeface="Calibri"/>
                <a:ea typeface="Calibri"/>
                <a:cs typeface="Calibri"/>
                <a:sym typeface="Calibri"/>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C4.5</a:t>
            </a:r>
            <a:r>
              <a:rPr lang="en-US" sz="2600" b="0" i="0" u="none" strike="noStrike" cap="none">
                <a:solidFill>
                  <a:schemeClr val="dk1"/>
                </a:solidFill>
                <a:latin typeface="Calibri"/>
                <a:ea typeface="Calibri"/>
                <a:cs typeface="Calibri"/>
                <a:sym typeface="Calibri"/>
              </a:rPr>
              <a:t> uses </a:t>
            </a:r>
            <a:r>
              <a:rPr lang="en-US" sz="2600" b="1" i="0" u="none" strike="noStrike" cap="none">
                <a:solidFill>
                  <a:schemeClr val="dk1"/>
                </a:solidFill>
                <a:latin typeface="Calibri"/>
                <a:ea typeface="Calibri"/>
                <a:cs typeface="Calibri"/>
                <a:sym typeface="Calibri"/>
              </a:rPr>
              <a:t>gain ratio </a:t>
            </a:r>
            <a:r>
              <a:rPr lang="en-US" sz="2600" b="0" i="0" u="none" strike="noStrike" cap="none">
                <a:solidFill>
                  <a:schemeClr val="dk1"/>
                </a:solidFill>
                <a:latin typeface="Calibri"/>
                <a:ea typeface="Calibri"/>
                <a:cs typeface="Calibri"/>
                <a:sym typeface="Calibri"/>
              </a:rPr>
              <a:t>for splitting. Here, </a:t>
            </a:r>
            <a:r>
              <a:rPr lang="en-US" sz="2600" b="0" i="0" u="none" strike="noStrike" cap="none">
                <a:solidFill>
                  <a:srgbClr val="0000FF"/>
                </a:solidFill>
                <a:latin typeface="Calibri"/>
                <a:ea typeface="Calibri"/>
                <a:cs typeface="Calibri"/>
                <a:sym typeface="Calibri"/>
              </a:rPr>
              <a:t>CART</a:t>
            </a:r>
            <a:r>
              <a:rPr lang="en-US" sz="2600" b="0" i="0" u="none" strike="noStrike" cap="none">
                <a:solidFill>
                  <a:schemeClr val="dk1"/>
                </a:solidFill>
                <a:latin typeface="Calibri"/>
                <a:ea typeface="Calibri"/>
                <a:cs typeface="Calibri"/>
                <a:sym typeface="Calibri"/>
              </a:rPr>
              <a:t> is an alternative decision tree building algorithm. It can handle both classification and regression tasks. This algorithm uses a new metric named </a:t>
            </a:r>
            <a:r>
              <a:rPr lang="en-US" sz="2600" b="1" i="0" u="none" strike="noStrike" cap="none">
                <a:solidFill>
                  <a:schemeClr val="dk1"/>
                </a:solidFill>
                <a:latin typeface="Calibri"/>
                <a:ea typeface="Calibri"/>
                <a:cs typeface="Calibri"/>
                <a:sym typeface="Calibri"/>
              </a:rPr>
              <a:t>gini index </a:t>
            </a:r>
            <a:r>
              <a:rPr lang="en-US" sz="2600" b="0" i="0" u="none" strike="noStrike" cap="none">
                <a:solidFill>
                  <a:schemeClr val="dk1"/>
                </a:solidFill>
                <a:latin typeface="Calibri"/>
                <a:ea typeface="Calibri"/>
                <a:cs typeface="Calibri"/>
                <a:sym typeface="Calibri"/>
              </a:rPr>
              <a:t>to create decision points for classification tasks. </a:t>
            </a:r>
            <a:endParaRPr sz="26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26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r>
              <a:rPr lang="en-US" sz="2800" b="0" i="0" u="none" strike="noStrike" cap="none">
                <a:solidFill>
                  <a:schemeClr val="dk1"/>
                </a:solidFill>
                <a:latin typeface="Calibri"/>
                <a:ea typeface="Calibri"/>
                <a:cs typeface="Calibri"/>
                <a:sym typeface="Calibri"/>
              </a:rPr>
              <a:t>Decision rules will be found by GINI index value</a:t>
            </a:r>
            <a:endParaRPr sz="26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133109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5" name="Rectangle 2"/>
          <p:cNvSpPr>
            <a:spLocks noGrp="1" noChangeArrowheads="1"/>
          </p:cNvSpPr>
          <p:nvPr>
            <p:ph type="title"/>
          </p:nvPr>
        </p:nvSpPr>
        <p:spPr/>
        <p:txBody>
          <a:bodyPr>
            <a:normAutofit/>
          </a:bodyPr>
          <a:lstStyle/>
          <a:p>
            <a:pPr eaLnBrk="1" hangingPunct="1"/>
            <a:r>
              <a:rPr lang="en-US" sz="3600" dirty="0" smtClean="0">
                <a:latin typeface="Times New Roman" panose="02020603050405020304" pitchFamily="18" charset="0"/>
                <a:cs typeface="Times New Roman" panose="02020603050405020304" pitchFamily="18" charset="0"/>
              </a:rPr>
              <a:t>Measure of Impurity: GINI</a:t>
            </a:r>
          </a:p>
        </p:txBody>
      </p:sp>
      <p:sp>
        <p:nvSpPr>
          <p:cNvPr id="7176" name="Rectangle 3"/>
          <p:cNvSpPr>
            <a:spLocks noGrp="1" noChangeArrowheads="1"/>
          </p:cNvSpPr>
          <p:nvPr>
            <p:ph type="body" idx="1"/>
          </p:nvPr>
        </p:nvSpPr>
        <p:spPr>
          <a:xfrm>
            <a:off x="457200" y="1600200"/>
            <a:ext cx="8229600" cy="3463925"/>
          </a:xfrm>
        </p:spPr>
        <p:txBody>
          <a:bodyPr>
            <a:noAutofit/>
          </a:bodyPr>
          <a:lstStyle/>
          <a:p>
            <a:pPr eaLnBrk="1" hangingPunct="1">
              <a:lnSpc>
                <a:spcPct val="90000"/>
              </a:lnSpc>
            </a:pPr>
            <a:r>
              <a:rPr lang="en-US" sz="2000" dirty="0" err="1" smtClean="0">
                <a:latin typeface="Times New Roman" panose="02020603050405020304" pitchFamily="18" charset="0"/>
                <a:cs typeface="Times New Roman" panose="02020603050405020304" pitchFamily="18" charset="0"/>
              </a:rPr>
              <a:t>Gini</a:t>
            </a:r>
            <a:r>
              <a:rPr lang="en-US" sz="2000" dirty="0" smtClean="0">
                <a:latin typeface="Times New Roman" panose="02020603050405020304" pitchFamily="18" charset="0"/>
                <a:cs typeface="Times New Roman" panose="02020603050405020304" pitchFamily="18" charset="0"/>
              </a:rPr>
              <a:t> Index for a given node t :</a:t>
            </a:r>
          </a:p>
          <a:p>
            <a:pPr eaLnBrk="1" hangingPunct="1">
              <a:lnSpc>
                <a:spcPct val="90000"/>
              </a:lnSpc>
            </a:pPr>
            <a:endParaRPr lang="en-US" sz="2000" dirty="0" smtClean="0">
              <a:latin typeface="Times New Roman" panose="02020603050405020304" pitchFamily="18" charset="0"/>
              <a:cs typeface="Times New Roman" panose="02020603050405020304" pitchFamily="18" charset="0"/>
            </a:endParaRPr>
          </a:p>
          <a:p>
            <a:pPr lvl="2" eaLnBrk="1" hangingPunct="1">
              <a:lnSpc>
                <a:spcPct val="90000"/>
              </a:lnSpc>
              <a:buFont typeface="Wingdings" pitchFamily="1" charset="2"/>
              <a:buNone/>
            </a:pPr>
            <a:endParaRPr lang="en-US" sz="2000" dirty="0" smtClean="0">
              <a:latin typeface="Times New Roman" panose="02020603050405020304" pitchFamily="18" charset="0"/>
              <a:cs typeface="Times New Roman" panose="02020603050405020304" pitchFamily="18" charset="0"/>
            </a:endParaRPr>
          </a:p>
          <a:p>
            <a:pPr lvl="2" eaLnBrk="1" hangingPunct="1">
              <a:lnSpc>
                <a:spcPct val="90000"/>
              </a:lnSpc>
              <a:buFont typeface="Wingdings" pitchFamily="1" charset="2"/>
              <a:buNone/>
            </a:pPr>
            <a:endParaRPr lang="en-US" sz="2000" dirty="0" smtClean="0">
              <a:latin typeface="Times New Roman" panose="02020603050405020304" pitchFamily="18" charset="0"/>
              <a:cs typeface="Times New Roman" panose="02020603050405020304" pitchFamily="18" charset="0"/>
            </a:endParaRPr>
          </a:p>
          <a:p>
            <a:pPr lvl="2" eaLnBrk="1" hangingPunct="1">
              <a:lnSpc>
                <a:spcPct val="90000"/>
              </a:lnSpc>
              <a:buFont typeface="Wingdings" pitchFamily="1" charset="2"/>
              <a:buNone/>
            </a:pP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(NOTE: </a:t>
            </a:r>
            <a:r>
              <a:rPr lang="en-US" sz="2000" i="1" dirty="0" smtClean="0">
                <a:latin typeface="Times New Roman" panose="02020603050405020304" pitchFamily="18" charset="0"/>
                <a:cs typeface="Times New Roman" panose="02020603050405020304" pitchFamily="18" charset="0"/>
              </a:rPr>
              <a:t>p( j | t) </a:t>
            </a:r>
            <a:r>
              <a:rPr lang="en-US" sz="2000" dirty="0" smtClean="0">
                <a:latin typeface="Times New Roman" panose="02020603050405020304" pitchFamily="18" charset="0"/>
                <a:cs typeface="Times New Roman" panose="02020603050405020304" pitchFamily="18" charset="0"/>
              </a:rPr>
              <a:t>is the relative frequency of class j at node t).</a:t>
            </a:r>
          </a:p>
          <a:p>
            <a:pPr lvl="2" eaLnBrk="1" hangingPunct="1">
              <a:lnSpc>
                <a:spcPct val="90000"/>
              </a:lnSpc>
              <a:buFont typeface="Wingdings" pitchFamily="1" charset="2"/>
              <a:buNone/>
            </a:pPr>
            <a:endParaRPr lang="en-US" sz="2000" dirty="0" smtClean="0">
              <a:latin typeface="Times New Roman" panose="02020603050405020304" pitchFamily="18" charset="0"/>
              <a:cs typeface="Times New Roman" panose="02020603050405020304" pitchFamily="18" charset="0"/>
            </a:endParaRPr>
          </a:p>
        </p:txBody>
      </p:sp>
      <p:graphicFrame>
        <p:nvGraphicFramePr>
          <p:cNvPr id="7170" name="Object 4"/>
          <p:cNvGraphicFramePr>
            <a:graphicFrameLocks noChangeAspect="1"/>
          </p:cNvGraphicFramePr>
          <p:nvPr/>
        </p:nvGraphicFramePr>
        <p:xfrm>
          <a:off x="2743200" y="2082800"/>
          <a:ext cx="3352800" cy="736600"/>
        </p:xfrm>
        <a:graphic>
          <a:graphicData uri="http://schemas.openxmlformats.org/presentationml/2006/ole">
            <mc:AlternateContent xmlns:mc="http://schemas.openxmlformats.org/markup-compatibility/2006">
              <mc:Choice xmlns:v="urn:schemas-microsoft-com:vml" Requires="v">
                <p:oleObj spid="_x0000_s22555" name="Equation" r:id="rId3" imgW="1612800" imgH="355320" progId="Equation.3">
                  <p:embed/>
                </p:oleObj>
              </mc:Choice>
              <mc:Fallback>
                <p:oleObj name="Equation" r:id="rId3" imgW="1612800" imgH="355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082800"/>
                        <a:ext cx="3352800" cy="736600"/>
                      </a:xfrm>
                      <a:prstGeom prst="rect">
                        <a:avLst/>
                      </a:prstGeom>
                      <a:solidFill>
                        <a:srgbClr val="FFFFCC"/>
                      </a:solidFill>
                      <a:ln w="9525">
                        <a:solidFill>
                          <a:schemeClr val="tx1"/>
                        </a:solidFill>
                        <a:miter lim="800000"/>
                        <a:headEnd/>
                        <a:tailEnd/>
                      </a:ln>
                    </p:spPr>
                  </p:pic>
                </p:oleObj>
              </mc:Fallback>
            </mc:AlternateContent>
          </a:graphicData>
        </a:graphic>
      </p:graphicFrame>
      <p:graphicFrame>
        <p:nvGraphicFramePr>
          <p:cNvPr id="7171" name="Object 5"/>
          <p:cNvGraphicFramePr>
            <a:graphicFrameLocks noChangeAspect="1"/>
          </p:cNvGraphicFramePr>
          <p:nvPr/>
        </p:nvGraphicFramePr>
        <p:xfrm>
          <a:off x="1295400" y="5334000"/>
          <a:ext cx="1371600" cy="808038"/>
        </p:xfrm>
        <a:graphic>
          <a:graphicData uri="http://schemas.openxmlformats.org/presentationml/2006/ole">
            <mc:AlternateContent xmlns:mc="http://schemas.openxmlformats.org/markup-compatibility/2006">
              <mc:Choice xmlns:v="urn:schemas-microsoft-com:vml" Requires="v">
                <p:oleObj spid="_x0000_s22556" name="Document" r:id="rId5" imgW="3285000" imgH="1969920" progId="Word.Document.8">
                  <p:embed/>
                </p:oleObj>
              </mc:Choice>
              <mc:Fallback>
                <p:oleObj name="Document" r:id="rId5" imgW="3285000" imgH="196992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5334000"/>
                        <a:ext cx="1371600"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2" name="Object 6"/>
          <p:cNvGraphicFramePr>
            <a:graphicFrameLocks noChangeAspect="1"/>
          </p:cNvGraphicFramePr>
          <p:nvPr/>
        </p:nvGraphicFramePr>
        <p:xfrm>
          <a:off x="4572000" y="5334000"/>
          <a:ext cx="1371600" cy="808038"/>
        </p:xfrm>
        <a:graphic>
          <a:graphicData uri="http://schemas.openxmlformats.org/presentationml/2006/ole">
            <mc:AlternateContent xmlns:mc="http://schemas.openxmlformats.org/markup-compatibility/2006">
              <mc:Choice xmlns:v="urn:schemas-microsoft-com:vml" Requires="v">
                <p:oleObj spid="_x0000_s22557" name="Document" r:id="rId7" imgW="3285000" imgH="1969920" progId="Word.Document.8">
                  <p:embed/>
                </p:oleObj>
              </mc:Choice>
              <mc:Fallback>
                <p:oleObj name="Document" r:id="rId7" imgW="3285000" imgH="196992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5334000"/>
                        <a:ext cx="1371600"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3" name="Object 7"/>
          <p:cNvGraphicFramePr>
            <a:graphicFrameLocks noChangeAspect="1"/>
          </p:cNvGraphicFramePr>
          <p:nvPr/>
        </p:nvGraphicFramePr>
        <p:xfrm>
          <a:off x="6248400" y="5334000"/>
          <a:ext cx="1371600" cy="808038"/>
        </p:xfrm>
        <a:graphic>
          <a:graphicData uri="http://schemas.openxmlformats.org/presentationml/2006/ole">
            <mc:AlternateContent xmlns:mc="http://schemas.openxmlformats.org/markup-compatibility/2006">
              <mc:Choice xmlns:v="urn:schemas-microsoft-com:vml" Requires="v">
                <p:oleObj spid="_x0000_s22558" name="Document" r:id="rId9" imgW="3285000" imgH="1969920" progId="Word.Document.8">
                  <p:embed/>
                </p:oleObj>
              </mc:Choice>
              <mc:Fallback>
                <p:oleObj name="Document" r:id="rId9" imgW="3285000" imgH="196992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8400" y="5334000"/>
                        <a:ext cx="1371600"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4" name="Object 8"/>
          <p:cNvGraphicFramePr>
            <a:graphicFrameLocks noChangeAspect="1"/>
          </p:cNvGraphicFramePr>
          <p:nvPr/>
        </p:nvGraphicFramePr>
        <p:xfrm>
          <a:off x="2971800" y="5334000"/>
          <a:ext cx="1371600" cy="808038"/>
        </p:xfrm>
        <a:graphic>
          <a:graphicData uri="http://schemas.openxmlformats.org/presentationml/2006/ole">
            <mc:AlternateContent xmlns:mc="http://schemas.openxmlformats.org/markup-compatibility/2006">
              <mc:Choice xmlns:v="urn:schemas-microsoft-com:vml" Requires="v">
                <p:oleObj spid="_x0000_s22559" name="Document" r:id="rId11" imgW="3285000" imgH="1969920" progId="Word.Document.8">
                  <p:embed/>
                </p:oleObj>
              </mc:Choice>
              <mc:Fallback>
                <p:oleObj name="Document" r:id="rId11" imgW="3285000" imgH="1969920" progId="Word.Document.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800" y="5334000"/>
                        <a:ext cx="1371600"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4EB28266-621B-4E6C-B384-6411A00B5EC3}" type="slidenum">
              <a:rPr lang="en-US" smtClean="0"/>
              <a:pPr/>
              <a:t>29</a:t>
            </a:fld>
            <a:endParaRPr lang="en-US"/>
          </a:p>
        </p:txBody>
      </p:sp>
    </p:spTree>
    <p:extLst>
      <p:ext uri="{BB962C8B-B14F-4D97-AF65-F5344CB8AC3E}">
        <p14:creationId xmlns:p14="http://schemas.microsoft.com/office/powerpoint/2010/main" val="7705125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Rectangle 2"/>
          <p:cNvSpPr>
            <a:spLocks noGrp="1" noChangeArrowheads="1"/>
          </p:cNvSpPr>
          <p:nvPr>
            <p:ph type="title"/>
          </p:nvPr>
        </p:nvSpPr>
        <p:spPr/>
        <p:txBody>
          <a:bodyPr>
            <a:normAutofit/>
          </a:bodyPr>
          <a:lstStyle/>
          <a:p>
            <a:pPr eaLnBrk="1" hangingPunct="1"/>
            <a:r>
              <a:rPr lang="en-US" sz="3600" dirty="0" smtClean="0">
                <a:latin typeface="Times New Roman" panose="02020603050405020304" pitchFamily="18" charset="0"/>
                <a:cs typeface="Times New Roman" panose="02020603050405020304" pitchFamily="18" charset="0"/>
              </a:rPr>
              <a:t>Examples for computing GINI</a:t>
            </a:r>
          </a:p>
        </p:txBody>
      </p:sp>
      <p:graphicFrame>
        <p:nvGraphicFramePr>
          <p:cNvPr id="8194" name="Object 3"/>
          <p:cNvGraphicFramePr>
            <a:graphicFrameLocks noChangeAspect="1"/>
          </p:cNvGraphicFramePr>
          <p:nvPr/>
        </p:nvGraphicFramePr>
        <p:xfrm>
          <a:off x="457200" y="2339975"/>
          <a:ext cx="2362200" cy="936625"/>
        </p:xfrm>
        <a:graphic>
          <a:graphicData uri="http://schemas.openxmlformats.org/presentationml/2006/ole">
            <mc:AlternateContent xmlns:mc="http://schemas.openxmlformats.org/markup-compatibility/2006">
              <mc:Choice xmlns:v="urn:schemas-microsoft-com:vml" Requires="v">
                <p:oleObj spid="_x0000_s23574" name="Document" r:id="rId3" imgW="3239280" imgH="1357560" progId="Word.Document.8">
                  <p:embed/>
                </p:oleObj>
              </mc:Choice>
              <mc:Fallback>
                <p:oleObj name="Document" r:id="rId3" imgW="3239280" imgH="135756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339975"/>
                        <a:ext cx="2362200"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4"/>
          <p:cNvGraphicFramePr>
            <a:graphicFrameLocks noChangeAspect="1"/>
          </p:cNvGraphicFramePr>
          <p:nvPr/>
        </p:nvGraphicFramePr>
        <p:xfrm>
          <a:off x="533400" y="5181600"/>
          <a:ext cx="2286000" cy="938213"/>
        </p:xfrm>
        <a:graphic>
          <a:graphicData uri="http://schemas.openxmlformats.org/presentationml/2006/ole">
            <mc:AlternateContent xmlns:mc="http://schemas.openxmlformats.org/markup-compatibility/2006">
              <mc:Choice xmlns:v="urn:schemas-microsoft-com:vml" Requires="v">
                <p:oleObj spid="_x0000_s23575" name="Document" r:id="rId5" imgW="3239280" imgH="1381680" progId="Word.Document.8">
                  <p:embed/>
                </p:oleObj>
              </mc:Choice>
              <mc:Fallback>
                <p:oleObj name="Document" r:id="rId5" imgW="3239280" imgH="138168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5181600"/>
                        <a:ext cx="2286000" cy="938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6" name="Object 5"/>
          <p:cNvGraphicFramePr>
            <a:graphicFrameLocks noChangeAspect="1"/>
          </p:cNvGraphicFramePr>
          <p:nvPr/>
        </p:nvGraphicFramePr>
        <p:xfrm>
          <a:off x="533400" y="3817938"/>
          <a:ext cx="2286000" cy="906462"/>
        </p:xfrm>
        <a:graphic>
          <a:graphicData uri="http://schemas.openxmlformats.org/presentationml/2006/ole">
            <mc:AlternateContent xmlns:mc="http://schemas.openxmlformats.org/markup-compatibility/2006">
              <mc:Choice xmlns:v="urn:schemas-microsoft-com:vml" Requires="v">
                <p:oleObj spid="_x0000_s23576" name="Document" r:id="rId7" imgW="3239280" imgH="1357560" progId="Word.Document.8">
                  <p:embed/>
                </p:oleObj>
              </mc:Choice>
              <mc:Fallback>
                <p:oleObj name="Document" r:id="rId7" imgW="3239280" imgH="135756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3817938"/>
                        <a:ext cx="2286000" cy="906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9" name="Text Box 6"/>
          <p:cNvSpPr txBox="1">
            <a:spLocks noChangeArrowheads="1"/>
          </p:cNvSpPr>
          <p:nvPr/>
        </p:nvSpPr>
        <p:spPr bwMode="auto">
          <a:xfrm>
            <a:off x="3048000" y="2339975"/>
            <a:ext cx="5181600" cy="854075"/>
          </a:xfrm>
          <a:prstGeom prst="rect">
            <a:avLst/>
          </a:prstGeom>
          <a:noFill/>
          <a:ln w="12700">
            <a:noFill/>
            <a:miter lim="800000"/>
            <a:headEnd/>
            <a:tailEnd/>
          </a:ln>
        </p:spPr>
        <p:txBody>
          <a:bodyPr>
            <a:spAutoFit/>
          </a:bodyPr>
          <a:lstStyle/>
          <a:p>
            <a:pPr>
              <a:spcBef>
                <a:spcPct val="50000"/>
              </a:spcBef>
            </a:pPr>
            <a:r>
              <a:rPr lang="en-US" sz="2000" b="1">
                <a:solidFill>
                  <a:schemeClr val="tx1"/>
                </a:solidFill>
              </a:rPr>
              <a:t>P(C1) = 0/6 = 0     P(C2) = 6/6 = 1</a:t>
            </a:r>
          </a:p>
          <a:p>
            <a:pPr>
              <a:spcBef>
                <a:spcPct val="50000"/>
              </a:spcBef>
            </a:pPr>
            <a:r>
              <a:rPr lang="en-US" sz="2000" b="1">
                <a:solidFill>
                  <a:schemeClr val="tx1"/>
                </a:solidFill>
              </a:rPr>
              <a:t>Gini = 1 – P(C1)</a:t>
            </a:r>
            <a:r>
              <a:rPr lang="en-US" sz="2000" b="1" baseline="30000">
                <a:solidFill>
                  <a:schemeClr val="tx1"/>
                </a:solidFill>
              </a:rPr>
              <a:t>2 </a:t>
            </a:r>
            <a:r>
              <a:rPr lang="en-US" sz="2000" b="1">
                <a:solidFill>
                  <a:schemeClr val="tx1"/>
                </a:solidFill>
              </a:rPr>
              <a:t>– P(C2)</a:t>
            </a:r>
            <a:r>
              <a:rPr lang="en-US" sz="2000" b="1" baseline="30000">
                <a:solidFill>
                  <a:schemeClr val="tx1"/>
                </a:solidFill>
              </a:rPr>
              <a:t>2</a:t>
            </a:r>
            <a:r>
              <a:rPr lang="en-US" sz="2000" b="1">
                <a:solidFill>
                  <a:schemeClr val="tx1"/>
                </a:solidFill>
              </a:rPr>
              <a:t> = 1 – 0 – 1 = 0 </a:t>
            </a:r>
          </a:p>
        </p:txBody>
      </p:sp>
      <p:graphicFrame>
        <p:nvGraphicFramePr>
          <p:cNvPr id="8197" name="Object 7"/>
          <p:cNvGraphicFramePr>
            <a:graphicFrameLocks noChangeAspect="1"/>
          </p:cNvGraphicFramePr>
          <p:nvPr/>
        </p:nvGraphicFramePr>
        <p:xfrm>
          <a:off x="2590800" y="1549400"/>
          <a:ext cx="3352800" cy="736600"/>
        </p:xfrm>
        <a:graphic>
          <a:graphicData uri="http://schemas.openxmlformats.org/presentationml/2006/ole">
            <mc:AlternateContent xmlns:mc="http://schemas.openxmlformats.org/markup-compatibility/2006">
              <mc:Choice xmlns:v="urn:schemas-microsoft-com:vml" Requires="v">
                <p:oleObj spid="_x0000_s23577" name="Equation" r:id="rId9" imgW="1612800" imgH="355320" progId="Equation.3">
                  <p:embed/>
                </p:oleObj>
              </mc:Choice>
              <mc:Fallback>
                <p:oleObj name="Equation" r:id="rId9" imgW="1612800" imgH="35532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1549400"/>
                        <a:ext cx="3352800" cy="736600"/>
                      </a:xfrm>
                      <a:prstGeom prst="rect">
                        <a:avLst/>
                      </a:prstGeom>
                      <a:solidFill>
                        <a:srgbClr val="FFFFCC"/>
                      </a:solidFill>
                      <a:ln w="9525">
                        <a:solidFill>
                          <a:schemeClr val="tx1"/>
                        </a:solidFill>
                        <a:miter lim="800000"/>
                        <a:headEnd/>
                        <a:tailEnd/>
                      </a:ln>
                    </p:spPr>
                  </p:pic>
                </p:oleObj>
              </mc:Fallback>
            </mc:AlternateContent>
          </a:graphicData>
        </a:graphic>
      </p:graphicFrame>
      <p:sp>
        <p:nvSpPr>
          <p:cNvPr id="8200" name="Text Box 8"/>
          <p:cNvSpPr txBox="1">
            <a:spLocks noChangeArrowheads="1"/>
          </p:cNvSpPr>
          <p:nvPr/>
        </p:nvSpPr>
        <p:spPr bwMode="auto">
          <a:xfrm>
            <a:off x="3124200" y="3817938"/>
            <a:ext cx="5181600" cy="854075"/>
          </a:xfrm>
          <a:prstGeom prst="rect">
            <a:avLst/>
          </a:prstGeom>
          <a:noFill/>
          <a:ln w="12700">
            <a:noFill/>
            <a:miter lim="800000"/>
            <a:headEnd/>
            <a:tailEnd/>
          </a:ln>
        </p:spPr>
        <p:txBody>
          <a:bodyPr>
            <a:spAutoFit/>
          </a:bodyPr>
          <a:lstStyle/>
          <a:p>
            <a:pPr>
              <a:spcBef>
                <a:spcPct val="50000"/>
              </a:spcBef>
            </a:pPr>
            <a:r>
              <a:rPr lang="en-US" sz="2000" b="1">
                <a:solidFill>
                  <a:schemeClr val="tx1"/>
                </a:solidFill>
              </a:rPr>
              <a:t>P(C1) = 1/6          P(C2) = 5/6</a:t>
            </a:r>
          </a:p>
          <a:p>
            <a:pPr>
              <a:spcBef>
                <a:spcPct val="50000"/>
              </a:spcBef>
            </a:pPr>
            <a:r>
              <a:rPr lang="en-US" sz="2000" b="1">
                <a:solidFill>
                  <a:schemeClr val="tx1"/>
                </a:solidFill>
              </a:rPr>
              <a:t>Gini = 1 – (1/6)</a:t>
            </a:r>
            <a:r>
              <a:rPr lang="en-US" sz="2000" b="1" baseline="30000">
                <a:solidFill>
                  <a:schemeClr val="tx1"/>
                </a:solidFill>
              </a:rPr>
              <a:t>2 </a:t>
            </a:r>
            <a:r>
              <a:rPr lang="en-US" sz="2000" b="1">
                <a:solidFill>
                  <a:schemeClr val="tx1"/>
                </a:solidFill>
              </a:rPr>
              <a:t>– (5/6)</a:t>
            </a:r>
            <a:r>
              <a:rPr lang="en-US" sz="2000" b="1" baseline="30000">
                <a:solidFill>
                  <a:schemeClr val="tx1"/>
                </a:solidFill>
              </a:rPr>
              <a:t>2</a:t>
            </a:r>
            <a:r>
              <a:rPr lang="en-US" sz="2000" b="1">
                <a:solidFill>
                  <a:schemeClr val="tx1"/>
                </a:solidFill>
              </a:rPr>
              <a:t> = 0.278</a:t>
            </a:r>
          </a:p>
        </p:txBody>
      </p:sp>
      <p:sp>
        <p:nvSpPr>
          <p:cNvPr id="8201" name="Text Box 9"/>
          <p:cNvSpPr txBox="1">
            <a:spLocks noChangeArrowheads="1"/>
          </p:cNvSpPr>
          <p:nvPr/>
        </p:nvSpPr>
        <p:spPr bwMode="auto">
          <a:xfrm>
            <a:off x="3124200" y="5105400"/>
            <a:ext cx="5181600" cy="854075"/>
          </a:xfrm>
          <a:prstGeom prst="rect">
            <a:avLst/>
          </a:prstGeom>
          <a:noFill/>
          <a:ln w="12700">
            <a:noFill/>
            <a:miter lim="800000"/>
            <a:headEnd/>
            <a:tailEnd/>
          </a:ln>
        </p:spPr>
        <p:txBody>
          <a:bodyPr>
            <a:spAutoFit/>
          </a:bodyPr>
          <a:lstStyle/>
          <a:p>
            <a:pPr>
              <a:spcBef>
                <a:spcPct val="50000"/>
              </a:spcBef>
            </a:pPr>
            <a:r>
              <a:rPr lang="en-US" sz="2000" b="1">
                <a:solidFill>
                  <a:schemeClr val="tx1"/>
                </a:solidFill>
              </a:rPr>
              <a:t>P(C1) = 2/6          P(C2) = 4/6</a:t>
            </a:r>
          </a:p>
          <a:p>
            <a:pPr>
              <a:spcBef>
                <a:spcPct val="50000"/>
              </a:spcBef>
            </a:pPr>
            <a:r>
              <a:rPr lang="en-US" sz="2000" b="1">
                <a:solidFill>
                  <a:schemeClr val="tx1"/>
                </a:solidFill>
              </a:rPr>
              <a:t>Gini = 1 – (2/6)</a:t>
            </a:r>
            <a:r>
              <a:rPr lang="en-US" sz="2000" b="1" baseline="30000">
                <a:solidFill>
                  <a:schemeClr val="tx1"/>
                </a:solidFill>
              </a:rPr>
              <a:t>2 </a:t>
            </a:r>
            <a:r>
              <a:rPr lang="en-US" sz="2000" b="1">
                <a:solidFill>
                  <a:schemeClr val="tx1"/>
                </a:solidFill>
              </a:rPr>
              <a:t>– (4/6)</a:t>
            </a:r>
            <a:r>
              <a:rPr lang="en-US" sz="2000" b="1" baseline="30000">
                <a:solidFill>
                  <a:schemeClr val="tx1"/>
                </a:solidFill>
              </a:rPr>
              <a:t>2</a:t>
            </a:r>
            <a:r>
              <a:rPr lang="en-US" sz="2000" b="1">
                <a:solidFill>
                  <a:schemeClr val="tx1"/>
                </a:solidFill>
              </a:rPr>
              <a:t> = 0.444</a:t>
            </a:r>
          </a:p>
        </p:txBody>
      </p:sp>
      <p:sp>
        <p:nvSpPr>
          <p:cNvPr id="2" name="Slide Number Placeholder 1"/>
          <p:cNvSpPr>
            <a:spLocks noGrp="1"/>
          </p:cNvSpPr>
          <p:nvPr>
            <p:ph type="sldNum" sz="quarter" idx="12"/>
          </p:nvPr>
        </p:nvSpPr>
        <p:spPr/>
        <p:txBody>
          <a:bodyPr/>
          <a:lstStyle/>
          <a:p>
            <a:fld id="{4EB28266-621B-4E6C-B384-6411A00B5EC3}" type="slidenum">
              <a:rPr lang="en-US" smtClean="0"/>
              <a:pPr/>
              <a:t>30</a:t>
            </a:fld>
            <a:endParaRPr lang="en-US"/>
          </a:p>
        </p:txBody>
      </p:sp>
    </p:spTree>
    <p:extLst>
      <p:ext uri="{BB962C8B-B14F-4D97-AF65-F5344CB8AC3E}">
        <p14:creationId xmlns:p14="http://schemas.microsoft.com/office/powerpoint/2010/main" val="211381018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en-US" dirty="0" smtClean="0"/>
              <a:t>Splitting Based on GINI</a:t>
            </a:r>
          </a:p>
        </p:txBody>
      </p:sp>
      <p:sp>
        <p:nvSpPr>
          <p:cNvPr id="9220" name="Rectangle 3"/>
          <p:cNvSpPr>
            <a:spLocks noGrp="1" noChangeArrowheads="1"/>
          </p:cNvSpPr>
          <p:nvPr>
            <p:ph type="body" sz="half" idx="1"/>
          </p:nvPr>
        </p:nvSpPr>
        <p:spPr>
          <a:xfrm>
            <a:off x="381000" y="1504950"/>
            <a:ext cx="8382000" cy="4438650"/>
          </a:xfrm>
        </p:spPr>
        <p:txBody>
          <a:bodyPr/>
          <a:lstStyle/>
          <a:p>
            <a:pPr marL="0" indent="0" eaLnBrk="1" hangingPunct="1"/>
            <a:r>
              <a:rPr lang="en-US" sz="2400" dirty="0" smtClean="0">
                <a:latin typeface="Times New Roman" panose="02020603050405020304" pitchFamily="18" charset="0"/>
                <a:cs typeface="Times New Roman" panose="02020603050405020304" pitchFamily="18" charset="0"/>
              </a:rPr>
              <a:t>Used in </a:t>
            </a:r>
            <a:r>
              <a:rPr lang="en-US" sz="2400" b="1" dirty="0" smtClean="0">
                <a:solidFill>
                  <a:srgbClr val="0000FF"/>
                </a:solidFill>
                <a:latin typeface="Times New Roman" panose="02020603050405020304" pitchFamily="18" charset="0"/>
                <a:cs typeface="Times New Roman" panose="02020603050405020304" pitchFamily="18" charset="0"/>
              </a:rPr>
              <a:t>CART</a:t>
            </a:r>
            <a:r>
              <a:rPr lang="en-US" sz="2400" dirty="0" smtClean="0">
                <a:latin typeface="Times New Roman" panose="02020603050405020304" pitchFamily="18" charset="0"/>
                <a:cs typeface="Times New Roman" panose="02020603050405020304" pitchFamily="18" charset="0"/>
              </a:rPr>
              <a:t>, SLIQ, SPRINT.</a:t>
            </a:r>
          </a:p>
          <a:p>
            <a:pPr marL="0" indent="0" eaLnBrk="1" hangingPunct="1"/>
            <a:r>
              <a:rPr lang="en-US" sz="2400" dirty="0" smtClean="0">
                <a:latin typeface="Times New Roman" panose="02020603050405020304" pitchFamily="18" charset="0"/>
                <a:cs typeface="Times New Roman" panose="02020603050405020304" pitchFamily="18" charset="0"/>
              </a:rPr>
              <a:t>When a node p is split into k partitions (children), the quality of split is computed as,</a:t>
            </a:r>
          </a:p>
          <a:p>
            <a:pPr marL="0" indent="0" eaLnBrk="1" hangingPunct="1"/>
            <a:endParaRPr lang="en-US" sz="2400" dirty="0" smtClean="0"/>
          </a:p>
          <a:p>
            <a:pPr marL="0" indent="0" eaLnBrk="1" hangingPunct="1"/>
            <a:endParaRPr lang="en-US" sz="2400" dirty="0" smtClean="0"/>
          </a:p>
          <a:p>
            <a:pPr marL="0" indent="0" eaLnBrk="1" hangingPunct="1">
              <a:buFont typeface="Wingdings" pitchFamily="1" charset="2"/>
              <a:buNone/>
            </a:pPr>
            <a:r>
              <a:rPr lang="en-US" sz="2400" dirty="0" smtClean="0"/>
              <a:t>	</a:t>
            </a:r>
          </a:p>
          <a:p>
            <a:pPr marL="0" indent="0" eaLnBrk="1" hangingPunct="1">
              <a:buFont typeface="Wingdings" pitchFamily="1" charset="2"/>
              <a:buNone/>
            </a:pPr>
            <a:endParaRPr lang="en-US" sz="2400" dirty="0" smtClean="0"/>
          </a:p>
          <a:p>
            <a:pPr marL="0" indent="0" eaLnBrk="1" hangingPunct="1">
              <a:buFont typeface="Wingdings" pitchFamily="1" charset="2"/>
              <a:buNone/>
            </a:pPr>
            <a:r>
              <a:rPr lang="en-US" sz="2400" dirty="0" smtClean="0"/>
              <a:t>	</a:t>
            </a:r>
            <a:r>
              <a:rPr lang="en-US" sz="2400" dirty="0" smtClean="0">
                <a:latin typeface="Times New Roman" panose="02020603050405020304" pitchFamily="18" charset="0"/>
                <a:cs typeface="Times New Roman" panose="02020603050405020304" pitchFamily="18" charset="0"/>
              </a:rPr>
              <a:t>where,	</a:t>
            </a:r>
            <a:r>
              <a:rPr lang="en-US" sz="2400" dirty="0" err="1" smtClean="0">
                <a:latin typeface="Times New Roman" panose="02020603050405020304" pitchFamily="18" charset="0"/>
                <a:cs typeface="Times New Roman" panose="02020603050405020304" pitchFamily="18" charset="0"/>
              </a:rPr>
              <a:t>n</a:t>
            </a:r>
            <a:r>
              <a:rPr lang="en-US" sz="2400" baseline="-250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number of records at child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a:t>
            </a:r>
          </a:p>
          <a:p>
            <a:pPr marL="0" indent="0" eaLnBrk="1" hangingPunct="1">
              <a:buFont typeface="Wingdings" pitchFamily="1" charset="2"/>
              <a:buNone/>
            </a:pPr>
            <a:r>
              <a:rPr lang="en-US" sz="2400" dirty="0" smtClean="0">
                <a:latin typeface="Times New Roman" panose="02020603050405020304" pitchFamily="18" charset="0"/>
                <a:cs typeface="Times New Roman" panose="02020603050405020304" pitchFamily="18" charset="0"/>
              </a:rPr>
              <a:t>    			n</a:t>
            </a:r>
            <a:r>
              <a:rPr lang="en-US" sz="2400" baseline="-2500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 number of records at node p.</a:t>
            </a:r>
            <a:endParaRPr lang="en-US" dirty="0" smtClean="0">
              <a:latin typeface="Times New Roman" panose="02020603050405020304" pitchFamily="18" charset="0"/>
              <a:cs typeface="Times New Roman" panose="02020603050405020304" pitchFamily="18" charset="0"/>
            </a:endParaRPr>
          </a:p>
        </p:txBody>
      </p:sp>
      <p:graphicFrame>
        <p:nvGraphicFramePr>
          <p:cNvPr id="9218" name="Object 4"/>
          <p:cNvGraphicFramePr>
            <a:graphicFrameLocks noChangeAspect="1"/>
          </p:cNvGraphicFramePr>
          <p:nvPr/>
        </p:nvGraphicFramePr>
        <p:xfrm>
          <a:off x="2667000" y="2952750"/>
          <a:ext cx="3886200" cy="1104900"/>
        </p:xfrm>
        <a:graphic>
          <a:graphicData uri="http://schemas.openxmlformats.org/presentationml/2006/ole">
            <mc:AlternateContent xmlns:mc="http://schemas.openxmlformats.org/markup-compatibility/2006">
              <mc:Choice xmlns:v="urn:schemas-microsoft-com:vml" Requires="v">
                <p:oleObj spid="_x0000_s24583" name="Equation" r:id="rId3" imgW="1511280" imgH="431640" progId="Equation.3">
                  <p:embed/>
                </p:oleObj>
              </mc:Choice>
              <mc:Fallback>
                <p:oleObj name="Equation" r:id="rId3" imgW="151128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2952750"/>
                        <a:ext cx="3886200" cy="1104900"/>
                      </a:xfrm>
                      <a:prstGeom prst="rect">
                        <a:avLst/>
                      </a:prstGeom>
                      <a:solidFill>
                        <a:srgbClr val="FFFFCC"/>
                      </a:solidFill>
                      <a:ln w="9525">
                        <a:solidFill>
                          <a:schemeClr val="tx1"/>
                        </a:solidFill>
                        <a:miter lim="800000"/>
                        <a:headEnd/>
                        <a:tailEnd/>
                      </a:ln>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10A740CD-B69B-40DD-B352-CCA53735B5E5}" type="slidenum">
              <a:rPr lang="en-US" smtClean="0"/>
              <a:pPr>
                <a:defRPr/>
              </a:pPr>
              <a:t>31</a:t>
            </a:fld>
            <a:endParaRPr lang="en-US"/>
          </a:p>
        </p:txBody>
      </p:sp>
    </p:spTree>
    <p:extLst>
      <p:ext uri="{BB962C8B-B14F-4D97-AF65-F5344CB8AC3E}">
        <p14:creationId xmlns:p14="http://schemas.microsoft.com/office/powerpoint/2010/main" val="42677490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US" sz="3600" dirty="0" smtClean="0">
                <a:latin typeface="Times New Roman" panose="02020603050405020304" pitchFamily="18" charset="0"/>
                <a:cs typeface="Times New Roman" panose="02020603050405020304" pitchFamily="18" charset="0"/>
              </a:rPr>
              <a:t>Example Dataset</a:t>
            </a:r>
            <a:endParaRPr lang="en-IN"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32</a:t>
            </a:fld>
            <a:endParaRPr lang="en-US"/>
          </a:p>
        </p:txBody>
      </p:sp>
      <p:pic>
        <p:nvPicPr>
          <p:cNvPr id="2560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980728"/>
            <a:ext cx="8568951" cy="5145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520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3"/>
          <p:cNvPicPr preferRelativeResize="0"/>
          <p:nvPr/>
        </p:nvPicPr>
        <p:blipFill rotWithShape="1">
          <a:blip r:embed="rId3">
            <a:alphaModFix/>
          </a:blip>
          <a:srcRect/>
          <a:stretch/>
        </p:blipFill>
        <p:spPr>
          <a:xfrm>
            <a:off x="819150" y="33337"/>
            <a:ext cx="7505700" cy="6791325"/>
          </a:xfrm>
          <a:prstGeom prst="rect">
            <a:avLst/>
          </a:prstGeom>
          <a:noFill/>
          <a:ln>
            <a:noFill/>
          </a:ln>
        </p:spPr>
      </p:pic>
    </p:spTree>
    <p:extLst>
      <p:ext uri="{BB962C8B-B14F-4D97-AF65-F5344CB8AC3E}">
        <p14:creationId xmlns:p14="http://schemas.microsoft.com/office/powerpoint/2010/main" val="34883417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4"/>
          <p:cNvPicPr preferRelativeResize="0"/>
          <p:nvPr/>
        </p:nvPicPr>
        <p:blipFill rotWithShape="1">
          <a:blip r:embed="rId3">
            <a:alphaModFix/>
          </a:blip>
          <a:srcRect/>
          <a:stretch/>
        </p:blipFill>
        <p:spPr>
          <a:xfrm>
            <a:off x="1588770" y="0"/>
            <a:ext cx="5966460" cy="6858000"/>
          </a:xfrm>
          <a:prstGeom prst="rect">
            <a:avLst/>
          </a:prstGeom>
          <a:noFill/>
          <a:ln>
            <a:noFill/>
          </a:ln>
        </p:spPr>
      </p:pic>
    </p:spTree>
    <p:extLst>
      <p:ext uri="{BB962C8B-B14F-4D97-AF65-F5344CB8AC3E}">
        <p14:creationId xmlns:p14="http://schemas.microsoft.com/office/powerpoint/2010/main" val="34481356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5"/>
          <p:cNvPicPr preferRelativeResize="0"/>
          <p:nvPr/>
        </p:nvPicPr>
        <p:blipFill rotWithShape="1">
          <a:blip r:embed="rId3">
            <a:alphaModFix/>
          </a:blip>
          <a:srcRect/>
          <a:stretch/>
        </p:blipFill>
        <p:spPr>
          <a:xfrm>
            <a:off x="304800" y="685800"/>
            <a:ext cx="8267003" cy="5334000"/>
          </a:xfrm>
          <a:prstGeom prst="rect">
            <a:avLst/>
          </a:prstGeom>
          <a:noFill/>
          <a:ln>
            <a:noFill/>
          </a:ln>
        </p:spPr>
      </p:pic>
    </p:spTree>
    <p:extLst>
      <p:ext uri="{BB962C8B-B14F-4D97-AF65-F5344CB8AC3E}">
        <p14:creationId xmlns:p14="http://schemas.microsoft.com/office/powerpoint/2010/main" val="96259990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6"/>
          <p:cNvPicPr preferRelativeResize="0"/>
          <p:nvPr/>
        </p:nvPicPr>
        <p:blipFill rotWithShape="1">
          <a:blip r:embed="rId3">
            <a:alphaModFix/>
          </a:blip>
          <a:srcRect/>
          <a:stretch/>
        </p:blipFill>
        <p:spPr>
          <a:xfrm>
            <a:off x="1828800" y="0"/>
            <a:ext cx="6248400" cy="6858000"/>
          </a:xfrm>
          <a:prstGeom prst="rect">
            <a:avLst/>
          </a:prstGeom>
          <a:noFill/>
          <a:ln>
            <a:noFill/>
          </a:ln>
        </p:spPr>
      </p:pic>
    </p:spTree>
    <p:extLst>
      <p:ext uri="{BB962C8B-B14F-4D97-AF65-F5344CB8AC3E}">
        <p14:creationId xmlns:p14="http://schemas.microsoft.com/office/powerpoint/2010/main" val="5609171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7"/>
          <p:cNvPicPr preferRelativeResize="0"/>
          <p:nvPr/>
        </p:nvPicPr>
        <p:blipFill rotWithShape="1">
          <a:blip r:embed="rId3">
            <a:alphaModFix/>
          </a:blip>
          <a:srcRect t="5900" r="1503"/>
          <a:stretch/>
        </p:blipFill>
        <p:spPr>
          <a:xfrm>
            <a:off x="1331640" y="116632"/>
            <a:ext cx="5766725" cy="6408712"/>
          </a:xfrm>
          <a:prstGeom prst="rect">
            <a:avLst/>
          </a:prstGeom>
          <a:noFill/>
          <a:ln>
            <a:noFill/>
          </a:ln>
        </p:spPr>
      </p:pic>
    </p:spTree>
    <p:extLst>
      <p:ext uri="{BB962C8B-B14F-4D97-AF65-F5344CB8AC3E}">
        <p14:creationId xmlns:p14="http://schemas.microsoft.com/office/powerpoint/2010/main" val="32874179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8"/>
          <p:cNvPicPr preferRelativeResize="0"/>
          <p:nvPr/>
        </p:nvPicPr>
        <p:blipFill rotWithShape="1">
          <a:blip r:embed="rId3">
            <a:alphaModFix/>
          </a:blip>
          <a:srcRect/>
          <a:stretch/>
        </p:blipFill>
        <p:spPr>
          <a:xfrm>
            <a:off x="1973627" y="0"/>
            <a:ext cx="5196745" cy="6858000"/>
          </a:xfrm>
          <a:prstGeom prst="rect">
            <a:avLst/>
          </a:prstGeom>
          <a:noFill/>
          <a:ln>
            <a:noFill/>
          </a:ln>
        </p:spPr>
      </p:pic>
    </p:spTree>
    <p:extLst>
      <p:ext uri="{BB962C8B-B14F-4D97-AF65-F5344CB8AC3E}">
        <p14:creationId xmlns:p14="http://schemas.microsoft.com/office/powerpoint/2010/main" val="397826397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9"/>
          <p:cNvPicPr preferRelativeResize="0"/>
          <p:nvPr/>
        </p:nvPicPr>
        <p:blipFill rotWithShape="1">
          <a:blip r:embed="rId3">
            <a:alphaModFix/>
          </a:blip>
          <a:srcRect/>
          <a:stretch/>
        </p:blipFill>
        <p:spPr>
          <a:xfrm>
            <a:off x="1474991" y="0"/>
            <a:ext cx="6194017" cy="6858000"/>
          </a:xfrm>
          <a:prstGeom prst="rect">
            <a:avLst/>
          </a:prstGeom>
          <a:noFill/>
          <a:ln>
            <a:noFill/>
          </a:ln>
        </p:spPr>
      </p:pic>
    </p:spTree>
    <p:extLst>
      <p:ext uri="{BB962C8B-B14F-4D97-AF65-F5344CB8AC3E}">
        <p14:creationId xmlns:p14="http://schemas.microsoft.com/office/powerpoint/2010/main" val="32461575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10"/>
          <p:cNvPicPr preferRelativeResize="0"/>
          <p:nvPr/>
        </p:nvPicPr>
        <p:blipFill rotWithShape="1">
          <a:blip r:embed="rId3">
            <a:alphaModFix/>
          </a:blip>
          <a:srcRect t="6951" r="628"/>
          <a:stretch/>
        </p:blipFill>
        <p:spPr>
          <a:xfrm>
            <a:off x="1547664" y="188640"/>
            <a:ext cx="6120680" cy="6336704"/>
          </a:xfrm>
          <a:prstGeom prst="rect">
            <a:avLst/>
          </a:prstGeom>
          <a:noFill/>
          <a:ln>
            <a:noFill/>
          </a:ln>
        </p:spPr>
      </p:pic>
    </p:spTree>
    <p:extLst>
      <p:ext uri="{BB962C8B-B14F-4D97-AF65-F5344CB8AC3E}">
        <p14:creationId xmlns:p14="http://schemas.microsoft.com/office/powerpoint/2010/main" val="10800232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11"/>
          <p:cNvPicPr preferRelativeResize="0"/>
          <p:nvPr/>
        </p:nvPicPr>
        <p:blipFill rotWithShape="1">
          <a:blip r:embed="rId3">
            <a:alphaModFix/>
          </a:blip>
          <a:srcRect/>
          <a:stretch/>
        </p:blipFill>
        <p:spPr>
          <a:xfrm>
            <a:off x="1321266" y="483686"/>
            <a:ext cx="6134100" cy="3771900"/>
          </a:xfrm>
          <a:prstGeom prst="rect">
            <a:avLst/>
          </a:prstGeom>
          <a:noFill/>
          <a:ln>
            <a:noFill/>
          </a:ln>
        </p:spPr>
      </p:pic>
    </p:spTree>
    <p:extLst>
      <p:ext uri="{BB962C8B-B14F-4D97-AF65-F5344CB8AC3E}">
        <p14:creationId xmlns:p14="http://schemas.microsoft.com/office/powerpoint/2010/main" val="19866198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oogle Shape;136;p11"/>
          <p:cNvPicPr preferRelativeResize="0"/>
          <p:nvPr/>
        </p:nvPicPr>
        <p:blipFill rotWithShape="1">
          <a:blip r:embed="rId2">
            <a:alphaModFix/>
          </a:blip>
          <a:srcRect/>
          <a:stretch/>
        </p:blipFill>
        <p:spPr>
          <a:xfrm>
            <a:off x="1340665" y="1098960"/>
            <a:ext cx="6091981" cy="5285062"/>
          </a:xfrm>
          <a:prstGeom prst="rect">
            <a:avLst/>
          </a:prstGeom>
          <a:noFill/>
          <a:ln>
            <a:noFill/>
          </a:ln>
        </p:spPr>
      </p:pic>
      <p:pic>
        <p:nvPicPr>
          <p:cNvPr id="8" name="Google Shape;135;p11"/>
          <p:cNvPicPr preferRelativeResize="0"/>
          <p:nvPr/>
        </p:nvPicPr>
        <p:blipFill rotWithShape="1">
          <a:blip r:embed="rId3">
            <a:alphaModFix/>
          </a:blip>
          <a:srcRect l="684" t="70281" r="97" b="3621"/>
          <a:stretch/>
        </p:blipFill>
        <p:spPr>
          <a:xfrm>
            <a:off x="1468074" y="243281"/>
            <a:ext cx="5687736" cy="771788"/>
          </a:xfrm>
          <a:prstGeom prst="rect">
            <a:avLst/>
          </a:prstGeom>
          <a:noFill/>
          <a:ln>
            <a:noFill/>
          </a:ln>
        </p:spPr>
      </p:pic>
    </p:spTree>
    <p:extLst>
      <p:ext uri="{BB962C8B-B14F-4D97-AF65-F5344CB8AC3E}">
        <p14:creationId xmlns:p14="http://schemas.microsoft.com/office/powerpoint/2010/main" val="42507544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702915"/>
          </a:xfrm>
        </p:spPr>
        <p:txBody>
          <a:bodyPr>
            <a:normAutofit/>
          </a:bodyPr>
          <a:lstStyle/>
          <a:p>
            <a:r>
              <a:rPr lang="en-IN" sz="3600" dirty="0" smtClean="0">
                <a:latin typeface="Times New Roman" panose="02020603050405020304" pitchFamily="18" charset="0"/>
                <a:cs typeface="Times New Roman" panose="02020603050405020304" pitchFamily="18" charset="0"/>
              </a:rPr>
              <a:t>Decision tree for the Play Tennis dataset </a:t>
            </a:r>
            <a:endParaRPr lang="en-IN" sz="36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half" idx="1"/>
          </p:nvPr>
        </p:nvSpPr>
        <p:spPr>
          <a:xfrm>
            <a:off x="457200" y="1124744"/>
            <a:ext cx="8229600" cy="5123656"/>
          </a:xfrm>
        </p:spPr>
        <p:txBody>
          <a:bodyPr/>
          <a:lstStyle/>
          <a:p>
            <a:pPr marL="0" indent="0">
              <a:buNone/>
            </a:pPr>
            <a:endParaRPr lang="en-IN" dirty="0"/>
          </a:p>
        </p:txBody>
      </p:sp>
      <p:sp>
        <p:nvSpPr>
          <p:cNvPr id="5" name="Slide Number Placeholder 4"/>
          <p:cNvSpPr>
            <a:spLocks noGrp="1"/>
          </p:cNvSpPr>
          <p:nvPr>
            <p:ph type="sldNum" sz="quarter" idx="12"/>
          </p:nvPr>
        </p:nvSpPr>
        <p:spPr/>
        <p:txBody>
          <a:bodyPr/>
          <a:lstStyle/>
          <a:p>
            <a:pPr>
              <a:defRPr/>
            </a:pPr>
            <a:fld id="{10A740CD-B69B-40DD-B352-CCA53735B5E5}" type="slidenum">
              <a:rPr lang="en-US" smtClean="0"/>
              <a:pPr>
                <a:defRPr/>
              </a:pPr>
              <a:t>43</a:t>
            </a:fld>
            <a:endParaRPr lang="en-US"/>
          </a:p>
        </p:txBody>
      </p:sp>
      <p:pic>
        <p:nvPicPr>
          <p:cNvPr id="6" name="Google Shape;141;p12"/>
          <p:cNvPicPr preferRelativeResize="0"/>
          <p:nvPr/>
        </p:nvPicPr>
        <p:blipFill rotWithShape="1">
          <a:blip r:embed="rId2">
            <a:alphaModFix/>
          </a:blip>
          <a:srcRect r="2222" b="7923"/>
          <a:stretch/>
        </p:blipFill>
        <p:spPr>
          <a:xfrm>
            <a:off x="457200" y="1124744"/>
            <a:ext cx="8229600" cy="5123655"/>
          </a:xfrm>
          <a:prstGeom prst="rect">
            <a:avLst/>
          </a:prstGeom>
          <a:noFill/>
          <a:ln>
            <a:noFill/>
          </a:ln>
        </p:spPr>
      </p:pic>
    </p:spTree>
    <p:extLst>
      <p:ext uri="{BB962C8B-B14F-4D97-AF65-F5344CB8AC3E}">
        <p14:creationId xmlns:p14="http://schemas.microsoft.com/office/powerpoint/2010/main" val="9364183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145"/>
        <p:cNvGrpSpPr/>
        <p:nvPr/>
      </p:nvGrpSpPr>
      <p:grpSpPr>
        <a:xfrm>
          <a:off x="0" y="0"/>
          <a:ext cx="0" cy="0"/>
          <a:chOff x="0" y="0"/>
          <a:chExt cx="0" cy="0"/>
        </a:xfrm>
      </p:grpSpPr>
      <p:sp>
        <p:nvSpPr>
          <p:cNvPr id="146" name="Google Shape;146;g157ccb72c3e_0_0"/>
          <p:cNvSpPr txBox="1"/>
          <p:nvPr/>
        </p:nvSpPr>
        <p:spPr>
          <a:xfrm>
            <a:off x="154950" y="0"/>
            <a:ext cx="8834100" cy="465739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2100" b="1" u="sng" dirty="0">
                <a:solidFill>
                  <a:schemeClr val="dk1"/>
                </a:solidFill>
              </a:rPr>
              <a:t>Advantages of CART algorithm</a:t>
            </a:r>
            <a:r>
              <a:rPr lang="en-US" sz="1500" dirty="0">
                <a:solidFill>
                  <a:schemeClr val="dk1"/>
                </a:solidFill>
              </a:rPr>
              <a:t> </a:t>
            </a:r>
            <a:endParaRPr sz="1500" dirty="0">
              <a:solidFill>
                <a:schemeClr val="dk1"/>
              </a:solidFill>
            </a:endParaRPr>
          </a:p>
          <a:p>
            <a:pPr marL="419100" lvl="0" indent="-285750" algn="l" rtl="0">
              <a:lnSpc>
                <a:spcPct val="115000"/>
              </a:lnSpc>
              <a:spcBef>
                <a:spcPts val="1200"/>
              </a:spcBef>
              <a:spcAft>
                <a:spcPts val="0"/>
              </a:spcAft>
              <a:buClr>
                <a:schemeClr val="dk1"/>
              </a:buClr>
              <a:buSzPts val="1500"/>
              <a:buFont typeface="Wingdings" panose="05000000000000000000" pitchFamily="2" charset="2"/>
              <a:buChar char="Ø"/>
            </a:pPr>
            <a:r>
              <a:rPr lang="en-US" sz="1500" dirty="0" smtClean="0">
                <a:solidFill>
                  <a:schemeClr val="dk1"/>
                </a:solidFill>
              </a:rPr>
              <a:t>The </a:t>
            </a:r>
            <a:r>
              <a:rPr lang="en-US" sz="1500" dirty="0">
                <a:solidFill>
                  <a:schemeClr val="dk1"/>
                </a:solidFill>
              </a:rPr>
              <a:t>CART algorithm is nonparametric, thus it does not depend on information from a certain sort of distribution.</a:t>
            </a:r>
            <a:br>
              <a:rPr lang="en-US" sz="1500" dirty="0">
                <a:solidFill>
                  <a:schemeClr val="dk1"/>
                </a:solidFill>
              </a:rPr>
            </a:br>
            <a:r>
              <a:rPr lang="en-US" sz="1500" dirty="0">
                <a:solidFill>
                  <a:schemeClr val="dk1"/>
                </a:solidFill>
              </a:rPr>
              <a:t> 	</a:t>
            </a:r>
            <a:endParaRPr sz="1500" dirty="0">
              <a:solidFill>
                <a:schemeClr val="dk1"/>
              </a:solidFill>
            </a:endParaRPr>
          </a:p>
          <a:p>
            <a:pPr marL="419100" lvl="0" indent="-285750" algn="l" rtl="0">
              <a:lnSpc>
                <a:spcPct val="115000"/>
              </a:lnSpc>
              <a:spcBef>
                <a:spcPts val="0"/>
              </a:spcBef>
              <a:spcAft>
                <a:spcPts val="0"/>
              </a:spcAft>
              <a:buClr>
                <a:schemeClr val="dk1"/>
              </a:buClr>
              <a:buSzPts val="1500"/>
              <a:buFont typeface="Wingdings" panose="05000000000000000000" pitchFamily="2" charset="2"/>
              <a:buChar char="Ø"/>
            </a:pPr>
            <a:r>
              <a:rPr lang="en-US" sz="1500" dirty="0" smtClean="0">
                <a:solidFill>
                  <a:schemeClr val="dk1"/>
                </a:solidFill>
              </a:rPr>
              <a:t>CART </a:t>
            </a:r>
            <a:r>
              <a:rPr lang="en-US" sz="1500" dirty="0">
                <a:solidFill>
                  <a:schemeClr val="dk1"/>
                </a:solidFill>
              </a:rPr>
              <a:t>allows one to utilize the same variables many times in various regions of the tree. This skill is capable of revealing intricate interdependencies between groups of variables.</a:t>
            </a:r>
            <a:br>
              <a:rPr lang="en-US" sz="1500" dirty="0">
                <a:solidFill>
                  <a:schemeClr val="dk1"/>
                </a:solidFill>
              </a:rPr>
            </a:br>
            <a:r>
              <a:rPr lang="en-US" sz="1500" dirty="0">
                <a:solidFill>
                  <a:schemeClr val="dk1"/>
                </a:solidFill>
              </a:rPr>
              <a:t> 	</a:t>
            </a:r>
            <a:endParaRPr sz="1500" dirty="0">
              <a:solidFill>
                <a:schemeClr val="dk1"/>
              </a:solidFill>
            </a:endParaRPr>
          </a:p>
          <a:p>
            <a:pPr marL="419100" lvl="0" indent="-285750" algn="l" rtl="0">
              <a:lnSpc>
                <a:spcPct val="115000"/>
              </a:lnSpc>
              <a:spcBef>
                <a:spcPts val="0"/>
              </a:spcBef>
              <a:spcAft>
                <a:spcPts val="0"/>
              </a:spcAft>
              <a:buClr>
                <a:schemeClr val="dk1"/>
              </a:buClr>
              <a:buSzPts val="1500"/>
              <a:buFont typeface="Wingdings" panose="05000000000000000000" pitchFamily="2" charset="2"/>
              <a:buChar char="Ø"/>
            </a:pPr>
            <a:r>
              <a:rPr lang="en-US" sz="1500" b="1" dirty="0" smtClean="0">
                <a:solidFill>
                  <a:schemeClr val="dk1"/>
                </a:solidFill>
              </a:rPr>
              <a:t>Outliers </a:t>
            </a:r>
            <a:r>
              <a:rPr lang="en-US" sz="1500" b="1" dirty="0">
                <a:solidFill>
                  <a:schemeClr val="dk1"/>
                </a:solidFill>
              </a:rPr>
              <a:t>in the input variables have no meaningful effect on CART.</a:t>
            </a:r>
            <a:r>
              <a:rPr lang="en-US" sz="1500" dirty="0">
                <a:solidFill>
                  <a:schemeClr val="dk1"/>
                </a:solidFill>
              </a:rPr>
              <a:t/>
            </a:r>
            <a:br>
              <a:rPr lang="en-US" sz="1500" dirty="0">
                <a:solidFill>
                  <a:schemeClr val="dk1"/>
                </a:solidFill>
              </a:rPr>
            </a:br>
            <a:r>
              <a:rPr lang="en-US" sz="1500" dirty="0">
                <a:solidFill>
                  <a:schemeClr val="dk1"/>
                </a:solidFill>
              </a:rPr>
              <a:t> 	</a:t>
            </a:r>
            <a:endParaRPr sz="1500" dirty="0">
              <a:solidFill>
                <a:schemeClr val="dk1"/>
              </a:solidFill>
            </a:endParaRPr>
          </a:p>
          <a:p>
            <a:pPr marL="419100" lvl="0" indent="-285750" algn="l" rtl="0">
              <a:lnSpc>
                <a:spcPct val="115000"/>
              </a:lnSpc>
              <a:spcBef>
                <a:spcPts val="0"/>
              </a:spcBef>
              <a:spcAft>
                <a:spcPts val="0"/>
              </a:spcAft>
              <a:buClr>
                <a:schemeClr val="dk1"/>
              </a:buClr>
              <a:buSzPts val="1500"/>
              <a:buFont typeface="Wingdings" panose="05000000000000000000" pitchFamily="2" charset="2"/>
              <a:buChar char="Ø"/>
            </a:pPr>
            <a:r>
              <a:rPr lang="en-US" sz="1500" dirty="0" smtClean="0">
                <a:solidFill>
                  <a:schemeClr val="dk1"/>
                </a:solidFill>
              </a:rPr>
              <a:t>One </a:t>
            </a:r>
            <a:r>
              <a:rPr lang="en-US" sz="1500" dirty="0">
                <a:solidFill>
                  <a:schemeClr val="dk1"/>
                </a:solidFill>
              </a:rPr>
              <a:t>can loosen halting restrictions to allow decision trees to overgrow and then trim the tree down to its ideal size. This method reduces the likelihood of missing essential structure in the data set by terminating too soon.</a:t>
            </a:r>
            <a:br>
              <a:rPr lang="en-US" sz="1500" dirty="0">
                <a:solidFill>
                  <a:schemeClr val="dk1"/>
                </a:solidFill>
              </a:rPr>
            </a:br>
            <a:r>
              <a:rPr lang="en-US" sz="1500" dirty="0">
                <a:solidFill>
                  <a:schemeClr val="dk1"/>
                </a:solidFill>
              </a:rPr>
              <a:t> 	</a:t>
            </a:r>
            <a:endParaRPr sz="1500" dirty="0">
              <a:solidFill>
                <a:schemeClr val="dk1"/>
              </a:solidFill>
            </a:endParaRPr>
          </a:p>
          <a:p>
            <a:pPr marL="419100" lvl="0" indent="-285750" algn="l" rtl="0">
              <a:lnSpc>
                <a:spcPct val="115000"/>
              </a:lnSpc>
              <a:spcBef>
                <a:spcPts val="0"/>
              </a:spcBef>
              <a:spcAft>
                <a:spcPts val="0"/>
              </a:spcAft>
              <a:buClr>
                <a:schemeClr val="dk1"/>
              </a:buClr>
              <a:buSzPts val="1500"/>
              <a:buFont typeface="Wingdings" panose="05000000000000000000" pitchFamily="2" charset="2"/>
              <a:buChar char="Ø"/>
            </a:pPr>
            <a:r>
              <a:rPr lang="en-US" sz="1500" dirty="0" smtClean="0">
                <a:solidFill>
                  <a:schemeClr val="dk1"/>
                </a:solidFill>
              </a:rPr>
              <a:t>To </a:t>
            </a:r>
            <a:r>
              <a:rPr lang="en-US" sz="1500" dirty="0">
                <a:solidFill>
                  <a:schemeClr val="dk1"/>
                </a:solidFill>
              </a:rPr>
              <a:t>choose the input set of variables, CART can be used in combination with other prediction algorithms.</a:t>
            </a:r>
            <a:br>
              <a:rPr lang="en-US" sz="1500" dirty="0">
                <a:solidFill>
                  <a:schemeClr val="dk1"/>
                </a:solidFill>
              </a:rPr>
            </a:br>
            <a:r>
              <a:rPr lang="en-US" sz="1500" dirty="0">
                <a:solidFill>
                  <a:schemeClr val="dk1"/>
                </a:solidFill>
              </a:rPr>
              <a:t> 	</a:t>
            </a:r>
            <a:endParaRPr sz="1500" dirty="0">
              <a:solidFill>
                <a:schemeClr val="dk1"/>
              </a:solidFill>
            </a:endParaRPr>
          </a:p>
        </p:txBody>
      </p:sp>
    </p:spTree>
    <p:extLst>
      <p:ext uri="{BB962C8B-B14F-4D97-AF65-F5344CB8AC3E}">
        <p14:creationId xmlns:p14="http://schemas.microsoft.com/office/powerpoint/2010/main" val="19493834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US" sz="3600" dirty="0" smtClean="0">
                <a:latin typeface="Times New Roman" panose="02020603050405020304" pitchFamily="18" charset="0"/>
                <a:cs typeface="Times New Roman" panose="02020603050405020304" pitchFamily="18" charset="0"/>
              </a:rPr>
              <a:t>Decision Tree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24744"/>
            <a:ext cx="8229600" cy="5001419"/>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The computational cost of making the tree is fairly low, but the cost of using it is even lower: O(log N), where N is the number of </a:t>
            </a:r>
            <a:r>
              <a:rPr lang="en-US" sz="2400" dirty="0" err="1" smtClean="0">
                <a:latin typeface="Times New Roman" panose="02020603050405020304" pitchFamily="18" charset="0"/>
                <a:cs typeface="Times New Roman" panose="02020603050405020304" pitchFamily="18" charset="0"/>
              </a:rPr>
              <a:t>datapoints</a:t>
            </a:r>
            <a:r>
              <a:rPr lang="en-US" sz="2400" dirty="0" smtClean="0">
                <a:latin typeface="Times New Roman" panose="02020603050405020304" pitchFamily="18" charset="0"/>
                <a:cs typeface="Times New Roman" panose="02020603050405020304" pitchFamily="18" charset="0"/>
              </a:rPr>
              <a:t>.</a:t>
            </a: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idea of a decision tree is that</a:t>
            </a:r>
          </a:p>
          <a:p>
            <a:pPr algn="just">
              <a:buNone/>
            </a:pPr>
            <a:r>
              <a:rPr lang="en-US" sz="2400" dirty="0" smtClean="0">
                <a:latin typeface="Times New Roman" panose="02020603050405020304" pitchFamily="18" charset="0"/>
                <a:cs typeface="Times New Roman" panose="02020603050405020304" pitchFamily="18" charset="0"/>
              </a:rPr>
              <a:t>	we break classification down into a set of choices about each feature in turn, starting at the root (base) of the tree and progressing down to the leaves, where we receive the classification decision. </a:t>
            </a:r>
          </a:p>
          <a:p>
            <a:pPr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trees are very easy to understand, and can even be turned into a set of if-then rules.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EB28266-621B-4E6C-B384-6411A00B5EC3}"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260350"/>
            <a:ext cx="9144000" cy="614363"/>
          </a:xfrm>
        </p:spPr>
        <p:txBody>
          <a:bodyPr/>
          <a:lstStyle/>
          <a:p>
            <a:pPr algn="ctr"/>
            <a:r>
              <a:rPr lang="en-US" sz="3000" dirty="0" smtClean="0"/>
              <a:t>Regression Trees</a:t>
            </a:r>
          </a:p>
        </p:txBody>
      </p:sp>
      <p:sp>
        <p:nvSpPr>
          <p:cNvPr id="24579" name="Rectangle 3"/>
          <p:cNvSpPr>
            <a:spLocks noGrp="1" noChangeArrowheads="1"/>
          </p:cNvSpPr>
          <p:nvPr>
            <p:ph type="body" idx="1"/>
          </p:nvPr>
        </p:nvSpPr>
        <p:spPr>
          <a:xfrm>
            <a:off x="467544" y="1052736"/>
            <a:ext cx="8136904" cy="5184576"/>
          </a:xfrm>
        </p:spPr>
        <p:txBody>
          <a:bodyPr>
            <a:normAutofit/>
          </a:bodyPr>
          <a:lstStyle/>
          <a:p>
            <a:pPr algn="just"/>
            <a:r>
              <a:rPr lang="en-US" sz="2400" dirty="0" smtClean="0">
                <a:latin typeface="Times New Roman" pitchFamily="18" charset="0"/>
                <a:cs typeface="Times New Roman" pitchFamily="18" charset="0"/>
              </a:rPr>
              <a:t>Regression trees work as decision trees except</a:t>
            </a:r>
          </a:p>
          <a:p>
            <a:pPr lvl="1" algn="just"/>
            <a:r>
              <a:rPr lang="en-US" sz="2400" b="1" dirty="0" smtClean="0">
                <a:latin typeface="Times New Roman" pitchFamily="18" charset="0"/>
                <a:cs typeface="Times New Roman" pitchFamily="18" charset="0"/>
                <a:sym typeface="Wingdings" pitchFamily="2" charset="2"/>
              </a:rPr>
              <a:t>Leafs carry numbers </a:t>
            </a:r>
            <a:r>
              <a:rPr lang="en-US" sz="2400" dirty="0" smtClean="0">
                <a:latin typeface="Times New Roman" pitchFamily="18" charset="0"/>
                <a:cs typeface="Times New Roman" pitchFamily="18" charset="0"/>
                <a:sym typeface="Wingdings" pitchFamily="2" charset="2"/>
              </a:rPr>
              <a:t>which predict the output variable instead of class label</a:t>
            </a:r>
          </a:p>
          <a:p>
            <a:pPr lvl="1" algn="just"/>
            <a:r>
              <a:rPr lang="en-US" sz="2400" dirty="0" smtClean="0">
                <a:latin typeface="Times New Roman" pitchFamily="18" charset="0"/>
                <a:cs typeface="Times New Roman" pitchFamily="18" charset="0"/>
                <a:sym typeface="Wingdings" pitchFamily="2" charset="2"/>
              </a:rPr>
              <a:t>Instead of entropy/purity the </a:t>
            </a:r>
            <a:r>
              <a:rPr lang="en-US" sz="2400" b="1" dirty="0" smtClean="0">
                <a:latin typeface="Times New Roman" pitchFamily="18" charset="0"/>
                <a:cs typeface="Times New Roman" pitchFamily="18" charset="0"/>
                <a:sym typeface="Wingdings" pitchFamily="2" charset="2"/>
              </a:rPr>
              <a:t>squared prediction error serves as the performance measure.</a:t>
            </a:r>
          </a:p>
          <a:p>
            <a:pPr lvl="1" algn="just"/>
            <a:r>
              <a:rPr lang="en-US" sz="2400" dirty="0" smtClean="0">
                <a:latin typeface="Times New Roman" pitchFamily="18" charset="0"/>
                <a:cs typeface="Times New Roman" pitchFamily="18" charset="0"/>
                <a:sym typeface="Wingdings" pitchFamily="2" charset="2"/>
              </a:rPr>
              <a:t>Tests that reduce the squared prediction error the most are selected as node test; test conditions have the form </a:t>
            </a:r>
            <a:r>
              <a:rPr lang="en-US" sz="2400" b="1" dirty="0" smtClean="0">
                <a:latin typeface="Times New Roman" pitchFamily="18" charset="0"/>
                <a:cs typeface="Times New Roman" pitchFamily="18" charset="0"/>
                <a:sym typeface="Wingdings" pitchFamily="2" charset="2"/>
              </a:rPr>
              <a:t>y&gt;threshold</a:t>
            </a:r>
            <a:r>
              <a:rPr lang="en-US" sz="2400" dirty="0" smtClean="0">
                <a:latin typeface="Times New Roman" pitchFamily="18" charset="0"/>
                <a:cs typeface="Times New Roman" pitchFamily="18" charset="0"/>
                <a:sym typeface="Wingdings" pitchFamily="2" charset="2"/>
              </a:rPr>
              <a:t> where y is an independent variable of the prediction problem.</a:t>
            </a:r>
          </a:p>
          <a:p>
            <a:pPr lvl="1" algn="just"/>
            <a:r>
              <a:rPr lang="en-US" sz="2400" b="1" dirty="0" smtClean="0">
                <a:latin typeface="Times New Roman" pitchFamily="18" charset="0"/>
                <a:cs typeface="Times New Roman" pitchFamily="18" charset="0"/>
                <a:sym typeface="Wingdings" pitchFamily="2" charset="2"/>
              </a:rPr>
              <a:t>Instead of using the majority class</a:t>
            </a:r>
            <a:r>
              <a:rPr lang="en-US" sz="2400" dirty="0" smtClean="0">
                <a:latin typeface="Times New Roman" pitchFamily="18" charset="0"/>
                <a:cs typeface="Times New Roman" pitchFamily="18" charset="0"/>
                <a:sym typeface="Wingdings" pitchFamily="2" charset="2"/>
              </a:rPr>
              <a:t>, leaf labels are generated by </a:t>
            </a:r>
            <a:r>
              <a:rPr lang="en-US" sz="2400" b="1" dirty="0" smtClean="0">
                <a:latin typeface="Times New Roman" pitchFamily="18" charset="0"/>
                <a:cs typeface="Times New Roman" pitchFamily="18" charset="0"/>
                <a:sym typeface="Wingdings" pitchFamily="2" charset="2"/>
              </a:rPr>
              <a:t>averaging over the values of the dependent variable of the examples </a:t>
            </a:r>
            <a:r>
              <a:rPr lang="en-US" sz="2400" dirty="0" smtClean="0">
                <a:latin typeface="Times New Roman" pitchFamily="18" charset="0"/>
                <a:cs typeface="Times New Roman" pitchFamily="18" charset="0"/>
                <a:sym typeface="Wingdings" pitchFamily="2" charset="2"/>
              </a:rPr>
              <a:t>that are associated with the particular class node</a:t>
            </a:r>
          </a:p>
          <a:p>
            <a:pPr lvl="1"/>
            <a:endParaRPr lang="en-US" sz="2400" dirty="0" smtClean="0"/>
          </a:p>
          <a:p>
            <a:pPr lvl="1"/>
            <a:endParaRPr lang="en-US" sz="2400" dirty="0" smtClean="0"/>
          </a:p>
        </p:txBody>
      </p:sp>
      <p:sp>
        <p:nvSpPr>
          <p:cNvPr id="2" name="Slide Number Placeholder 1"/>
          <p:cNvSpPr>
            <a:spLocks noGrp="1"/>
          </p:cNvSpPr>
          <p:nvPr>
            <p:ph type="sldNum" sz="quarter" idx="12"/>
          </p:nvPr>
        </p:nvSpPr>
        <p:spPr/>
        <p:txBody>
          <a:bodyPr/>
          <a:lstStyle/>
          <a:p>
            <a:fld id="{4EB28266-621B-4E6C-B384-6411A00B5EC3}"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p:cNvSpPr>
            <a:spLocks noGrp="1" noChangeArrowheads="1"/>
          </p:cNvSpPr>
          <p:nvPr>
            <p:ph type="title"/>
          </p:nvPr>
        </p:nvSpPr>
        <p:spPr>
          <a:xfrm>
            <a:off x="685800" y="404664"/>
            <a:ext cx="7772400" cy="792088"/>
          </a:xfrm>
        </p:spPr>
        <p:txBody>
          <a:bodyPr>
            <a:normAutofit/>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NZ" dirty="0" smtClean="0">
                <a:latin typeface="Times New Roman" panose="02020603050405020304" pitchFamily="18" charset="0"/>
                <a:cs typeface="Times New Roman" panose="02020603050405020304" pitchFamily="18" charset="0"/>
              </a:rPr>
              <a:t>C4.5</a:t>
            </a:r>
          </a:p>
        </p:txBody>
      </p:sp>
      <p:sp>
        <p:nvSpPr>
          <p:cNvPr id="34821" name="Rectangle 2"/>
          <p:cNvSpPr>
            <a:spLocks noGrp="1" noChangeArrowheads="1"/>
          </p:cNvSpPr>
          <p:nvPr>
            <p:ph type="body" idx="1"/>
          </p:nvPr>
        </p:nvSpPr>
        <p:spPr>
          <a:xfrm>
            <a:off x="685800" y="1556792"/>
            <a:ext cx="8077200" cy="4539208"/>
          </a:xfrm>
        </p:spPr>
        <p:txBody>
          <a:bodyPr/>
          <a:lstStyle/>
          <a:p>
            <a:pPr marL="341313" indent="-341313" algn="just" eaLnBrk="1" hangingPunct="1">
              <a:buClr>
                <a:srgbClr val="160AEB"/>
              </a:buClr>
              <a:buFont typeface="Wingdings" pitchFamily="1"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latin typeface="Times New Roman" panose="02020603050405020304" pitchFamily="18" charset="0"/>
                <a:cs typeface="Times New Roman" panose="02020603050405020304" pitchFamily="18" charset="0"/>
              </a:rPr>
              <a:t>Improved version of ID3, also by </a:t>
            </a:r>
            <a:r>
              <a:rPr lang="en-US" b="1" dirty="0" smtClean="0">
                <a:latin typeface="Times New Roman" panose="02020603050405020304" pitchFamily="18" charset="0"/>
                <a:cs typeface="Times New Roman" panose="02020603050405020304" pitchFamily="18" charset="0"/>
              </a:rPr>
              <a:t>Quinlan</a:t>
            </a:r>
          </a:p>
          <a:p>
            <a:pPr marL="0" indent="0" algn="just" eaLnBrk="1" hangingPunct="1">
              <a:buClr>
                <a:srgbClr val="160AEB"/>
              </a:buClr>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b="1" dirty="0" smtClean="0">
              <a:latin typeface="Times New Roman" panose="02020603050405020304" pitchFamily="18" charset="0"/>
              <a:cs typeface="Times New Roman" panose="02020603050405020304" pitchFamily="18" charset="0"/>
            </a:endParaRPr>
          </a:p>
          <a:p>
            <a:pPr marL="341313" indent="-341313" algn="just" eaLnBrk="1" hangingPunct="1">
              <a:buClr>
                <a:srgbClr val="160AEB"/>
              </a:buClr>
              <a:buFont typeface="Wingdings" pitchFamily="1"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latin typeface="Times New Roman" panose="02020603050405020304" pitchFamily="18" charset="0"/>
                <a:cs typeface="Times New Roman" panose="02020603050405020304" pitchFamily="18" charset="0"/>
              </a:rPr>
              <a:t>Use a validation set to avoid </a:t>
            </a:r>
            <a:r>
              <a:rPr lang="en-US" dirty="0" err="1" smtClean="0">
                <a:latin typeface="Times New Roman" panose="02020603050405020304" pitchFamily="18" charset="0"/>
                <a:cs typeface="Times New Roman" panose="02020603050405020304" pitchFamily="18" charset="0"/>
              </a:rPr>
              <a:t>overfitting</a:t>
            </a:r>
            <a:endParaRPr lang="en-US" dirty="0" smtClean="0">
              <a:latin typeface="Times New Roman" panose="02020603050405020304" pitchFamily="18" charset="0"/>
              <a:cs typeface="Times New Roman" panose="02020603050405020304" pitchFamily="18" charset="0"/>
            </a:endParaRPr>
          </a:p>
          <a:p>
            <a:pPr marL="741363" lvl="1" indent="-284163" algn="just" eaLnBrk="1" hangingPunct="1">
              <a:buClr>
                <a:srgbClr val="160AEB"/>
              </a:buClr>
              <a:buFont typeface="Wingdings" pitchFamily="1"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latin typeface="Times New Roman" panose="02020603050405020304" pitchFamily="18" charset="0"/>
                <a:cs typeface="Times New Roman" panose="02020603050405020304" pitchFamily="18" charset="0"/>
              </a:rPr>
              <a:t>Could just stop choosing features (early stopping)</a:t>
            </a:r>
          </a:p>
          <a:p>
            <a:pPr marL="457200" lvl="1" indent="0" algn="just" eaLnBrk="1" hangingPunct="1">
              <a:buClr>
                <a:srgbClr val="160AEB"/>
              </a:buClr>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smtClean="0">
              <a:latin typeface="Times New Roman" panose="02020603050405020304" pitchFamily="18" charset="0"/>
              <a:cs typeface="Times New Roman" panose="02020603050405020304" pitchFamily="18" charset="0"/>
            </a:endParaRPr>
          </a:p>
          <a:p>
            <a:pPr marL="341313" indent="-341313" algn="just" eaLnBrk="1" hangingPunct="1">
              <a:buClr>
                <a:srgbClr val="160AEB"/>
              </a:buClr>
              <a:buFont typeface="Wingdings" pitchFamily="1"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latin typeface="Times New Roman" panose="02020603050405020304" pitchFamily="18" charset="0"/>
                <a:cs typeface="Times New Roman" panose="02020603050405020304" pitchFamily="18" charset="0"/>
              </a:rPr>
              <a:t>Better results from post-pruning</a:t>
            </a:r>
          </a:p>
          <a:p>
            <a:pPr marL="741363" lvl="1" indent="-284163" algn="just" eaLnBrk="1" hangingPunct="1">
              <a:buClr>
                <a:srgbClr val="160AEB"/>
              </a:buClr>
              <a:buFont typeface="Wingdings" pitchFamily="1"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latin typeface="Times New Roman" panose="02020603050405020304" pitchFamily="18" charset="0"/>
                <a:cs typeface="Times New Roman" panose="02020603050405020304" pitchFamily="18" charset="0"/>
              </a:rPr>
              <a:t>Make whole tree</a:t>
            </a:r>
          </a:p>
          <a:p>
            <a:pPr marL="741363" lvl="1" indent="-284163" algn="just" eaLnBrk="1" hangingPunct="1">
              <a:buClr>
                <a:srgbClr val="160AEB"/>
              </a:buClr>
              <a:buFont typeface="Wingdings" pitchFamily="1"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latin typeface="Times New Roman" panose="02020603050405020304" pitchFamily="18" charset="0"/>
                <a:cs typeface="Times New Roman" panose="02020603050405020304" pitchFamily="18" charset="0"/>
              </a:rPr>
              <a:t>Chop off some parts of tree afterwards</a:t>
            </a:r>
          </a:p>
        </p:txBody>
      </p:sp>
      <p:sp>
        <p:nvSpPr>
          <p:cNvPr id="2" name="Slide Number Placeholder 1"/>
          <p:cNvSpPr>
            <a:spLocks noGrp="1"/>
          </p:cNvSpPr>
          <p:nvPr>
            <p:ph type="sldNum" sz="quarter" idx="12"/>
          </p:nvPr>
        </p:nvSpPr>
        <p:spPr/>
        <p:txBody>
          <a:bodyPr/>
          <a:lstStyle/>
          <a:p>
            <a:fld id="{4EB28266-621B-4E6C-B384-6411A00B5EC3}" type="slidenum">
              <a:rPr lang="en-US" smtClean="0"/>
              <a:pPr/>
              <a:t>47</a:t>
            </a:fld>
            <a:endParaRPr lang="en-US"/>
          </a:p>
        </p:txBody>
      </p:sp>
    </p:spTree>
    <p:extLst>
      <p:ext uri="{BB962C8B-B14F-4D97-AF65-F5344CB8AC3E}">
        <p14:creationId xmlns:p14="http://schemas.microsoft.com/office/powerpoint/2010/main" val="3618470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1"/>
          <p:cNvSpPr>
            <a:spLocks noGrp="1" noChangeArrowheads="1"/>
          </p:cNvSpPr>
          <p:nvPr>
            <p:ph type="title"/>
          </p:nvPr>
        </p:nvSpPr>
        <p:spPr>
          <a:xfrm>
            <a:off x="685800" y="609600"/>
            <a:ext cx="7772400" cy="1143000"/>
          </a:xfrm>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NZ" dirty="0" smtClean="0">
                <a:latin typeface="Times New Roman" panose="02020603050405020304" pitchFamily="18" charset="0"/>
                <a:cs typeface="Times New Roman" panose="02020603050405020304" pitchFamily="18" charset="0"/>
              </a:rPr>
              <a:t>Post-Pruning</a:t>
            </a:r>
          </a:p>
        </p:txBody>
      </p:sp>
      <p:sp>
        <p:nvSpPr>
          <p:cNvPr id="35845" name="Rectangle 2"/>
          <p:cNvSpPr>
            <a:spLocks noGrp="1" noChangeArrowheads="1"/>
          </p:cNvSpPr>
          <p:nvPr>
            <p:ph type="body" idx="1"/>
          </p:nvPr>
        </p:nvSpPr>
        <p:spPr>
          <a:xfrm>
            <a:off x="685800" y="1981200"/>
            <a:ext cx="8077200" cy="4114800"/>
          </a:xfrm>
        </p:spPr>
        <p:txBody>
          <a:bodyPr/>
          <a:lstStyle/>
          <a:p>
            <a:pPr marL="341313" indent="-341313" eaLnBrk="1" hangingPunct="1">
              <a:buClr>
                <a:srgbClr val="160AEB"/>
              </a:buClr>
              <a:buFont typeface="Wingdings" pitchFamily="1"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latin typeface="Times New Roman" panose="02020603050405020304" pitchFamily="18" charset="0"/>
                <a:cs typeface="Times New Roman" panose="02020603050405020304" pitchFamily="18" charset="0"/>
              </a:rPr>
              <a:t>Run over tree</a:t>
            </a:r>
          </a:p>
          <a:p>
            <a:pPr marL="341313" indent="-341313" eaLnBrk="1" hangingPunct="1">
              <a:buClr>
                <a:srgbClr val="160AEB"/>
              </a:buClr>
              <a:buFont typeface="Wingdings" pitchFamily="1"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latin typeface="Times New Roman" panose="02020603050405020304" pitchFamily="18" charset="0"/>
                <a:cs typeface="Times New Roman" panose="02020603050405020304" pitchFamily="18" charset="0"/>
              </a:rPr>
              <a:t>Prune each node by replacing </a:t>
            </a:r>
            <a:r>
              <a:rPr lang="en-US" dirty="0" err="1" smtClean="0">
                <a:latin typeface="Times New Roman" panose="02020603050405020304" pitchFamily="18" charset="0"/>
                <a:cs typeface="Times New Roman" panose="02020603050405020304" pitchFamily="18" charset="0"/>
              </a:rPr>
              <a:t>subtree</a:t>
            </a:r>
            <a:r>
              <a:rPr lang="en-US" dirty="0" smtClean="0">
                <a:latin typeface="Times New Roman" panose="02020603050405020304" pitchFamily="18" charset="0"/>
                <a:cs typeface="Times New Roman" panose="02020603050405020304" pitchFamily="18" charset="0"/>
              </a:rPr>
              <a:t> below with a leaf</a:t>
            </a:r>
          </a:p>
          <a:p>
            <a:pPr marL="341313" indent="-341313" eaLnBrk="1" hangingPunct="1">
              <a:buClr>
                <a:srgbClr val="160AEB"/>
              </a:buClr>
              <a:buFont typeface="Wingdings" pitchFamily="1"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latin typeface="Times New Roman" panose="02020603050405020304" pitchFamily="18" charset="0"/>
                <a:cs typeface="Times New Roman" panose="02020603050405020304" pitchFamily="18" charset="0"/>
              </a:rPr>
              <a:t>Evaluate error and keep if error same or better</a:t>
            </a:r>
          </a:p>
        </p:txBody>
      </p:sp>
      <p:sp>
        <p:nvSpPr>
          <p:cNvPr id="2" name="Slide Number Placeholder 1"/>
          <p:cNvSpPr>
            <a:spLocks noGrp="1"/>
          </p:cNvSpPr>
          <p:nvPr>
            <p:ph type="sldNum" sz="quarter" idx="12"/>
          </p:nvPr>
        </p:nvSpPr>
        <p:spPr/>
        <p:txBody>
          <a:bodyPr/>
          <a:lstStyle/>
          <a:p>
            <a:fld id="{4EB28266-621B-4E6C-B384-6411A00B5EC3}" type="slidenum">
              <a:rPr lang="en-US" smtClean="0"/>
              <a:pPr/>
              <a:t>48</a:t>
            </a:fld>
            <a:endParaRPr lang="en-US"/>
          </a:p>
        </p:txBody>
      </p:sp>
    </p:spTree>
    <p:extLst>
      <p:ext uri="{BB962C8B-B14F-4D97-AF65-F5344CB8AC3E}">
        <p14:creationId xmlns:p14="http://schemas.microsoft.com/office/powerpoint/2010/main" val="420269142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2635</TotalTime>
  <Words>1959</Words>
  <Application>Microsoft Office PowerPoint</Application>
  <PresentationFormat>On-screen Show (4:3)</PresentationFormat>
  <Paragraphs>805</Paragraphs>
  <Slides>48</Slides>
  <Notes>21</Notes>
  <HiddenSlides>1</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3</vt:i4>
      </vt:variant>
      <vt:variant>
        <vt:lpstr>Slide Titles</vt:lpstr>
      </vt:variant>
      <vt:variant>
        <vt:i4>48</vt:i4>
      </vt:variant>
    </vt:vector>
  </HeadingPairs>
  <TitlesOfParts>
    <vt:vector size="57" baseType="lpstr">
      <vt:lpstr>Aptos Narrow</vt:lpstr>
      <vt:lpstr>Arial</vt:lpstr>
      <vt:lpstr>Calibri</vt:lpstr>
      <vt:lpstr>Times New Roman</vt:lpstr>
      <vt:lpstr>Wingdings</vt:lpstr>
      <vt:lpstr>Office Theme</vt:lpstr>
      <vt:lpstr>Visio</vt:lpstr>
      <vt:lpstr>Equation</vt:lpstr>
      <vt:lpstr>Document</vt:lpstr>
      <vt:lpstr>Classification using Decision Trees</vt:lpstr>
      <vt:lpstr>Illustrating Classification Task</vt:lpstr>
      <vt:lpstr>Customer data set of an online mobile portal</vt:lpstr>
      <vt:lpstr>Predicting whether a new customer would buy a mobile or not</vt:lpstr>
      <vt:lpstr>Splitting the Dataset</vt:lpstr>
      <vt:lpstr>Splitting the Dataset</vt:lpstr>
      <vt:lpstr>Splitting the Dataset</vt:lpstr>
      <vt:lpstr>Splitting the Dataset</vt:lpstr>
      <vt:lpstr>Splitting the Dataset</vt:lpstr>
      <vt:lpstr>Splitting process</vt:lpstr>
      <vt:lpstr>Splitting the Dataset</vt:lpstr>
      <vt:lpstr>Splitting the Dataset</vt:lpstr>
      <vt:lpstr>Splitting the Dataset</vt:lpstr>
      <vt:lpstr>Splitting process</vt:lpstr>
      <vt:lpstr>Decision Tree definition</vt:lpstr>
      <vt:lpstr>Decision Tree Algorithm</vt:lpstr>
      <vt:lpstr>Attribute selection Measures</vt:lpstr>
      <vt:lpstr>Constructing Decision Trees</vt:lpstr>
      <vt:lpstr>Entropy</vt:lpstr>
      <vt:lpstr>Entropy</vt:lpstr>
      <vt:lpstr>Information Gain</vt:lpstr>
      <vt:lpstr>Information Gain</vt:lpstr>
      <vt:lpstr>PowerPoint Presentation</vt:lpstr>
      <vt:lpstr>Dataset</vt:lpstr>
      <vt:lpstr>Information Gain for Wind</vt:lpstr>
      <vt:lpstr>Information Gain for all four attributes</vt:lpstr>
      <vt:lpstr>PowerPoint Presentation</vt:lpstr>
      <vt:lpstr>CART</vt:lpstr>
      <vt:lpstr>Measure of Impurity: GINI</vt:lpstr>
      <vt:lpstr>Examples for computing GINI</vt:lpstr>
      <vt:lpstr>Splitting Based on GINI</vt:lpstr>
      <vt:lpstr>Example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Decision tree for the Play Tennis dataset </vt:lpstr>
      <vt:lpstr>PowerPoint Presentation</vt:lpstr>
      <vt:lpstr>Decision Tree</vt:lpstr>
      <vt:lpstr>Regression Trees</vt:lpstr>
      <vt:lpstr>C4.5</vt:lpstr>
      <vt:lpstr>Post-Pruning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with Trees</dc:title>
  <dc:creator>ADMIN</dc:creator>
  <cp:lastModifiedBy>Sirisha Alamanda</cp:lastModifiedBy>
  <cp:revision>67</cp:revision>
  <dcterms:created xsi:type="dcterms:W3CDTF">2019-01-28T07:58:57Z</dcterms:created>
  <dcterms:modified xsi:type="dcterms:W3CDTF">2025-09-02T17:38:07Z</dcterms:modified>
</cp:coreProperties>
</file>