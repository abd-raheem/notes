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92" r:id="rId4"/>
    <p:sldId id="258" r:id="rId5"/>
    <p:sldId id="285" r:id="rId6"/>
    <p:sldId id="287" r:id="rId7"/>
    <p:sldId id="286" r:id="rId8"/>
    <p:sldId id="259" r:id="rId9"/>
    <p:sldId id="260" r:id="rId10"/>
    <p:sldId id="280" r:id="rId11"/>
    <p:sldId id="261" r:id="rId12"/>
    <p:sldId id="272" r:id="rId13"/>
    <p:sldId id="295" r:id="rId14"/>
    <p:sldId id="296" r:id="rId15"/>
    <p:sldId id="294" r:id="rId16"/>
    <p:sldId id="273" r:id="rId17"/>
    <p:sldId id="281" r:id="rId18"/>
    <p:sldId id="293" r:id="rId19"/>
    <p:sldId id="282" r:id="rId20"/>
    <p:sldId id="283" r:id="rId21"/>
    <p:sldId id="284" r:id="rId22"/>
    <p:sldId id="262" r:id="rId23"/>
    <p:sldId id="263" r:id="rId24"/>
    <p:sldId id="264" r:id="rId25"/>
    <p:sldId id="288" r:id="rId26"/>
    <p:sldId id="289" r:id="rId27"/>
    <p:sldId id="290" r:id="rId28"/>
    <p:sldId id="29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6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60CE76-86B9-4542-9B41-20B02087DF7D}" type="datetimeFigureOut">
              <a:rPr lang="en-IN" smtClean="0"/>
              <a:t>17-07-2025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ED443F-F9BE-4D96-8619-003DD5D972AE}" type="slidenum">
              <a:rPr lang="en-IN" smtClean="0"/>
              <a:t>‹#›</a:t>
            </a:fld>
            <a:endParaRPr lang="en-IN"/>
          </a:p>
        </p:txBody>
      </p:sp>
    </p:spTree>
    <p:extLst>
      <p:ext uri="{BB962C8B-B14F-4D97-AF65-F5344CB8AC3E}">
        <p14:creationId xmlns:p14="http://schemas.microsoft.com/office/powerpoint/2010/main" val="2892173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5ED443F-F9BE-4D96-8619-003DD5D972AE}" type="slidenum">
              <a:rPr lang="en-IN" smtClean="0"/>
              <a:t>5</a:t>
            </a:fld>
            <a:endParaRPr lang="en-IN"/>
          </a:p>
        </p:txBody>
      </p:sp>
    </p:spTree>
    <p:extLst>
      <p:ext uri="{BB962C8B-B14F-4D97-AF65-F5344CB8AC3E}">
        <p14:creationId xmlns:p14="http://schemas.microsoft.com/office/powerpoint/2010/main" val="3164936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285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4826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Times New Roman" panose="02020603050405020304" pitchFamily="18" charset="0"/>
                <a:cs typeface="Times New Roman" panose="02020603050405020304" pitchFamily="18" charset="0"/>
              </a:rPr>
              <a:t>For example: an online retailer will have data about all items that the customers purchased. Unsupervised learning algorithms can be applied on this data to group customers based on their buying pattern</a:t>
            </a:r>
          </a:p>
          <a:p>
            <a:endParaRPr lang="en-IN" dirty="0"/>
          </a:p>
        </p:txBody>
      </p:sp>
      <p:sp>
        <p:nvSpPr>
          <p:cNvPr id="4" name="Slide Number Placeholder 3"/>
          <p:cNvSpPr>
            <a:spLocks noGrp="1"/>
          </p:cNvSpPr>
          <p:nvPr>
            <p:ph type="sldNum" sz="quarter" idx="5"/>
          </p:nvPr>
        </p:nvSpPr>
        <p:spPr/>
        <p:txBody>
          <a:bodyPr/>
          <a:lstStyle/>
          <a:p>
            <a:fld id="{35ED443F-F9BE-4D96-8619-003DD5D972AE}" type="slidenum">
              <a:rPr lang="en-IN" smtClean="0"/>
              <a:t>11</a:t>
            </a:fld>
            <a:endParaRPr lang="en-IN"/>
          </a:p>
        </p:txBody>
      </p:sp>
    </p:spTree>
    <p:extLst>
      <p:ext uri="{BB962C8B-B14F-4D97-AF65-F5344CB8AC3E}">
        <p14:creationId xmlns:p14="http://schemas.microsoft.com/office/powerpoint/2010/main" val="1755450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7876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718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690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The next step in the machine learning workflow is to train the model</a:t>
            </a:r>
            <a:endParaRPr lang="en-IN" dirty="0"/>
          </a:p>
        </p:txBody>
      </p:sp>
      <p:sp>
        <p:nvSpPr>
          <p:cNvPr id="4" name="Slide Number Placeholder 3"/>
          <p:cNvSpPr>
            <a:spLocks noGrp="1"/>
          </p:cNvSpPr>
          <p:nvPr>
            <p:ph type="sldNum" sz="quarter" idx="5"/>
          </p:nvPr>
        </p:nvSpPr>
        <p:spPr/>
        <p:txBody>
          <a:bodyPr/>
          <a:lstStyle/>
          <a:p>
            <a:fld id="{35ED443F-F9BE-4D96-8619-003DD5D972AE}" type="slidenum">
              <a:rPr lang="en-IN" smtClean="0"/>
              <a:t>22</a:t>
            </a:fld>
            <a:endParaRPr lang="en-IN"/>
          </a:p>
        </p:txBody>
      </p:sp>
    </p:spTree>
    <p:extLst>
      <p:ext uri="{BB962C8B-B14F-4D97-AF65-F5344CB8AC3E}">
        <p14:creationId xmlns:p14="http://schemas.microsoft.com/office/powerpoint/2010/main" val="468383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5ED443F-F9BE-4D96-8619-003DD5D972AE}" type="slidenum">
              <a:rPr lang="en-IN" smtClean="0"/>
              <a:t>24</a:t>
            </a:fld>
            <a:endParaRPr lang="en-IN"/>
          </a:p>
        </p:txBody>
      </p:sp>
    </p:spTree>
    <p:extLst>
      <p:ext uri="{BB962C8B-B14F-4D97-AF65-F5344CB8AC3E}">
        <p14:creationId xmlns:p14="http://schemas.microsoft.com/office/powerpoint/2010/main" val="2180070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D4A3DC-B64D-04DB-CFF7-67E27E1A74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1D7A03D2-628E-C84A-982D-1BC45C174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E67DCBEE-E07B-7200-478A-1A09AAF82B8C}"/>
              </a:ext>
            </a:extLst>
          </p:cNvPr>
          <p:cNvSpPr>
            <a:spLocks noGrp="1"/>
          </p:cNvSpPr>
          <p:nvPr>
            <p:ph type="dt" sz="half" idx="10"/>
          </p:nvPr>
        </p:nvSpPr>
        <p:spPr/>
        <p:txBody>
          <a:bodyPr/>
          <a:lstStyle/>
          <a:p>
            <a:fld id="{BF5D1426-1252-47BE-A32C-2152363A1930}" type="datetime1">
              <a:rPr lang="en-IN" smtClean="0"/>
              <a:t>17-07-2025</a:t>
            </a:fld>
            <a:endParaRPr lang="en-IN"/>
          </a:p>
        </p:txBody>
      </p:sp>
      <p:sp>
        <p:nvSpPr>
          <p:cNvPr id="5" name="Footer Placeholder 4">
            <a:extLst>
              <a:ext uri="{FF2B5EF4-FFF2-40B4-BE49-F238E27FC236}">
                <a16:creationId xmlns="" xmlns:a16="http://schemas.microsoft.com/office/drawing/2014/main" id="{1467E905-58B6-59E8-9AD1-E88CC5E0CF0E}"/>
              </a:ext>
            </a:extLst>
          </p:cNvPr>
          <p:cNvSpPr>
            <a:spLocks noGrp="1"/>
          </p:cNvSpPr>
          <p:nvPr>
            <p:ph type="ftr" sz="quarter" idx="11"/>
          </p:nvPr>
        </p:nvSpPr>
        <p:spPr/>
        <p:txBody>
          <a:bodyPr/>
          <a:lstStyle/>
          <a:p>
            <a:r>
              <a:rPr lang="en-IN" smtClean="0"/>
              <a:t>Dept. of IT, CBIT</a:t>
            </a:r>
            <a:endParaRPr lang="en-IN"/>
          </a:p>
        </p:txBody>
      </p:sp>
      <p:sp>
        <p:nvSpPr>
          <p:cNvPr id="6" name="Slide Number Placeholder 5">
            <a:extLst>
              <a:ext uri="{FF2B5EF4-FFF2-40B4-BE49-F238E27FC236}">
                <a16:creationId xmlns="" xmlns:a16="http://schemas.microsoft.com/office/drawing/2014/main" id="{0B9CA84E-E0D2-2965-144E-F9339E43DCF5}"/>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4236994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AC7222-B002-621D-76D0-8F7C8E28C9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D82FDE1A-6F08-8E4F-E692-9C60315FA3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EC2D2BF-6F99-ABAC-3C94-46F4CEE0F97D}"/>
              </a:ext>
            </a:extLst>
          </p:cNvPr>
          <p:cNvSpPr>
            <a:spLocks noGrp="1"/>
          </p:cNvSpPr>
          <p:nvPr>
            <p:ph type="dt" sz="half" idx="10"/>
          </p:nvPr>
        </p:nvSpPr>
        <p:spPr/>
        <p:txBody>
          <a:bodyPr/>
          <a:lstStyle/>
          <a:p>
            <a:fld id="{9F4FE472-9003-4303-95F1-E861769F2758}" type="datetime1">
              <a:rPr lang="en-IN" smtClean="0"/>
              <a:t>17-07-2025</a:t>
            </a:fld>
            <a:endParaRPr lang="en-IN"/>
          </a:p>
        </p:txBody>
      </p:sp>
      <p:sp>
        <p:nvSpPr>
          <p:cNvPr id="5" name="Footer Placeholder 4">
            <a:extLst>
              <a:ext uri="{FF2B5EF4-FFF2-40B4-BE49-F238E27FC236}">
                <a16:creationId xmlns="" xmlns:a16="http://schemas.microsoft.com/office/drawing/2014/main" id="{D166C576-A650-1EA0-8BCA-B0C4D9381A4A}"/>
              </a:ext>
            </a:extLst>
          </p:cNvPr>
          <p:cNvSpPr>
            <a:spLocks noGrp="1"/>
          </p:cNvSpPr>
          <p:nvPr>
            <p:ph type="ftr" sz="quarter" idx="11"/>
          </p:nvPr>
        </p:nvSpPr>
        <p:spPr/>
        <p:txBody>
          <a:bodyPr/>
          <a:lstStyle/>
          <a:p>
            <a:r>
              <a:rPr lang="en-IN" smtClean="0"/>
              <a:t>Dept. of IT, CBIT</a:t>
            </a:r>
            <a:endParaRPr lang="en-IN"/>
          </a:p>
        </p:txBody>
      </p:sp>
      <p:sp>
        <p:nvSpPr>
          <p:cNvPr id="6" name="Slide Number Placeholder 5">
            <a:extLst>
              <a:ext uri="{FF2B5EF4-FFF2-40B4-BE49-F238E27FC236}">
                <a16:creationId xmlns="" xmlns:a16="http://schemas.microsoft.com/office/drawing/2014/main" id="{1878C7B6-FB5A-DE76-FF26-49E349C14C69}"/>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2219999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128B15-663E-D966-38A0-6A49D3DD11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2AD17BA-51D4-A9D5-34CC-E0B992D4A4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54A94E79-533C-8A78-ABD0-DD8FB7BE4750}"/>
              </a:ext>
            </a:extLst>
          </p:cNvPr>
          <p:cNvSpPr>
            <a:spLocks noGrp="1"/>
          </p:cNvSpPr>
          <p:nvPr>
            <p:ph type="dt" sz="half" idx="10"/>
          </p:nvPr>
        </p:nvSpPr>
        <p:spPr/>
        <p:txBody>
          <a:bodyPr/>
          <a:lstStyle/>
          <a:p>
            <a:fld id="{74195D4B-CA57-4CA3-A726-1F2611CA984D}" type="datetime1">
              <a:rPr lang="en-IN" smtClean="0"/>
              <a:t>17-07-2025</a:t>
            </a:fld>
            <a:endParaRPr lang="en-IN"/>
          </a:p>
        </p:txBody>
      </p:sp>
      <p:sp>
        <p:nvSpPr>
          <p:cNvPr id="5" name="Footer Placeholder 4">
            <a:extLst>
              <a:ext uri="{FF2B5EF4-FFF2-40B4-BE49-F238E27FC236}">
                <a16:creationId xmlns="" xmlns:a16="http://schemas.microsoft.com/office/drawing/2014/main" id="{0FD07F24-7E9F-E18F-164A-068AA5E63F4C}"/>
              </a:ext>
            </a:extLst>
          </p:cNvPr>
          <p:cNvSpPr>
            <a:spLocks noGrp="1"/>
          </p:cNvSpPr>
          <p:nvPr>
            <p:ph type="ftr" sz="quarter" idx="11"/>
          </p:nvPr>
        </p:nvSpPr>
        <p:spPr/>
        <p:txBody>
          <a:bodyPr/>
          <a:lstStyle/>
          <a:p>
            <a:r>
              <a:rPr lang="en-IN" smtClean="0"/>
              <a:t>Dept. of IT, CBIT</a:t>
            </a:r>
            <a:endParaRPr lang="en-IN"/>
          </a:p>
        </p:txBody>
      </p:sp>
      <p:sp>
        <p:nvSpPr>
          <p:cNvPr id="6" name="Slide Number Placeholder 5">
            <a:extLst>
              <a:ext uri="{FF2B5EF4-FFF2-40B4-BE49-F238E27FC236}">
                <a16:creationId xmlns="" xmlns:a16="http://schemas.microsoft.com/office/drawing/2014/main" id="{040E39C1-E158-01C0-43E4-B713FAC408A7}"/>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3858283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AA259B-27E7-E172-460E-05764EB2C3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D0CAA58-A63E-8C0B-4293-E8F54B4404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851D60CD-AC3E-5B07-A70B-6DFB872560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6E6FAF7B-A6BF-DEE6-0893-5AE855296D22}"/>
              </a:ext>
            </a:extLst>
          </p:cNvPr>
          <p:cNvSpPr>
            <a:spLocks noGrp="1"/>
          </p:cNvSpPr>
          <p:nvPr>
            <p:ph type="dt" sz="half" idx="10"/>
          </p:nvPr>
        </p:nvSpPr>
        <p:spPr/>
        <p:txBody>
          <a:bodyPr/>
          <a:lstStyle/>
          <a:p>
            <a:fld id="{9990CF0C-2F46-4AA1-9C38-E23E77F6E121}" type="datetime1">
              <a:rPr lang="en-IN" smtClean="0"/>
              <a:t>17-07-2025</a:t>
            </a:fld>
            <a:endParaRPr lang="en-IN"/>
          </a:p>
        </p:txBody>
      </p:sp>
      <p:sp>
        <p:nvSpPr>
          <p:cNvPr id="6" name="Footer Placeholder 5">
            <a:extLst>
              <a:ext uri="{FF2B5EF4-FFF2-40B4-BE49-F238E27FC236}">
                <a16:creationId xmlns="" xmlns:a16="http://schemas.microsoft.com/office/drawing/2014/main" id="{645A8142-C6A4-9CE0-E815-A869FE912EDE}"/>
              </a:ext>
            </a:extLst>
          </p:cNvPr>
          <p:cNvSpPr>
            <a:spLocks noGrp="1"/>
          </p:cNvSpPr>
          <p:nvPr>
            <p:ph type="ftr" sz="quarter" idx="11"/>
          </p:nvPr>
        </p:nvSpPr>
        <p:spPr/>
        <p:txBody>
          <a:bodyPr/>
          <a:lstStyle/>
          <a:p>
            <a:r>
              <a:rPr lang="en-IN" smtClean="0"/>
              <a:t>Dept. of IT, CBIT</a:t>
            </a:r>
            <a:endParaRPr lang="en-IN"/>
          </a:p>
        </p:txBody>
      </p:sp>
      <p:sp>
        <p:nvSpPr>
          <p:cNvPr id="7" name="Slide Number Placeholder 6">
            <a:extLst>
              <a:ext uri="{FF2B5EF4-FFF2-40B4-BE49-F238E27FC236}">
                <a16:creationId xmlns="" xmlns:a16="http://schemas.microsoft.com/office/drawing/2014/main" id="{FB6F4779-920A-DB56-F10C-E506E0A22421}"/>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3602210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1293B8-459E-821E-4866-69A5F603BA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075E3FF2-BB30-16BE-72AB-E2E444ECAA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EB754009-A460-1CF5-5AB6-CB399F1D09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5AD8938D-15AC-42D4-BAB7-0C99685F3C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664DF7A3-5F78-6C48-560A-AE81DEAC26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29482BB2-9165-7D02-8422-128A695139BC}"/>
              </a:ext>
            </a:extLst>
          </p:cNvPr>
          <p:cNvSpPr>
            <a:spLocks noGrp="1"/>
          </p:cNvSpPr>
          <p:nvPr>
            <p:ph type="dt" sz="half" idx="10"/>
          </p:nvPr>
        </p:nvSpPr>
        <p:spPr/>
        <p:txBody>
          <a:bodyPr/>
          <a:lstStyle/>
          <a:p>
            <a:fld id="{0303B4A8-6E79-42B8-8545-A86B80EE65A8}" type="datetime1">
              <a:rPr lang="en-IN" smtClean="0"/>
              <a:t>17-07-2025</a:t>
            </a:fld>
            <a:endParaRPr lang="en-IN"/>
          </a:p>
        </p:txBody>
      </p:sp>
      <p:sp>
        <p:nvSpPr>
          <p:cNvPr id="8" name="Footer Placeholder 7">
            <a:extLst>
              <a:ext uri="{FF2B5EF4-FFF2-40B4-BE49-F238E27FC236}">
                <a16:creationId xmlns="" xmlns:a16="http://schemas.microsoft.com/office/drawing/2014/main" id="{6A413312-37C2-A44F-CA04-2295216ECB20}"/>
              </a:ext>
            </a:extLst>
          </p:cNvPr>
          <p:cNvSpPr>
            <a:spLocks noGrp="1"/>
          </p:cNvSpPr>
          <p:nvPr>
            <p:ph type="ftr" sz="quarter" idx="11"/>
          </p:nvPr>
        </p:nvSpPr>
        <p:spPr/>
        <p:txBody>
          <a:bodyPr/>
          <a:lstStyle/>
          <a:p>
            <a:r>
              <a:rPr lang="en-IN" smtClean="0"/>
              <a:t>Dept. of IT, CBIT</a:t>
            </a:r>
            <a:endParaRPr lang="en-IN"/>
          </a:p>
        </p:txBody>
      </p:sp>
      <p:sp>
        <p:nvSpPr>
          <p:cNvPr id="9" name="Slide Number Placeholder 8">
            <a:extLst>
              <a:ext uri="{FF2B5EF4-FFF2-40B4-BE49-F238E27FC236}">
                <a16:creationId xmlns="" xmlns:a16="http://schemas.microsoft.com/office/drawing/2014/main" id="{62E6C13E-AFD2-4332-B0AB-42E7D8E1B8FA}"/>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1565101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4A2E71-A5EF-D261-73CE-43F9693C8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DD6CDA3B-66F0-3846-5CC3-356FCF2498F3}"/>
              </a:ext>
            </a:extLst>
          </p:cNvPr>
          <p:cNvSpPr>
            <a:spLocks noGrp="1"/>
          </p:cNvSpPr>
          <p:nvPr>
            <p:ph type="dt" sz="half" idx="10"/>
          </p:nvPr>
        </p:nvSpPr>
        <p:spPr/>
        <p:txBody>
          <a:bodyPr/>
          <a:lstStyle/>
          <a:p>
            <a:fld id="{2FE91AFD-7E2B-4773-9C26-94BDD46FFFEE}" type="datetime1">
              <a:rPr lang="en-IN" smtClean="0"/>
              <a:t>17-07-2025</a:t>
            </a:fld>
            <a:endParaRPr lang="en-IN"/>
          </a:p>
        </p:txBody>
      </p:sp>
      <p:sp>
        <p:nvSpPr>
          <p:cNvPr id="4" name="Footer Placeholder 3">
            <a:extLst>
              <a:ext uri="{FF2B5EF4-FFF2-40B4-BE49-F238E27FC236}">
                <a16:creationId xmlns="" xmlns:a16="http://schemas.microsoft.com/office/drawing/2014/main" id="{98AFBF2F-9D0A-BE20-F25A-0EA056D60BD1}"/>
              </a:ext>
            </a:extLst>
          </p:cNvPr>
          <p:cNvSpPr>
            <a:spLocks noGrp="1"/>
          </p:cNvSpPr>
          <p:nvPr>
            <p:ph type="ftr" sz="quarter" idx="11"/>
          </p:nvPr>
        </p:nvSpPr>
        <p:spPr/>
        <p:txBody>
          <a:bodyPr/>
          <a:lstStyle/>
          <a:p>
            <a:r>
              <a:rPr lang="en-IN" smtClean="0"/>
              <a:t>Dept. of IT, CBIT</a:t>
            </a:r>
            <a:endParaRPr lang="en-IN"/>
          </a:p>
        </p:txBody>
      </p:sp>
      <p:sp>
        <p:nvSpPr>
          <p:cNvPr id="5" name="Slide Number Placeholder 4">
            <a:extLst>
              <a:ext uri="{FF2B5EF4-FFF2-40B4-BE49-F238E27FC236}">
                <a16:creationId xmlns="" xmlns:a16="http://schemas.microsoft.com/office/drawing/2014/main" id="{B740BA5F-C495-2A31-4EB3-DACE97B986D1}"/>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3837040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3CD4C80-3CD6-A4E9-20AF-A1266D5059E1}"/>
              </a:ext>
            </a:extLst>
          </p:cNvPr>
          <p:cNvSpPr>
            <a:spLocks noGrp="1"/>
          </p:cNvSpPr>
          <p:nvPr>
            <p:ph type="dt" sz="half" idx="10"/>
          </p:nvPr>
        </p:nvSpPr>
        <p:spPr/>
        <p:txBody>
          <a:bodyPr/>
          <a:lstStyle/>
          <a:p>
            <a:fld id="{6A0F66A1-202F-486C-ADD2-712264EE6680}" type="datetime1">
              <a:rPr lang="en-IN" smtClean="0"/>
              <a:t>17-07-2025</a:t>
            </a:fld>
            <a:endParaRPr lang="en-IN"/>
          </a:p>
        </p:txBody>
      </p:sp>
      <p:sp>
        <p:nvSpPr>
          <p:cNvPr id="3" name="Footer Placeholder 2">
            <a:extLst>
              <a:ext uri="{FF2B5EF4-FFF2-40B4-BE49-F238E27FC236}">
                <a16:creationId xmlns="" xmlns:a16="http://schemas.microsoft.com/office/drawing/2014/main" id="{07C46B11-C16F-1202-7A46-A9A11C77BBB3}"/>
              </a:ext>
            </a:extLst>
          </p:cNvPr>
          <p:cNvSpPr>
            <a:spLocks noGrp="1"/>
          </p:cNvSpPr>
          <p:nvPr>
            <p:ph type="ftr" sz="quarter" idx="11"/>
          </p:nvPr>
        </p:nvSpPr>
        <p:spPr/>
        <p:txBody>
          <a:bodyPr/>
          <a:lstStyle/>
          <a:p>
            <a:r>
              <a:rPr lang="en-IN" smtClean="0"/>
              <a:t>Dept. of IT, CBIT</a:t>
            </a:r>
            <a:endParaRPr lang="en-IN"/>
          </a:p>
        </p:txBody>
      </p:sp>
      <p:sp>
        <p:nvSpPr>
          <p:cNvPr id="4" name="Slide Number Placeholder 3">
            <a:extLst>
              <a:ext uri="{FF2B5EF4-FFF2-40B4-BE49-F238E27FC236}">
                <a16:creationId xmlns="" xmlns:a16="http://schemas.microsoft.com/office/drawing/2014/main" id="{51578D7E-A314-1350-E63F-352E1DEB1946}"/>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2986193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3A2F53-A18D-4E3B-C196-321AB6B4BD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EA8B2BBB-1232-AFBB-FE29-B396BAD55A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FBEC638B-5768-1F76-C179-294522038B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57A486E-8D79-E6E7-8A58-D0EA76C6AE02}"/>
              </a:ext>
            </a:extLst>
          </p:cNvPr>
          <p:cNvSpPr>
            <a:spLocks noGrp="1"/>
          </p:cNvSpPr>
          <p:nvPr>
            <p:ph type="dt" sz="half" idx="10"/>
          </p:nvPr>
        </p:nvSpPr>
        <p:spPr/>
        <p:txBody>
          <a:bodyPr/>
          <a:lstStyle/>
          <a:p>
            <a:fld id="{87D8E612-53F8-44D6-8003-07CFC67E792B}" type="datetime1">
              <a:rPr lang="en-IN" smtClean="0"/>
              <a:t>17-07-2025</a:t>
            </a:fld>
            <a:endParaRPr lang="en-IN"/>
          </a:p>
        </p:txBody>
      </p:sp>
      <p:sp>
        <p:nvSpPr>
          <p:cNvPr id="6" name="Footer Placeholder 5">
            <a:extLst>
              <a:ext uri="{FF2B5EF4-FFF2-40B4-BE49-F238E27FC236}">
                <a16:creationId xmlns="" xmlns:a16="http://schemas.microsoft.com/office/drawing/2014/main" id="{E10D97F6-5600-553B-61D9-25CD1CAB9B18}"/>
              </a:ext>
            </a:extLst>
          </p:cNvPr>
          <p:cNvSpPr>
            <a:spLocks noGrp="1"/>
          </p:cNvSpPr>
          <p:nvPr>
            <p:ph type="ftr" sz="quarter" idx="11"/>
          </p:nvPr>
        </p:nvSpPr>
        <p:spPr/>
        <p:txBody>
          <a:bodyPr/>
          <a:lstStyle/>
          <a:p>
            <a:r>
              <a:rPr lang="en-IN" smtClean="0"/>
              <a:t>Dept. of IT, CBIT</a:t>
            </a:r>
            <a:endParaRPr lang="en-IN"/>
          </a:p>
        </p:txBody>
      </p:sp>
      <p:sp>
        <p:nvSpPr>
          <p:cNvPr id="7" name="Slide Number Placeholder 6">
            <a:extLst>
              <a:ext uri="{FF2B5EF4-FFF2-40B4-BE49-F238E27FC236}">
                <a16:creationId xmlns="" xmlns:a16="http://schemas.microsoft.com/office/drawing/2014/main" id="{2CA2C251-2D8C-6CD2-F1F3-6808CF119862}"/>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916942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637123-BE41-A0E5-9E65-5DB781AC98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28C6F7B5-10AB-8062-7F22-EDF3FC425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7CEFEEE9-F74C-F0B3-35A2-BC19E93448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D087BB0-C567-453C-5091-945CEAA71237}"/>
              </a:ext>
            </a:extLst>
          </p:cNvPr>
          <p:cNvSpPr>
            <a:spLocks noGrp="1"/>
          </p:cNvSpPr>
          <p:nvPr>
            <p:ph type="dt" sz="half" idx="10"/>
          </p:nvPr>
        </p:nvSpPr>
        <p:spPr/>
        <p:txBody>
          <a:bodyPr/>
          <a:lstStyle/>
          <a:p>
            <a:fld id="{1296B5AC-FCCB-4587-82EA-AA4445529B95}" type="datetime1">
              <a:rPr lang="en-IN" smtClean="0"/>
              <a:t>17-07-2025</a:t>
            </a:fld>
            <a:endParaRPr lang="en-IN"/>
          </a:p>
        </p:txBody>
      </p:sp>
      <p:sp>
        <p:nvSpPr>
          <p:cNvPr id="6" name="Footer Placeholder 5">
            <a:extLst>
              <a:ext uri="{FF2B5EF4-FFF2-40B4-BE49-F238E27FC236}">
                <a16:creationId xmlns="" xmlns:a16="http://schemas.microsoft.com/office/drawing/2014/main" id="{DEB1A2B3-1DE0-26B5-B2FF-97B0CAAAA122}"/>
              </a:ext>
            </a:extLst>
          </p:cNvPr>
          <p:cNvSpPr>
            <a:spLocks noGrp="1"/>
          </p:cNvSpPr>
          <p:nvPr>
            <p:ph type="ftr" sz="quarter" idx="11"/>
          </p:nvPr>
        </p:nvSpPr>
        <p:spPr/>
        <p:txBody>
          <a:bodyPr/>
          <a:lstStyle/>
          <a:p>
            <a:r>
              <a:rPr lang="en-IN" smtClean="0"/>
              <a:t>Dept. of IT, CBIT</a:t>
            </a:r>
            <a:endParaRPr lang="en-IN"/>
          </a:p>
        </p:txBody>
      </p:sp>
      <p:sp>
        <p:nvSpPr>
          <p:cNvPr id="7" name="Slide Number Placeholder 6">
            <a:extLst>
              <a:ext uri="{FF2B5EF4-FFF2-40B4-BE49-F238E27FC236}">
                <a16:creationId xmlns="" xmlns:a16="http://schemas.microsoft.com/office/drawing/2014/main" id="{86003EB4-70D9-FC9D-8268-CA00EF0FDF50}"/>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3694819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65E158-8204-83F6-3EF7-4401D77961F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C5600851-A292-5950-9010-7BC4DE90BD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859E4C6-9359-0255-6DF4-46A13877103A}"/>
              </a:ext>
            </a:extLst>
          </p:cNvPr>
          <p:cNvSpPr>
            <a:spLocks noGrp="1"/>
          </p:cNvSpPr>
          <p:nvPr>
            <p:ph type="dt" sz="half" idx="10"/>
          </p:nvPr>
        </p:nvSpPr>
        <p:spPr/>
        <p:txBody>
          <a:bodyPr/>
          <a:lstStyle/>
          <a:p>
            <a:fld id="{B9DFC79A-A2AD-43C4-AA5D-FF4D70F0A486}" type="datetime1">
              <a:rPr lang="en-IN" smtClean="0"/>
              <a:t>17-07-2025</a:t>
            </a:fld>
            <a:endParaRPr lang="en-IN"/>
          </a:p>
        </p:txBody>
      </p:sp>
      <p:sp>
        <p:nvSpPr>
          <p:cNvPr id="5" name="Footer Placeholder 4">
            <a:extLst>
              <a:ext uri="{FF2B5EF4-FFF2-40B4-BE49-F238E27FC236}">
                <a16:creationId xmlns="" xmlns:a16="http://schemas.microsoft.com/office/drawing/2014/main" id="{F3113FDD-6FA8-A5FA-2AC5-84340F373874}"/>
              </a:ext>
            </a:extLst>
          </p:cNvPr>
          <p:cNvSpPr>
            <a:spLocks noGrp="1"/>
          </p:cNvSpPr>
          <p:nvPr>
            <p:ph type="ftr" sz="quarter" idx="11"/>
          </p:nvPr>
        </p:nvSpPr>
        <p:spPr/>
        <p:txBody>
          <a:bodyPr/>
          <a:lstStyle/>
          <a:p>
            <a:r>
              <a:rPr lang="en-IN" smtClean="0"/>
              <a:t>Dept. of IT, CBIT</a:t>
            </a:r>
            <a:endParaRPr lang="en-IN"/>
          </a:p>
        </p:txBody>
      </p:sp>
      <p:sp>
        <p:nvSpPr>
          <p:cNvPr id="6" name="Slide Number Placeholder 5">
            <a:extLst>
              <a:ext uri="{FF2B5EF4-FFF2-40B4-BE49-F238E27FC236}">
                <a16:creationId xmlns="" xmlns:a16="http://schemas.microsoft.com/office/drawing/2014/main" id="{E0150AAA-6E80-DCA9-68F1-6994E4DD63FA}"/>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191995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6DC492E7-77EB-C86B-CC0A-92B6E7866C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1B14938E-9295-9CC2-3211-4F306C7AEA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D7726FF-0D4A-FB2D-F500-A1D1BDE24E62}"/>
              </a:ext>
            </a:extLst>
          </p:cNvPr>
          <p:cNvSpPr>
            <a:spLocks noGrp="1"/>
          </p:cNvSpPr>
          <p:nvPr>
            <p:ph type="dt" sz="half" idx="10"/>
          </p:nvPr>
        </p:nvSpPr>
        <p:spPr/>
        <p:txBody>
          <a:bodyPr/>
          <a:lstStyle/>
          <a:p>
            <a:fld id="{1241FAC3-C89D-4696-BDD6-A63A28E613FB}" type="datetime1">
              <a:rPr lang="en-IN" smtClean="0"/>
              <a:t>17-07-2025</a:t>
            </a:fld>
            <a:endParaRPr lang="en-IN"/>
          </a:p>
        </p:txBody>
      </p:sp>
      <p:sp>
        <p:nvSpPr>
          <p:cNvPr id="5" name="Footer Placeholder 4">
            <a:extLst>
              <a:ext uri="{FF2B5EF4-FFF2-40B4-BE49-F238E27FC236}">
                <a16:creationId xmlns="" xmlns:a16="http://schemas.microsoft.com/office/drawing/2014/main" id="{812995DB-2D8D-BDD5-6513-33EFB5240B99}"/>
              </a:ext>
            </a:extLst>
          </p:cNvPr>
          <p:cNvSpPr>
            <a:spLocks noGrp="1"/>
          </p:cNvSpPr>
          <p:nvPr>
            <p:ph type="ftr" sz="quarter" idx="11"/>
          </p:nvPr>
        </p:nvSpPr>
        <p:spPr/>
        <p:txBody>
          <a:bodyPr/>
          <a:lstStyle/>
          <a:p>
            <a:r>
              <a:rPr lang="en-IN" smtClean="0"/>
              <a:t>Dept. of IT, CBIT</a:t>
            </a:r>
            <a:endParaRPr lang="en-IN"/>
          </a:p>
        </p:txBody>
      </p:sp>
      <p:sp>
        <p:nvSpPr>
          <p:cNvPr id="6" name="Slide Number Placeholder 5">
            <a:extLst>
              <a:ext uri="{FF2B5EF4-FFF2-40B4-BE49-F238E27FC236}">
                <a16:creationId xmlns="" xmlns:a16="http://schemas.microsoft.com/office/drawing/2014/main" id="{BD46FCE5-565C-CF97-C5B0-6191FDFB3DAF}"/>
              </a:ext>
            </a:extLst>
          </p:cNvPr>
          <p:cNvSpPr>
            <a:spLocks noGrp="1"/>
          </p:cNvSpPr>
          <p:nvPr>
            <p:ph type="sldNum" sz="quarter" idx="12"/>
          </p:nvPr>
        </p:nvSpPr>
        <p:spPr/>
        <p:txBody>
          <a:bodyPr/>
          <a:lstStyle/>
          <a:p>
            <a:fld id="{D2F8B522-47F2-415F-83D6-7890B1F943EC}" type="slidenum">
              <a:rPr lang="en-IN" smtClean="0"/>
              <a:t>‹#›</a:t>
            </a:fld>
            <a:endParaRPr lang="en-IN"/>
          </a:p>
        </p:txBody>
      </p:sp>
    </p:spTree>
    <p:extLst>
      <p:ext uri="{BB962C8B-B14F-4D97-AF65-F5344CB8AC3E}">
        <p14:creationId xmlns:p14="http://schemas.microsoft.com/office/powerpoint/2010/main" val="3287850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55D7766-E338-469F-25A6-16B819357A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7A2BA61-ED5A-D823-4B81-E8D2C4FA56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77DD102-5075-874A-64E1-FDF196EDA6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36A193-96C2-40FC-B83D-77F53725B8FC}" type="datetime1">
              <a:rPr lang="en-IN" smtClean="0"/>
              <a:t>17-07-2025</a:t>
            </a:fld>
            <a:endParaRPr lang="en-IN"/>
          </a:p>
        </p:txBody>
      </p:sp>
      <p:sp>
        <p:nvSpPr>
          <p:cNvPr id="5" name="Footer Placeholder 4">
            <a:extLst>
              <a:ext uri="{FF2B5EF4-FFF2-40B4-BE49-F238E27FC236}">
                <a16:creationId xmlns="" xmlns:a16="http://schemas.microsoft.com/office/drawing/2014/main" id="{8130C0FB-09EA-3BBE-D49E-0CD9C40A2E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smtClean="0"/>
              <a:t>Dept. of IT, CBIT</a:t>
            </a:r>
            <a:endParaRPr lang="en-IN"/>
          </a:p>
        </p:txBody>
      </p:sp>
      <p:sp>
        <p:nvSpPr>
          <p:cNvPr id="6" name="Slide Number Placeholder 5">
            <a:extLst>
              <a:ext uri="{FF2B5EF4-FFF2-40B4-BE49-F238E27FC236}">
                <a16:creationId xmlns="" xmlns:a16="http://schemas.microsoft.com/office/drawing/2014/main" id="{11FC5F4C-5DA4-F8DE-D4E7-87727745D3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F8B522-47F2-415F-83D6-7890B1F943EC}" type="slidenum">
              <a:rPr lang="en-IN" smtClean="0"/>
              <a:t>‹#›</a:t>
            </a:fld>
            <a:endParaRPr lang="en-IN"/>
          </a:p>
        </p:txBody>
      </p:sp>
    </p:spTree>
    <p:extLst>
      <p:ext uri="{BB962C8B-B14F-4D97-AF65-F5344CB8AC3E}">
        <p14:creationId xmlns:p14="http://schemas.microsoft.com/office/powerpoint/2010/main" val="2438039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BBF566-84BC-6A29-B9D7-33ED0403A02F}"/>
              </a:ext>
            </a:extLst>
          </p:cNvPr>
          <p:cNvSpPr>
            <a:spLocks noGrp="1"/>
          </p:cNvSpPr>
          <p:nvPr>
            <p:ph type="title"/>
          </p:nvPr>
        </p:nvSpPr>
        <p:spPr>
          <a:xfrm>
            <a:off x="1055370" y="2399665"/>
            <a:ext cx="10515600" cy="1325563"/>
          </a:xfrm>
        </p:spPr>
        <p:txBody>
          <a:bodyPr>
            <a:normAutofit/>
          </a:bodyPr>
          <a:lstStyle/>
          <a:p>
            <a:pPr marL="0" marR="0" algn="ctr">
              <a:lnSpc>
                <a:spcPct val="107000"/>
              </a:lnSpc>
              <a:spcBef>
                <a:spcPts val="0"/>
              </a:spcBef>
              <a:spcAft>
                <a:spcPts val="0"/>
              </a:spcAft>
            </a:pPr>
            <a:r>
              <a:rPr lang="en-US" sz="3600" b="1" kern="0" dirty="0">
                <a:effectLst/>
                <a:latin typeface="Times New Roman" panose="02020603050405020304" pitchFamily="18" charset="0"/>
                <a:ea typeface="Times New Roman" panose="02020603050405020304" pitchFamily="18" charset="0"/>
                <a:cs typeface="Times New Roman" panose="02020603050405020304" pitchFamily="18" charset="0"/>
              </a:rPr>
              <a:t>UNIT-I, PART-1</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a:r>
            <a:b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br>
            <a:r>
              <a:rPr lang="en-US" sz="3600" b="1" kern="0" dirty="0">
                <a:effectLst/>
                <a:latin typeface="Times New Roman" panose="02020603050405020304" pitchFamily="18" charset="0"/>
                <a:ea typeface="Times New Roman" panose="02020603050405020304" pitchFamily="18" charset="0"/>
                <a:cs typeface="Times New Roman" panose="02020603050405020304" pitchFamily="18" charset="0"/>
              </a:rPr>
              <a:t>Introduction to Machine Learning</a:t>
            </a:r>
            <a:endParaRPr lang="en-IN" sz="36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D2F8B522-47F2-415F-83D6-7890B1F943EC}" type="slidenum">
              <a:rPr lang="en-IN" smtClean="0"/>
              <a:t>1</a:t>
            </a:fld>
            <a:endParaRPr lang="en-IN"/>
          </a:p>
        </p:txBody>
      </p:sp>
    </p:spTree>
    <p:extLst>
      <p:ext uri="{BB962C8B-B14F-4D97-AF65-F5344CB8AC3E}">
        <p14:creationId xmlns:p14="http://schemas.microsoft.com/office/powerpoint/2010/main" val="24632595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95F8DDA4-52AA-F830-3E21-DCF70FBBBE00}"/>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Contents</a:t>
            </a:r>
          </a:p>
        </p:txBody>
      </p:sp>
      <p:sp>
        <p:nvSpPr>
          <p:cNvPr id="4" name="Content Placeholder 3">
            <a:extLst>
              <a:ext uri="{FF2B5EF4-FFF2-40B4-BE49-F238E27FC236}">
                <a16:creationId xmlns="" xmlns:a16="http://schemas.microsoft.com/office/drawing/2014/main" id="{4925ACE5-8C81-CCAF-8217-211E43338D6A}"/>
              </a:ext>
            </a:extLst>
          </p:cNvPr>
          <p:cNvSpPr>
            <a:spLocks noGrp="1"/>
          </p:cNvSpPr>
          <p:nvPr>
            <p:ph idx="1"/>
          </p:nvPr>
        </p:nvSpPr>
        <p:spPr/>
        <p:txBody>
          <a:bodyPr/>
          <a:lstStyle/>
          <a:p>
            <a:r>
              <a:rPr lang="en-US" sz="3200" kern="0" dirty="0">
                <a:effectLst/>
                <a:latin typeface="Times New Roman" panose="02020603050405020304" pitchFamily="18" charset="0"/>
                <a:ea typeface="Times New Roman" panose="02020603050405020304" pitchFamily="18" charset="0"/>
                <a:cs typeface="Times New Roman" panose="02020603050405020304" pitchFamily="18" charset="0"/>
              </a:rPr>
              <a:t>Introduction</a:t>
            </a:r>
          </a:p>
          <a:p>
            <a:r>
              <a:rPr lang="en-US" sz="3200" kern="0" dirty="0">
                <a:effectLst/>
                <a:latin typeface="Times New Roman" panose="02020603050405020304" pitchFamily="18" charset="0"/>
                <a:ea typeface="Times New Roman" panose="02020603050405020304" pitchFamily="18" charset="0"/>
                <a:cs typeface="Times New Roman" panose="02020603050405020304" pitchFamily="18" charset="0"/>
              </a:rPr>
              <a:t>Well-Posed Learning Problems</a:t>
            </a:r>
          </a:p>
          <a:p>
            <a:r>
              <a:rPr lang="en-IN" sz="3200" kern="0" dirty="0">
                <a:latin typeface="Times New Roman" panose="02020603050405020304" pitchFamily="18" charset="0"/>
                <a:cs typeface="Times New Roman" panose="02020603050405020304" pitchFamily="18" charset="0"/>
              </a:rPr>
              <a:t>What is Machine Learning?</a:t>
            </a:r>
          </a:p>
          <a:p>
            <a:r>
              <a:rPr lang="en-US" sz="3200" kern="0" dirty="0">
                <a:effectLst/>
                <a:latin typeface="Times New Roman" panose="02020603050405020304" pitchFamily="18" charset="0"/>
                <a:ea typeface="Times New Roman" panose="02020603050405020304" pitchFamily="18" charset="0"/>
                <a:cs typeface="Times New Roman" panose="02020603050405020304" pitchFamily="18" charset="0"/>
              </a:rPr>
              <a:t>Types of Learning </a:t>
            </a:r>
          </a:p>
          <a:p>
            <a:r>
              <a:rPr lang="en-US" sz="3200" kern="0" dirty="0">
                <a:effectLst/>
                <a:latin typeface="Times New Roman" panose="02020603050405020304" pitchFamily="18" charset="0"/>
                <a:ea typeface="Times New Roman" panose="02020603050405020304" pitchFamily="18" charset="0"/>
                <a:cs typeface="Times New Roman" panose="02020603050405020304" pitchFamily="18" charset="0"/>
              </a:rPr>
              <a:t>Perspectives and Issues in Machine Learning.</a:t>
            </a:r>
            <a:endParaRPr lang="en-IN" sz="3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sp>
        <p:nvSpPr>
          <p:cNvPr id="2" name="Slide Number Placeholder 1"/>
          <p:cNvSpPr>
            <a:spLocks noGrp="1"/>
          </p:cNvSpPr>
          <p:nvPr>
            <p:ph type="sldNum" sz="quarter" idx="12"/>
          </p:nvPr>
        </p:nvSpPr>
        <p:spPr/>
        <p:txBody>
          <a:bodyPr/>
          <a:lstStyle/>
          <a:p>
            <a:fld id="{D2F8B522-47F2-415F-83D6-7890B1F943EC}" type="slidenum">
              <a:rPr lang="en-IN" smtClean="0"/>
              <a:t>2</a:t>
            </a:fld>
            <a:endParaRPr lang="en-IN"/>
          </a:p>
        </p:txBody>
      </p:sp>
    </p:spTree>
    <p:extLst>
      <p:ext uri="{BB962C8B-B14F-4D97-AF65-F5344CB8AC3E}">
        <p14:creationId xmlns:p14="http://schemas.microsoft.com/office/powerpoint/2010/main" val="24304367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838200" y="1410511"/>
            <a:ext cx="10515600" cy="4766452"/>
          </a:xfrm>
        </p:spPr>
        <p:txBody>
          <a:bodyPr/>
          <a:lstStyle/>
          <a:p>
            <a:pPr algn="just">
              <a:lnSpc>
                <a:spcPct val="150000"/>
              </a:lnSpc>
              <a:spcBef>
                <a:spcPts val="0"/>
              </a:spcBef>
            </a:pPr>
            <a:r>
              <a:rPr lang="en-US" dirty="0">
                <a:latin typeface="Times New Roman" panose="02020603050405020304" pitchFamily="18" charset="0"/>
                <a:cs typeface="Times New Roman" panose="02020603050405020304" pitchFamily="18" charset="0"/>
              </a:rPr>
              <a:t>We have seen Machine Learning as a buzzword for the past few years, the reason for this might be the </a:t>
            </a:r>
            <a:r>
              <a:rPr lang="en-US" b="1" i="1" dirty="0">
                <a:latin typeface="Times New Roman" panose="02020603050405020304" pitchFamily="18" charset="0"/>
                <a:cs typeface="Times New Roman" panose="02020603050405020304" pitchFamily="18" charset="0"/>
              </a:rPr>
              <a:t>high amount of data </a:t>
            </a:r>
            <a:r>
              <a:rPr lang="en-US" dirty="0">
                <a:latin typeface="Times New Roman" panose="02020603050405020304" pitchFamily="18" charset="0"/>
                <a:cs typeface="Times New Roman" panose="02020603050405020304" pitchFamily="18" charset="0"/>
              </a:rPr>
              <a:t>production by applications, the </a:t>
            </a:r>
            <a:r>
              <a:rPr lang="en-US" b="1" i="1" dirty="0">
                <a:latin typeface="Times New Roman" panose="02020603050405020304" pitchFamily="18" charset="0"/>
                <a:cs typeface="Times New Roman" panose="02020603050405020304" pitchFamily="18" charset="0"/>
              </a:rPr>
              <a:t>increase of computation power </a:t>
            </a:r>
            <a:r>
              <a:rPr lang="en-US" dirty="0">
                <a:latin typeface="Times New Roman" panose="02020603050405020304" pitchFamily="18" charset="0"/>
                <a:cs typeface="Times New Roman" panose="02020603050405020304" pitchFamily="18" charset="0"/>
              </a:rPr>
              <a:t>in the past few years and the development of better algorithms.</a:t>
            </a:r>
          </a:p>
        </p:txBody>
      </p:sp>
      <p:sp>
        <p:nvSpPr>
          <p:cNvPr id="4" name="Slide Number Placeholder 3"/>
          <p:cNvSpPr>
            <a:spLocks noGrp="1"/>
          </p:cNvSpPr>
          <p:nvPr>
            <p:ph type="sldNum" sz="quarter" idx="12"/>
          </p:nvPr>
        </p:nvSpPr>
        <p:spPr/>
        <p:txBody>
          <a:bodyPr/>
          <a:lstStyle/>
          <a:p>
            <a:fld id="{D2F8B522-47F2-415F-83D6-7890B1F943EC}" type="slidenum">
              <a:rPr lang="en-IN" smtClean="0"/>
              <a:t>3</a:t>
            </a:fld>
            <a:endParaRPr lang="en-IN"/>
          </a:p>
        </p:txBody>
      </p:sp>
    </p:spTree>
    <p:extLst>
      <p:ext uri="{BB962C8B-B14F-4D97-AF65-F5344CB8AC3E}">
        <p14:creationId xmlns:p14="http://schemas.microsoft.com/office/powerpoint/2010/main" val="2055504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DE8689-31DE-7C71-A5E3-4550F67942D3}"/>
              </a:ext>
            </a:extLst>
          </p:cNvPr>
          <p:cNvSpPr>
            <a:spLocks noGrp="1"/>
          </p:cNvSpPr>
          <p:nvPr>
            <p:ph type="title"/>
          </p:nvPr>
        </p:nvSpPr>
        <p:spPr>
          <a:xfrm>
            <a:off x="838200" y="365125"/>
            <a:ext cx="10515600" cy="709295"/>
          </a:xfrm>
        </p:spPr>
        <p:txBody>
          <a:bodyPr/>
          <a:lstStyle/>
          <a:p>
            <a:r>
              <a:rPr lang="en-IN" sz="3600" b="1" i="0" dirty="0">
                <a:effectLst/>
                <a:latin typeface="Times New Roman" panose="02020603050405020304" pitchFamily="18" charset="0"/>
                <a:cs typeface="Times New Roman" panose="02020603050405020304" pitchFamily="18" charset="0"/>
              </a:rPr>
              <a:t>What is Machine Learning?</a:t>
            </a:r>
            <a:endParaRPr lang="en-IN" dirty="0"/>
          </a:p>
        </p:txBody>
      </p:sp>
      <p:sp>
        <p:nvSpPr>
          <p:cNvPr id="3" name="Content Placeholder 2">
            <a:extLst>
              <a:ext uri="{FF2B5EF4-FFF2-40B4-BE49-F238E27FC236}">
                <a16:creationId xmlns="" xmlns:a16="http://schemas.microsoft.com/office/drawing/2014/main" id="{756BF71E-3739-E72F-B455-17E415008311}"/>
              </a:ext>
            </a:extLst>
          </p:cNvPr>
          <p:cNvSpPr>
            <a:spLocks noGrp="1"/>
          </p:cNvSpPr>
          <p:nvPr>
            <p:ph idx="1"/>
          </p:nvPr>
        </p:nvSpPr>
        <p:spPr>
          <a:xfrm>
            <a:off x="838200" y="1280160"/>
            <a:ext cx="10515600" cy="4896803"/>
          </a:xfrm>
        </p:spPr>
        <p:txBody>
          <a:bodyPr>
            <a:normAutofit/>
          </a:bodyPr>
          <a:lstStyle/>
          <a:p>
            <a:pPr algn="just"/>
            <a:r>
              <a:rPr lang="en-US" dirty="0">
                <a:latin typeface="Times New Roman" panose="02020603050405020304" pitchFamily="18" charset="0"/>
                <a:ea typeface="Times New Roman"/>
                <a:cs typeface="Times New Roman" panose="02020603050405020304" pitchFamily="18" charset="0"/>
                <a:sym typeface="Times New Roman"/>
              </a:rPr>
              <a:t>Machine Learning is the art &amp; science of programming computers to </a:t>
            </a:r>
            <a:r>
              <a:rPr lang="en-US" i="1" dirty="0">
                <a:latin typeface="Times New Roman" panose="02020603050405020304" pitchFamily="18" charset="0"/>
                <a:ea typeface="Times New Roman"/>
                <a:cs typeface="Times New Roman" panose="02020603050405020304" pitchFamily="18" charset="0"/>
                <a:sym typeface="Times New Roman"/>
              </a:rPr>
              <a:t>learn from data</a:t>
            </a:r>
            <a:r>
              <a:rPr lang="en-US" dirty="0" smtClean="0">
                <a:latin typeface="Times New Roman" panose="02020603050405020304" pitchFamily="18" charset="0"/>
                <a:ea typeface="Times New Roman"/>
                <a:cs typeface="Times New Roman" panose="02020603050405020304" pitchFamily="18" charset="0"/>
                <a:sym typeface="Times New Roman"/>
              </a:rPr>
              <a:t>.</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effectLst/>
                <a:highlight>
                  <a:srgbClr val="FFFFFF"/>
                </a:highlight>
                <a:latin typeface="Times New Roman" panose="02020603050405020304" pitchFamily="18" charset="0"/>
                <a:cs typeface="Times New Roman" panose="02020603050405020304" pitchFamily="18" charset="0"/>
              </a:rPr>
              <a:t>[Arthur </a:t>
            </a:r>
            <a:r>
              <a:rPr lang="en-US" b="1" dirty="0" smtClean="0">
                <a:effectLst/>
                <a:highlight>
                  <a:srgbClr val="FFFFFF"/>
                </a:highlight>
                <a:latin typeface="Times New Roman" panose="02020603050405020304" pitchFamily="18" charset="0"/>
                <a:cs typeface="Times New Roman" panose="02020603050405020304" pitchFamily="18" charset="0"/>
              </a:rPr>
              <a:t>Samuel ], </a:t>
            </a:r>
            <a:r>
              <a:rPr lang="en-US" b="0" i="0" dirty="0">
                <a:effectLst/>
                <a:highlight>
                  <a:srgbClr val="FFFFFF"/>
                </a:highlight>
                <a:latin typeface="Times New Roman" panose="02020603050405020304" pitchFamily="18" charset="0"/>
                <a:cs typeface="Times New Roman" panose="02020603050405020304" pitchFamily="18" charset="0"/>
              </a:rPr>
              <a:t>a pioneer of artificial intelligence research defined machine learning</a:t>
            </a:r>
            <a:r>
              <a:rPr lang="en-US" dirty="0">
                <a:highlight>
                  <a:srgbClr val="FFFFFF"/>
                </a:highlight>
                <a:latin typeface="Times New Roman" panose="02020603050405020304" pitchFamily="18" charset="0"/>
                <a:cs typeface="Times New Roman" panose="02020603050405020304" pitchFamily="18" charset="0"/>
              </a:rPr>
              <a:t> </a:t>
            </a:r>
            <a:r>
              <a:rPr lang="en-US" b="0" i="0" dirty="0">
                <a:effectLst/>
                <a:highlight>
                  <a:srgbClr val="FFFFFF"/>
                </a:highlight>
                <a:latin typeface="Times New Roman" panose="02020603050405020304" pitchFamily="18" charset="0"/>
                <a:cs typeface="Times New Roman" panose="02020603050405020304" pitchFamily="18" charset="0"/>
              </a:rPr>
              <a:t>as " </a:t>
            </a:r>
            <a:r>
              <a:rPr lang="en-US" b="0" i="1" dirty="0">
                <a:solidFill>
                  <a:srgbClr val="0000FF"/>
                </a:solidFill>
                <a:effectLst/>
                <a:highlight>
                  <a:srgbClr val="FFFFFF"/>
                </a:highlight>
                <a:latin typeface="Times New Roman" panose="02020603050405020304" pitchFamily="18" charset="0"/>
                <a:cs typeface="Times New Roman" panose="02020603050405020304" pitchFamily="18" charset="0"/>
              </a:rPr>
              <a:t>the field of study that gives computers the ability to learn without being explicitly programmed</a:t>
            </a:r>
            <a:r>
              <a:rPr lang="en-US" b="0" i="0" dirty="0">
                <a:solidFill>
                  <a:srgbClr val="0000FF"/>
                </a:solidFill>
                <a:effectLst/>
                <a:highlight>
                  <a:srgbClr val="FFFFFF"/>
                </a:highlight>
                <a:latin typeface="Times New Roman" panose="02020603050405020304" pitchFamily="18" charset="0"/>
                <a:cs typeface="Times New Roman" panose="02020603050405020304" pitchFamily="18" charset="0"/>
              </a:rPr>
              <a:t>”.</a:t>
            </a:r>
          </a:p>
          <a:p>
            <a:pPr marL="0" indent="0" algn="just">
              <a:buNone/>
            </a:pPr>
            <a:endParaRPr lang="en-US" sz="2400" dirty="0">
              <a:highlight>
                <a:srgbClr val="FFFFFF"/>
              </a:highlight>
              <a:latin typeface="Times New Roman" panose="02020603050405020304" pitchFamily="18" charset="0"/>
              <a:cs typeface="Times New Roman" panose="02020603050405020304" pitchFamily="18" charset="0"/>
            </a:endParaRPr>
          </a:p>
          <a:p>
            <a:pPr marL="536575" algn="just">
              <a:buFont typeface="Wingdings" panose="05000000000000000000" pitchFamily="2" charset="2"/>
              <a:buChar char="ü"/>
            </a:pPr>
            <a:r>
              <a:rPr lang="en-US" sz="2400" dirty="0">
                <a:highlight>
                  <a:srgbClr val="FFFFFF"/>
                </a:highlight>
                <a:latin typeface="Times New Roman" panose="02020603050405020304" pitchFamily="18" charset="0"/>
                <a:cs typeface="Times New Roman" panose="02020603050405020304" pitchFamily="18" charset="0"/>
              </a:rPr>
              <a:t>For a given problem, machine learning algorithms are fed with related data.</a:t>
            </a:r>
          </a:p>
          <a:p>
            <a:pPr marL="536575" algn="just">
              <a:buFont typeface="Wingdings" panose="05000000000000000000" pitchFamily="2" charset="2"/>
              <a:buChar char="ü"/>
            </a:pPr>
            <a:r>
              <a:rPr lang="en-US" sz="2400" dirty="0">
                <a:highlight>
                  <a:srgbClr val="FFFFFF"/>
                </a:highlight>
                <a:latin typeface="Times New Roman" panose="02020603050405020304" pitchFamily="18" charset="0"/>
                <a:cs typeface="Times New Roman" panose="02020603050405020304" pitchFamily="18" charset="0"/>
              </a:rPr>
              <a:t> Algorithms then automatically detect the underlying patterns in the given data and</a:t>
            </a:r>
          </a:p>
          <a:p>
            <a:pPr marL="536575" algn="just">
              <a:buFont typeface="Wingdings" panose="05000000000000000000" pitchFamily="2" charset="2"/>
              <a:buChar char="ü"/>
            </a:pPr>
            <a:r>
              <a:rPr lang="en-US" sz="2400" dirty="0">
                <a:highlight>
                  <a:srgbClr val="FFFFFF"/>
                </a:highlight>
                <a:latin typeface="Times New Roman" panose="02020603050405020304" pitchFamily="18" charset="0"/>
                <a:cs typeface="Times New Roman" panose="02020603050405020304" pitchFamily="18" charset="0"/>
              </a:rPr>
              <a:t> use them to make predictions for new data. </a:t>
            </a:r>
          </a:p>
          <a:p>
            <a:pPr algn="just"/>
            <a:endParaRPr lang="en-US" sz="2400" dirty="0">
              <a:highlight>
                <a:srgbClr val="FFFFFF"/>
              </a:highlight>
              <a:latin typeface="Times New Roman" panose="02020603050405020304" pitchFamily="18" charset="0"/>
              <a:cs typeface="Times New Roman" panose="02020603050405020304" pitchFamily="18" charset="0"/>
            </a:endParaRPr>
          </a:p>
          <a:p>
            <a:pPr algn="just"/>
            <a:endParaRPr lang="en-IN" sz="2400" dirty="0">
              <a:highlight>
                <a:srgbClr val="FFFFFF"/>
              </a:highligh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2F8B522-47F2-415F-83D6-7890B1F943EC}" type="slidenum">
              <a:rPr lang="en-IN" smtClean="0"/>
              <a:t>4</a:t>
            </a:fld>
            <a:endParaRPr lang="en-IN"/>
          </a:p>
        </p:txBody>
      </p:sp>
    </p:spTree>
    <p:extLst>
      <p:ext uri="{BB962C8B-B14F-4D97-AF65-F5344CB8AC3E}">
        <p14:creationId xmlns:p14="http://schemas.microsoft.com/office/powerpoint/2010/main" val="40231596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F81CBA3-89CE-1407-077E-F4EDC7F8F4EC}"/>
              </a:ext>
            </a:extLst>
          </p:cNvPr>
          <p:cNvSpPr>
            <a:spLocks noGrp="1"/>
          </p:cNvSpPr>
          <p:nvPr>
            <p:ph type="title"/>
          </p:nvPr>
        </p:nvSpPr>
        <p:spPr/>
        <p:txBody>
          <a:bodyPr>
            <a:normAutofit/>
          </a:bodyPr>
          <a:lstStyle/>
          <a:p>
            <a:r>
              <a:rPr lang="en-US" sz="3600" b="1" dirty="0">
                <a:latin typeface="Times New Roman"/>
                <a:ea typeface="Times New Roman"/>
                <a:cs typeface="Times New Roman"/>
                <a:sym typeface="Times New Roman"/>
              </a:rPr>
              <a:t>What is Machine Learning?</a:t>
            </a:r>
            <a:endParaRPr lang="en-IN" sz="3600" dirty="0"/>
          </a:p>
        </p:txBody>
      </p:sp>
      <p:sp>
        <p:nvSpPr>
          <p:cNvPr id="3" name="Content Placeholder 2">
            <a:extLst>
              <a:ext uri="{FF2B5EF4-FFF2-40B4-BE49-F238E27FC236}">
                <a16:creationId xmlns="" xmlns:a16="http://schemas.microsoft.com/office/drawing/2014/main" id="{31137915-ACE9-C417-37D1-DF35B2D5609E}"/>
              </a:ext>
            </a:extLst>
          </p:cNvPr>
          <p:cNvSpPr>
            <a:spLocks noGrp="1"/>
          </p:cNvSpPr>
          <p:nvPr>
            <p:ph idx="1"/>
          </p:nvPr>
        </p:nvSpPr>
        <p:spPr>
          <a:xfrm>
            <a:off x="838200" y="1371600"/>
            <a:ext cx="10515600" cy="4805363"/>
          </a:xfrm>
        </p:spPr>
        <p:txBody>
          <a:bodyPr>
            <a:normAutofit/>
          </a:bodyPr>
          <a:lstStyle/>
          <a:p>
            <a:pPr marL="0" lvl="0" indent="0" algn="l" rtl="0">
              <a:spcBef>
                <a:spcPts val="600"/>
              </a:spcBef>
              <a:spcAft>
                <a:spcPts val="0"/>
              </a:spcAft>
              <a:buClr>
                <a:schemeClr val="dk1"/>
              </a:buClr>
              <a:buSzPts val="3000"/>
              <a:buNone/>
            </a:pPr>
            <a:r>
              <a:rPr lang="en-US" dirty="0">
                <a:latin typeface="Times New Roman"/>
                <a:ea typeface="Times New Roman"/>
                <a:cs typeface="Times New Roman"/>
                <a:sym typeface="Times New Roman"/>
              </a:rPr>
              <a:t>Formal Definition</a:t>
            </a:r>
            <a:r>
              <a:rPr lang="en-US" dirty="0" smtClean="0">
                <a:latin typeface="Times New Roman"/>
                <a:ea typeface="Times New Roman"/>
                <a:cs typeface="Times New Roman"/>
                <a:sym typeface="Times New Roman"/>
              </a:rPr>
              <a:t>:</a:t>
            </a:r>
          </a:p>
          <a:p>
            <a:pPr marL="0" lvl="0" indent="0" algn="l" rtl="0">
              <a:spcBef>
                <a:spcPts val="600"/>
              </a:spcBef>
              <a:spcAft>
                <a:spcPts val="0"/>
              </a:spcAft>
              <a:buClr>
                <a:schemeClr val="dk1"/>
              </a:buClr>
              <a:buSzPts val="3000"/>
              <a:buNone/>
            </a:pPr>
            <a:endParaRPr lang="en-US" dirty="0">
              <a:latin typeface="Times New Roman"/>
              <a:ea typeface="Times New Roman"/>
              <a:cs typeface="Times New Roman"/>
              <a:sym typeface="Times New Roman"/>
            </a:endParaRPr>
          </a:p>
          <a:p>
            <a:pPr marL="400050" lvl="1" indent="0" algn="just" rtl="0">
              <a:spcBef>
                <a:spcPts val="440"/>
              </a:spcBef>
              <a:spcAft>
                <a:spcPts val="0"/>
              </a:spcAft>
              <a:buClr>
                <a:schemeClr val="dk1"/>
              </a:buClr>
              <a:buSzPts val="2200"/>
              <a:buNone/>
            </a:pPr>
            <a:endParaRPr lang="en-US" sz="2800" b="1" dirty="0" smtClean="0">
              <a:latin typeface="Times New Roman"/>
              <a:ea typeface="Times New Roman"/>
              <a:cs typeface="Times New Roman"/>
              <a:sym typeface="Times New Roman"/>
            </a:endParaRPr>
          </a:p>
          <a:p>
            <a:pPr marL="400050" lvl="1" indent="0" algn="just" rtl="0">
              <a:spcBef>
                <a:spcPts val="440"/>
              </a:spcBef>
              <a:spcAft>
                <a:spcPts val="0"/>
              </a:spcAft>
              <a:buClr>
                <a:schemeClr val="dk1"/>
              </a:buClr>
              <a:buSzPts val="2200"/>
              <a:buNone/>
            </a:pPr>
            <a:endParaRPr lang="en-US" sz="2800" b="1" dirty="0">
              <a:latin typeface="Times New Roman"/>
              <a:ea typeface="Times New Roman"/>
              <a:cs typeface="Times New Roman"/>
              <a:sym typeface="Times New Roman"/>
            </a:endParaRPr>
          </a:p>
          <a:p>
            <a:pPr marL="400050" lvl="1" indent="0" algn="just" rtl="0">
              <a:spcBef>
                <a:spcPts val="440"/>
              </a:spcBef>
              <a:spcAft>
                <a:spcPts val="0"/>
              </a:spcAft>
              <a:buClr>
                <a:schemeClr val="dk1"/>
              </a:buClr>
              <a:buSzPts val="2200"/>
              <a:buNone/>
            </a:pPr>
            <a:endParaRPr lang="en-US" sz="2800" b="1" dirty="0" smtClean="0">
              <a:latin typeface="Times New Roman"/>
              <a:ea typeface="Times New Roman"/>
              <a:cs typeface="Times New Roman"/>
              <a:sym typeface="Times New Roman"/>
            </a:endParaRPr>
          </a:p>
          <a:p>
            <a:pPr marL="400050" lvl="1" indent="0" algn="just" rtl="0">
              <a:spcBef>
                <a:spcPts val="440"/>
              </a:spcBef>
              <a:spcAft>
                <a:spcPts val="0"/>
              </a:spcAft>
              <a:buClr>
                <a:schemeClr val="dk1"/>
              </a:buClr>
              <a:buSzPts val="2200"/>
              <a:buNone/>
            </a:pPr>
            <a:endParaRPr lang="en-US" sz="2800" b="1" dirty="0">
              <a:latin typeface="Times New Roman"/>
              <a:ea typeface="Times New Roman"/>
              <a:cs typeface="Times New Roman"/>
              <a:sym typeface="Times New Roman"/>
            </a:endParaRPr>
          </a:p>
          <a:p>
            <a:pPr marL="400050" lvl="1" indent="0" algn="just" rtl="0">
              <a:spcBef>
                <a:spcPts val="440"/>
              </a:spcBef>
              <a:spcAft>
                <a:spcPts val="0"/>
              </a:spcAft>
              <a:buClr>
                <a:schemeClr val="dk1"/>
              </a:buClr>
              <a:buSzPts val="2200"/>
              <a:buNone/>
            </a:pPr>
            <a:endParaRPr lang="en-US" sz="2800" b="1" dirty="0" smtClean="0">
              <a:latin typeface="Times New Roman"/>
              <a:ea typeface="Times New Roman"/>
              <a:cs typeface="Times New Roman"/>
              <a:sym typeface="Times New Roman"/>
            </a:endParaRPr>
          </a:p>
          <a:p>
            <a:pPr marL="400050" lvl="1" indent="0" algn="just" rtl="0">
              <a:spcBef>
                <a:spcPts val="440"/>
              </a:spcBef>
              <a:spcAft>
                <a:spcPts val="0"/>
              </a:spcAft>
              <a:buClr>
                <a:schemeClr val="dk1"/>
              </a:buClr>
              <a:buSzPts val="2200"/>
              <a:buNone/>
            </a:pPr>
            <a:endParaRPr lang="en-US" sz="2800" b="1" dirty="0">
              <a:latin typeface="Times New Roman"/>
              <a:ea typeface="Times New Roman"/>
              <a:cs typeface="Times New Roman"/>
              <a:sym typeface="Times New Roman"/>
            </a:endParaRPr>
          </a:p>
          <a:p>
            <a:pPr marL="400050" lvl="1" indent="0" algn="just" rtl="0">
              <a:spcBef>
                <a:spcPts val="440"/>
              </a:spcBef>
              <a:spcAft>
                <a:spcPts val="0"/>
              </a:spcAft>
              <a:buClr>
                <a:schemeClr val="dk1"/>
              </a:buClr>
              <a:buSzPts val="2200"/>
              <a:buNone/>
            </a:pPr>
            <a:r>
              <a:rPr lang="en-US" sz="2800" dirty="0" smtClean="0">
                <a:latin typeface="Times New Roman"/>
                <a:ea typeface="Times New Roman"/>
                <a:cs typeface="Times New Roman"/>
                <a:sym typeface="Times New Roman"/>
              </a:rPr>
              <a:t>The performance measure is called </a:t>
            </a:r>
            <a:r>
              <a:rPr lang="en-US" sz="2800" b="1" i="1" dirty="0" smtClean="0">
                <a:latin typeface="Times New Roman"/>
                <a:ea typeface="Times New Roman"/>
                <a:cs typeface="Times New Roman"/>
                <a:sym typeface="Times New Roman"/>
              </a:rPr>
              <a:t>accuracy</a:t>
            </a:r>
          </a:p>
          <a:p>
            <a:pPr marL="400050" lvl="1" indent="0" algn="l" rtl="0">
              <a:spcBef>
                <a:spcPts val="400"/>
              </a:spcBef>
              <a:spcAft>
                <a:spcPts val="0"/>
              </a:spcAft>
              <a:buClr>
                <a:schemeClr val="dk1"/>
              </a:buClr>
              <a:buSzPts val="2000"/>
              <a:buNone/>
            </a:pPr>
            <a:endParaRPr lang="en-US" sz="2800" dirty="0" smtClean="0"/>
          </a:p>
          <a:p>
            <a:pPr marL="0" indent="0">
              <a:buNone/>
            </a:pPr>
            <a:endParaRPr lang="en-IN" dirty="0"/>
          </a:p>
        </p:txBody>
      </p:sp>
      <p:pic>
        <p:nvPicPr>
          <p:cNvPr id="4" name="Content Placeholder 3"/>
          <p:cNvPicPr>
            <a:picLocks noChangeAspect="1"/>
          </p:cNvPicPr>
          <p:nvPr/>
        </p:nvPicPr>
        <p:blipFill rotWithShape="1">
          <a:blip r:embed="rId3"/>
          <a:srcRect t="48488" r="598"/>
          <a:stretch/>
        </p:blipFill>
        <p:spPr>
          <a:xfrm>
            <a:off x="914401" y="2042809"/>
            <a:ext cx="9781308" cy="2568101"/>
          </a:xfrm>
          <a:prstGeom prst="rect">
            <a:avLst/>
          </a:prstGeom>
        </p:spPr>
      </p:pic>
      <p:sp>
        <p:nvSpPr>
          <p:cNvPr id="6" name="Slide Number Placeholder 5"/>
          <p:cNvSpPr>
            <a:spLocks noGrp="1"/>
          </p:cNvSpPr>
          <p:nvPr>
            <p:ph type="sldNum" sz="quarter" idx="12"/>
          </p:nvPr>
        </p:nvSpPr>
        <p:spPr/>
        <p:txBody>
          <a:bodyPr/>
          <a:lstStyle/>
          <a:p>
            <a:fld id="{D2F8B522-47F2-415F-83D6-7890B1F943EC}" type="slidenum">
              <a:rPr lang="en-IN" smtClean="0"/>
              <a:t>5</a:t>
            </a:fld>
            <a:endParaRPr lang="en-IN"/>
          </a:p>
        </p:txBody>
      </p:sp>
    </p:spTree>
    <p:extLst>
      <p:ext uri="{BB962C8B-B14F-4D97-AF65-F5344CB8AC3E}">
        <p14:creationId xmlns:p14="http://schemas.microsoft.com/office/powerpoint/2010/main" val="33094549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1905000" y="152400"/>
            <a:ext cx="8229600" cy="71596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b="1" dirty="0">
                <a:latin typeface="Times New Roman"/>
                <a:ea typeface="Times New Roman"/>
                <a:cs typeface="Times New Roman"/>
                <a:sym typeface="Times New Roman"/>
              </a:rPr>
              <a:t>Examples of  ML Applications</a:t>
            </a:r>
            <a:endParaRPr sz="3200" dirty="0"/>
          </a:p>
        </p:txBody>
      </p:sp>
      <p:sp>
        <p:nvSpPr>
          <p:cNvPr id="160" name="Google Shape;160;p9"/>
          <p:cNvSpPr txBox="1">
            <a:spLocks noGrp="1"/>
          </p:cNvSpPr>
          <p:nvPr>
            <p:ph type="body" idx="1"/>
          </p:nvPr>
        </p:nvSpPr>
        <p:spPr>
          <a:xfrm>
            <a:off x="560070" y="754380"/>
            <a:ext cx="10972800" cy="5452110"/>
          </a:xfrm>
          <a:prstGeom prst="rect">
            <a:avLst/>
          </a:prstGeom>
          <a:noFill/>
          <a:ln>
            <a:noFill/>
          </a:ln>
        </p:spPr>
        <p:txBody>
          <a:bodyPr spcFirstLastPara="1" vert="horz" wrap="square" lIns="91425" tIns="45700" rIns="91425" bIns="45700" rtlCol="0" anchor="t" anchorCtr="0">
            <a:noAutofit/>
          </a:bodyPr>
          <a:lstStyle/>
          <a:p>
            <a:pPr algn="just">
              <a:buNone/>
            </a:pPr>
            <a:r>
              <a:rPr lang="en-US" sz="2400" dirty="0">
                <a:latin typeface="Times New Roman" panose="02020603050405020304" pitchFamily="18" charset="0"/>
                <a:cs typeface="Times New Roman" panose="02020603050405020304" pitchFamily="18" charset="0"/>
              </a:rPr>
              <a:t> </a:t>
            </a:r>
            <a:r>
              <a:rPr lang="en-US" sz="2400" dirty="0">
                <a:solidFill>
                  <a:srgbClr val="0000FF"/>
                </a:solidFill>
                <a:latin typeface="Times New Roman" panose="02020603050405020304" pitchFamily="18" charset="0"/>
                <a:cs typeface="Times New Roman" panose="02020603050405020304" pitchFamily="18" charset="0"/>
              </a:rPr>
              <a:t>Machine Learning is used anywhere from automating mundane tasks to </a:t>
            </a:r>
            <a:r>
              <a:rPr lang="en-US" sz="2400" dirty="0" smtClean="0">
                <a:solidFill>
                  <a:srgbClr val="0000FF"/>
                </a:solidFill>
                <a:latin typeface="Times New Roman" panose="02020603050405020304" pitchFamily="18" charset="0"/>
                <a:cs typeface="Times New Roman" panose="02020603050405020304" pitchFamily="18" charset="0"/>
              </a:rPr>
              <a:t>offering intelligent </a:t>
            </a:r>
            <a:r>
              <a:rPr lang="en-US" sz="2400" dirty="0">
                <a:solidFill>
                  <a:srgbClr val="0000FF"/>
                </a:solidFill>
                <a:latin typeface="Times New Roman" panose="02020603050405020304" pitchFamily="18" charset="0"/>
                <a:cs typeface="Times New Roman" panose="02020603050405020304" pitchFamily="18" charset="0"/>
              </a:rPr>
              <a:t>insights, industries in every sector try to benefit from it. </a:t>
            </a:r>
            <a:endParaRPr lang="en-US" sz="2400" dirty="0" smtClean="0">
              <a:solidFill>
                <a:srgbClr val="0000FF"/>
              </a:solidFill>
              <a:latin typeface="Times New Roman" panose="02020603050405020304" pitchFamily="18" charset="0"/>
              <a:cs typeface="Times New Roman" panose="02020603050405020304" pitchFamily="18" charset="0"/>
            </a:endParaRPr>
          </a:p>
          <a:p>
            <a:pPr algn="just">
              <a:buNone/>
            </a:pPr>
            <a:r>
              <a:rPr lang="en-US" sz="2400" dirty="0" smtClean="0">
                <a:latin typeface="Times New Roman" panose="02020603050405020304" pitchFamily="18" charset="0"/>
                <a:cs typeface="Times New Roman" panose="02020603050405020304" pitchFamily="18" charset="0"/>
              </a:rPr>
              <a:t>You </a:t>
            </a:r>
            <a:r>
              <a:rPr lang="en-US" sz="2400" dirty="0">
                <a:latin typeface="Times New Roman" panose="02020603050405020304" pitchFamily="18" charset="0"/>
                <a:cs typeface="Times New Roman" panose="02020603050405020304" pitchFamily="18" charset="0"/>
              </a:rPr>
              <a:t>may already be using a device that utilizes it. For example, a wearable fitness tracker like Fitbit. </a:t>
            </a:r>
            <a:endParaRPr lang="en-US" sz="2400" dirty="0" smtClean="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0"/>
              </a:spcBef>
              <a:buClr>
                <a:srgbClr val="9900FF"/>
              </a:buClr>
              <a:buSzPts val="2000"/>
            </a:pPr>
            <a:r>
              <a:rPr lang="en-US" sz="2400" b="1" dirty="0">
                <a:latin typeface="Times New Roman"/>
                <a:ea typeface="Times New Roman"/>
                <a:cs typeface="Times New Roman"/>
                <a:sym typeface="Times New Roman"/>
              </a:rPr>
              <a:t>Credit card fraud detection: </a:t>
            </a:r>
            <a:r>
              <a:rPr lang="en-US" sz="2400" dirty="0">
                <a:latin typeface="Times New Roman"/>
                <a:ea typeface="Times New Roman"/>
                <a:cs typeface="Times New Roman"/>
                <a:sym typeface="Times New Roman"/>
              </a:rPr>
              <a:t>detecting frauds can be solved using supervised (classification) or unsupervised (anomaly detection) learning.</a:t>
            </a:r>
          </a:p>
          <a:p>
            <a:pPr marL="0" indent="0" algn="just">
              <a:lnSpc>
                <a:spcPct val="100000"/>
              </a:lnSpc>
              <a:spcBef>
                <a:spcPts val="0"/>
              </a:spcBef>
              <a:buClr>
                <a:srgbClr val="9900FF"/>
              </a:buClr>
              <a:buSzPts val="2000"/>
              <a:buNone/>
            </a:pPr>
            <a:endParaRPr lang="en-US" sz="2400" dirty="0"/>
          </a:p>
          <a:p>
            <a:pPr marL="342900" indent="-342900" algn="just">
              <a:lnSpc>
                <a:spcPct val="100000"/>
              </a:lnSpc>
              <a:spcBef>
                <a:spcPts val="0"/>
              </a:spcBef>
              <a:buClr>
                <a:schemeClr val="dk1"/>
              </a:buClr>
              <a:buSzPts val="2000"/>
            </a:pPr>
            <a:r>
              <a:rPr lang="en-US" sz="2400" b="1" dirty="0">
                <a:latin typeface="Times New Roman"/>
                <a:ea typeface="Times New Roman"/>
                <a:cs typeface="Times New Roman"/>
                <a:sym typeface="Times New Roman"/>
              </a:rPr>
              <a:t>Segmenting Customers (</a:t>
            </a:r>
            <a:r>
              <a:rPr lang="en-US" sz="2400" dirty="0">
                <a:latin typeface="Times New Roman"/>
                <a:ea typeface="Times New Roman"/>
                <a:cs typeface="Times New Roman"/>
                <a:sym typeface="Times New Roman"/>
              </a:rPr>
              <a:t>Clustering</a:t>
            </a:r>
            <a:r>
              <a:rPr lang="en-US" sz="2400" b="1" dirty="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based on their purchases so we can design targeted &amp; more effective marketing campaigns.</a:t>
            </a:r>
          </a:p>
          <a:p>
            <a:pPr marL="0" indent="0" algn="just">
              <a:lnSpc>
                <a:spcPct val="100000"/>
              </a:lnSpc>
              <a:spcBef>
                <a:spcPts val="0"/>
              </a:spcBef>
              <a:buClr>
                <a:schemeClr val="dk1"/>
              </a:buClr>
              <a:buSzPts val="2000"/>
              <a:buNone/>
            </a:pPr>
            <a:endParaRPr lang="en-US" sz="2400" dirty="0"/>
          </a:p>
          <a:p>
            <a:pPr marL="342900" indent="-342900" algn="just">
              <a:lnSpc>
                <a:spcPct val="100000"/>
              </a:lnSpc>
              <a:spcBef>
                <a:spcPts val="0"/>
              </a:spcBef>
              <a:buClr>
                <a:schemeClr val="dk1"/>
              </a:buClr>
              <a:buSzPts val="2000"/>
            </a:pPr>
            <a:r>
              <a:rPr lang="en-US" sz="2400" b="1" dirty="0">
                <a:latin typeface="Times New Roman"/>
                <a:ea typeface="Times New Roman"/>
                <a:cs typeface="Times New Roman"/>
                <a:sym typeface="Times New Roman"/>
              </a:rPr>
              <a:t>Recommender systems: </a:t>
            </a:r>
            <a:r>
              <a:rPr lang="en-US" sz="2400" dirty="0">
                <a:latin typeface="Times New Roman"/>
                <a:ea typeface="Times New Roman"/>
                <a:cs typeface="Times New Roman"/>
                <a:sym typeface="Times New Roman"/>
              </a:rPr>
              <a:t>where we can feed in the sequence of client purchases (for example) to an artificial neural network to predict the next purchase.</a:t>
            </a:r>
          </a:p>
          <a:p>
            <a:pPr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162" name="Google Shape;162;p9"/>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6</a:t>
            </a:fld>
            <a:endParaRPr dirty="0"/>
          </a:p>
        </p:txBody>
      </p:sp>
    </p:spTree>
    <p:extLst>
      <p:ext uri="{BB962C8B-B14F-4D97-AF65-F5344CB8AC3E}">
        <p14:creationId xmlns:p14="http://schemas.microsoft.com/office/powerpoint/2010/main" val="7142009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1905000" y="152400"/>
            <a:ext cx="8229600" cy="71596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b="1" dirty="0">
                <a:latin typeface="Times New Roman"/>
                <a:ea typeface="Times New Roman"/>
                <a:cs typeface="Times New Roman"/>
                <a:sym typeface="Times New Roman"/>
              </a:rPr>
              <a:t>Examples of  ML Applications</a:t>
            </a:r>
            <a:endParaRPr sz="3200" dirty="0"/>
          </a:p>
        </p:txBody>
      </p:sp>
      <p:sp>
        <p:nvSpPr>
          <p:cNvPr id="160" name="Google Shape;160;p9"/>
          <p:cNvSpPr txBox="1">
            <a:spLocks noGrp="1"/>
          </p:cNvSpPr>
          <p:nvPr>
            <p:ph type="body" idx="1"/>
          </p:nvPr>
        </p:nvSpPr>
        <p:spPr>
          <a:xfrm>
            <a:off x="674370" y="1206230"/>
            <a:ext cx="10858500" cy="5000260"/>
          </a:xfrm>
          <a:prstGeom prst="rect">
            <a:avLst/>
          </a:prstGeom>
          <a:noFill/>
          <a:ln>
            <a:noFill/>
          </a:ln>
        </p:spPr>
        <p:txBody>
          <a:bodyPr spcFirstLastPara="1" vert="horz" wrap="square" lIns="91425" tIns="45700" rIns="91425" bIns="45700" rtlCol="0" anchor="t" anchorCtr="0">
            <a:noAutofit/>
          </a:bodyPr>
          <a:lstStyle/>
          <a:p>
            <a:pPr algn="just"/>
            <a:r>
              <a:rPr lang="en-US" sz="2400" b="1" dirty="0" smtClean="0">
                <a:latin typeface="Times New Roman" panose="02020603050405020304" pitchFamily="18" charset="0"/>
                <a:cs typeface="Times New Roman" panose="02020603050405020304" pitchFamily="18" charset="0"/>
              </a:rPr>
              <a:t>Medical diagnoses : </a:t>
            </a:r>
            <a:r>
              <a:rPr lang="en-US" sz="2400" dirty="0" smtClean="0">
                <a:latin typeface="Times New Roman" panose="02020603050405020304" pitchFamily="18" charset="0"/>
                <a:cs typeface="Times New Roman" panose="02020603050405020304" pitchFamily="18" charset="0"/>
              </a:rPr>
              <a:t>ML </a:t>
            </a:r>
            <a:r>
              <a:rPr lang="en-US" sz="2400" dirty="0">
                <a:latin typeface="Times New Roman" panose="02020603050405020304" pitchFamily="18" charset="0"/>
                <a:cs typeface="Times New Roman" panose="02020603050405020304" pitchFamily="18" charset="0"/>
              </a:rPr>
              <a:t>is trained to recognize cancerous tissues</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Financial industry and </a:t>
            </a:r>
            <a:r>
              <a:rPr lang="en-US" sz="2400" b="1" dirty="0" smtClean="0">
                <a:latin typeface="Times New Roman" panose="02020603050405020304" pitchFamily="18" charset="0"/>
                <a:cs typeface="Times New Roman" panose="02020603050405020304" pitchFamily="18" charset="0"/>
              </a:rPr>
              <a:t>trading:</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companies use ML in fraud investigations and credit checks</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cs typeface="Times New Roman" panose="02020603050405020304" pitchFamily="18" charset="0"/>
              </a:rPr>
              <a:t>Image recognition:</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Machine learning can be used for face detection in an image as well.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cs typeface="Times New Roman" panose="02020603050405020304" pitchFamily="18" charset="0"/>
              </a:rPr>
              <a:t>Speech Recognition:</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It is the translation of spoken words into the text. It is used in </a:t>
            </a:r>
            <a:r>
              <a:rPr lang="en-US" sz="2400" dirty="0" smtClean="0">
                <a:latin typeface="Times New Roman" panose="02020603050405020304" pitchFamily="18" charset="0"/>
                <a:cs typeface="Times New Roman" panose="02020603050405020304" pitchFamily="18" charset="0"/>
              </a:rPr>
              <a:t>Voice </a:t>
            </a:r>
            <a:r>
              <a:rPr lang="en-US" sz="2400" dirty="0">
                <a:latin typeface="Times New Roman" panose="02020603050405020304" pitchFamily="18" charset="0"/>
                <a:cs typeface="Times New Roman" panose="02020603050405020304" pitchFamily="18" charset="0"/>
              </a:rPr>
              <a:t>user interfaces include voice dialing, call routing, and appliance control. It can also be used as simple data entry and the preparation of structured documents.</a:t>
            </a:r>
          </a:p>
          <a:p>
            <a:pPr algn="just"/>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0"/>
              </a:spcBef>
              <a:buClr>
                <a:schemeClr val="dk1"/>
              </a:buClr>
              <a:buSzPts val="2000"/>
            </a:pPr>
            <a:endParaRPr lang="en-US" sz="2400" dirty="0"/>
          </a:p>
          <a:p>
            <a:pPr marL="342900" indent="-215900" algn="just">
              <a:lnSpc>
                <a:spcPct val="100000"/>
              </a:lnSpc>
              <a:spcBef>
                <a:spcPts val="0"/>
              </a:spcBef>
              <a:buClr>
                <a:schemeClr val="dk1"/>
              </a:buClr>
              <a:buSzPts val="2000"/>
              <a:buNone/>
            </a:pPr>
            <a:endParaRPr sz="2400" dirty="0"/>
          </a:p>
        </p:txBody>
      </p:sp>
      <p:sp>
        <p:nvSpPr>
          <p:cNvPr id="162" name="Google Shape;162;p9"/>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7</a:t>
            </a:fld>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A191BB-3568-3594-841D-2D4F87E2F681}"/>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Types of Machine Learning</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DE52C0D8-9883-3DA6-46C9-6856516742EB}"/>
              </a:ext>
            </a:extLst>
          </p:cNvPr>
          <p:cNvSpPr>
            <a:spLocks noGrp="1"/>
          </p:cNvSpPr>
          <p:nvPr>
            <p:ph idx="1"/>
          </p:nvPr>
        </p:nvSpPr>
        <p:spPr>
          <a:xfrm>
            <a:off x="838200" y="1588770"/>
            <a:ext cx="10515600" cy="4588193"/>
          </a:xfrm>
        </p:spPr>
        <p:txBody>
          <a:bodyPr/>
          <a:lstStyle/>
          <a:p>
            <a:pPr algn="just"/>
            <a:r>
              <a:rPr lang="en-US" b="0" i="0" dirty="0">
                <a:effectLst/>
                <a:latin typeface="Times New Roman" panose="02020603050405020304" pitchFamily="18" charset="0"/>
                <a:cs typeface="Times New Roman" panose="02020603050405020304" pitchFamily="18" charset="0"/>
              </a:rPr>
              <a:t>There are different machine learning techniques or algorithms that are used to learn the patterns. </a:t>
            </a:r>
            <a:endParaRPr lang="en-US" b="0" i="0" dirty="0" smtClean="0">
              <a:effectLst/>
              <a:latin typeface="Times New Roman" panose="02020603050405020304" pitchFamily="18" charset="0"/>
              <a:cs typeface="Times New Roman" panose="02020603050405020304" pitchFamily="18" charset="0"/>
            </a:endParaRPr>
          </a:p>
          <a:p>
            <a:pPr marL="0" indent="0" algn="just">
              <a:buNone/>
            </a:pPr>
            <a:endParaRPr lang="en-US" b="0"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The choice depends on the </a:t>
            </a:r>
            <a:r>
              <a:rPr lang="en-US" b="0" i="1" dirty="0">
                <a:solidFill>
                  <a:srgbClr val="0000FF"/>
                </a:solidFill>
                <a:effectLst/>
                <a:latin typeface="Times New Roman" panose="02020603050405020304" pitchFamily="18" charset="0"/>
                <a:cs typeface="Times New Roman" panose="02020603050405020304" pitchFamily="18" charset="0"/>
              </a:rPr>
              <a:t>type of the prediction problem </a:t>
            </a:r>
            <a:r>
              <a:rPr lang="en-US" b="0" i="0" dirty="0">
                <a:effectLst/>
                <a:latin typeface="Times New Roman" panose="02020603050405020304" pitchFamily="18" charset="0"/>
                <a:cs typeface="Times New Roman" panose="02020603050405020304" pitchFamily="18" charset="0"/>
              </a:rPr>
              <a:t>and the </a:t>
            </a:r>
            <a:r>
              <a:rPr lang="en-US" b="0" i="1" dirty="0">
                <a:solidFill>
                  <a:srgbClr val="0000FF"/>
                </a:solidFill>
                <a:effectLst/>
                <a:latin typeface="Times New Roman" panose="02020603050405020304" pitchFamily="18" charset="0"/>
                <a:cs typeface="Times New Roman" panose="02020603050405020304" pitchFamily="18" charset="0"/>
              </a:rPr>
              <a:t>type of the data. </a:t>
            </a:r>
          </a:p>
          <a:p>
            <a:pPr algn="just"/>
            <a:endParaRPr lang="en-US" b="0"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Machine learning techniques can be broadly classified as follows:</a:t>
            </a:r>
          </a:p>
          <a:p>
            <a:pPr marL="536575">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Supervised Learning </a:t>
            </a:r>
          </a:p>
          <a:p>
            <a:pPr marL="536575">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Unsupervised Learning</a:t>
            </a:r>
          </a:p>
          <a:p>
            <a:pPr marL="0" indent="0" algn="just">
              <a:buNone/>
            </a:pPr>
            <a:endParaRPr lang="en-US" b="0" i="0" dirty="0">
              <a:effectLst/>
              <a:latin typeface="Times New Roman" panose="02020603050405020304" pitchFamily="18" charset="0"/>
              <a:cs typeface="Times New Roman" panose="02020603050405020304" pitchFamily="18" charset="0"/>
            </a:endParaRPr>
          </a:p>
          <a:p>
            <a:endParaRPr lang="en-IN" dirty="0"/>
          </a:p>
        </p:txBody>
      </p:sp>
      <p:sp>
        <p:nvSpPr>
          <p:cNvPr id="4" name="Slide Number Placeholder 3"/>
          <p:cNvSpPr>
            <a:spLocks noGrp="1"/>
          </p:cNvSpPr>
          <p:nvPr>
            <p:ph type="sldNum" sz="quarter" idx="12"/>
          </p:nvPr>
        </p:nvSpPr>
        <p:spPr/>
        <p:txBody>
          <a:bodyPr/>
          <a:lstStyle/>
          <a:p>
            <a:fld id="{D2F8B522-47F2-415F-83D6-7890B1F943EC}" type="slidenum">
              <a:rPr lang="en-IN" smtClean="0"/>
              <a:t>8</a:t>
            </a:fld>
            <a:endParaRPr lang="en-IN"/>
          </a:p>
        </p:txBody>
      </p:sp>
    </p:spTree>
    <p:extLst>
      <p:ext uri="{BB962C8B-B14F-4D97-AF65-F5344CB8AC3E}">
        <p14:creationId xmlns:p14="http://schemas.microsoft.com/office/powerpoint/2010/main" val="28027739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E58F0B-1707-6452-252E-D2D5CFAA0728}"/>
              </a:ext>
            </a:extLst>
          </p:cNvPr>
          <p:cNvSpPr>
            <a:spLocks noGrp="1"/>
          </p:cNvSpPr>
          <p:nvPr>
            <p:ph type="title"/>
          </p:nvPr>
        </p:nvSpPr>
        <p:spPr>
          <a:xfrm>
            <a:off x="838200" y="365125"/>
            <a:ext cx="10515600" cy="960755"/>
          </a:xfrm>
        </p:spPr>
        <p:txBody>
          <a:bodyPr>
            <a:normAutofit/>
          </a:bodyPr>
          <a:lstStyle/>
          <a:p>
            <a:r>
              <a:rPr lang="en-US" sz="3200" b="1" dirty="0">
                <a:latin typeface="Times New Roman" panose="02020603050405020304" pitchFamily="18" charset="0"/>
                <a:cs typeface="Times New Roman" panose="02020603050405020304" pitchFamily="18" charset="0"/>
              </a:rPr>
              <a:t>What is Supervised Learning?</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A8F79929-EB87-7FBA-F611-725F17C54B77}"/>
              </a:ext>
            </a:extLst>
          </p:cNvPr>
          <p:cNvSpPr>
            <a:spLocks noGrp="1"/>
          </p:cNvSpPr>
          <p:nvPr>
            <p:ph idx="1"/>
          </p:nvPr>
        </p:nvSpPr>
        <p:spPr>
          <a:xfrm>
            <a:off x="838200" y="1543050"/>
            <a:ext cx="10515600" cy="4633913"/>
          </a:xfrm>
        </p:spPr>
        <p:txBody>
          <a:bodyPr/>
          <a:lstStyle/>
          <a:p>
            <a:pPr algn="just"/>
            <a:r>
              <a:rPr lang="en-US" dirty="0">
                <a:latin typeface="Times New Roman" panose="02020603050405020304" pitchFamily="18" charset="0"/>
                <a:cs typeface="Times New Roman" panose="02020603050405020304" pitchFamily="18" charset="0"/>
              </a:rPr>
              <a:t>Supervised learning is a technique in which we teach or train the machine using data which is well labeled. </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labeled data set is nothing but the training data set</a:t>
            </a:r>
            <a:r>
              <a:rPr lang="en-US" dirty="0" smtClean="0">
                <a:latin typeface="Times New Roman" panose="02020603050405020304" pitchFamily="18" charset="0"/>
                <a:cs typeface="Times New Roman" panose="02020603050405020304" pitchFamily="18" charset="0"/>
              </a:rPr>
              <a:t>.</a:t>
            </a:r>
          </a:p>
          <a:p>
            <a:pPr algn="just"/>
            <a:r>
              <a:rPr lang="en-US" sz="2400" b="1" dirty="0">
                <a:latin typeface="Times New Roman" panose="02020603050405020304" pitchFamily="18" charset="0"/>
                <a:cs typeface="Times New Roman" panose="02020603050405020304" pitchFamily="18" charset="0"/>
              </a:rPr>
              <a:t>Example of Supervised </a:t>
            </a:r>
            <a:r>
              <a:rPr lang="en-US" sz="2400" b="1" dirty="0" smtClean="0">
                <a:latin typeface="Times New Roman" panose="02020603050405020304" pitchFamily="18" charset="0"/>
                <a:cs typeface="Times New Roman" panose="02020603050405020304" pitchFamily="18" charset="0"/>
              </a:rPr>
              <a:t>Learning :</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2F8B522-47F2-415F-83D6-7890B1F943EC}" type="slidenum">
              <a:rPr lang="en-IN" smtClean="0"/>
              <a:t>9</a:t>
            </a:fld>
            <a:endParaRPr lang="en-IN"/>
          </a:p>
        </p:txBody>
      </p:sp>
      <p:pic>
        <p:nvPicPr>
          <p:cNvPr id="5" name="Picture 2"/>
          <p:cNvPicPr>
            <a:picLocks noChangeAspect="1" noChangeArrowheads="1"/>
          </p:cNvPicPr>
          <p:nvPr/>
        </p:nvPicPr>
        <p:blipFill>
          <a:blip r:embed="rId2"/>
          <a:srcRect/>
          <a:stretch>
            <a:fillRect/>
          </a:stretch>
        </p:blipFill>
        <p:spPr bwMode="auto">
          <a:xfrm>
            <a:off x="5252935" y="3518010"/>
            <a:ext cx="3861881" cy="2526910"/>
          </a:xfrm>
          <a:prstGeom prst="rect">
            <a:avLst/>
          </a:prstGeom>
          <a:noFill/>
          <a:ln w="9525">
            <a:noFill/>
            <a:miter lim="800000"/>
            <a:headEnd/>
            <a:tailEnd/>
          </a:ln>
          <a:effectLst/>
        </p:spPr>
      </p:pic>
    </p:spTree>
    <p:extLst>
      <p:ext uri="{BB962C8B-B14F-4D97-AF65-F5344CB8AC3E}">
        <p14:creationId xmlns:p14="http://schemas.microsoft.com/office/powerpoint/2010/main" val="11683989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6551"/>
          </a:xfrm>
        </p:spPr>
        <p:txBody>
          <a:bodyPr>
            <a:normAutofit/>
          </a:bodyPr>
          <a:lstStyle/>
          <a:p>
            <a:r>
              <a:rPr lang="en-US" sz="3600" b="1" dirty="0">
                <a:latin typeface="Times New Roman" panose="02020603050405020304" pitchFamily="18" charset="0"/>
                <a:cs typeface="Times New Roman" panose="02020603050405020304" pitchFamily="18" charset="0"/>
              </a:rPr>
              <a:t>Types of Supervised </a:t>
            </a:r>
            <a:r>
              <a:rPr lang="en-US" sz="3600" b="1" dirty="0" smtClean="0">
                <a:latin typeface="Times New Roman" panose="02020603050405020304" pitchFamily="18" charset="0"/>
                <a:cs typeface="Times New Roman" panose="02020603050405020304" pitchFamily="18" charset="0"/>
              </a:rPr>
              <a:t>Learning</a:t>
            </a:r>
            <a:endParaRPr lang="en-US" dirty="0"/>
          </a:p>
        </p:txBody>
      </p:sp>
      <p:sp>
        <p:nvSpPr>
          <p:cNvPr id="3" name="Content Placeholder 2"/>
          <p:cNvSpPr>
            <a:spLocks noGrp="1"/>
          </p:cNvSpPr>
          <p:nvPr>
            <p:ph idx="1"/>
          </p:nvPr>
        </p:nvSpPr>
        <p:spPr>
          <a:xfrm>
            <a:off x="838200" y="1167320"/>
            <a:ext cx="10515600" cy="5009644"/>
          </a:xfrm>
        </p:spPr>
        <p:txBody>
          <a:bodyPr>
            <a:normAutofit/>
          </a:bodyPr>
          <a:lstStyle/>
          <a:p>
            <a:r>
              <a:rPr lang="en-US" sz="2400" dirty="0">
                <a:latin typeface="Times New Roman" panose="02020603050405020304" pitchFamily="18" charset="0"/>
                <a:cs typeface="Times New Roman" panose="02020603050405020304" pitchFamily="18" charset="0"/>
              </a:rPr>
              <a:t>Supervised Learning has been broadly classified into 2 types.</a:t>
            </a:r>
          </a:p>
          <a:p>
            <a:pPr marL="536575">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Regression</a:t>
            </a:r>
            <a:endParaRPr lang="en-US" sz="2400" dirty="0">
              <a:latin typeface="Times New Roman" panose="02020603050405020304" pitchFamily="18" charset="0"/>
              <a:cs typeface="Times New Roman" panose="02020603050405020304" pitchFamily="18" charset="0"/>
            </a:endParaRPr>
          </a:p>
          <a:p>
            <a:pPr marL="536575">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Classification</a:t>
            </a:r>
          </a:p>
          <a:p>
            <a:pPr marL="307975" indent="0">
              <a:buNone/>
            </a:pPr>
            <a:endParaRPr lang="en-US" sz="2400" dirty="0">
              <a:latin typeface="Times New Roman" panose="02020603050405020304" pitchFamily="18" charset="0"/>
              <a:cs typeface="Times New Roman" panose="02020603050405020304" pitchFamily="18" charset="0"/>
            </a:endParaRPr>
          </a:p>
          <a:p>
            <a:pPr marL="342900" lvl="0" indent="-342900" algn="just" rtl="0">
              <a:spcBef>
                <a:spcPts val="400"/>
              </a:spcBef>
              <a:spcAft>
                <a:spcPts val="0"/>
              </a:spcAft>
              <a:buClr>
                <a:srgbClr val="9900FF"/>
              </a:buClr>
              <a:buSzPts val="2000"/>
              <a:buChar char="•"/>
            </a:pPr>
            <a:r>
              <a:rPr lang="en-US" sz="2400" b="1" dirty="0">
                <a:latin typeface="Times New Roman" panose="02020603050405020304" pitchFamily="18" charset="0"/>
                <a:ea typeface="Times New Roman"/>
                <a:cs typeface="Times New Roman" panose="02020603050405020304" pitchFamily="18" charset="0"/>
                <a:sym typeface="Times New Roman"/>
              </a:rPr>
              <a:t>Classification:</a:t>
            </a:r>
            <a:r>
              <a:rPr lang="en-US" sz="2400" dirty="0">
                <a:latin typeface="Times New Roman" panose="02020603050405020304" pitchFamily="18" charset="0"/>
                <a:ea typeface="Times New Roman"/>
                <a:cs typeface="Times New Roman" panose="02020603050405020304" pitchFamily="18" charset="0"/>
                <a:sym typeface="Times New Roman"/>
              </a:rPr>
              <a:t> With classification, we are interested in </a:t>
            </a:r>
            <a:r>
              <a:rPr lang="en-US" sz="2400" dirty="0">
                <a:solidFill>
                  <a:srgbClr val="0000FF"/>
                </a:solidFill>
                <a:latin typeface="Times New Roman" panose="02020603050405020304" pitchFamily="18" charset="0"/>
                <a:ea typeface="Times New Roman"/>
                <a:cs typeface="Times New Roman" panose="02020603050405020304" pitchFamily="18" charset="0"/>
                <a:sym typeface="Times New Roman"/>
              </a:rPr>
              <a:t>predicting discrete values</a:t>
            </a:r>
            <a:r>
              <a:rPr lang="en-US" sz="2400" dirty="0">
                <a:latin typeface="Times New Roman" panose="02020603050405020304" pitchFamily="18" charset="0"/>
                <a:ea typeface="Times New Roman"/>
                <a:cs typeface="Times New Roman" panose="02020603050405020304" pitchFamily="18" charset="0"/>
                <a:sym typeface="Times New Roman"/>
              </a:rPr>
              <a:t> (</a:t>
            </a:r>
            <a:r>
              <a:rPr lang="en-US" sz="2400" dirty="0">
                <a:solidFill>
                  <a:srgbClr val="FF0000"/>
                </a:solidFill>
                <a:latin typeface="Times New Roman" panose="02020603050405020304" pitchFamily="18" charset="0"/>
                <a:ea typeface="Times New Roman"/>
                <a:cs typeface="Times New Roman" panose="02020603050405020304" pitchFamily="18" charset="0"/>
                <a:sym typeface="Times New Roman"/>
              </a:rPr>
              <a:t>example: is the email spam </a:t>
            </a:r>
            <a:r>
              <a:rPr lang="en-US" sz="2400" dirty="0" smtClean="0">
                <a:solidFill>
                  <a:srgbClr val="FF0000"/>
                </a:solidFill>
                <a:latin typeface="Times New Roman" panose="02020603050405020304" pitchFamily="18" charset="0"/>
                <a:ea typeface="Times New Roman"/>
                <a:cs typeface="Times New Roman" panose="02020603050405020304" pitchFamily="18" charset="0"/>
                <a:sym typeface="Times New Roman"/>
              </a:rPr>
              <a:t>or </a:t>
            </a:r>
            <a:r>
              <a:rPr lang="en-US" sz="2400" dirty="0">
                <a:solidFill>
                  <a:srgbClr val="FF0000"/>
                </a:solidFill>
                <a:latin typeface="Times New Roman" panose="02020603050405020304" pitchFamily="18" charset="0"/>
                <a:ea typeface="Times New Roman"/>
                <a:cs typeface="Times New Roman" panose="02020603050405020304" pitchFamily="18" charset="0"/>
                <a:sym typeface="Times New Roman"/>
              </a:rPr>
              <a:t>not </a:t>
            </a:r>
            <a:r>
              <a:rPr lang="en-US" sz="2400" dirty="0" smtClean="0">
                <a:solidFill>
                  <a:srgbClr val="FF0000"/>
                </a:solidFill>
                <a:latin typeface="Times New Roman" panose="02020603050405020304" pitchFamily="18" charset="0"/>
                <a:ea typeface="Times New Roman"/>
                <a:cs typeface="Times New Roman" panose="02020603050405020304" pitchFamily="18" charset="0"/>
                <a:sym typeface="Times New Roman"/>
              </a:rPr>
              <a:t>spam). </a:t>
            </a:r>
            <a:endParaRPr lang="en-US" sz="2400"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spcBef>
                <a:spcPts val="400"/>
              </a:spcBef>
              <a:spcAft>
                <a:spcPts val="0"/>
              </a:spcAft>
              <a:buClr>
                <a:srgbClr val="9900FF"/>
              </a:buClr>
              <a:buSzPts val="2000"/>
              <a:buNone/>
            </a:pPr>
            <a:endParaRPr lang="en-US" sz="2400" dirty="0">
              <a:latin typeface="Times New Roman" panose="02020603050405020304" pitchFamily="18" charset="0"/>
              <a:ea typeface="Times New Roman"/>
              <a:cs typeface="Times New Roman" panose="02020603050405020304" pitchFamily="18" charset="0"/>
              <a:sym typeface="Times New Roman"/>
            </a:endParaRPr>
          </a:p>
          <a:p>
            <a:pPr marL="342900" lvl="0" indent="-342900" algn="just" rtl="0">
              <a:spcBef>
                <a:spcPts val="400"/>
              </a:spcBef>
              <a:spcAft>
                <a:spcPts val="0"/>
              </a:spcAft>
              <a:buClr>
                <a:srgbClr val="9900FF"/>
              </a:buClr>
              <a:buSzPts val="2000"/>
              <a:buChar char="•"/>
            </a:pPr>
            <a:r>
              <a:rPr lang="en-US" sz="2400" b="1" dirty="0">
                <a:latin typeface="Times New Roman" panose="02020603050405020304" pitchFamily="18" charset="0"/>
                <a:ea typeface="Times New Roman"/>
                <a:cs typeface="Times New Roman" panose="02020603050405020304" pitchFamily="18" charset="0"/>
                <a:sym typeface="Times New Roman"/>
              </a:rPr>
              <a:t>Regression: </a:t>
            </a:r>
            <a:r>
              <a:rPr lang="en-US" sz="2400" dirty="0">
                <a:latin typeface="Times New Roman" panose="02020603050405020304" pitchFamily="18" charset="0"/>
                <a:ea typeface="Times New Roman"/>
                <a:cs typeface="Times New Roman" panose="02020603050405020304" pitchFamily="18" charset="0"/>
                <a:sym typeface="Times New Roman"/>
              </a:rPr>
              <a:t>On the hand, </a:t>
            </a:r>
            <a:r>
              <a:rPr lang="en-US" sz="2400" dirty="0" smtClean="0">
                <a:latin typeface="Times New Roman" panose="02020603050405020304" pitchFamily="18" charset="0"/>
                <a:ea typeface="Times New Roman"/>
                <a:cs typeface="Times New Roman" panose="02020603050405020304" pitchFamily="18" charset="0"/>
                <a:sym typeface="Times New Roman"/>
              </a:rPr>
              <a:t>predicts </a:t>
            </a:r>
            <a:r>
              <a:rPr lang="en-US" sz="2400" dirty="0" smtClean="0">
                <a:solidFill>
                  <a:srgbClr val="0000FF"/>
                </a:solidFill>
                <a:latin typeface="Times New Roman" panose="02020603050405020304" pitchFamily="18" charset="0"/>
                <a:ea typeface="Times New Roman"/>
                <a:cs typeface="Times New Roman" panose="02020603050405020304" pitchFamily="18" charset="0"/>
                <a:sym typeface="Times New Roman"/>
              </a:rPr>
              <a:t>continuous </a:t>
            </a:r>
            <a:r>
              <a:rPr lang="en-US" sz="2400" dirty="0">
                <a:solidFill>
                  <a:srgbClr val="0000FF"/>
                </a:solidFill>
                <a:latin typeface="Times New Roman" panose="02020603050405020304" pitchFamily="18" charset="0"/>
                <a:ea typeface="Times New Roman"/>
                <a:cs typeface="Times New Roman" panose="02020603050405020304" pitchFamily="18" charset="0"/>
                <a:sym typeface="Times New Roman"/>
              </a:rPr>
              <a:t>target values </a:t>
            </a:r>
            <a:r>
              <a:rPr lang="en-US" sz="2400" dirty="0">
                <a:latin typeface="Times New Roman" panose="02020603050405020304" pitchFamily="18" charset="0"/>
                <a:ea typeface="Times New Roman"/>
                <a:cs typeface="Times New Roman" panose="02020603050405020304" pitchFamily="18" charset="0"/>
                <a:sym typeface="Times New Roman"/>
              </a:rPr>
              <a:t>(</a:t>
            </a:r>
            <a:r>
              <a:rPr lang="en-US" sz="2400" dirty="0">
                <a:solidFill>
                  <a:srgbClr val="FF0000"/>
                </a:solidFill>
                <a:latin typeface="Times New Roman" panose="02020603050405020304" pitchFamily="18" charset="0"/>
                <a:ea typeface="Times New Roman"/>
                <a:cs typeface="Times New Roman" panose="02020603050405020304" pitchFamily="18" charset="0"/>
                <a:sym typeface="Times New Roman"/>
              </a:rPr>
              <a:t>example:</a:t>
            </a:r>
            <a:r>
              <a:rPr lang="en-US" sz="2400" dirty="0">
                <a:latin typeface="Times New Roman" panose="02020603050405020304" pitchFamily="18" charset="0"/>
                <a:ea typeface="Times New Roman"/>
                <a:cs typeface="Times New Roman" panose="02020603050405020304" pitchFamily="18" charset="0"/>
                <a:sym typeface="Times New Roman"/>
              </a:rPr>
              <a:t> </a:t>
            </a:r>
            <a:r>
              <a:rPr lang="en-US" sz="2400" dirty="0">
                <a:solidFill>
                  <a:srgbClr val="FF0000"/>
                </a:solidFill>
                <a:latin typeface="Times New Roman" panose="02020603050405020304" pitchFamily="18" charset="0"/>
                <a:ea typeface="Times New Roman"/>
                <a:cs typeface="Times New Roman" panose="02020603050405020304" pitchFamily="18" charset="0"/>
                <a:sym typeface="Times New Roman"/>
              </a:rPr>
              <a:t>predict the price of houses in </a:t>
            </a:r>
            <a:r>
              <a:rPr lang="en-US" sz="2400" dirty="0" smtClean="0">
                <a:solidFill>
                  <a:srgbClr val="FF0000"/>
                </a:solidFill>
                <a:latin typeface="Times New Roman" panose="02020603050405020304" pitchFamily="18" charset="0"/>
                <a:ea typeface="Times New Roman"/>
                <a:cs typeface="Times New Roman" panose="02020603050405020304" pitchFamily="18" charset="0"/>
                <a:sym typeface="Times New Roman"/>
              </a:rPr>
              <a:t>rupees</a:t>
            </a:r>
            <a:r>
              <a:rPr lang="en-US" sz="2400" dirty="0" smtClean="0">
                <a:solidFill>
                  <a:srgbClr val="FF0000"/>
                </a:solidFill>
                <a:latin typeface="Times New Roman" panose="02020603050405020304" pitchFamily="18" charset="0"/>
                <a:ea typeface="Times New Roman"/>
                <a:cs typeface="Times New Roman" panose="02020603050405020304" pitchFamily="18" charset="0"/>
                <a:sym typeface="Times New Roman"/>
              </a:rPr>
              <a:t>).</a:t>
            </a:r>
          </a:p>
          <a:p>
            <a:pPr marL="0" lvl="0" indent="0" algn="just" rtl="0">
              <a:spcBef>
                <a:spcPts val="400"/>
              </a:spcBef>
              <a:spcAft>
                <a:spcPts val="0"/>
              </a:spcAft>
              <a:buClr>
                <a:srgbClr val="9900FF"/>
              </a:buClr>
              <a:buSzPts val="2000"/>
              <a:buNone/>
            </a:pPr>
            <a:endParaRPr lang="en-US" sz="2400" dirty="0">
              <a:solidFill>
                <a:srgbClr val="FF0000"/>
              </a:solidFill>
              <a:latin typeface="Times New Roman" panose="02020603050405020304" pitchFamily="18" charset="0"/>
              <a:cs typeface="Times New Roman" panose="02020603050405020304" pitchFamily="18" charset="0"/>
            </a:endParaRPr>
          </a:p>
          <a:p>
            <a:pPr lvl="1" algn="just">
              <a:spcBef>
                <a:spcPts val="400"/>
              </a:spcBef>
              <a:buClr>
                <a:schemeClr val="dk1"/>
              </a:buClr>
              <a:buSzPts val="2000"/>
              <a:buFont typeface="Wingdings" panose="05000000000000000000" pitchFamily="2" charset="2"/>
              <a:buChar char="Ø"/>
            </a:pPr>
            <a:r>
              <a:rPr lang="en-US" dirty="0">
                <a:latin typeface="Times New Roman" panose="02020603050405020304" pitchFamily="18" charset="0"/>
                <a:ea typeface="Times New Roman"/>
                <a:cs typeface="Times New Roman" panose="02020603050405020304" pitchFamily="18" charset="0"/>
                <a:sym typeface="Times New Roman"/>
              </a:rPr>
              <a:t>Some regression-based models are used for classification as well, such as </a:t>
            </a:r>
            <a:r>
              <a:rPr lang="en-US" b="1" dirty="0">
                <a:latin typeface="Times New Roman" panose="02020603050405020304" pitchFamily="18" charset="0"/>
                <a:ea typeface="Times New Roman"/>
                <a:cs typeface="Times New Roman" panose="02020603050405020304" pitchFamily="18" charset="0"/>
                <a:sym typeface="Times New Roman"/>
              </a:rPr>
              <a:t>Logistic Regression</a:t>
            </a:r>
            <a:r>
              <a:rPr lang="en-US" dirty="0">
                <a:latin typeface="Times New Roman" panose="02020603050405020304" pitchFamily="18" charset="0"/>
                <a:ea typeface="Times New Roman"/>
                <a:cs typeface="Times New Roman" panose="02020603050405020304" pitchFamily="18" charset="0"/>
                <a:sym typeface="Times New Roman"/>
              </a:rPr>
              <a:t> which outputs a probability ∈[0,1] o</a:t>
            </a:r>
            <a:r>
              <a:rPr lang="en-US" dirty="0">
                <a:latin typeface="Times New Roman" panose="02020603050405020304" pitchFamily="18" charset="0"/>
                <a:cs typeface="Times New Roman" panose="02020603050405020304" pitchFamily="18" charset="0"/>
              </a:rPr>
              <a:t>f belonging to a given class (e.g., 20% chance of being spam).</a:t>
            </a:r>
          </a:p>
          <a:p>
            <a:pPr marL="0" indent="0">
              <a:buNone/>
            </a:pPr>
            <a:endParaRPr lang="en-US" sz="2400" dirty="0"/>
          </a:p>
        </p:txBody>
      </p:sp>
      <p:sp>
        <p:nvSpPr>
          <p:cNvPr id="4" name="Slide Number Placeholder 3"/>
          <p:cNvSpPr>
            <a:spLocks noGrp="1"/>
          </p:cNvSpPr>
          <p:nvPr>
            <p:ph type="sldNum" sz="quarter" idx="12"/>
          </p:nvPr>
        </p:nvSpPr>
        <p:spPr/>
        <p:txBody>
          <a:bodyPr/>
          <a:lstStyle/>
          <a:p>
            <a:fld id="{D2F8B522-47F2-415F-83D6-7890B1F943EC}" type="slidenum">
              <a:rPr lang="en-IN" smtClean="0"/>
              <a:t>10</a:t>
            </a:fld>
            <a:endParaRPr lang="en-IN"/>
          </a:p>
        </p:txBody>
      </p:sp>
    </p:spTree>
    <p:extLst>
      <p:ext uri="{BB962C8B-B14F-4D97-AF65-F5344CB8AC3E}">
        <p14:creationId xmlns:p14="http://schemas.microsoft.com/office/powerpoint/2010/main" val="8927007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61500F-E28C-9E45-11D5-6ED4C9C4B433}"/>
              </a:ext>
            </a:extLst>
          </p:cNvPr>
          <p:cNvSpPr>
            <a:spLocks noGrp="1"/>
          </p:cNvSpPr>
          <p:nvPr>
            <p:ph type="title"/>
          </p:nvPr>
        </p:nvSpPr>
        <p:spPr>
          <a:xfrm>
            <a:off x="838200" y="365125"/>
            <a:ext cx="10515600" cy="743585"/>
          </a:xfrm>
        </p:spPr>
        <p:txBody>
          <a:bodyPr>
            <a:normAutofit/>
          </a:bodyPr>
          <a:lstStyle/>
          <a:p>
            <a:r>
              <a:rPr lang="en-US" sz="3600" b="1" i="0" dirty="0">
                <a:effectLst/>
                <a:latin typeface="Times New Roman" panose="02020603050405020304" pitchFamily="18" charset="0"/>
                <a:cs typeface="Times New Roman" panose="02020603050405020304" pitchFamily="18" charset="0"/>
              </a:rPr>
              <a:t>Unsupervised machine learning</a:t>
            </a:r>
            <a:r>
              <a:rPr lang="en-US" sz="3600" b="0" i="0" dirty="0">
                <a:effectLst/>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536ABBF2-B74D-B3D6-710B-05942FE8560C}"/>
              </a:ext>
            </a:extLst>
          </p:cNvPr>
          <p:cNvSpPr>
            <a:spLocks noGrp="1"/>
          </p:cNvSpPr>
          <p:nvPr>
            <p:ph idx="1"/>
          </p:nvPr>
        </p:nvSpPr>
        <p:spPr>
          <a:xfrm>
            <a:off x="838200" y="1245870"/>
            <a:ext cx="10515600" cy="4931093"/>
          </a:xfrm>
        </p:spPr>
        <p:txBody>
          <a:bodyPr>
            <a:normAutofit/>
          </a:bodyPr>
          <a:lstStyle/>
          <a:p>
            <a:pPr algn="just"/>
            <a:r>
              <a:rPr lang="en-US" i="0" dirty="0">
                <a:effectLst/>
                <a:latin typeface="Times New Roman" panose="02020603050405020304" pitchFamily="18" charset="0"/>
                <a:cs typeface="Times New Roman" panose="02020603050405020304" pitchFamily="18" charset="0"/>
              </a:rPr>
              <a:t>Unsupervised machine learning </a:t>
            </a:r>
            <a:r>
              <a:rPr lang="en-US" b="1" i="0" dirty="0">
                <a:effectLst/>
                <a:latin typeface="Times New Roman" panose="02020603050405020304" pitchFamily="18" charset="0"/>
                <a:cs typeface="Times New Roman" panose="02020603050405020304" pitchFamily="18" charset="0"/>
              </a:rPr>
              <a:t>has no explicitly defined output</a:t>
            </a:r>
            <a:r>
              <a:rPr lang="en-US" b="0" i="0" dirty="0">
                <a:effectLst/>
                <a:latin typeface="Times New Roman" panose="02020603050405020304" pitchFamily="18" charset="0"/>
                <a:cs typeface="Times New Roman" panose="02020603050405020304" pitchFamily="18" charset="0"/>
              </a:rPr>
              <a:t>. </a:t>
            </a:r>
          </a:p>
          <a:p>
            <a:pPr algn="just"/>
            <a:r>
              <a:rPr lang="en-US" b="0" i="0" dirty="0">
                <a:effectLst/>
                <a:latin typeface="Times New Roman" panose="02020603050405020304" pitchFamily="18" charset="0"/>
                <a:cs typeface="Times New Roman" panose="02020603050405020304" pitchFamily="18" charset="0"/>
              </a:rPr>
              <a:t>The </a:t>
            </a:r>
            <a:r>
              <a:rPr lang="en-US" b="1" i="1" dirty="0">
                <a:effectLst/>
                <a:latin typeface="Times New Roman" panose="02020603050405020304" pitchFamily="18" charset="0"/>
                <a:cs typeface="Times New Roman" panose="02020603050405020304" pitchFamily="18" charset="0"/>
              </a:rPr>
              <a:t>idea is to discover knowledge or structure in the data</a:t>
            </a:r>
            <a:r>
              <a:rPr lang="en-US" b="0" i="0" dirty="0">
                <a:effectLst/>
                <a:latin typeface="Times New Roman" panose="02020603050405020304" pitchFamily="18" charset="0"/>
                <a:cs typeface="Times New Roman" panose="02020603050405020304" pitchFamily="18" charset="0"/>
              </a:rPr>
              <a:t>. </a:t>
            </a:r>
          </a:p>
          <a:p>
            <a:pPr marL="0" indent="0" algn="just">
              <a:buNone/>
            </a:pPr>
            <a:endParaRPr lang="en-US" b="0" i="0" dirty="0">
              <a:effectLst/>
              <a:latin typeface="Times New Roman" panose="02020603050405020304" pitchFamily="18" charset="0"/>
              <a:cs typeface="Times New Roman" panose="02020603050405020304" pitchFamily="18" charset="0"/>
            </a:endParaRPr>
          </a:p>
          <a:p>
            <a:pPr algn="just"/>
            <a:r>
              <a:rPr lang="en-US" b="0" i="0" dirty="0">
                <a:solidFill>
                  <a:srgbClr val="0000FF"/>
                </a:solidFill>
                <a:effectLst/>
                <a:latin typeface="Times New Roman" panose="02020603050405020304" pitchFamily="18" charset="0"/>
                <a:cs typeface="Times New Roman" panose="02020603050405020304" pitchFamily="18" charset="0"/>
              </a:rPr>
              <a:t>For example: </a:t>
            </a:r>
          </a:p>
          <a:p>
            <a:pPr marL="446088" algn="just">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 Group</a:t>
            </a:r>
            <a:r>
              <a:rPr lang="en-US" dirty="0">
                <a:latin typeface="Times New Roman" panose="02020603050405020304" pitchFamily="18" charset="0"/>
                <a:cs typeface="Times New Roman" panose="02020603050405020304" pitchFamily="18" charset="0"/>
              </a:rPr>
              <a:t>ing of </a:t>
            </a:r>
            <a:r>
              <a:rPr lang="en-US" b="0" i="0" dirty="0">
                <a:effectLst/>
                <a:latin typeface="Times New Roman" panose="02020603050405020304" pitchFamily="18" charset="0"/>
                <a:cs typeface="Times New Roman" panose="02020603050405020304" pitchFamily="18" charset="0"/>
              </a:rPr>
              <a:t>customers based on their buying patterns</a:t>
            </a:r>
          </a:p>
          <a:p>
            <a:pPr marL="446088" algn="just">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 Grouping new articles based on topics like sports, politics, business etc. </a:t>
            </a:r>
            <a:endParaRPr lang="en-US" b="0" i="0" dirty="0" smtClean="0">
              <a:effectLst/>
              <a:latin typeface="Times New Roman" panose="02020603050405020304" pitchFamily="18" charset="0"/>
              <a:cs typeface="Times New Roman" panose="02020603050405020304" pitchFamily="18" charset="0"/>
            </a:endParaRPr>
          </a:p>
          <a:p>
            <a:pPr marL="217488" indent="0" algn="just">
              <a:buNone/>
            </a:pPr>
            <a:endParaRPr lang="en-US" b="0"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This task of discovering inherent clusters or groups in the data is known as </a:t>
            </a:r>
            <a:r>
              <a:rPr lang="en-US" b="1" i="0" dirty="0">
                <a:effectLst/>
                <a:latin typeface="Times New Roman" panose="02020603050405020304" pitchFamily="18" charset="0"/>
                <a:cs typeface="Times New Roman" panose="02020603050405020304" pitchFamily="18" charset="0"/>
              </a:rPr>
              <a:t>Clustering</a:t>
            </a:r>
            <a:endParaRPr lang="en-US" b="0" i="0" dirty="0">
              <a:effectLst/>
              <a:latin typeface="Times New Roman" panose="02020603050405020304" pitchFamily="18" charset="0"/>
              <a:cs typeface="Times New Roman" panose="02020603050405020304" pitchFamily="18" charset="0"/>
            </a:endParaRPr>
          </a:p>
          <a:p>
            <a:pPr algn="just"/>
            <a:endParaRPr lang="en-US" b="0" i="0" dirty="0">
              <a:effectLst/>
              <a:latin typeface="Times New Roman" panose="02020603050405020304" pitchFamily="18" charset="0"/>
              <a:cs typeface="Times New Roman" panose="02020603050405020304" pitchFamily="18" charset="0"/>
            </a:endParaRPr>
          </a:p>
          <a:p>
            <a:endParaRPr lang="en-IN" dirty="0"/>
          </a:p>
        </p:txBody>
      </p:sp>
      <p:sp>
        <p:nvSpPr>
          <p:cNvPr id="4" name="Slide Number Placeholder 3"/>
          <p:cNvSpPr>
            <a:spLocks noGrp="1"/>
          </p:cNvSpPr>
          <p:nvPr>
            <p:ph type="sldNum" sz="quarter" idx="12"/>
          </p:nvPr>
        </p:nvSpPr>
        <p:spPr/>
        <p:txBody>
          <a:bodyPr/>
          <a:lstStyle/>
          <a:p>
            <a:fld id="{D2F8B522-47F2-415F-83D6-7890B1F943EC}" type="slidenum">
              <a:rPr lang="en-IN" smtClean="0"/>
              <a:t>11</a:t>
            </a:fld>
            <a:endParaRPr lang="en-IN"/>
          </a:p>
        </p:txBody>
      </p:sp>
    </p:spTree>
    <p:extLst>
      <p:ext uri="{BB962C8B-B14F-4D97-AF65-F5344CB8AC3E}">
        <p14:creationId xmlns:p14="http://schemas.microsoft.com/office/powerpoint/2010/main" val="34407438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231"/>
        <p:cNvGrpSpPr/>
        <p:nvPr/>
      </p:nvGrpSpPr>
      <p:grpSpPr>
        <a:xfrm>
          <a:off x="0" y="0"/>
          <a:ext cx="0" cy="0"/>
          <a:chOff x="0" y="0"/>
          <a:chExt cx="0" cy="0"/>
        </a:xfrm>
      </p:grpSpPr>
      <p:sp>
        <p:nvSpPr>
          <p:cNvPr id="232" name="Google Shape;232;p17"/>
          <p:cNvSpPr txBox="1">
            <a:spLocks noGrp="1"/>
          </p:cNvSpPr>
          <p:nvPr>
            <p:ph type="title"/>
          </p:nvPr>
        </p:nvSpPr>
        <p:spPr>
          <a:xfrm>
            <a:off x="1981200" y="274638"/>
            <a:ext cx="8229600" cy="715962"/>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sz="3200" b="1" dirty="0">
                <a:latin typeface="Times New Roman"/>
                <a:ea typeface="Times New Roman"/>
                <a:cs typeface="Times New Roman"/>
                <a:sym typeface="Times New Roman"/>
              </a:rPr>
              <a:t>Semi-supervised Learning</a:t>
            </a:r>
            <a:br>
              <a:rPr lang="en-US" sz="3200" b="1" dirty="0">
                <a:latin typeface="Times New Roman"/>
                <a:ea typeface="Times New Roman"/>
                <a:cs typeface="Times New Roman"/>
                <a:sym typeface="Times New Roman"/>
              </a:rPr>
            </a:br>
            <a:endParaRPr sz="3200" dirty="0">
              <a:latin typeface="Times New Roman"/>
              <a:ea typeface="Times New Roman"/>
              <a:cs typeface="Times New Roman"/>
              <a:sym typeface="Times New Roman"/>
            </a:endParaRPr>
          </a:p>
        </p:txBody>
      </p:sp>
      <p:sp>
        <p:nvSpPr>
          <p:cNvPr id="233" name="Google Shape;233;p17"/>
          <p:cNvSpPr txBox="1">
            <a:spLocks noGrp="1"/>
          </p:cNvSpPr>
          <p:nvPr>
            <p:ph type="body" idx="1"/>
          </p:nvPr>
        </p:nvSpPr>
        <p:spPr>
          <a:xfrm>
            <a:off x="571500" y="695529"/>
            <a:ext cx="10687050" cy="45259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2400"/>
            </a:pPr>
            <a:r>
              <a:rPr lang="en-US" sz="2400" dirty="0">
                <a:latin typeface="Times New Roman"/>
                <a:ea typeface="Times New Roman"/>
                <a:cs typeface="Times New Roman"/>
                <a:sym typeface="Times New Roman"/>
              </a:rPr>
              <a:t>In semi-supervised learning, we have partially-labeled data. The goal is to use unlabeled data around the labeled data as helpers to solve the task. Most semi-supervised learning algorithms are a combination of unsupervised and supervised learning algorithms.</a:t>
            </a:r>
            <a:endParaRPr sz="2400" dirty="0">
              <a:latin typeface="Times New Roman"/>
              <a:ea typeface="Times New Roman"/>
              <a:cs typeface="Times New Roman"/>
              <a:sym typeface="Times New Roman"/>
            </a:endParaRPr>
          </a:p>
        </p:txBody>
      </p:sp>
      <p:pic>
        <p:nvPicPr>
          <p:cNvPr id="234" name="Google Shape;234;p17"/>
          <p:cNvPicPr preferRelativeResize="0"/>
          <p:nvPr/>
        </p:nvPicPr>
        <p:blipFill rotWithShape="1">
          <a:blip r:embed="rId3">
            <a:alphaModFix/>
          </a:blip>
          <a:srcRect/>
          <a:stretch/>
        </p:blipFill>
        <p:spPr>
          <a:xfrm>
            <a:off x="5497831" y="3771900"/>
            <a:ext cx="4799122" cy="2400299"/>
          </a:xfrm>
          <a:prstGeom prst="rect">
            <a:avLst/>
          </a:prstGeom>
          <a:noFill/>
          <a:ln>
            <a:noFill/>
          </a:ln>
        </p:spPr>
      </p:pic>
      <p:sp>
        <p:nvSpPr>
          <p:cNvPr id="235" name="Google Shape;235;p17"/>
          <p:cNvSpPr/>
          <p:nvPr/>
        </p:nvSpPr>
        <p:spPr>
          <a:xfrm>
            <a:off x="5955030" y="6172199"/>
            <a:ext cx="2960370" cy="369291"/>
          </a:xfrm>
          <a:prstGeom prst="rect">
            <a:avLst/>
          </a:prstGeom>
          <a:noFill/>
          <a:ln>
            <a:noFill/>
          </a:ln>
        </p:spPr>
        <p:txBody>
          <a:bodyPr spcFirstLastPara="1" wrap="square" lIns="91425" tIns="45700" rIns="91425" bIns="45700" anchor="t" anchorCtr="0">
            <a:spAutoFit/>
          </a:bodyPr>
          <a:lstStyle/>
          <a:p>
            <a:r>
              <a:rPr lang="en-US" i="1" dirty="0" err="1">
                <a:solidFill>
                  <a:schemeClr val="dk1"/>
                </a:solidFill>
                <a:latin typeface="Cambria"/>
                <a:ea typeface="Cambria"/>
                <a:cs typeface="Cambria"/>
                <a:sym typeface="Cambria"/>
              </a:rPr>
              <a:t>Semisupervised</a:t>
            </a:r>
            <a:r>
              <a:rPr lang="en-US" i="1" dirty="0">
                <a:solidFill>
                  <a:schemeClr val="dk1"/>
                </a:solidFill>
                <a:latin typeface="Cambria"/>
                <a:ea typeface="Cambria"/>
                <a:cs typeface="Cambria"/>
                <a:sym typeface="Cambria"/>
              </a:rPr>
              <a:t> learning</a:t>
            </a:r>
            <a:endParaRPr dirty="0">
              <a:solidFill>
                <a:schemeClr val="dk1"/>
              </a:solidFill>
              <a:latin typeface="Cambria"/>
              <a:ea typeface="Cambria"/>
              <a:cs typeface="Cambria"/>
              <a:sym typeface="Cambria"/>
            </a:endParaRPr>
          </a:p>
        </p:txBody>
      </p:sp>
      <p:sp>
        <p:nvSpPr>
          <p:cNvPr id="236" name="Google Shape;236;p17"/>
          <p:cNvSpPr/>
          <p:nvPr/>
        </p:nvSpPr>
        <p:spPr>
          <a:xfrm>
            <a:off x="1840230" y="2172391"/>
            <a:ext cx="8370570" cy="1785064"/>
          </a:xfrm>
          <a:prstGeom prst="rect">
            <a:avLst/>
          </a:prstGeom>
          <a:noFill/>
          <a:ln>
            <a:noFill/>
          </a:ln>
        </p:spPr>
        <p:txBody>
          <a:bodyPr spcFirstLastPara="1" wrap="square" lIns="91425" tIns="45700" rIns="91425" bIns="45700" anchor="t" anchorCtr="0">
            <a:spAutoFit/>
          </a:bodyPr>
          <a:lstStyle/>
          <a:p>
            <a:pPr algn="just"/>
            <a:r>
              <a:rPr lang="en-US" sz="2200" dirty="0">
                <a:solidFill>
                  <a:schemeClr val="dk1"/>
                </a:solidFill>
                <a:latin typeface="Times New Roman"/>
                <a:ea typeface="Times New Roman"/>
                <a:cs typeface="Times New Roman"/>
                <a:sym typeface="Times New Roman"/>
              </a:rPr>
              <a:t>For example, </a:t>
            </a:r>
            <a:r>
              <a:rPr lang="en-US" sz="2200" i="1" dirty="0">
                <a:solidFill>
                  <a:schemeClr val="dk1"/>
                </a:solidFill>
                <a:latin typeface="Times New Roman"/>
                <a:ea typeface="Times New Roman"/>
                <a:cs typeface="Times New Roman"/>
                <a:sym typeface="Times New Roman"/>
              </a:rPr>
              <a:t>deep belief networks </a:t>
            </a:r>
            <a:r>
              <a:rPr lang="en-US" sz="2200" dirty="0">
                <a:solidFill>
                  <a:schemeClr val="dk1"/>
                </a:solidFill>
                <a:latin typeface="Times New Roman"/>
                <a:ea typeface="Times New Roman"/>
                <a:cs typeface="Times New Roman"/>
                <a:sym typeface="Times New Roman"/>
              </a:rPr>
              <a:t>(DBNs) are based on unsupervised</a:t>
            </a:r>
            <a:endParaRPr dirty="0"/>
          </a:p>
          <a:p>
            <a:pPr algn="just"/>
            <a:r>
              <a:rPr lang="en-US" sz="2200" dirty="0">
                <a:solidFill>
                  <a:schemeClr val="dk1"/>
                </a:solidFill>
                <a:latin typeface="Times New Roman"/>
                <a:ea typeface="Times New Roman"/>
                <a:cs typeface="Times New Roman"/>
                <a:sym typeface="Times New Roman"/>
              </a:rPr>
              <a:t>components called </a:t>
            </a:r>
            <a:r>
              <a:rPr lang="en-US" sz="2200" i="1" dirty="0">
                <a:solidFill>
                  <a:schemeClr val="dk1"/>
                </a:solidFill>
                <a:latin typeface="Times New Roman"/>
                <a:ea typeface="Times New Roman"/>
                <a:cs typeface="Times New Roman"/>
                <a:sym typeface="Times New Roman"/>
              </a:rPr>
              <a:t>restricted Boltzmann machines </a:t>
            </a:r>
            <a:r>
              <a:rPr lang="en-US" sz="2200" dirty="0">
                <a:solidFill>
                  <a:schemeClr val="dk1"/>
                </a:solidFill>
                <a:latin typeface="Times New Roman"/>
                <a:ea typeface="Times New Roman"/>
                <a:cs typeface="Times New Roman"/>
                <a:sym typeface="Times New Roman"/>
              </a:rPr>
              <a:t>(RBMs) stacked on top of one another. RBMs are trained sequentially in an unsupervised manner, and then the whole system is fine-tuned using supervised learning techniques.</a:t>
            </a:r>
            <a:endParaRPr sz="2200" dirty="0">
              <a:solidFill>
                <a:schemeClr val="dk1"/>
              </a:solidFill>
              <a:latin typeface="Times New Roman"/>
              <a:ea typeface="Times New Roman"/>
              <a:cs typeface="Times New Roman"/>
              <a:sym typeface="Times New Roman"/>
            </a:endParaRPr>
          </a:p>
        </p:txBody>
      </p:sp>
      <p:sp>
        <p:nvSpPr>
          <p:cNvPr id="238" name="Google Shape;238;p17"/>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12</a:t>
            </a:f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387" y="274638"/>
            <a:ext cx="9617413" cy="715962"/>
          </a:xfrm>
        </p:spPr>
        <p:txBody>
          <a:bodyPr>
            <a:normAutofit fontScale="90000"/>
          </a:bodyPr>
          <a:lstStyle/>
          <a:p>
            <a:r>
              <a:rPr lang="en-US" b="1" dirty="0"/>
              <a:t/>
            </a:r>
            <a:br>
              <a:rPr lang="en-US" b="1" dirty="0"/>
            </a:br>
            <a:r>
              <a:rPr lang="en-US" b="1" dirty="0">
                <a:latin typeface="Times New Roman" panose="02020603050405020304" pitchFamily="18" charset="0"/>
                <a:cs typeface="Times New Roman" panose="02020603050405020304" pitchFamily="18" charset="0"/>
              </a:rPr>
              <a:t>Reinforcement</a:t>
            </a:r>
            <a:r>
              <a:rPr lang="en-US" b="1" dirty="0"/>
              <a:t> Learning</a:t>
            </a:r>
            <a:r>
              <a:rPr lang="en-US" dirty="0"/>
              <a:t/>
            </a:r>
            <a:br>
              <a:rPr lang="en-US" dirty="0"/>
            </a:br>
            <a:endParaRPr lang="en-US" dirty="0"/>
          </a:p>
        </p:txBody>
      </p:sp>
      <p:sp>
        <p:nvSpPr>
          <p:cNvPr id="3" name="Content Placeholder 2"/>
          <p:cNvSpPr>
            <a:spLocks noGrp="1"/>
          </p:cNvSpPr>
          <p:nvPr>
            <p:ph idx="1"/>
          </p:nvPr>
        </p:nvSpPr>
        <p:spPr>
          <a:xfrm>
            <a:off x="768485" y="990601"/>
            <a:ext cx="10671243" cy="5565842"/>
          </a:xfrm>
        </p:spPr>
        <p:txBody>
          <a:bodyPr>
            <a:noAutofit/>
          </a:bodyPr>
          <a:lstStyle/>
          <a:p>
            <a:pPr algn="just">
              <a:lnSpc>
                <a:spcPct val="100000"/>
              </a:lnSpc>
              <a:spcBef>
                <a:spcPts val="0"/>
              </a:spcBef>
            </a:pPr>
            <a:r>
              <a:rPr lang="en-US" sz="2400" dirty="0">
                <a:latin typeface="Times New Roman" panose="02020603050405020304" pitchFamily="18" charset="0"/>
                <a:cs typeface="Times New Roman" panose="02020603050405020304" pitchFamily="18" charset="0"/>
              </a:rPr>
              <a:t>Reinforcement Learning is a part of Machine learning where an agent is put in an environment and he learns to behave in this environment by performing certain actions and observing the rewards which it gets from those actions. </a:t>
            </a:r>
            <a:endParaRPr lang="en-US" sz="2400" dirty="0" smtClean="0">
              <a:latin typeface="Times New Roman" panose="02020603050405020304" pitchFamily="18" charset="0"/>
              <a:cs typeface="Times New Roman" panose="02020603050405020304" pitchFamily="18" charset="0"/>
            </a:endParaRPr>
          </a:p>
          <a:p>
            <a:pPr algn="just">
              <a:lnSpc>
                <a:spcPct val="100000"/>
              </a:lnSpc>
              <a:spcBef>
                <a:spcPts val="0"/>
              </a:spcBef>
            </a:pPr>
            <a:endParaRPr lang="en-US" sz="2400" dirty="0">
              <a:latin typeface="Times New Roman" panose="02020603050405020304" pitchFamily="18" charset="0"/>
              <a:cs typeface="Times New Roman" panose="02020603050405020304" pitchFamily="18" charset="0"/>
            </a:endParaRPr>
          </a:p>
          <a:p>
            <a:pPr algn="just">
              <a:lnSpc>
                <a:spcPct val="100000"/>
              </a:lnSpc>
              <a:spcBef>
                <a:spcPts val="0"/>
              </a:spcBef>
            </a:pPr>
            <a:r>
              <a:rPr lang="en-US" sz="2400" dirty="0">
                <a:latin typeface="Times New Roman" panose="02020603050405020304" pitchFamily="18" charset="0"/>
                <a:cs typeface="Times New Roman" panose="02020603050405020304" pitchFamily="18" charset="0"/>
              </a:rPr>
              <a:t>This type of Machine Learning is comparatively different. Imagine that you were dropped off at an isolated island! What would you do?</a:t>
            </a:r>
          </a:p>
          <a:p>
            <a:pPr algn="just">
              <a:lnSpc>
                <a:spcPct val="100000"/>
              </a:lnSpc>
              <a:spcBef>
                <a:spcPts val="0"/>
              </a:spcBef>
            </a:pPr>
            <a:r>
              <a:rPr lang="en-US" sz="2400" dirty="0">
                <a:latin typeface="Times New Roman" panose="02020603050405020304" pitchFamily="18" charset="0"/>
                <a:cs typeface="Times New Roman" panose="02020603050405020304" pitchFamily="18" charset="0"/>
              </a:rPr>
              <a:t>Panic? Yes, of course, initially we all would. But as time passes by, you will learn how to live on the island. You will explore the environment, understand the climate condition, the type of food that grows there, the dangers of the island, etc. This is exactly how Reinforcement Learning works, it involves an Agent (you, stuck on the island) that is put in an unknown environment (island), where he must learn by observing and performing actions that result in rewards</a:t>
            </a:r>
            <a:r>
              <a:rPr lang="en-US" sz="2400" dirty="0" smtClean="0">
                <a:latin typeface="Times New Roman" panose="02020603050405020304" pitchFamily="18" charset="0"/>
                <a:cs typeface="Times New Roman" panose="02020603050405020304" pitchFamily="18" charset="0"/>
              </a:rPr>
              <a:t>.</a:t>
            </a:r>
          </a:p>
          <a:p>
            <a:pPr marL="0" indent="0" algn="just">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algn="just">
              <a:lnSpc>
                <a:spcPct val="100000"/>
              </a:lnSpc>
              <a:spcBef>
                <a:spcPts val="0"/>
              </a:spcBef>
            </a:pPr>
            <a:r>
              <a:rPr lang="en-US" sz="2400" dirty="0">
                <a:latin typeface="Times New Roman" panose="02020603050405020304" pitchFamily="18" charset="0"/>
                <a:cs typeface="Times New Roman" panose="02020603050405020304" pitchFamily="18" charset="0"/>
              </a:rPr>
              <a:t>Reinforcement Learning is mainly used in advanced Machine Learning areas such as self-driving cars, </a:t>
            </a:r>
            <a:r>
              <a:rPr lang="en-US" sz="2400" dirty="0" err="1">
                <a:latin typeface="Times New Roman" panose="02020603050405020304" pitchFamily="18" charset="0"/>
                <a:cs typeface="Times New Roman" panose="02020603050405020304" pitchFamily="18" charset="0"/>
              </a:rPr>
              <a:t>AplhaGo</a:t>
            </a:r>
            <a:r>
              <a:rPr lang="en-US" sz="2400" dirty="0">
                <a:latin typeface="Times New Roman" panose="02020603050405020304" pitchFamily="18" charset="0"/>
                <a:cs typeface="Times New Roman" panose="02020603050405020304" pitchFamily="18" charset="0"/>
              </a:rPr>
              <a:t>, etc.</a:t>
            </a:r>
          </a:p>
          <a:p>
            <a:pPr>
              <a:lnSpc>
                <a:spcPct val="100000"/>
              </a:lnSpc>
              <a:spcBef>
                <a:spcPts val="0"/>
              </a:spcBef>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2032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98128"/>
          </a:xfrm>
        </p:spPr>
        <p:txBody>
          <a:bodyPr>
            <a:normAutofit fontScale="90000"/>
          </a:bodyPr>
          <a:lstStyle/>
          <a:p>
            <a:r>
              <a:rPr lang="en-US" sz="3100" b="1" dirty="0"/>
              <a:t/>
            </a:r>
            <a:br>
              <a:rPr lang="en-US" sz="3100" b="1" dirty="0"/>
            </a:br>
            <a:r>
              <a:rPr lang="en-US" sz="3100" b="1" dirty="0">
                <a:latin typeface="Times New Roman" panose="02020603050405020304" pitchFamily="18" charset="0"/>
                <a:cs typeface="Times New Roman" panose="02020603050405020304" pitchFamily="18" charset="0"/>
              </a:rPr>
              <a:t>Another </a:t>
            </a:r>
            <a:r>
              <a:rPr lang="en-US" b="1" dirty="0">
                <a:latin typeface="Times New Roman" panose="02020603050405020304" pitchFamily="18" charset="0"/>
                <a:cs typeface="Times New Roman" panose="02020603050405020304" pitchFamily="18" charset="0"/>
              </a:rPr>
              <a:t>Example</a:t>
            </a:r>
            <a:r>
              <a:rPr lang="en-US" sz="3100" b="1" dirty="0">
                <a:latin typeface="Times New Roman" panose="02020603050405020304" pitchFamily="18" charset="0"/>
                <a:cs typeface="Times New Roman" panose="02020603050405020304" pitchFamily="18" charset="0"/>
              </a:rPr>
              <a:t> on Reinforcement Learning</a:t>
            </a:r>
            <a:r>
              <a:rPr lang="en-US" dirty="0"/>
              <a:t/>
            </a:r>
            <a:br>
              <a:rPr lang="en-US" dirty="0"/>
            </a:br>
            <a:endParaRPr lang="en-US" dirty="0"/>
          </a:p>
        </p:txBody>
      </p:sp>
      <p:sp>
        <p:nvSpPr>
          <p:cNvPr id="3" name="Content Placeholder 2"/>
          <p:cNvSpPr>
            <a:spLocks noGrp="1"/>
          </p:cNvSpPr>
          <p:nvPr>
            <p:ph idx="1"/>
          </p:nvPr>
        </p:nvSpPr>
        <p:spPr>
          <a:xfrm>
            <a:off x="609600" y="1309255"/>
            <a:ext cx="10972800" cy="4816909"/>
          </a:xfrm>
        </p:spPr>
        <p:txBody>
          <a:bodyPr>
            <a:normAutofit/>
          </a:bodyPr>
          <a:lstStyle/>
          <a:p>
            <a:pPr marL="857250" lvl="1" indent="-4572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Consider teaching a dog a new trick: we cannot tell it what to do, but we can reward/punish it if it does the right/wrong thing. It has to find out what it did that made it get the reward/punishment. </a:t>
            </a:r>
            <a:endParaRPr lang="en-US" dirty="0" smtClean="0">
              <a:latin typeface="Times New Roman" panose="02020603050405020304" pitchFamily="18" charset="0"/>
              <a:cs typeface="Times New Roman" panose="02020603050405020304" pitchFamily="18" charset="0"/>
            </a:endParaRPr>
          </a:p>
          <a:p>
            <a:pPr marL="400050" lvl="1" indent="0" algn="just">
              <a:buNone/>
            </a:pPr>
            <a:endParaRPr lang="en-US" dirty="0">
              <a:latin typeface="Times New Roman" panose="02020603050405020304" pitchFamily="18" charset="0"/>
              <a:cs typeface="Times New Roman" panose="02020603050405020304" pitchFamily="18" charset="0"/>
            </a:endParaRPr>
          </a:p>
          <a:p>
            <a:pPr marL="857250" lvl="1" indent="-4572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can use a similar method to train computers to do many tasks, such as playing backgammon or chess, scheduling jobs, and controlling robot limbs. </a:t>
            </a:r>
            <a:endParaRPr lang="en-US" dirty="0" smtClean="0">
              <a:latin typeface="Times New Roman" panose="02020603050405020304" pitchFamily="18" charset="0"/>
              <a:cs typeface="Times New Roman" panose="02020603050405020304" pitchFamily="18" charset="0"/>
            </a:endParaRPr>
          </a:p>
          <a:p>
            <a:pPr marL="400050" lvl="1" indent="0" algn="just">
              <a:buNone/>
            </a:pPr>
            <a:endParaRPr lang="en-US" dirty="0">
              <a:latin typeface="Times New Roman" panose="02020603050405020304" pitchFamily="18" charset="0"/>
              <a:cs typeface="Times New Roman" panose="02020603050405020304" pitchFamily="18" charset="0"/>
            </a:endParaRPr>
          </a:p>
          <a:p>
            <a:pPr marL="857250" lvl="1" indent="-4572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Reinforcement learning is different from supervised learning. Supervised learning is learning from examples provided by a knowledgeable expert.</a:t>
            </a:r>
          </a:p>
          <a:p>
            <a:endParaRPr lang="en-US" dirty="0" smtClean="0">
              <a:latin typeface="Times New Roman" panose="02020603050405020304" pitchFamily="18" charset="0"/>
              <a:cs typeface="Times New Roman" panose="02020603050405020304" pitchFamily="18" charset="0"/>
            </a:endParaRPr>
          </a:p>
          <a:p>
            <a:pPr marL="495300" indent="-342900">
              <a:spcBef>
                <a:spcPts val="480"/>
              </a:spcBef>
              <a:buClr>
                <a:schemeClr val="dk1"/>
              </a:buClr>
              <a:buSzPts val="2400"/>
            </a:pPr>
            <a:r>
              <a:rPr lang="en-US" dirty="0">
                <a:solidFill>
                  <a:srgbClr val="0000FF"/>
                </a:solidFill>
                <a:latin typeface="Times New Roman"/>
                <a:ea typeface="Times New Roman"/>
                <a:cs typeface="Times New Roman"/>
                <a:sym typeface="Times New Roman"/>
              </a:rPr>
              <a:t>We are not using a group of labeled or unlabeled examples</a:t>
            </a:r>
          </a:p>
          <a:p>
            <a:pPr marL="495300" indent="-342900">
              <a:spcBef>
                <a:spcPts val="480"/>
              </a:spcBef>
              <a:buClr>
                <a:schemeClr val="dk1"/>
              </a:buClr>
              <a:buSzPts val="2400"/>
            </a:pPr>
            <a:r>
              <a:rPr lang="en-US" dirty="0">
                <a:solidFill>
                  <a:srgbClr val="0000FF"/>
                </a:solidFill>
                <a:latin typeface="Times New Roman"/>
                <a:ea typeface="Times New Roman"/>
                <a:cs typeface="Times New Roman"/>
                <a:sym typeface="Times New Roman"/>
              </a:rPr>
              <a:t>Used as a framework for decision-making tasks based on goals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6660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8"/>
          <p:cNvSpPr txBox="1">
            <a:spLocks noGrp="1"/>
          </p:cNvSpPr>
          <p:nvPr>
            <p:ph type="title"/>
          </p:nvPr>
        </p:nvSpPr>
        <p:spPr>
          <a:xfrm>
            <a:off x="1981200" y="152400"/>
            <a:ext cx="8229600" cy="56356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ct val="100000"/>
            </a:pPr>
            <a:r>
              <a:rPr lang="en-US" sz="3200" b="1">
                <a:latin typeface="Times New Roman"/>
                <a:ea typeface="Times New Roman"/>
                <a:cs typeface="Times New Roman"/>
                <a:sym typeface="Times New Roman"/>
              </a:rPr>
              <a:t>Reinforcement Learning</a:t>
            </a:r>
            <a:endParaRPr/>
          </a:p>
        </p:txBody>
      </p:sp>
      <p:sp>
        <p:nvSpPr>
          <p:cNvPr id="244" name="Google Shape;244;p18"/>
          <p:cNvSpPr txBox="1">
            <a:spLocks noGrp="1"/>
          </p:cNvSpPr>
          <p:nvPr>
            <p:ph type="body" idx="1"/>
          </p:nvPr>
        </p:nvSpPr>
        <p:spPr>
          <a:xfrm>
            <a:off x="640079" y="685802"/>
            <a:ext cx="10537001" cy="5802548"/>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2400"/>
            </a:pPr>
            <a:r>
              <a:rPr lang="en-US" sz="2400" dirty="0">
                <a:latin typeface="Times New Roman"/>
                <a:ea typeface="Times New Roman"/>
                <a:cs typeface="Times New Roman"/>
                <a:sym typeface="Times New Roman"/>
              </a:rPr>
              <a:t>The learning system, called an </a:t>
            </a:r>
            <a:r>
              <a:rPr lang="en-US" sz="2400" dirty="0">
                <a:solidFill>
                  <a:srgbClr val="9900FF"/>
                </a:solidFill>
                <a:latin typeface="Times New Roman"/>
                <a:ea typeface="Times New Roman"/>
                <a:cs typeface="Times New Roman"/>
                <a:sym typeface="Times New Roman"/>
              </a:rPr>
              <a:t>agent</a:t>
            </a:r>
            <a:r>
              <a:rPr lang="en-US" sz="2400" dirty="0">
                <a:latin typeface="Times New Roman"/>
                <a:ea typeface="Times New Roman"/>
                <a:cs typeface="Times New Roman"/>
                <a:sym typeface="Times New Roman"/>
              </a:rPr>
              <a:t> in this context, can observe the </a:t>
            </a:r>
            <a:r>
              <a:rPr lang="en-US" sz="2400" dirty="0">
                <a:solidFill>
                  <a:srgbClr val="9900FF"/>
                </a:solidFill>
                <a:latin typeface="Times New Roman"/>
                <a:ea typeface="Times New Roman"/>
                <a:cs typeface="Times New Roman"/>
                <a:sym typeface="Times New Roman"/>
              </a:rPr>
              <a:t>environment, </a:t>
            </a:r>
            <a:r>
              <a:rPr lang="en-US" sz="2400" dirty="0">
                <a:latin typeface="Times New Roman"/>
                <a:ea typeface="Times New Roman"/>
                <a:cs typeface="Times New Roman"/>
                <a:sym typeface="Times New Roman"/>
              </a:rPr>
              <a:t>select and perform actions, and get</a:t>
            </a:r>
            <a:r>
              <a:rPr lang="en-US" sz="2400" dirty="0">
                <a:solidFill>
                  <a:srgbClr val="9900FF"/>
                </a:solidFill>
                <a:latin typeface="Times New Roman"/>
                <a:ea typeface="Times New Roman"/>
                <a:cs typeface="Times New Roman"/>
                <a:sym typeface="Times New Roman"/>
              </a:rPr>
              <a:t> rewards </a:t>
            </a:r>
            <a:r>
              <a:rPr lang="en-US" sz="2400" dirty="0">
                <a:latin typeface="Times New Roman"/>
                <a:ea typeface="Times New Roman"/>
                <a:cs typeface="Times New Roman"/>
                <a:sym typeface="Times New Roman"/>
              </a:rPr>
              <a:t>in return (or </a:t>
            </a:r>
            <a:r>
              <a:rPr lang="en-US" sz="2400" dirty="0">
                <a:solidFill>
                  <a:srgbClr val="9900FF"/>
                </a:solidFill>
                <a:latin typeface="Times New Roman"/>
                <a:ea typeface="Times New Roman"/>
                <a:cs typeface="Times New Roman"/>
                <a:sym typeface="Times New Roman"/>
              </a:rPr>
              <a:t>penalties</a:t>
            </a:r>
            <a:r>
              <a:rPr lang="en-US" sz="2400" dirty="0">
                <a:latin typeface="Times New Roman"/>
                <a:ea typeface="Times New Roman"/>
                <a:cs typeface="Times New Roman"/>
                <a:sym typeface="Times New Roman"/>
              </a:rPr>
              <a:t> in the form of negative rewards). </a:t>
            </a:r>
            <a:endParaRPr lang="en-US" sz="2400" dirty="0" smtClean="0">
              <a:latin typeface="Times New Roman"/>
              <a:ea typeface="Times New Roman"/>
              <a:cs typeface="Times New Roman"/>
              <a:sym typeface="Times New Roman"/>
            </a:endParaRPr>
          </a:p>
          <a:p>
            <a:pPr marL="342900" indent="-342900" algn="just">
              <a:spcBef>
                <a:spcPts val="0"/>
              </a:spcBef>
              <a:buClr>
                <a:schemeClr val="dk1"/>
              </a:buClr>
              <a:buSzPts val="2400"/>
            </a:pPr>
            <a:r>
              <a:rPr lang="en-US" sz="2400" dirty="0" smtClean="0">
                <a:latin typeface="Times New Roman"/>
                <a:ea typeface="Times New Roman"/>
                <a:cs typeface="Times New Roman"/>
                <a:sym typeface="Times New Roman"/>
              </a:rPr>
              <a:t>It </a:t>
            </a:r>
            <a:r>
              <a:rPr lang="en-US" sz="2400" dirty="0">
                <a:latin typeface="Times New Roman"/>
                <a:ea typeface="Times New Roman"/>
                <a:cs typeface="Times New Roman"/>
                <a:sym typeface="Times New Roman"/>
              </a:rPr>
              <a:t>must then learn by itself what is the best strategy, called a </a:t>
            </a:r>
            <a:r>
              <a:rPr lang="en-US" sz="2400" dirty="0">
                <a:solidFill>
                  <a:srgbClr val="9900FF"/>
                </a:solidFill>
                <a:latin typeface="Times New Roman"/>
                <a:ea typeface="Times New Roman"/>
                <a:cs typeface="Times New Roman"/>
                <a:sym typeface="Times New Roman"/>
              </a:rPr>
              <a:t>policy</a:t>
            </a:r>
            <a:r>
              <a:rPr lang="en-US" sz="2400" dirty="0">
                <a:latin typeface="Times New Roman"/>
                <a:ea typeface="Times New Roman"/>
                <a:cs typeface="Times New Roman"/>
                <a:sym typeface="Times New Roman"/>
              </a:rPr>
              <a:t>, to get the </a:t>
            </a:r>
            <a:r>
              <a:rPr lang="en-US" sz="2400" dirty="0" smtClean="0">
                <a:solidFill>
                  <a:srgbClr val="0000FF"/>
                </a:solidFill>
                <a:latin typeface="Times New Roman"/>
                <a:ea typeface="Times New Roman"/>
                <a:cs typeface="Times New Roman"/>
                <a:sym typeface="Times New Roman"/>
              </a:rPr>
              <a:t>maximum </a:t>
            </a:r>
            <a:r>
              <a:rPr lang="en-US" sz="2400" dirty="0">
                <a:solidFill>
                  <a:srgbClr val="0000FF"/>
                </a:solidFill>
                <a:latin typeface="Times New Roman"/>
                <a:ea typeface="Times New Roman"/>
                <a:cs typeface="Times New Roman"/>
                <a:sym typeface="Times New Roman"/>
              </a:rPr>
              <a:t>reward </a:t>
            </a:r>
            <a:r>
              <a:rPr lang="en-US" sz="2400" dirty="0">
                <a:latin typeface="Times New Roman"/>
                <a:ea typeface="Times New Roman"/>
                <a:cs typeface="Times New Roman"/>
                <a:sym typeface="Times New Roman"/>
              </a:rPr>
              <a:t>over time. </a:t>
            </a:r>
            <a:endParaRPr lang="en-US" sz="2400" dirty="0" smtClean="0">
              <a:latin typeface="Times New Roman"/>
              <a:ea typeface="Times New Roman"/>
              <a:cs typeface="Times New Roman"/>
              <a:sym typeface="Times New Roman"/>
            </a:endParaRPr>
          </a:p>
          <a:p>
            <a:pPr marL="342900" indent="-342900" algn="just">
              <a:spcBef>
                <a:spcPts val="0"/>
              </a:spcBef>
              <a:buClr>
                <a:schemeClr val="dk1"/>
              </a:buClr>
              <a:buSzPts val="2400"/>
            </a:pPr>
            <a:r>
              <a:rPr lang="en-US" sz="2400" dirty="0" smtClean="0">
                <a:latin typeface="Times New Roman"/>
                <a:ea typeface="Times New Roman"/>
                <a:cs typeface="Times New Roman"/>
                <a:sym typeface="Times New Roman"/>
              </a:rPr>
              <a:t>A </a:t>
            </a:r>
            <a:r>
              <a:rPr lang="en-US" sz="2400" dirty="0">
                <a:latin typeface="Times New Roman"/>
                <a:ea typeface="Times New Roman"/>
                <a:cs typeface="Times New Roman"/>
                <a:sym typeface="Times New Roman"/>
              </a:rPr>
              <a:t>policy defines what action the agent should choose when it is in a given situation</a:t>
            </a:r>
            <a:r>
              <a:rPr lang="en-US" sz="2400" dirty="0" smtClean="0">
                <a:latin typeface="Times New Roman"/>
                <a:ea typeface="Times New Roman"/>
                <a:cs typeface="Times New Roman"/>
                <a:sym typeface="Times New Roman"/>
              </a:rPr>
              <a:t>.</a:t>
            </a:r>
          </a:p>
          <a:p>
            <a:pPr marL="342900" indent="-342900" algn="just">
              <a:spcBef>
                <a:spcPts val="0"/>
              </a:spcBef>
              <a:buClr>
                <a:schemeClr val="dk1"/>
              </a:buClr>
              <a:buSzPts val="2400"/>
            </a:pPr>
            <a:endParaRPr sz="2400" dirty="0">
              <a:latin typeface="Times New Roman"/>
              <a:ea typeface="Times New Roman"/>
              <a:cs typeface="Times New Roman"/>
              <a:sym typeface="Times New Roman"/>
            </a:endParaRPr>
          </a:p>
          <a:p>
            <a:pPr marL="342900" indent="-190500">
              <a:spcBef>
                <a:spcPts val="480"/>
              </a:spcBef>
              <a:buClr>
                <a:schemeClr val="dk1"/>
              </a:buClr>
              <a:buSzPts val="2400"/>
              <a:buNone/>
            </a:pPr>
            <a:endParaRPr sz="2400" dirty="0">
              <a:latin typeface="Times New Roman"/>
              <a:ea typeface="Times New Roman"/>
              <a:cs typeface="Times New Roman"/>
              <a:sym typeface="Times New Roman"/>
            </a:endParaRPr>
          </a:p>
        </p:txBody>
      </p:sp>
      <p:sp>
        <p:nvSpPr>
          <p:cNvPr id="247" name="Google Shape;247;p18"/>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15</a:t>
            </a:fld>
            <a:endParaRPr/>
          </a:p>
        </p:txBody>
      </p:sp>
      <p:pic>
        <p:nvPicPr>
          <p:cNvPr id="7" name="Picture 6"/>
          <p:cNvPicPr/>
          <p:nvPr/>
        </p:nvPicPr>
        <p:blipFill rotWithShape="1">
          <a:blip r:embed="rId3"/>
          <a:srcRect t="35651" r="9262" b="29092"/>
          <a:stretch/>
        </p:blipFill>
        <p:spPr bwMode="auto">
          <a:xfrm>
            <a:off x="933855" y="3103123"/>
            <a:ext cx="10048673" cy="285993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46374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242"/>
        <p:cNvGrpSpPr/>
        <p:nvPr/>
      </p:nvGrpSpPr>
      <p:grpSpPr>
        <a:xfrm>
          <a:off x="0" y="0"/>
          <a:ext cx="0" cy="0"/>
          <a:chOff x="0" y="0"/>
          <a:chExt cx="0" cy="0"/>
        </a:xfrm>
      </p:grpSpPr>
      <p:sp>
        <p:nvSpPr>
          <p:cNvPr id="243" name="Google Shape;243;p18"/>
          <p:cNvSpPr txBox="1">
            <a:spLocks noGrp="1"/>
          </p:cNvSpPr>
          <p:nvPr>
            <p:ph type="title"/>
          </p:nvPr>
        </p:nvSpPr>
        <p:spPr>
          <a:xfrm>
            <a:off x="1981200" y="152400"/>
            <a:ext cx="8229600" cy="56356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ct val="100000"/>
            </a:pPr>
            <a:r>
              <a:rPr lang="en-US" sz="3200" b="1" dirty="0">
                <a:latin typeface="Times New Roman"/>
                <a:ea typeface="Times New Roman"/>
                <a:cs typeface="Times New Roman"/>
                <a:sym typeface="Times New Roman"/>
              </a:rPr>
              <a:t>Reinforcement </a:t>
            </a:r>
            <a:r>
              <a:rPr lang="en-US" sz="3200" b="1" dirty="0" smtClean="0">
                <a:latin typeface="Times New Roman"/>
                <a:ea typeface="Times New Roman"/>
                <a:cs typeface="Times New Roman"/>
                <a:sym typeface="Times New Roman"/>
              </a:rPr>
              <a:t>Learning Example</a:t>
            </a:r>
            <a:endParaRPr dirty="0"/>
          </a:p>
        </p:txBody>
      </p:sp>
      <p:sp>
        <p:nvSpPr>
          <p:cNvPr id="244" name="Google Shape;244;p18"/>
          <p:cNvSpPr txBox="1">
            <a:spLocks noGrp="1"/>
          </p:cNvSpPr>
          <p:nvPr>
            <p:ph type="body" idx="1"/>
          </p:nvPr>
        </p:nvSpPr>
        <p:spPr>
          <a:xfrm>
            <a:off x="640080" y="685801"/>
            <a:ext cx="10492740" cy="6172199"/>
          </a:xfrm>
          <a:prstGeom prst="rect">
            <a:avLst/>
          </a:prstGeom>
          <a:noFill/>
          <a:ln>
            <a:noFill/>
          </a:ln>
        </p:spPr>
        <p:txBody>
          <a:bodyPr spcFirstLastPara="1" vert="horz" wrap="square" lIns="91425" tIns="45700" rIns="91425" bIns="45700" rtlCol="0" anchor="t" anchorCtr="0">
            <a:normAutofit/>
          </a:bodyPr>
          <a:lstStyle/>
          <a:p>
            <a:pPr marL="495300" indent="-342900">
              <a:spcBef>
                <a:spcPts val="480"/>
              </a:spcBef>
              <a:buClr>
                <a:schemeClr val="dk1"/>
              </a:buClr>
              <a:buSzPts val="2400"/>
            </a:pPr>
            <a:r>
              <a:rPr lang="en-US" sz="2400" dirty="0">
                <a:latin typeface="Times New Roman"/>
                <a:ea typeface="Times New Roman"/>
                <a:cs typeface="Times New Roman"/>
                <a:sym typeface="Times New Roman"/>
              </a:rPr>
              <a:t>We are not using a group of labeled or unlabeled </a:t>
            </a:r>
            <a:r>
              <a:rPr lang="en-US" sz="2400" dirty="0" smtClean="0">
                <a:latin typeface="Times New Roman"/>
                <a:ea typeface="Times New Roman"/>
                <a:cs typeface="Times New Roman"/>
                <a:sym typeface="Times New Roman"/>
              </a:rPr>
              <a:t>examples</a:t>
            </a:r>
          </a:p>
          <a:p>
            <a:pPr marL="495300" indent="-342900">
              <a:spcBef>
                <a:spcPts val="480"/>
              </a:spcBef>
              <a:buClr>
                <a:schemeClr val="dk1"/>
              </a:buClr>
              <a:buSzPts val="2400"/>
            </a:pPr>
            <a:r>
              <a:rPr lang="en-US" sz="2400" dirty="0" smtClean="0">
                <a:latin typeface="Times New Roman"/>
                <a:ea typeface="Times New Roman"/>
                <a:cs typeface="Times New Roman"/>
                <a:sym typeface="Times New Roman"/>
              </a:rPr>
              <a:t>Used </a:t>
            </a:r>
            <a:r>
              <a:rPr lang="en-US" sz="2400" dirty="0">
                <a:latin typeface="Times New Roman"/>
                <a:ea typeface="Times New Roman"/>
                <a:cs typeface="Times New Roman"/>
                <a:sym typeface="Times New Roman"/>
              </a:rPr>
              <a:t>as a </a:t>
            </a:r>
            <a:r>
              <a:rPr lang="en-US" sz="2400" dirty="0" smtClean="0">
                <a:latin typeface="Times New Roman"/>
                <a:ea typeface="Times New Roman"/>
                <a:cs typeface="Times New Roman"/>
                <a:sym typeface="Times New Roman"/>
              </a:rPr>
              <a:t>framework </a:t>
            </a:r>
            <a:r>
              <a:rPr lang="en-US" sz="2400" dirty="0">
                <a:latin typeface="Times New Roman"/>
                <a:ea typeface="Times New Roman"/>
                <a:cs typeface="Times New Roman"/>
                <a:sym typeface="Times New Roman"/>
              </a:rPr>
              <a:t>for decision-making tasks based on </a:t>
            </a:r>
            <a:r>
              <a:rPr lang="en-US" sz="2400" dirty="0" smtClean="0">
                <a:latin typeface="Times New Roman"/>
                <a:ea typeface="Times New Roman"/>
                <a:cs typeface="Times New Roman"/>
                <a:sym typeface="Times New Roman"/>
              </a:rPr>
              <a:t>goals</a:t>
            </a:r>
          </a:p>
          <a:p>
            <a:pPr marL="495300" indent="-342900">
              <a:spcBef>
                <a:spcPts val="480"/>
              </a:spcBef>
              <a:buClr>
                <a:schemeClr val="dk1"/>
              </a:buClr>
              <a:buSzPts val="2400"/>
            </a:pPr>
            <a:endParaRPr lang="en-US" sz="2400" dirty="0">
              <a:latin typeface="Times New Roman"/>
              <a:ea typeface="Times New Roman"/>
              <a:cs typeface="Times New Roman"/>
              <a:sym typeface="Times New Roman"/>
            </a:endParaRPr>
          </a:p>
          <a:p>
            <a:pPr marL="495300" indent="-342900">
              <a:spcBef>
                <a:spcPts val="480"/>
              </a:spcBef>
              <a:buClr>
                <a:schemeClr val="dk1"/>
              </a:buClr>
              <a:buSzPts val="2400"/>
            </a:pPr>
            <a:r>
              <a:rPr lang="en-US" sz="2400" dirty="0">
                <a:latin typeface="Times New Roman"/>
                <a:ea typeface="Times New Roman"/>
                <a:cs typeface="Times New Roman"/>
                <a:sym typeface="Times New Roman"/>
              </a:rPr>
              <a:t>Win the game by deciding how to play multiple </a:t>
            </a:r>
            <a:r>
              <a:rPr lang="en-US" sz="2400" dirty="0" smtClean="0">
                <a:latin typeface="Times New Roman"/>
                <a:ea typeface="Times New Roman"/>
                <a:cs typeface="Times New Roman"/>
                <a:sym typeface="Times New Roman"/>
              </a:rPr>
              <a:t>turns</a:t>
            </a:r>
          </a:p>
          <a:p>
            <a:pPr marL="495300" indent="-342900">
              <a:spcBef>
                <a:spcPts val="480"/>
              </a:spcBef>
              <a:buClr>
                <a:schemeClr val="dk1"/>
              </a:buClr>
              <a:buSzPts val="2400"/>
            </a:pPr>
            <a:r>
              <a:rPr lang="en-US" sz="2400" dirty="0" smtClean="0">
                <a:latin typeface="Times New Roman"/>
                <a:ea typeface="Times New Roman"/>
                <a:cs typeface="Times New Roman"/>
                <a:sym typeface="Times New Roman"/>
              </a:rPr>
              <a:t>Every </a:t>
            </a:r>
            <a:r>
              <a:rPr lang="en-US" sz="2400" dirty="0">
                <a:latin typeface="Times New Roman"/>
                <a:ea typeface="Times New Roman"/>
                <a:cs typeface="Times New Roman"/>
                <a:sym typeface="Times New Roman"/>
              </a:rPr>
              <a:t>move has thousands of future options to </a:t>
            </a:r>
            <a:r>
              <a:rPr lang="en-US" sz="2400" dirty="0" smtClean="0">
                <a:latin typeface="Times New Roman"/>
                <a:ea typeface="Times New Roman"/>
                <a:cs typeface="Times New Roman"/>
                <a:sym typeface="Times New Roman"/>
              </a:rPr>
              <a:t>consider</a:t>
            </a:r>
          </a:p>
          <a:p>
            <a:pPr marL="495300" indent="-342900">
              <a:spcBef>
                <a:spcPts val="480"/>
              </a:spcBef>
              <a:buClr>
                <a:schemeClr val="dk1"/>
              </a:buClr>
              <a:buSzPts val="2400"/>
            </a:pPr>
            <a:r>
              <a:rPr lang="en-US" sz="2400" dirty="0" smtClean="0">
                <a:latin typeface="Times New Roman"/>
                <a:ea typeface="Times New Roman"/>
                <a:cs typeface="Times New Roman"/>
                <a:sym typeface="Times New Roman"/>
              </a:rPr>
              <a:t>Every </a:t>
            </a:r>
            <a:r>
              <a:rPr lang="en-US" sz="2400" dirty="0">
                <a:latin typeface="Times New Roman"/>
                <a:ea typeface="Times New Roman"/>
                <a:cs typeface="Times New Roman"/>
                <a:sym typeface="Times New Roman"/>
              </a:rPr>
              <a:t>move is changing the ongoing state of the game</a:t>
            </a:r>
            <a:endParaRPr sz="2400" dirty="0">
              <a:latin typeface="Times New Roman"/>
              <a:ea typeface="Times New Roman"/>
              <a:cs typeface="Times New Roman"/>
              <a:sym typeface="Times New Roman"/>
            </a:endParaRPr>
          </a:p>
        </p:txBody>
      </p:sp>
      <p:sp>
        <p:nvSpPr>
          <p:cNvPr id="247" name="Google Shape;247;p18"/>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16</a:t>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681" y="188481"/>
            <a:ext cx="10515600" cy="746702"/>
          </a:xfrm>
        </p:spPr>
        <p:txBody>
          <a:bodyPr>
            <a:normAutofit fontScale="90000"/>
          </a:bodyPr>
          <a:lstStyle/>
          <a:p>
            <a:r>
              <a:rPr lang="en-US" b="1" dirty="0">
                <a:solidFill>
                  <a:srgbClr val="002060"/>
                </a:solidFill>
              </a:rPr>
              <a:t/>
            </a:r>
            <a:br>
              <a:rPr lang="en-US" b="1" dirty="0">
                <a:solidFill>
                  <a:srgbClr val="002060"/>
                </a:solidFill>
              </a:rPr>
            </a:br>
            <a:r>
              <a:rPr lang="en-US" sz="4000" b="1" dirty="0">
                <a:latin typeface="Times New Roman" panose="02020603050405020304" pitchFamily="18" charset="0"/>
                <a:cs typeface="Times New Roman" panose="02020603050405020304" pitchFamily="18" charset="0"/>
              </a:rPr>
              <a:t>Machine Learning Process</a:t>
            </a:r>
            <a:r>
              <a:rPr lang="en-US" b="1" dirty="0">
                <a:solidFill>
                  <a:srgbClr val="002060"/>
                </a:solidFill>
              </a:rPr>
              <a:t/>
            </a:r>
            <a:br>
              <a:rPr lang="en-US" b="1" dirty="0">
                <a:solidFill>
                  <a:srgbClr val="002060"/>
                </a:solidFill>
              </a:rPr>
            </a:br>
            <a:endParaRPr lang="en-US" b="1" dirty="0">
              <a:solidFill>
                <a:srgbClr val="002060"/>
              </a:solidFill>
            </a:endParaRPr>
          </a:p>
        </p:txBody>
      </p:sp>
      <p:sp>
        <p:nvSpPr>
          <p:cNvPr id="3" name="Content Placeholder 2"/>
          <p:cNvSpPr>
            <a:spLocks noGrp="1"/>
          </p:cNvSpPr>
          <p:nvPr>
            <p:ph idx="1"/>
          </p:nvPr>
        </p:nvSpPr>
        <p:spPr>
          <a:xfrm>
            <a:off x="838200" y="1111827"/>
            <a:ext cx="10515600" cy="5065136"/>
          </a:xfrm>
        </p:spPr>
        <p:txBody>
          <a:bodyPr/>
          <a:lstStyle/>
          <a:p>
            <a:r>
              <a:rPr lang="en-US" dirty="0">
                <a:latin typeface="Times New Roman" panose="02020603050405020304" pitchFamily="18" charset="0"/>
                <a:cs typeface="Times New Roman" panose="02020603050405020304" pitchFamily="18" charset="0"/>
              </a:rPr>
              <a:t>There are five main steps in the machine learning process:</a:t>
            </a:r>
            <a:r>
              <a:rPr lang="en-US" dirty="0"/>
              <a:t/>
            </a:r>
            <a:br>
              <a:rPr lang="en-US" dirty="0"/>
            </a:br>
            <a:endParaRPr lang="en-US" dirty="0" smtClean="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p:txBody>
      </p:sp>
      <p:pic>
        <p:nvPicPr>
          <p:cNvPr id="1026" name="Picture 2" descr="Machine_Learning_Proc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930" y="1935740"/>
            <a:ext cx="9344025" cy="258127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44681" y="4332350"/>
            <a:ext cx="2975264" cy="369332"/>
          </a:xfrm>
          <a:prstGeom prst="rect">
            <a:avLst/>
          </a:prstGeom>
        </p:spPr>
        <p:txBody>
          <a:bodyPr wrap="square">
            <a:spAutoFit/>
          </a:bodyPr>
          <a:lstStyle/>
          <a:p>
            <a:r>
              <a:rPr lang="en-US" b="1" i="0" dirty="0">
                <a:solidFill>
                  <a:srgbClr val="272C37"/>
                </a:solidFill>
                <a:effectLst/>
                <a:latin typeface="Roboto"/>
              </a:rPr>
              <a:t>Step 1:</a:t>
            </a:r>
            <a:r>
              <a:rPr lang="en-US" b="0" i="0" dirty="0">
                <a:solidFill>
                  <a:srgbClr val="272C37"/>
                </a:solidFill>
                <a:effectLst/>
                <a:latin typeface="Roboto"/>
              </a:rPr>
              <a:t> </a:t>
            </a:r>
            <a:r>
              <a:rPr lang="en-US" b="1" i="0" dirty="0">
                <a:solidFill>
                  <a:srgbClr val="FF0000"/>
                </a:solidFill>
                <a:effectLst/>
                <a:latin typeface="Roboto"/>
              </a:rPr>
              <a:t>Data Acquisition</a:t>
            </a:r>
          </a:p>
        </p:txBody>
      </p:sp>
      <p:sp>
        <p:nvSpPr>
          <p:cNvPr id="6" name="Rectangle 5"/>
          <p:cNvSpPr/>
          <p:nvPr/>
        </p:nvSpPr>
        <p:spPr>
          <a:xfrm>
            <a:off x="744681" y="4792991"/>
            <a:ext cx="4916731" cy="369332"/>
          </a:xfrm>
          <a:prstGeom prst="rect">
            <a:avLst/>
          </a:prstGeom>
        </p:spPr>
        <p:txBody>
          <a:bodyPr wrap="none">
            <a:spAutoFit/>
          </a:bodyPr>
          <a:lstStyle/>
          <a:p>
            <a:r>
              <a:rPr lang="en-US" b="1" i="0" dirty="0">
                <a:solidFill>
                  <a:srgbClr val="272C37"/>
                </a:solidFill>
                <a:effectLst/>
                <a:latin typeface="Roboto"/>
              </a:rPr>
              <a:t>Step 2: </a:t>
            </a:r>
            <a:r>
              <a:rPr lang="en-US" b="1" i="0" dirty="0">
                <a:solidFill>
                  <a:srgbClr val="FF0000"/>
                </a:solidFill>
                <a:effectLst/>
                <a:latin typeface="Roboto"/>
              </a:rPr>
              <a:t>Data </a:t>
            </a:r>
            <a:r>
              <a:rPr lang="en-US" b="1" i="0" dirty="0" smtClean="0">
                <a:solidFill>
                  <a:srgbClr val="FF0000"/>
                </a:solidFill>
                <a:effectLst/>
                <a:latin typeface="Roboto"/>
              </a:rPr>
              <a:t>Cleaning/Feature Engineering </a:t>
            </a:r>
            <a:endParaRPr lang="en-US" b="1" i="0" dirty="0">
              <a:solidFill>
                <a:srgbClr val="FF0000"/>
              </a:solidFill>
              <a:effectLst/>
              <a:latin typeface="Roboto"/>
            </a:endParaRPr>
          </a:p>
        </p:txBody>
      </p:sp>
      <p:sp>
        <p:nvSpPr>
          <p:cNvPr id="7" name="Rectangle 6"/>
          <p:cNvSpPr/>
          <p:nvPr/>
        </p:nvSpPr>
        <p:spPr>
          <a:xfrm>
            <a:off x="772390" y="5154301"/>
            <a:ext cx="2635828" cy="369332"/>
          </a:xfrm>
          <a:prstGeom prst="rect">
            <a:avLst/>
          </a:prstGeom>
        </p:spPr>
        <p:txBody>
          <a:bodyPr wrap="square">
            <a:spAutoFit/>
          </a:bodyPr>
          <a:lstStyle/>
          <a:p>
            <a:r>
              <a:rPr lang="en-US" b="1" i="0" dirty="0">
                <a:solidFill>
                  <a:srgbClr val="272C37"/>
                </a:solidFill>
                <a:effectLst/>
                <a:latin typeface="Roboto"/>
              </a:rPr>
              <a:t>Step 3: </a:t>
            </a:r>
            <a:r>
              <a:rPr lang="en-US" b="1" i="0" dirty="0">
                <a:solidFill>
                  <a:srgbClr val="FF0000"/>
                </a:solidFill>
                <a:effectLst/>
                <a:latin typeface="Roboto"/>
              </a:rPr>
              <a:t>Model Training</a:t>
            </a:r>
          </a:p>
        </p:txBody>
      </p:sp>
      <p:sp>
        <p:nvSpPr>
          <p:cNvPr id="8" name="Rectangle 7"/>
          <p:cNvSpPr/>
          <p:nvPr/>
        </p:nvSpPr>
        <p:spPr>
          <a:xfrm>
            <a:off x="6524846" y="4424681"/>
            <a:ext cx="4117214" cy="369332"/>
          </a:xfrm>
          <a:prstGeom prst="rect">
            <a:avLst/>
          </a:prstGeom>
        </p:spPr>
        <p:txBody>
          <a:bodyPr wrap="square">
            <a:spAutoFit/>
          </a:bodyPr>
          <a:lstStyle/>
          <a:p>
            <a:r>
              <a:rPr lang="en-US" b="1" i="0" dirty="0">
                <a:solidFill>
                  <a:srgbClr val="272C37"/>
                </a:solidFill>
                <a:effectLst/>
                <a:latin typeface="Roboto"/>
              </a:rPr>
              <a:t>Step 4: </a:t>
            </a:r>
            <a:r>
              <a:rPr lang="en-US" b="1" i="0" dirty="0">
                <a:solidFill>
                  <a:srgbClr val="FF0000"/>
                </a:solidFill>
                <a:effectLst/>
                <a:latin typeface="Roboto"/>
              </a:rPr>
              <a:t>Model Testing</a:t>
            </a:r>
          </a:p>
        </p:txBody>
      </p:sp>
      <p:sp>
        <p:nvSpPr>
          <p:cNvPr id="9" name="Rectangle 8"/>
          <p:cNvSpPr/>
          <p:nvPr/>
        </p:nvSpPr>
        <p:spPr>
          <a:xfrm>
            <a:off x="6605080" y="4792992"/>
            <a:ext cx="2489783" cy="369332"/>
          </a:xfrm>
          <a:prstGeom prst="rect">
            <a:avLst/>
          </a:prstGeom>
        </p:spPr>
        <p:txBody>
          <a:bodyPr wrap="square">
            <a:spAutoFit/>
          </a:bodyPr>
          <a:lstStyle/>
          <a:p>
            <a:r>
              <a:rPr lang="en-US" b="1" i="0" dirty="0">
                <a:solidFill>
                  <a:srgbClr val="272C37"/>
                </a:solidFill>
                <a:effectLst/>
                <a:latin typeface="Roboto"/>
              </a:rPr>
              <a:t>Step 5: </a:t>
            </a:r>
            <a:r>
              <a:rPr lang="en-US" b="1" i="0" dirty="0">
                <a:solidFill>
                  <a:srgbClr val="FF0000"/>
                </a:solidFill>
                <a:effectLst/>
                <a:latin typeface="Roboto"/>
              </a:rPr>
              <a:t>Deployment</a:t>
            </a:r>
          </a:p>
        </p:txBody>
      </p:sp>
      <p:sp>
        <p:nvSpPr>
          <p:cNvPr id="4" name="Slide Number Placeholder 3"/>
          <p:cNvSpPr>
            <a:spLocks noGrp="1"/>
          </p:cNvSpPr>
          <p:nvPr>
            <p:ph type="sldNum" sz="quarter" idx="12"/>
          </p:nvPr>
        </p:nvSpPr>
        <p:spPr/>
        <p:txBody>
          <a:bodyPr/>
          <a:lstStyle/>
          <a:p>
            <a:fld id="{D2F8B522-47F2-415F-83D6-7890B1F943EC}" type="slidenum">
              <a:rPr lang="en-IN" smtClean="0"/>
              <a:t>17</a:t>
            </a:fld>
            <a:endParaRPr lang="en-IN"/>
          </a:p>
        </p:txBody>
      </p:sp>
    </p:spTree>
    <p:extLst>
      <p:ext uri="{BB962C8B-B14F-4D97-AF65-F5344CB8AC3E}">
        <p14:creationId xmlns:p14="http://schemas.microsoft.com/office/powerpoint/2010/main" val="208961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8458"/>
          </a:xfrm>
        </p:spPr>
        <p:txBody>
          <a:bodyPr>
            <a:normAutofit fontScale="90000"/>
          </a:bodyPr>
          <a:lstStyle/>
          <a:p>
            <a:r>
              <a:rPr lang="en-US" b="1" dirty="0">
                <a:latin typeface="Times New Roman" panose="02020603050405020304" pitchFamily="18" charset="0"/>
                <a:cs typeface="Times New Roman" panose="02020603050405020304" pitchFamily="18" charset="0"/>
              </a:rPr>
              <a:t>Machine Learning Process</a:t>
            </a:r>
            <a:endParaRPr lang="en-IN" dirty="0"/>
          </a:p>
        </p:txBody>
      </p:sp>
      <p:pic>
        <p:nvPicPr>
          <p:cNvPr id="5" name="Content Placeholder 4"/>
          <p:cNvPicPr>
            <a:picLocks noGrp="1" noChangeAspect="1"/>
          </p:cNvPicPr>
          <p:nvPr>
            <p:ph idx="1"/>
          </p:nvPr>
        </p:nvPicPr>
        <p:blipFill>
          <a:blip r:embed="rId2"/>
          <a:stretch>
            <a:fillRect/>
          </a:stretch>
        </p:blipFill>
        <p:spPr>
          <a:xfrm>
            <a:off x="838200" y="1225685"/>
            <a:ext cx="10515600" cy="4557461"/>
          </a:xfrm>
          <a:prstGeom prst="rect">
            <a:avLst/>
          </a:prstGeom>
        </p:spPr>
      </p:pic>
      <p:sp>
        <p:nvSpPr>
          <p:cNvPr id="4" name="Slide Number Placeholder 3"/>
          <p:cNvSpPr>
            <a:spLocks noGrp="1"/>
          </p:cNvSpPr>
          <p:nvPr>
            <p:ph type="sldNum" sz="quarter" idx="12"/>
          </p:nvPr>
        </p:nvSpPr>
        <p:spPr/>
        <p:txBody>
          <a:bodyPr/>
          <a:lstStyle/>
          <a:p>
            <a:fld id="{D2F8B522-47F2-415F-83D6-7890B1F943EC}" type="slidenum">
              <a:rPr lang="en-IN" smtClean="0"/>
              <a:t>18</a:t>
            </a:fld>
            <a:endParaRPr lang="en-IN"/>
          </a:p>
        </p:txBody>
      </p:sp>
    </p:spTree>
    <p:extLst>
      <p:ext uri="{BB962C8B-B14F-4D97-AF65-F5344CB8AC3E}">
        <p14:creationId xmlns:p14="http://schemas.microsoft.com/office/powerpoint/2010/main" val="627011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226040" cy="983615"/>
          </a:xfrm>
        </p:spPr>
        <p:txBody>
          <a:bodyPr/>
          <a:lstStyle/>
          <a:p>
            <a:r>
              <a:rPr lang="en-US" sz="3600" b="1" dirty="0">
                <a:latin typeface="Times New Roman" panose="02020603050405020304" pitchFamily="18" charset="0"/>
                <a:cs typeface="Times New Roman" panose="02020603050405020304" pitchFamily="18" charset="0"/>
              </a:rPr>
              <a:t>Step 1: Data Acquisition</a:t>
            </a:r>
            <a:endParaRPr lang="en-US" dirty="0"/>
          </a:p>
        </p:txBody>
      </p:sp>
      <p:sp>
        <p:nvSpPr>
          <p:cNvPr id="3" name="Content Placeholder 2"/>
          <p:cNvSpPr>
            <a:spLocks noGrp="1"/>
          </p:cNvSpPr>
          <p:nvPr>
            <p:ph idx="1"/>
          </p:nvPr>
        </p:nvSpPr>
        <p:spPr>
          <a:xfrm>
            <a:off x="838200" y="1474470"/>
            <a:ext cx="10515600" cy="4702493"/>
          </a:xfrm>
        </p:spPr>
        <p:txBody>
          <a:bodyPr/>
          <a:lstStyle/>
          <a:p>
            <a:pPr algn="just"/>
            <a:r>
              <a:rPr lang="en-US" dirty="0">
                <a:latin typeface="Times New Roman" panose="02020603050405020304" pitchFamily="18" charset="0"/>
                <a:cs typeface="Times New Roman" panose="02020603050405020304" pitchFamily="18" charset="0"/>
              </a:rPr>
              <a:t>The first step in the machine learning process is to get the data. This will depend on the type of data you are gathering and the source of data.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can be either static data from an existing database or real-time data from an IoT system or data from other repositories.</a:t>
            </a:r>
          </a:p>
          <a:p>
            <a:endParaRPr lang="en-US" dirty="0"/>
          </a:p>
        </p:txBody>
      </p:sp>
      <p:sp>
        <p:nvSpPr>
          <p:cNvPr id="4" name="Slide Number Placeholder 3"/>
          <p:cNvSpPr>
            <a:spLocks noGrp="1"/>
          </p:cNvSpPr>
          <p:nvPr>
            <p:ph type="sldNum" sz="quarter" idx="12"/>
          </p:nvPr>
        </p:nvSpPr>
        <p:spPr/>
        <p:txBody>
          <a:bodyPr/>
          <a:lstStyle/>
          <a:p>
            <a:fld id="{D2F8B522-47F2-415F-83D6-7890B1F943EC}" type="slidenum">
              <a:rPr lang="en-IN" smtClean="0"/>
              <a:t>19</a:t>
            </a:fld>
            <a:endParaRPr lang="en-IN"/>
          </a:p>
        </p:txBody>
      </p:sp>
    </p:spTree>
    <p:extLst>
      <p:ext uri="{BB962C8B-B14F-4D97-AF65-F5344CB8AC3E}">
        <p14:creationId xmlns:p14="http://schemas.microsoft.com/office/powerpoint/2010/main" val="3937625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Step 2: Data Cleaning</a:t>
            </a:r>
            <a:r>
              <a:rPr lang="en-US" dirty="0"/>
              <a:t/>
            </a:r>
            <a:br>
              <a:rPr lang="en-US" dirty="0"/>
            </a:br>
            <a:endParaRPr lang="en-US" dirty="0"/>
          </a:p>
        </p:txBody>
      </p:sp>
      <p:sp>
        <p:nvSpPr>
          <p:cNvPr id="3" name="Content Placeholder 2"/>
          <p:cNvSpPr>
            <a:spLocks noGrp="1"/>
          </p:cNvSpPr>
          <p:nvPr>
            <p:ph idx="1"/>
          </p:nvPr>
        </p:nvSpPr>
        <p:spPr>
          <a:xfrm>
            <a:off x="838200" y="1383030"/>
            <a:ext cx="10515600" cy="4793933"/>
          </a:xfrm>
        </p:spPr>
        <p:txBody>
          <a:bodyPr/>
          <a:lstStyle/>
          <a:p>
            <a:pPr algn="just"/>
            <a:r>
              <a:rPr lang="en-US" dirty="0">
                <a:latin typeface="Times New Roman" panose="02020603050405020304" pitchFamily="18" charset="0"/>
                <a:cs typeface="Times New Roman" panose="02020603050405020304" pitchFamily="18" charset="0"/>
              </a:rPr>
              <a:t>All real-world data is often </a:t>
            </a:r>
            <a:r>
              <a:rPr lang="en-US" i="1" dirty="0">
                <a:latin typeface="Times New Roman" panose="02020603050405020304" pitchFamily="18" charset="0"/>
                <a:cs typeface="Times New Roman" panose="02020603050405020304" pitchFamily="18" charset="0"/>
              </a:rPr>
              <a:t>unorganized, redundant, or has missing elements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In order to feed data into the machine learning model, we need to first clean, prepare and manipulate the data. This is the most crucial step in the machine learning workflow and takes up the most time as well. Having clean data means that you can get a more accurate model down the road.</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Data can be in any format - CSV, XML, JSON, etc. After cleaning the data, you need to then convert these data into valid formats that can be fed onto the machine learning platform.</a:t>
            </a:r>
          </a:p>
          <a:p>
            <a:pPr marL="0" indent="0">
              <a:buNone/>
            </a:pPr>
            <a:endParaRPr lang="en-US" dirty="0"/>
          </a:p>
        </p:txBody>
      </p:sp>
      <p:sp>
        <p:nvSpPr>
          <p:cNvPr id="4" name="Slide Number Placeholder 3"/>
          <p:cNvSpPr>
            <a:spLocks noGrp="1"/>
          </p:cNvSpPr>
          <p:nvPr>
            <p:ph type="sldNum" sz="quarter" idx="12"/>
          </p:nvPr>
        </p:nvSpPr>
        <p:spPr/>
        <p:txBody>
          <a:bodyPr/>
          <a:lstStyle/>
          <a:p>
            <a:fld id="{D2F8B522-47F2-415F-83D6-7890B1F943EC}" type="slidenum">
              <a:rPr lang="en-IN" smtClean="0"/>
              <a:t>20</a:t>
            </a:fld>
            <a:endParaRPr lang="en-IN"/>
          </a:p>
        </p:txBody>
      </p:sp>
    </p:spTree>
    <p:extLst>
      <p:ext uri="{BB962C8B-B14F-4D97-AF65-F5344CB8AC3E}">
        <p14:creationId xmlns:p14="http://schemas.microsoft.com/office/powerpoint/2010/main" val="2024137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5025"/>
          </a:xfrm>
        </p:spPr>
        <p:txBody>
          <a:bodyPr>
            <a:normAutofit/>
          </a:bodyPr>
          <a:lstStyle/>
          <a:p>
            <a:r>
              <a:rPr lang="en-US" sz="3600" b="1" dirty="0">
                <a:latin typeface="Times New Roman" panose="02020603050405020304" pitchFamily="18" charset="0"/>
                <a:cs typeface="Times New Roman" panose="02020603050405020304" pitchFamily="18" charset="0"/>
              </a:rPr>
              <a:t>Data Splitting</a:t>
            </a:r>
          </a:p>
        </p:txBody>
      </p:sp>
      <p:sp>
        <p:nvSpPr>
          <p:cNvPr id="3" name="Content Placeholder 2"/>
          <p:cNvSpPr>
            <a:spLocks noGrp="1"/>
          </p:cNvSpPr>
          <p:nvPr>
            <p:ph idx="1"/>
          </p:nvPr>
        </p:nvSpPr>
        <p:spPr>
          <a:xfrm>
            <a:off x="838200" y="1405890"/>
            <a:ext cx="10515600" cy="4771073"/>
          </a:xfrm>
        </p:spPr>
        <p:txBody>
          <a:bodyPr>
            <a:normAutofit/>
          </a:bodyPr>
          <a:lstStyle/>
          <a:p>
            <a:pPr algn="just"/>
            <a:r>
              <a:rPr lang="en-US" dirty="0">
                <a:latin typeface="Times New Roman" panose="02020603050405020304" pitchFamily="18" charset="0"/>
                <a:cs typeface="Times New Roman" panose="02020603050405020304" pitchFamily="18" charset="0"/>
              </a:rPr>
              <a:t>Finally, these datasets are further divided into </a:t>
            </a:r>
            <a:r>
              <a:rPr lang="en-US" dirty="0">
                <a:solidFill>
                  <a:srgbClr val="0000FF"/>
                </a:solidFill>
                <a:latin typeface="Times New Roman" panose="02020603050405020304" pitchFamily="18" charset="0"/>
                <a:cs typeface="Times New Roman" panose="02020603050405020304" pitchFamily="18" charset="0"/>
              </a:rPr>
              <a:t>training</a:t>
            </a:r>
            <a:r>
              <a:rPr lang="en-US" dirty="0">
                <a:latin typeface="Times New Roman" panose="02020603050405020304" pitchFamily="18" charset="0"/>
                <a:cs typeface="Times New Roman" panose="02020603050405020304" pitchFamily="18" charset="0"/>
              </a:rPr>
              <a:t> and </a:t>
            </a:r>
            <a:r>
              <a:rPr lang="en-US" dirty="0">
                <a:solidFill>
                  <a:srgbClr val="0000FF"/>
                </a:solidFill>
                <a:latin typeface="Times New Roman" panose="02020603050405020304" pitchFamily="18" charset="0"/>
                <a:cs typeface="Times New Roman" panose="02020603050405020304" pitchFamily="18" charset="0"/>
              </a:rPr>
              <a:t>testing </a:t>
            </a:r>
            <a:r>
              <a:rPr lang="en-US" dirty="0">
                <a:latin typeface="Times New Roman" panose="02020603050405020304" pitchFamily="18" charset="0"/>
                <a:cs typeface="Times New Roman" panose="02020603050405020304" pitchFamily="18" charset="0"/>
              </a:rPr>
              <a:t>datasets. The training dataset is used to train the model. The testing dataset is used to validate the model.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Here are some things to keep in mind while splitting the dataset into training and testing sets:</a:t>
            </a:r>
          </a:p>
          <a:p>
            <a:pPr lvl="1"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split range is usually 20% to 80% between the testing and training stages</a:t>
            </a:r>
          </a:p>
          <a:p>
            <a:pPr lvl="1"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You cannot mix or reuse the same data for the testing and training dataset</a:t>
            </a:r>
          </a:p>
          <a:p>
            <a:pPr lvl="1"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Using the same data for both datasets can result in a faulty model</a:t>
            </a:r>
            <a:r>
              <a:rPr lang="en-US" dirty="0">
                <a:latin typeface="Times New Roman" panose="02020603050405020304" pitchFamily="18" charset="0"/>
                <a:cs typeface="Times New Roman" panose="02020603050405020304" pitchFamily="18" charset="0"/>
              </a:rPr>
              <a:t> </a:t>
            </a:r>
          </a:p>
          <a:p>
            <a:endParaRPr lang="en-US" dirty="0"/>
          </a:p>
        </p:txBody>
      </p:sp>
      <p:sp>
        <p:nvSpPr>
          <p:cNvPr id="4" name="Slide Number Placeholder 3"/>
          <p:cNvSpPr>
            <a:spLocks noGrp="1"/>
          </p:cNvSpPr>
          <p:nvPr>
            <p:ph type="sldNum" sz="quarter" idx="12"/>
          </p:nvPr>
        </p:nvSpPr>
        <p:spPr/>
        <p:txBody>
          <a:bodyPr/>
          <a:lstStyle/>
          <a:p>
            <a:fld id="{D2F8B522-47F2-415F-83D6-7890B1F943EC}" type="slidenum">
              <a:rPr lang="en-IN" smtClean="0"/>
              <a:t>21</a:t>
            </a:fld>
            <a:endParaRPr lang="en-IN"/>
          </a:p>
        </p:txBody>
      </p:sp>
    </p:spTree>
    <p:extLst>
      <p:ext uri="{BB962C8B-B14F-4D97-AF65-F5344CB8AC3E}">
        <p14:creationId xmlns:p14="http://schemas.microsoft.com/office/powerpoint/2010/main" val="3764127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7484"/>
          </a:xfrm>
        </p:spPr>
        <p:txBody>
          <a:bodyPr>
            <a:normAutofit fontScale="90000"/>
          </a:bodyPr>
          <a:lstStyle/>
          <a:p>
            <a:r>
              <a:rPr lang="en-US" sz="4000" b="1" dirty="0">
                <a:latin typeface="Times New Roman" panose="02020603050405020304" pitchFamily="18" charset="0"/>
                <a:cs typeface="Times New Roman" panose="02020603050405020304" pitchFamily="18" charset="0"/>
              </a:rPr>
              <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Step 3: Model Training</a:t>
            </a:r>
            <a:r>
              <a:rPr lang="en-US" dirty="0"/>
              <a:t/>
            </a:r>
            <a:br>
              <a:rPr lang="en-US" dirty="0"/>
            </a:br>
            <a:endParaRPr lang="en-US" dirty="0"/>
          </a:p>
        </p:txBody>
      </p:sp>
      <p:sp>
        <p:nvSpPr>
          <p:cNvPr id="3" name="Content Placeholder 2"/>
          <p:cNvSpPr>
            <a:spLocks noGrp="1"/>
          </p:cNvSpPr>
          <p:nvPr>
            <p:ph idx="1"/>
          </p:nvPr>
        </p:nvSpPr>
        <p:spPr>
          <a:xfrm>
            <a:off x="838200" y="1428750"/>
            <a:ext cx="10515600" cy="4748213"/>
          </a:xfrm>
        </p:spPr>
        <p:txBody>
          <a:bodyPr/>
          <a:lstStyle/>
          <a:p>
            <a:pPr algn="just"/>
            <a:r>
              <a:rPr lang="en-US" dirty="0">
                <a:latin typeface="Times New Roman" panose="02020603050405020304" pitchFamily="18" charset="0"/>
                <a:cs typeface="Times New Roman" panose="02020603050405020304" pitchFamily="18" charset="0"/>
              </a:rPr>
              <a:t>A machine learning algorithm is used on the training dataset to train the model. </a:t>
            </a:r>
          </a:p>
          <a:p>
            <a:pPr algn="just"/>
            <a:r>
              <a:rPr lang="en-US" dirty="0">
                <a:latin typeface="Times New Roman" panose="02020603050405020304" pitchFamily="18" charset="0"/>
                <a:cs typeface="Times New Roman" panose="02020603050405020304" pitchFamily="18" charset="0"/>
              </a:rPr>
              <a:t>This algorithm leverages mathematical modeling to learn and predict behaviors. </a:t>
            </a:r>
            <a:endParaRPr lang="en-US" dirty="0"/>
          </a:p>
        </p:txBody>
      </p:sp>
      <p:sp>
        <p:nvSpPr>
          <p:cNvPr id="4" name="Slide Number Placeholder 3"/>
          <p:cNvSpPr>
            <a:spLocks noGrp="1"/>
          </p:cNvSpPr>
          <p:nvPr>
            <p:ph type="sldNum" sz="quarter" idx="12"/>
          </p:nvPr>
        </p:nvSpPr>
        <p:spPr/>
        <p:txBody>
          <a:bodyPr/>
          <a:lstStyle/>
          <a:p>
            <a:fld id="{D2F8B522-47F2-415F-83D6-7890B1F943EC}" type="slidenum">
              <a:rPr lang="en-IN" smtClean="0"/>
              <a:t>22</a:t>
            </a:fld>
            <a:endParaRPr lang="en-IN"/>
          </a:p>
        </p:txBody>
      </p:sp>
    </p:spTree>
    <p:extLst>
      <p:ext uri="{BB962C8B-B14F-4D97-AF65-F5344CB8AC3E}">
        <p14:creationId xmlns:p14="http://schemas.microsoft.com/office/powerpoint/2010/main" val="671482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2900"/>
            <a:ext cx="10515600" cy="758536"/>
          </a:xfrm>
        </p:spPr>
        <p:txBody>
          <a:bodyPr>
            <a:normAutofit fontScale="90000"/>
          </a:bodyPr>
          <a:lstStyle/>
          <a:p>
            <a:r>
              <a:rPr lang="en-US" sz="4000" dirty="0">
                <a:latin typeface="Times New Roman" panose="02020603050405020304" pitchFamily="18" charset="0"/>
                <a:cs typeface="Times New Roman" panose="02020603050405020304" pitchFamily="18" charset="0"/>
              </a:rPr>
              <a:t/>
            </a:r>
            <a:br>
              <a:rPr lang="en-US" sz="4000"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Step 4: Model Testing</a:t>
            </a:r>
            <a:r>
              <a:rPr lang="en-US" dirty="0"/>
              <a:t/>
            </a:r>
            <a:br>
              <a:rPr lang="en-US" dirty="0"/>
            </a:br>
            <a:endParaRPr lang="en-US" dirty="0"/>
          </a:p>
        </p:txBody>
      </p:sp>
      <p:sp>
        <p:nvSpPr>
          <p:cNvPr id="3" name="Content Placeholder 2"/>
          <p:cNvSpPr>
            <a:spLocks noGrp="1"/>
          </p:cNvSpPr>
          <p:nvPr>
            <p:ph idx="1"/>
          </p:nvPr>
        </p:nvSpPr>
        <p:spPr>
          <a:xfrm>
            <a:off x="838200" y="1246909"/>
            <a:ext cx="10515600" cy="4930054"/>
          </a:xfrm>
        </p:spPr>
        <p:txBody>
          <a:bodyPr>
            <a:normAutofit fontScale="92500" lnSpcReduction="10000"/>
          </a:bodyPr>
          <a:lstStyle/>
          <a:p>
            <a:pPr algn="just"/>
            <a:r>
              <a:rPr lang="en-US" sz="3000" dirty="0">
                <a:latin typeface="Times New Roman" panose="02020603050405020304" pitchFamily="18" charset="0"/>
                <a:cs typeface="Times New Roman" panose="02020603050405020304" pitchFamily="18" charset="0"/>
              </a:rPr>
              <a:t>After the model is trained, we need to test and validate it for further processing. </a:t>
            </a:r>
          </a:p>
          <a:p>
            <a:pPr algn="just"/>
            <a:r>
              <a:rPr lang="en-US" sz="3000" dirty="0">
                <a:latin typeface="Times New Roman" panose="02020603050405020304" pitchFamily="18" charset="0"/>
                <a:cs typeface="Times New Roman" panose="02020603050405020304" pitchFamily="18" charset="0"/>
              </a:rPr>
              <a:t>By using the </a:t>
            </a:r>
            <a:r>
              <a:rPr lang="en-US" sz="3000" dirty="0">
                <a:solidFill>
                  <a:srgbClr val="0000FF"/>
                </a:solidFill>
                <a:latin typeface="Times New Roman" panose="02020603050405020304" pitchFamily="18" charset="0"/>
                <a:cs typeface="Times New Roman" panose="02020603050405020304" pitchFamily="18" charset="0"/>
              </a:rPr>
              <a:t>testing dataset </a:t>
            </a:r>
            <a:r>
              <a:rPr lang="en-US" sz="3000" dirty="0">
                <a:latin typeface="Times New Roman" panose="02020603050405020304" pitchFamily="18" charset="0"/>
                <a:cs typeface="Times New Roman" panose="02020603050405020304" pitchFamily="18" charset="0"/>
              </a:rPr>
              <a:t>obtained from Step 3, we can check the accuracy of the model. If the results are not satisfactory, the model should be further improved. The model is trained and improved over and over again until the results are satisfactory. </a:t>
            </a:r>
          </a:p>
          <a:p>
            <a:pPr marL="0" indent="0" algn="just">
              <a:buNone/>
            </a:pPr>
            <a:endParaRPr lang="en-US" sz="3000" dirty="0">
              <a:latin typeface="Times New Roman" panose="02020603050405020304" pitchFamily="18" charset="0"/>
              <a:cs typeface="Times New Roman" panose="02020603050405020304" pitchFamily="18" charset="0"/>
            </a:endParaRPr>
          </a:p>
          <a:p>
            <a:pPr algn="just"/>
            <a:r>
              <a:rPr lang="en-US" sz="3000" dirty="0">
                <a:latin typeface="Times New Roman" panose="02020603050405020304" pitchFamily="18" charset="0"/>
                <a:cs typeface="Times New Roman" panose="02020603050405020304" pitchFamily="18" charset="0"/>
              </a:rPr>
              <a:t>Here are some things you can do to refine and improve the model:</a:t>
            </a:r>
          </a:p>
          <a:p>
            <a:pPr lvl="1" algn="just">
              <a:buFont typeface="Wingdings" panose="05000000000000000000" pitchFamily="2" charset="2"/>
              <a:buChar char="Ø"/>
            </a:pPr>
            <a:r>
              <a:rPr lang="en-US" sz="2800" i="1" dirty="0">
                <a:latin typeface="Times New Roman" panose="02020603050405020304" pitchFamily="18" charset="0"/>
                <a:cs typeface="Times New Roman" panose="02020603050405020304" pitchFamily="18" charset="0"/>
              </a:rPr>
              <a:t>Review the model </a:t>
            </a:r>
            <a:r>
              <a:rPr lang="en-US" sz="2800" dirty="0">
                <a:latin typeface="Times New Roman" panose="02020603050405020304" pitchFamily="18" charset="0"/>
                <a:cs typeface="Times New Roman" panose="02020603050405020304" pitchFamily="18" charset="0"/>
              </a:rPr>
              <a:t>with the business stakeholders and take in their inputs</a:t>
            </a:r>
          </a:p>
          <a:p>
            <a:pPr lvl="1" algn="just">
              <a:buFont typeface="Wingdings" panose="05000000000000000000" pitchFamily="2" charset="2"/>
              <a:buChar char="Ø"/>
            </a:pPr>
            <a:r>
              <a:rPr lang="en-US" sz="2800" i="1" dirty="0">
                <a:latin typeface="Times New Roman" panose="02020603050405020304" pitchFamily="18" charset="0"/>
                <a:cs typeface="Times New Roman" panose="02020603050405020304" pitchFamily="18" charset="0"/>
              </a:rPr>
              <a:t>Reconsider the algorithm </a:t>
            </a:r>
            <a:r>
              <a:rPr lang="en-US" sz="2800" dirty="0">
                <a:latin typeface="Times New Roman" panose="02020603050405020304" pitchFamily="18" charset="0"/>
                <a:cs typeface="Times New Roman" panose="02020603050405020304" pitchFamily="18" charset="0"/>
              </a:rPr>
              <a:t>you have chosen to train the model</a:t>
            </a:r>
          </a:p>
          <a:p>
            <a:pPr lvl="1" algn="just">
              <a:buFont typeface="Wingdings" panose="05000000000000000000" pitchFamily="2" charset="2"/>
              <a:buChar char="Ø"/>
            </a:pPr>
            <a:r>
              <a:rPr lang="en-US" sz="2800" i="1" dirty="0">
                <a:latin typeface="Times New Roman" panose="02020603050405020304" pitchFamily="18" charset="0"/>
                <a:cs typeface="Times New Roman" panose="02020603050405020304" pitchFamily="18" charset="0"/>
              </a:rPr>
              <a:t>Adjust the parameters of the algorithm </a:t>
            </a:r>
            <a:r>
              <a:rPr lang="en-US" sz="2800" dirty="0">
                <a:latin typeface="Times New Roman" panose="02020603050405020304" pitchFamily="18" charset="0"/>
                <a:cs typeface="Times New Roman" panose="02020603050405020304" pitchFamily="18" charset="0"/>
              </a:rPr>
              <a:t>you have chosen (even small adjustments can have significant impacts)</a:t>
            </a:r>
          </a:p>
          <a:p>
            <a:endParaRPr lang="en-US" dirty="0"/>
          </a:p>
        </p:txBody>
      </p:sp>
      <p:sp>
        <p:nvSpPr>
          <p:cNvPr id="4" name="Slide Number Placeholder 3"/>
          <p:cNvSpPr>
            <a:spLocks noGrp="1"/>
          </p:cNvSpPr>
          <p:nvPr>
            <p:ph type="sldNum" sz="quarter" idx="12"/>
          </p:nvPr>
        </p:nvSpPr>
        <p:spPr/>
        <p:txBody>
          <a:bodyPr/>
          <a:lstStyle/>
          <a:p>
            <a:fld id="{D2F8B522-47F2-415F-83D6-7890B1F943EC}" type="slidenum">
              <a:rPr lang="en-IN" smtClean="0"/>
              <a:t>23</a:t>
            </a:fld>
            <a:endParaRPr lang="en-IN"/>
          </a:p>
        </p:txBody>
      </p:sp>
    </p:spTree>
    <p:extLst>
      <p:ext uri="{BB962C8B-B14F-4D97-AF65-F5344CB8AC3E}">
        <p14:creationId xmlns:p14="http://schemas.microsoft.com/office/powerpoint/2010/main" val="248058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normAutofit/>
          </a:bodyPr>
          <a:lstStyle/>
          <a:p>
            <a:r>
              <a:rPr lang="en-US" sz="3600" b="1" dirty="0">
                <a:latin typeface="Times New Roman" panose="02020603050405020304" pitchFamily="18" charset="0"/>
                <a:cs typeface="Times New Roman" panose="02020603050405020304" pitchFamily="18" charset="0"/>
              </a:rPr>
              <a:t>Step 5: Deployment</a:t>
            </a:r>
            <a:endParaRPr lang="en-US" sz="3600" dirty="0"/>
          </a:p>
        </p:txBody>
      </p:sp>
      <p:sp>
        <p:nvSpPr>
          <p:cNvPr id="3" name="Content Placeholder 2"/>
          <p:cNvSpPr>
            <a:spLocks noGrp="1"/>
          </p:cNvSpPr>
          <p:nvPr>
            <p:ph idx="1"/>
          </p:nvPr>
        </p:nvSpPr>
        <p:spPr>
          <a:xfrm>
            <a:off x="838200" y="1371600"/>
            <a:ext cx="10515600" cy="4805363"/>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Once the model is trained, deploy and pipeline it to production for application consumption.</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machine learning process that we have outlined here is a fairly standard process. </a:t>
            </a:r>
          </a:p>
          <a:p>
            <a:pPr algn="just"/>
            <a:r>
              <a:rPr lang="en-US" dirty="0">
                <a:latin typeface="Times New Roman" panose="02020603050405020304" pitchFamily="18" charset="0"/>
                <a:cs typeface="Times New Roman" panose="02020603050405020304" pitchFamily="18" charset="0"/>
              </a:rPr>
              <a:t>As you go through this process on your own with your own problems, you will start to discover a few more machine learning steps that might work for you. </a:t>
            </a: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example, As you tune your model, you may realize you need more data, and so on. The important part is to keep iterating until you find a model that fits your problem/task the most.</a:t>
            </a:r>
          </a:p>
          <a:p>
            <a:endParaRPr lang="en-US" dirty="0"/>
          </a:p>
        </p:txBody>
      </p:sp>
      <p:sp>
        <p:nvSpPr>
          <p:cNvPr id="4" name="Slide Number Placeholder 3"/>
          <p:cNvSpPr>
            <a:spLocks noGrp="1"/>
          </p:cNvSpPr>
          <p:nvPr>
            <p:ph type="sldNum" sz="quarter" idx="12"/>
          </p:nvPr>
        </p:nvSpPr>
        <p:spPr/>
        <p:txBody>
          <a:bodyPr/>
          <a:lstStyle/>
          <a:p>
            <a:fld id="{D2F8B522-47F2-415F-83D6-7890B1F943EC}" type="slidenum">
              <a:rPr lang="en-IN" smtClean="0"/>
              <a:t>24</a:t>
            </a:fld>
            <a:endParaRPr lang="en-IN"/>
          </a:p>
        </p:txBody>
      </p:sp>
    </p:spTree>
    <p:extLst>
      <p:ext uri="{BB962C8B-B14F-4D97-AF65-F5344CB8AC3E}">
        <p14:creationId xmlns:p14="http://schemas.microsoft.com/office/powerpoint/2010/main" val="2441816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38BB72-E4A0-B4D3-DE8C-5E98C29611C3}"/>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QUIZ</a:t>
            </a:r>
          </a:p>
        </p:txBody>
      </p:sp>
      <p:sp>
        <p:nvSpPr>
          <p:cNvPr id="3" name="Content Placeholder 2">
            <a:extLst>
              <a:ext uri="{FF2B5EF4-FFF2-40B4-BE49-F238E27FC236}">
                <a16:creationId xmlns="" xmlns:a16="http://schemas.microsoft.com/office/drawing/2014/main" id="{CBC85B84-91DE-68F3-F08D-727D58381C81}"/>
              </a:ext>
            </a:extLst>
          </p:cNvPr>
          <p:cNvSpPr>
            <a:spLocks noGrp="1"/>
          </p:cNvSpPr>
          <p:nvPr>
            <p:ph idx="1"/>
          </p:nvPr>
        </p:nvSpPr>
        <p:spPr/>
        <p:txBody>
          <a:bodyPr/>
          <a:lstStyle/>
          <a:p>
            <a:pPr algn="just"/>
            <a:r>
              <a:rPr lang="en-US" b="0" i="0" dirty="0">
                <a:effectLst/>
                <a:latin typeface="Times New Roman" panose="02020603050405020304" pitchFamily="18" charset="0"/>
                <a:cs typeface="Times New Roman" panose="02020603050405020304" pitchFamily="18" charset="0"/>
              </a:rPr>
              <a:t>Which of the following machine learning techniques learns the function to map an input variable to output variable in the given dataset?</a:t>
            </a:r>
          </a:p>
          <a:p>
            <a:pPr marL="954088" indent="-514350" algn="just">
              <a:buFont typeface="+mj-lt"/>
              <a:buAutoNum type="alphaUcPeriod"/>
            </a:pPr>
            <a:r>
              <a:rPr lang="en-US" dirty="0">
                <a:latin typeface="Times New Roman" panose="02020603050405020304" pitchFamily="18" charset="0"/>
                <a:cs typeface="Times New Roman" panose="02020603050405020304" pitchFamily="18" charset="0"/>
              </a:rPr>
              <a:t>Supervised Learning</a:t>
            </a:r>
          </a:p>
          <a:p>
            <a:pPr marL="954088" indent="-514350" algn="just">
              <a:buFont typeface="+mj-lt"/>
              <a:buAutoNum type="alphaUcPeriod"/>
            </a:pPr>
            <a:r>
              <a:rPr lang="en-US" dirty="0">
                <a:latin typeface="Times New Roman" panose="02020603050405020304" pitchFamily="18" charset="0"/>
                <a:cs typeface="Times New Roman" panose="02020603050405020304" pitchFamily="18" charset="0"/>
              </a:rPr>
              <a:t>Unsupervised Learning</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2F8B522-47F2-415F-83D6-7890B1F943EC}" type="slidenum">
              <a:rPr lang="en-IN" smtClean="0"/>
              <a:t>25</a:t>
            </a:fld>
            <a:endParaRPr lang="en-IN"/>
          </a:p>
        </p:txBody>
      </p:sp>
    </p:spTree>
    <p:extLst>
      <p:ext uri="{BB962C8B-B14F-4D97-AF65-F5344CB8AC3E}">
        <p14:creationId xmlns:p14="http://schemas.microsoft.com/office/powerpoint/2010/main" val="2381334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FE94E8-A5AF-D4A3-FBBC-F35A0FAC138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QUIZ</a:t>
            </a:r>
          </a:p>
        </p:txBody>
      </p:sp>
      <p:sp>
        <p:nvSpPr>
          <p:cNvPr id="3" name="Content Placeholder 2">
            <a:extLst>
              <a:ext uri="{FF2B5EF4-FFF2-40B4-BE49-F238E27FC236}">
                <a16:creationId xmlns="" xmlns:a16="http://schemas.microsoft.com/office/drawing/2014/main" id="{A99BEE8E-41E7-58F0-82BC-9B63A25D1AC2}"/>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Which of the following </a:t>
            </a:r>
            <a:r>
              <a:rPr lang="en-US" dirty="0" err="1">
                <a:latin typeface="Times New Roman" panose="02020603050405020304" pitchFamily="18" charset="0"/>
                <a:cs typeface="Times New Roman" panose="02020603050405020304" pitchFamily="18" charset="0"/>
              </a:rPr>
              <a:t>usecases</a:t>
            </a:r>
            <a:r>
              <a:rPr lang="en-US" dirty="0">
                <a:latin typeface="Times New Roman" panose="02020603050405020304" pitchFamily="18" charset="0"/>
                <a:cs typeface="Times New Roman" panose="02020603050405020304" pitchFamily="18" charset="0"/>
              </a:rPr>
              <a:t> can be solved using the Supervised machine learning technique?</a:t>
            </a:r>
          </a:p>
          <a:p>
            <a:pPr marL="1084263" indent="-457200" algn="just">
              <a:buFont typeface="+mj-lt"/>
              <a:buAutoNum type="alphaUcPeriod"/>
            </a:pPr>
            <a:r>
              <a:rPr lang="en-US" dirty="0">
                <a:latin typeface="Times New Roman" panose="02020603050405020304" pitchFamily="18" charset="0"/>
                <a:cs typeface="Times New Roman" panose="02020603050405020304" pitchFamily="18" charset="0"/>
              </a:rPr>
              <a:t>Grouping Inventory by sales activity</a:t>
            </a:r>
          </a:p>
          <a:p>
            <a:pPr marL="1084263" indent="-457200" algn="just">
              <a:buFont typeface="+mj-lt"/>
              <a:buAutoNum type="alphaUcPeriod"/>
            </a:pPr>
            <a:r>
              <a:rPr lang="en-US" dirty="0">
                <a:latin typeface="Times New Roman" panose="02020603050405020304" pitchFamily="18" charset="0"/>
                <a:cs typeface="Times New Roman" panose="02020603050405020304" pitchFamily="18" charset="0"/>
              </a:rPr>
              <a:t>Grouping news articles into categories</a:t>
            </a:r>
          </a:p>
          <a:p>
            <a:pPr marL="1084263" indent="-457200" algn="just">
              <a:buFont typeface="+mj-lt"/>
              <a:buAutoNum type="alphaUcPeriod"/>
            </a:pPr>
            <a:r>
              <a:rPr lang="en-US" dirty="0">
                <a:latin typeface="Times New Roman" panose="02020603050405020304" pitchFamily="18" charset="0"/>
                <a:cs typeface="Times New Roman" panose="02020603050405020304" pitchFamily="18" charset="0"/>
              </a:rPr>
              <a:t>Predicting whether a patient is diabetic</a:t>
            </a:r>
          </a:p>
          <a:p>
            <a:pPr marL="1084263" indent="-457200" algn="just">
              <a:buFont typeface="+mj-lt"/>
              <a:buAutoNum type="alphaUcPeriod"/>
            </a:pPr>
            <a:r>
              <a:rPr lang="en-US" dirty="0">
                <a:latin typeface="Times New Roman" panose="02020603050405020304" pitchFamily="18" charset="0"/>
                <a:cs typeface="Times New Roman" panose="02020603050405020304" pitchFamily="18" charset="0"/>
              </a:rPr>
              <a:t>For a medical service provider , grouping customers based on the types of movies they watch</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2F8B522-47F2-415F-83D6-7890B1F943EC}" type="slidenum">
              <a:rPr lang="en-IN" smtClean="0"/>
              <a:t>26</a:t>
            </a:fld>
            <a:endParaRPr lang="en-IN"/>
          </a:p>
        </p:txBody>
      </p:sp>
    </p:spTree>
    <p:extLst>
      <p:ext uri="{BB962C8B-B14F-4D97-AF65-F5344CB8AC3E}">
        <p14:creationId xmlns:p14="http://schemas.microsoft.com/office/powerpoint/2010/main" val="2086125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4430F0-867A-F182-F876-9A8BE8B012C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QUIZ</a:t>
            </a:r>
          </a:p>
        </p:txBody>
      </p:sp>
      <p:sp>
        <p:nvSpPr>
          <p:cNvPr id="3" name="Content Placeholder 2">
            <a:extLst>
              <a:ext uri="{FF2B5EF4-FFF2-40B4-BE49-F238E27FC236}">
                <a16:creationId xmlns="" xmlns:a16="http://schemas.microsoft.com/office/drawing/2014/main" id="{97812FFA-A7CD-B5F0-A9B9-95E392284827}"/>
              </a:ext>
            </a:extLst>
          </p:cNvPr>
          <p:cNvSpPr>
            <a:spLocks noGrp="1"/>
          </p:cNvSpPr>
          <p:nvPr>
            <p:ph idx="1"/>
          </p:nvPr>
        </p:nvSpPr>
        <p:spPr/>
        <p:txBody>
          <a:bodyPr/>
          <a:lstStyle/>
          <a:p>
            <a:pPr algn="just"/>
            <a:r>
              <a:rPr lang="en-US" b="0" i="0" dirty="0">
                <a:effectLst/>
                <a:latin typeface="Times New Roman" panose="02020603050405020304" pitchFamily="18" charset="0"/>
                <a:cs typeface="Times New Roman" panose="02020603050405020304" pitchFamily="18" charset="0"/>
              </a:rPr>
              <a:t>Which of the following </a:t>
            </a:r>
            <a:r>
              <a:rPr lang="en-US" b="0" i="0" dirty="0" err="1">
                <a:effectLst/>
                <a:latin typeface="Times New Roman" panose="02020603050405020304" pitchFamily="18" charset="0"/>
                <a:cs typeface="Times New Roman" panose="02020603050405020304" pitchFamily="18" charset="0"/>
              </a:rPr>
              <a:t>usecases</a:t>
            </a:r>
            <a:r>
              <a:rPr lang="en-US" b="0" i="0" dirty="0">
                <a:effectLst/>
                <a:latin typeface="Times New Roman" panose="02020603050405020304" pitchFamily="18" charset="0"/>
                <a:cs typeface="Times New Roman" panose="02020603050405020304" pitchFamily="18" charset="0"/>
              </a:rPr>
              <a:t> can be solved using Unsupervised machine learning technique?</a:t>
            </a:r>
          </a:p>
          <a:p>
            <a:pPr marL="514350" indent="-158750" algn="just">
              <a:buFont typeface="+mj-lt"/>
              <a:buAutoNum type="alphaUcPeriod"/>
            </a:pPr>
            <a:r>
              <a:rPr lang="en-US" dirty="0">
                <a:latin typeface="Times New Roman" panose="02020603050405020304" pitchFamily="18" charset="0"/>
                <a:cs typeface="Times New Roman" panose="02020603050405020304" pitchFamily="18" charset="0"/>
              </a:rPr>
              <a:t> Predicting if a person will repay a loan within a grace period</a:t>
            </a:r>
          </a:p>
          <a:p>
            <a:pPr marL="514350" indent="-158750" algn="just">
              <a:buFont typeface="+mj-lt"/>
              <a:buAutoNum type="alphaUcPeriod"/>
            </a:pPr>
            <a:r>
              <a:rPr lang="en-US" dirty="0">
                <a:latin typeface="Times New Roman" panose="02020603050405020304" pitchFamily="18" charset="0"/>
                <a:cs typeface="Times New Roman" panose="02020603050405020304" pitchFamily="18" charset="0"/>
              </a:rPr>
              <a:t> Grouping customers who have exhibited similar buying pattern</a:t>
            </a:r>
          </a:p>
          <a:p>
            <a:pPr marL="514350" indent="-158750" algn="just">
              <a:buFont typeface="+mj-lt"/>
              <a:buAutoNum type="alphaUcPeriod"/>
            </a:pPr>
            <a:r>
              <a:rPr lang="en-US" dirty="0">
                <a:latin typeface="Times New Roman" panose="02020603050405020304" pitchFamily="18" charset="0"/>
                <a:cs typeface="Times New Roman" panose="02020603050405020304" pitchFamily="18" charset="0"/>
              </a:rPr>
              <a:t> A home Security camera system that triggers the opening of the gate when you come near it.</a:t>
            </a:r>
          </a:p>
          <a:p>
            <a:pPr marL="514350" indent="-158750" algn="just">
              <a:buFont typeface="+mj-lt"/>
              <a:buAutoNum type="alphaUcPeriod"/>
            </a:pPr>
            <a:r>
              <a:rPr lang="en-US" dirty="0">
                <a:latin typeface="Times New Roman" panose="02020603050405020304" pitchFamily="18" charset="0"/>
                <a:cs typeface="Times New Roman" panose="02020603050405020304" pitchFamily="18" charset="0"/>
              </a:rPr>
              <a:t> Identifying the speaker from an audio clip</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2F8B522-47F2-415F-83D6-7890B1F943EC}" type="slidenum">
              <a:rPr lang="en-IN" smtClean="0"/>
              <a:t>27</a:t>
            </a:fld>
            <a:endParaRPr lang="en-IN"/>
          </a:p>
        </p:txBody>
      </p:sp>
    </p:spTree>
    <p:extLst>
      <p:ext uri="{BB962C8B-B14F-4D97-AF65-F5344CB8AC3E}">
        <p14:creationId xmlns:p14="http://schemas.microsoft.com/office/powerpoint/2010/main" val="3498508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DBC9A3-05CD-B372-6971-E3ACE2DFC98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QUIZ</a:t>
            </a:r>
          </a:p>
        </p:txBody>
      </p:sp>
      <p:sp>
        <p:nvSpPr>
          <p:cNvPr id="3" name="Content Placeholder 2">
            <a:extLst>
              <a:ext uri="{FF2B5EF4-FFF2-40B4-BE49-F238E27FC236}">
                <a16:creationId xmlns="" xmlns:a16="http://schemas.microsoft.com/office/drawing/2014/main" id="{33E9AEBD-3713-2AE4-FD96-13B75C1CC4E2}"/>
              </a:ext>
            </a:extLst>
          </p:cNvPr>
          <p:cNvSpPr>
            <a:spLocks noGrp="1"/>
          </p:cNvSpPr>
          <p:nvPr>
            <p:ph idx="1"/>
          </p:nvPr>
        </p:nvSpPr>
        <p:spPr/>
        <p:txBody>
          <a:bodyPr/>
          <a:lstStyle/>
          <a:p>
            <a:pPr algn="just"/>
            <a:r>
              <a:rPr lang="en-US" b="0" i="0" dirty="0">
                <a:effectLst/>
                <a:latin typeface="Times New Roman" panose="02020603050405020304" pitchFamily="18" charset="0"/>
                <a:cs typeface="Times New Roman" panose="02020603050405020304" pitchFamily="18" charset="0"/>
              </a:rPr>
              <a:t>Which phase of the machine learning process deals with handling missing values and outliers in the historical data set?</a:t>
            </a:r>
          </a:p>
          <a:p>
            <a:pPr marL="514350" indent="382588">
              <a:buFont typeface="+mj-lt"/>
              <a:buAutoNum type="alphaUcPeriod"/>
            </a:pPr>
            <a:r>
              <a:rPr lang="en-US" dirty="0">
                <a:latin typeface="Times New Roman" panose="02020603050405020304" pitchFamily="18" charset="0"/>
                <a:cs typeface="Times New Roman" panose="02020603050405020304" pitchFamily="18" charset="0"/>
              </a:rPr>
              <a:t>Feature Engineering</a:t>
            </a:r>
          </a:p>
          <a:p>
            <a:pPr marL="514350" indent="382588">
              <a:buFont typeface="+mj-lt"/>
              <a:buAutoNum type="alphaUcPeriod"/>
            </a:pPr>
            <a:r>
              <a:rPr lang="en-US" dirty="0">
                <a:latin typeface="Times New Roman" panose="02020603050405020304" pitchFamily="18" charset="0"/>
                <a:cs typeface="Times New Roman" panose="02020603050405020304" pitchFamily="18" charset="0"/>
              </a:rPr>
              <a:t>Model Building</a:t>
            </a:r>
          </a:p>
          <a:p>
            <a:pPr marL="514350" indent="382588">
              <a:buFont typeface="+mj-lt"/>
              <a:buAutoNum type="alphaUcPeriod"/>
            </a:pPr>
            <a:r>
              <a:rPr lang="en-US" dirty="0">
                <a:latin typeface="Times New Roman" panose="02020603050405020304" pitchFamily="18" charset="0"/>
                <a:cs typeface="Times New Roman" panose="02020603050405020304" pitchFamily="18" charset="0"/>
              </a:rPr>
              <a:t>Model Validation</a:t>
            </a:r>
          </a:p>
          <a:p>
            <a:pPr marL="514350" indent="382588">
              <a:buFont typeface="+mj-lt"/>
              <a:buAutoNum type="alphaUcPeriod"/>
            </a:pPr>
            <a:r>
              <a:rPr lang="en-US" dirty="0">
                <a:latin typeface="Times New Roman" panose="02020603050405020304" pitchFamily="18" charset="0"/>
                <a:cs typeface="Times New Roman" panose="02020603050405020304" pitchFamily="18" charset="0"/>
              </a:rPr>
              <a:t>Model Deployment</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2F8B522-47F2-415F-83D6-7890B1F943EC}" type="slidenum">
              <a:rPr lang="en-IN" smtClean="0"/>
              <a:t>28</a:t>
            </a:fld>
            <a:endParaRPr lang="en-IN"/>
          </a:p>
        </p:txBody>
      </p:sp>
    </p:spTree>
    <p:extLst>
      <p:ext uri="{BB962C8B-B14F-4D97-AF65-F5344CB8AC3E}">
        <p14:creationId xmlns:p14="http://schemas.microsoft.com/office/powerpoint/2010/main" val="2618466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764</TotalTime>
  <Words>1279</Words>
  <Application>Microsoft Office PowerPoint</Application>
  <PresentationFormat>Widescreen</PresentationFormat>
  <Paragraphs>210</Paragraphs>
  <Slides>28</Slides>
  <Notes>9</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Aptos Display</vt:lpstr>
      <vt:lpstr>Arial</vt:lpstr>
      <vt:lpstr>Cambria</vt:lpstr>
      <vt:lpstr>Roboto</vt:lpstr>
      <vt:lpstr>Times New Roman</vt:lpstr>
      <vt:lpstr>Wingdings</vt:lpstr>
      <vt:lpstr>Office Theme</vt:lpstr>
      <vt:lpstr>UNIT-I, PART-1 Introduction to Machine Learning</vt:lpstr>
      <vt:lpstr>Contents</vt:lpstr>
      <vt:lpstr>Introduction</vt:lpstr>
      <vt:lpstr>What is Machine Learning?</vt:lpstr>
      <vt:lpstr>What is Machine Learning?</vt:lpstr>
      <vt:lpstr>Examples of  ML Applications</vt:lpstr>
      <vt:lpstr>Examples of  ML Applications</vt:lpstr>
      <vt:lpstr>Types of Machine Learning</vt:lpstr>
      <vt:lpstr>What is Supervised Learning?</vt:lpstr>
      <vt:lpstr>Types of Supervised Learning</vt:lpstr>
      <vt:lpstr>Unsupervised machine learning </vt:lpstr>
      <vt:lpstr>Semi-supervised Learning </vt:lpstr>
      <vt:lpstr> Reinforcement Learning </vt:lpstr>
      <vt:lpstr> Another Example on Reinforcement Learning </vt:lpstr>
      <vt:lpstr>Reinforcement Learning</vt:lpstr>
      <vt:lpstr>Reinforcement Learning Example</vt:lpstr>
      <vt:lpstr> Machine Learning Process </vt:lpstr>
      <vt:lpstr>Machine Learning Process</vt:lpstr>
      <vt:lpstr>Step 1: Data Acquisition</vt:lpstr>
      <vt:lpstr>Step 2: Data Cleaning </vt:lpstr>
      <vt:lpstr>Data Splitting</vt:lpstr>
      <vt:lpstr> Step 3: Model Training </vt:lpstr>
      <vt:lpstr> Step 4: Model Testing </vt:lpstr>
      <vt:lpstr>Step 5: Deployment</vt:lpstr>
      <vt:lpstr>QUIZ</vt:lpstr>
      <vt:lpstr>QUIZ</vt:lpstr>
      <vt:lpstr>QUIZ</vt:lpstr>
      <vt:lpstr>QUIZ</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 PART-1 Introduction to Machine Learning</dc:title>
  <dc:creator>Smt. A.Sirisha</dc:creator>
  <cp:lastModifiedBy>Sirisha Alamanda</cp:lastModifiedBy>
  <cp:revision>23</cp:revision>
  <dcterms:created xsi:type="dcterms:W3CDTF">2024-07-31T06:04:07Z</dcterms:created>
  <dcterms:modified xsi:type="dcterms:W3CDTF">2025-07-17T08:34:44Z</dcterms:modified>
</cp:coreProperties>
</file>