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03" r:id="rId3"/>
    <p:sldId id="275" r:id="rId4"/>
    <p:sldId id="283" r:id="rId5"/>
    <p:sldId id="304" r:id="rId6"/>
    <p:sldId id="295" r:id="rId7"/>
    <p:sldId id="296" r:id="rId8"/>
    <p:sldId id="297" r:id="rId9"/>
    <p:sldId id="299" r:id="rId10"/>
    <p:sldId id="258" r:id="rId11"/>
    <p:sldId id="260" r:id="rId12"/>
    <p:sldId id="305" r:id="rId13"/>
    <p:sldId id="262" r:id="rId14"/>
    <p:sldId id="263" r:id="rId15"/>
    <p:sldId id="264" r:id="rId16"/>
    <p:sldId id="301" r:id="rId17"/>
    <p:sldId id="306" r:id="rId18"/>
    <p:sldId id="270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74CCC-3353-4E89-B03A-E97A1A5C34A1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FF5F8-7C4D-4627-9778-E6C0763BB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6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its name, logistic regression is not actually a regression algorithm, but it is a classification algorithm.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FF5F8-7C4D-4627-9778-E6C0763BB44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69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B6A16-90A0-44E8-AC20-FCE580EC9FF7}" type="datetimeFigureOut">
              <a:rPr lang="en-US" smtClean="0"/>
              <a:pPr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CE018-E25F-4414-A737-00974A6989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536575"/>
          </a:xfrm>
        </p:spPr>
        <p:txBody>
          <a:bodyPr>
            <a:noAutofit/>
          </a:bodyPr>
          <a:lstStyle/>
          <a:p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Classification Algorithms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43200"/>
            <a:ext cx="6400800" cy="6858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Logistic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1279-5132-34A7-F545-9AB5AD5E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i="0" dirty="0">
                <a:solidFill>
                  <a:srgbClr val="01014A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3600" b="1" dirty="0">
                <a:solidFill>
                  <a:srgbClr val="01014A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3600" b="1" i="0" dirty="0">
                <a:solidFill>
                  <a:srgbClr val="01014A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Classification?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1BB50-5E5C-A270-6850-CC0EAB3C0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a supervised Machine Learning technique that helps in predicting categorical or discrete (non-continuous) outputs.</a:t>
            </a:r>
          </a:p>
          <a:p>
            <a:pPr algn="just"/>
            <a:endParaRPr lang="en-US"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 algorithms can be used to categorize/classify instances or samples.</a:t>
            </a:r>
          </a:p>
          <a:p>
            <a:pPr marL="0" indent="0" algn="just">
              <a:buNone/>
            </a:pPr>
            <a:endParaRPr lang="en-US" sz="2800" b="0" i="0" dirty="0"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whether a  mail is a spam or a transaction is fraudulent.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59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classification problems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spam or not spam,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transactions Fraud or not Fraud,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Malignant or Benign,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Predicting whether a customer will stop using a service,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Scoring: 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the probability of a customer defaulting on a loan.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the probability of a patient having a certain disease based on symptoms and test results.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732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a widely used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 in machine learning for binary classification tasks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goal is to predict the probability that an instance belongs to one of two classes. 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a classification algorithm,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the value of the target variable is categorical in nature.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most commonly used when the data in question has binary output,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either a 0 or 1.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that classification tasks have discrete categories, unlike regressions tasks.</a:t>
            </a:r>
          </a:p>
        </p:txBody>
      </p:sp>
    </p:spTree>
    <p:extLst>
      <p:ext uri="{BB962C8B-B14F-4D97-AF65-F5344CB8AC3E}">
        <p14:creationId xmlns:p14="http://schemas.microsoft.com/office/powerpoint/2010/main" val="33697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C9FE-5ADB-1147-C14F-639523AE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A280C-48B7-C99B-2D11-565572B30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a classification algorithm used to assign observations to a discrete set of classes. 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Consider a </a:t>
            </a:r>
            <a:r>
              <a:rPr lang="en-US" sz="28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coronary heart disease dataset </a:t>
            </a:r>
            <a:r>
              <a:rPr lang="en-US" sz="28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which lists the age in years ('age') and the presence/absence of evidence of significant coronary heart disease ('</a:t>
            </a:r>
            <a:r>
              <a:rPr lang="en-US" sz="2800" b="0" i="0" dirty="0" err="1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chd</a:t>
            </a:r>
            <a:r>
              <a:rPr lang="en-US" sz="28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') for 100 patients.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05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5791200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Dichotomous variable have only two values like yes or no, 0 or 1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838200"/>
            <a:ext cx="79248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14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76771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85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E5CB-4064-E414-C464-D4BBA496F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914400" y="1356015"/>
            <a:ext cx="5257799" cy="3078825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3"/>
          <a:srcRect r="3618" b="31356"/>
          <a:stretch/>
        </p:blipFill>
        <p:spPr>
          <a:xfrm>
            <a:off x="4724400" y="4419600"/>
            <a:ext cx="3962400" cy="201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4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219200"/>
            <a:ext cx="81915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4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1"/>
            <a:ext cx="8229600" cy="2362200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transforms its output using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sigmoid function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return a probability value.</a:t>
            </a: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uses a more complex cost function, this cost function can be defined as the ‘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function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or also known as the ‘logistic function’ instead of a linear function.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362200"/>
            <a:ext cx="8686800" cy="4154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Sigmoid Function?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3962400" cy="49831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map predicted values to probabilities, we use the Sigmoid function. The function maps any real value into another value between 0 and 1. 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we use sigmoid to map predictions to probabilities.</a:t>
            </a:r>
          </a:p>
          <a:p>
            <a:endParaRPr lang="en-US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0570" y="1063915"/>
            <a:ext cx="4200525" cy="4041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 descr="https://miro.medium.com/max/271/1*Gp5E23P5d2PY5D5kOo8ePw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5105400"/>
            <a:ext cx="3124200" cy="11430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4876800" y="6172200"/>
            <a:ext cx="388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Formula of a sigmoid function | Image: Analytics India Magazine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F7F48D-A0A8-B780-A84D-394F0BDF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Vs Logistic regression </a:t>
            </a:r>
            <a:endParaRPr lang="en-IN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F9CABB-1FFA-A410-D1D2-DE028A8A5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495800" cy="5486400"/>
          </a:xfrm>
        </p:spPr>
        <p:txBody>
          <a:bodyPr>
            <a:noAutofit/>
          </a:bodyPr>
          <a:lstStyle/>
          <a:p>
            <a:pPr algn="just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models are used to identify the relationship between a continuous dependent variable and one or more independent variables. </a:t>
            </a:r>
          </a:p>
          <a:p>
            <a:pPr marL="0" indent="0" algn="just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there is only one independent variable and one dependent variable, it is known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as the number of independent variables increases, it is referred to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type of linear regression, it seeks to plot a line of best fit through a set of data points, which is typically calculated using the least squares method.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6C984-E2C9-A19A-79C3-EFDB0EFE3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1600" y="1219200"/>
            <a:ext cx="3505200" cy="5257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used to estimate the relationship between a categorical dependent variable and one or more independent variables. 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categorical variable can be true or false, yes or no, 1 or 0, etc.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 of measure also differs from linear regression as it produces a probability, but the logit function transforms the S-curve into straight line.  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4700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using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Z = 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β₀ + β₁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logistic regression we are going to modify it a little bit i.e. </a:t>
            </a:r>
          </a:p>
          <a:p>
            <a:pPr marL="0" indent="0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σ(Z)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give values between 0 and 1.</a:t>
            </a:r>
          </a:p>
        </p:txBody>
      </p:sp>
      <p:pic>
        <p:nvPicPr>
          <p:cNvPr id="16386" name="Picture 2" descr="https://miro.medium.com/max/523/1*l59BUnPwWHMf1H-GNxgZHQ.png"/>
          <p:cNvPicPr>
            <a:picLocks noChangeAspect="1" noChangeArrowheads="1"/>
          </p:cNvPicPr>
          <p:nvPr/>
        </p:nvPicPr>
        <p:blipFill rotWithShape="1">
          <a:blip r:embed="rId2"/>
          <a:srcRect l="25000"/>
          <a:stretch/>
        </p:blipFill>
        <p:spPr bwMode="auto">
          <a:xfrm>
            <a:off x="3200400" y="3110705"/>
            <a:ext cx="3736166" cy="15049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Boundary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expect our classifier to give us a set of outputs or classes based on probability when we pass the inputs through a prediction function and returns a probability score between 0 and 1.</a:t>
            </a:r>
          </a:p>
          <a:p>
            <a:pPr marL="0" indent="0" algn="just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We have 2 classes, let’s take them like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diseassed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—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, 0 —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diseassed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basically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with a threshold value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which we classify values into Class 1 and of the value goes below the threshold then we classify it in Class 2.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533399"/>
            <a:ext cx="6477000" cy="3791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1000" y="4572000"/>
            <a:ext cx="8534400" cy="2015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in the above graph we have chosen the threshold as 0.5,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prediction function returned a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0.7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would classify this observation as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1(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diseassed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our prediction returned a value of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would classify the observation as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2(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diseassed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715FC4-F8E3-6500-54BD-D6970074E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4036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valuate the model's performance on training and test data using 'accuracy' measure.</a:t>
            </a:r>
          </a:p>
          <a:p>
            <a:pPr marL="0" indent="0" algn="just">
              <a:buNone/>
            </a:pPr>
            <a:endParaRPr lang="en-US" sz="2800" b="0" i="0" dirty="0"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Accuracy = </a:t>
            </a:r>
            <a:r>
              <a:rPr lang="en-US" sz="24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no. of correct predictions /</a:t>
            </a:r>
          </a:p>
          <a:p>
            <a:pPr marL="0" indent="0" algn="just">
              <a:buNone/>
            </a:pPr>
            <a:r>
              <a:rPr lang="en-US" sz="24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				 total predictions</a:t>
            </a:r>
          </a:p>
          <a:p>
            <a:pPr marL="0" indent="0" algn="just">
              <a:buNone/>
            </a:pPr>
            <a:endParaRPr lang="en-US" sz="2400" b="1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Precision : </a:t>
            </a:r>
            <a:r>
              <a:rPr lang="en-US" sz="24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precision for a class A indicates how accurate the model is in identifying class A. </a:t>
            </a:r>
          </a:p>
          <a:p>
            <a:pPr marL="0" indent="0" algn="just">
              <a:buNone/>
            </a:pPr>
            <a:endParaRPr lang="en-IN" sz="2400" b="1" i="0" dirty="0"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Recall :</a:t>
            </a:r>
            <a:r>
              <a:rPr lang="en-US" sz="24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The recall for a class A indicates how good the model is in fetching/retrieving instances of class </a:t>
            </a:r>
            <a:r>
              <a:rPr lang="en-US" sz="2400" b="0" i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</a:p>
          <a:p>
            <a:pPr marL="0" indent="0" algn="just">
              <a:buNone/>
            </a:pPr>
            <a:endParaRPr lang="en-IN" sz="2400" b="1" i="0" dirty="0"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F1-score: </a:t>
            </a:r>
            <a:r>
              <a:rPr lang="en-US" sz="24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is the harmonic mean of precision and recall</a:t>
            </a:r>
            <a:endParaRPr lang="en-IN" sz="2400" b="1" i="0" dirty="0"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0" i="0" dirty="0"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190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C4A3-3A2A-3751-1D95-993AFDEF4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Measuring Model Performance using </a:t>
            </a:r>
            <a:r>
              <a:rPr lang="en-US" sz="31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34E38-E07B-8F13-B890-24247944C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88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can be classified 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algn="just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number of categories, Logistic regression can be classified as:</a:t>
            </a:r>
          </a:p>
          <a:p>
            <a:pPr algn="just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binomial: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target variable can have only 2 possible types: “0” or “1” which may represent “win”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“loss”, “pass”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“fail”, “dead”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“alive”, etc.</a:t>
            </a:r>
          </a:p>
          <a:p>
            <a:pPr algn="just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target variable can have 3 or more possible types which are not ordered(i.e. types have no quantitative significance) like “disease A”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“disease B”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“disease C”.</a:t>
            </a:r>
          </a:p>
          <a:p>
            <a:pPr algn="just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deals with target variables with ordered categories. For example, a test score can be categorized as:“very poor”, “poor”, “good”, “very good”. Here, each category can be given a score like 0, 1, 2, 3.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https://scikit-learn.org/stable/auto_examples/classification/plot_digits_classification.html#sphx-glr-auto-examples-classification-plot-digits-classification-py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1050</Words>
  <Application>Microsoft Office PowerPoint</Application>
  <PresentationFormat>On-screen Show (4:3)</PresentationFormat>
  <Paragraphs>83</Paragraphs>
  <Slides>19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Times New Roman</vt:lpstr>
      <vt:lpstr>Wingdings</vt:lpstr>
      <vt:lpstr>Office Theme</vt:lpstr>
      <vt:lpstr>Classification Algorithms</vt:lpstr>
      <vt:lpstr>What  is Classification?</vt:lpstr>
      <vt:lpstr>Examples of classification problems</vt:lpstr>
      <vt:lpstr>Logistic Regression</vt:lpstr>
      <vt:lpstr>Logistic Regression</vt:lpstr>
      <vt:lpstr>Dichotomous variable have only two values like yes or no, 0 or 1</vt:lpstr>
      <vt:lpstr>PowerPoint Presentation</vt:lpstr>
      <vt:lpstr>Logistic Regression</vt:lpstr>
      <vt:lpstr>PowerPoint Presentation</vt:lpstr>
      <vt:lpstr>PowerPoint Presentation</vt:lpstr>
      <vt:lpstr> What is the Sigmoid Function? </vt:lpstr>
      <vt:lpstr>Linear regression Vs Logistic regression </vt:lpstr>
      <vt:lpstr>PowerPoint Presentation</vt:lpstr>
      <vt:lpstr> Decision Boundary </vt:lpstr>
      <vt:lpstr>PowerPoint Presentation</vt:lpstr>
      <vt:lpstr>Performance Measures</vt:lpstr>
      <vt:lpstr>Measuring Model Performance using Confusion Matrix</vt:lpstr>
      <vt:lpstr>Logistic regression can be classified as:</vt:lpstr>
      <vt:lpstr>SVM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</dc:title>
  <dc:creator>Sreejani</dc:creator>
  <cp:lastModifiedBy>Smt. A.Sirisha</cp:lastModifiedBy>
  <cp:revision>45</cp:revision>
  <dcterms:created xsi:type="dcterms:W3CDTF">2021-05-28T08:34:11Z</dcterms:created>
  <dcterms:modified xsi:type="dcterms:W3CDTF">2024-08-28T07:29:13Z</dcterms:modified>
</cp:coreProperties>
</file>