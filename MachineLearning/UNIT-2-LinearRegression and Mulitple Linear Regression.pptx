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Lst>
  <p:sldIdLst>
    <p:sldId id="256" r:id="rId3"/>
    <p:sldId id="257" r:id="rId4"/>
    <p:sldId id="271" r:id="rId5"/>
    <p:sldId id="287" r:id="rId6"/>
    <p:sldId id="288" r:id="rId7"/>
    <p:sldId id="290" r:id="rId8"/>
    <p:sldId id="292" r:id="rId9"/>
    <p:sldId id="294" r:id="rId10"/>
    <p:sldId id="295" r:id="rId11"/>
    <p:sldId id="298" r:id="rId12"/>
    <p:sldId id="299" r:id="rId13"/>
    <p:sldId id="300" r:id="rId14"/>
    <p:sldId id="274" r:id="rId15"/>
    <p:sldId id="277" r:id="rId16"/>
    <p:sldId id="279" r:id="rId17"/>
    <p:sldId id="280" r:id="rId18"/>
    <p:sldId id="278" r:id="rId19"/>
    <p:sldId id="261" r:id="rId20"/>
    <p:sldId id="262" r:id="rId21"/>
    <p:sldId id="263" r:id="rId22"/>
    <p:sldId id="264" r:id="rId23"/>
    <p:sldId id="265" r:id="rId24"/>
    <p:sldId id="266" r:id="rId25"/>
    <p:sldId id="267" r:id="rId26"/>
    <p:sldId id="268" r:id="rId27"/>
    <p:sldId id="308" r:id="rId28"/>
    <p:sldId id="309" r:id="rId29"/>
    <p:sldId id="310" r:id="rId30"/>
    <p:sldId id="311" r:id="rId31"/>
    <p:sldId id="312" r:id="rId32"/>
    <p:sldId id="313" r:id="rId33"/>
    <p:sldId id="269" r:id="rId34"/>
    <p:sldId id="270" r:id="rId35"/>
    <p:sldId id="314" r:id="rId36"/>
    <p:sldId id="315" r:id="rId37"/>
    <p:sldId id="316" r:id="rId38"/>
    <p:sldId id="31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41" autoAdjust="0"/>
    <p:restoredTop sz="94660"/>
  </p:normalViewPr>
  <p:slideViewPr>
    <p:cSldViewPr snapToGrid="0">
      <p:cViewPr varScale="1">
        <p:scale>
          <a:sx n="69" d="100"/>
          <a:sy n="69" d="100"/>
        </p:scale>
        <p:origin x="592"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ABB0E60-EF08-4B24-B476-ECBE360BAA77}" type="datetimeFigureOut">
              <a:rPr lang="en-IN" smtClean="0"/>
              <a:t>17-09-2024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42CC8B-054A-4D75-B5D4-A3FB437AEBD7}" type="slidenum">
              <a:rPr lang="en-IN" smtClean="0"/>
              <a:t>‹#›</a:t>
            </a:fld>
            <a:endParaRPr lang="en-IN"/>
          </a:p>
        </p:txBody>
      </p:sp>
    </p:spTree>
    <p:extLst>
      <p:ext uri="{BB962C8B-B14F-4D97-AF65-F5344CB8AC3E}">
        <p14:creationId xmlns:p14="http://schemas.microsoft.com/office/powerpoint/2010/main" val="4031422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ABB0E60-EF08-4B24-B476-ECBE360BAA77}" type="datetimeFigureOut">
              <a:rPr lang="en-IN" smtClean="0"/>
              <a:t>17-09-2024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42CC8B-054A-4D75-B5D4-A3FB437AEBD7}" type="slidenum">
              <a:rPr lang="en-IN" smtClean="0"/>
              <a:t>‹#›</a:t>
            </a:fld>
            <a:endParaRPr lang="en-IN"/>
          </a:p>
        </p:txBody>
      </p:sp>
    </p:spTree>
    <p:extLst>
      <p:ext uri="{BB962C8B-B14F-4D97-AF65-F5344CB8AC3E}">
        <p14:creationId xmlns:p14="http://schemas.microsoft.com/office/powerpoint/2010/main" val="2571914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BB0E60-EF08-4B24-B476-ECBE360BAA77}" type="datetimeFigureOut">
              <a:rPr lang="en-IN" smtClean="0"/>
              <a:t>17-09-2024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42CC8B-054A-4D75-B5D4-A3FB437AEBD7}" type="slidenum">
              <a:rPr lang="en-IN" smtClean="0"/>
              <a:t>‹#›</a:t>
            </a:fld>
            <a:endParaRPr lang="en-IN"/>
          </a:p>
        </p:txBody>
      </p:sp>
    </p:spTree>
    <p:extLst>
      <p:ext uri="{BB962C8B-B14F-4D97-AF65-F5344CB8AC3E}">
        <p14:creationId xmlns:p14="http://schemas.microsoft.com/office/powerpoint/2010/main" val="3306902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ABB0E60-EF08-4B24-B476-ECBE360BAA77}" type="datetimeFigureOut">
              <a:rPr lang="en-IN" smtClean="0"/>
              <a:t>17-09-2024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42CC8B-054A-4D75-B5D4-A3FB437AEBD7}" type="slidenum">
              <a:rPr lang="en-IN" smtClean="0"/>
              <a:t>‹#›</a:t>
            </a:fld>
            <a:endParaRPr lang="en-IN"/>
          </a:p>
        </p:txBody>
      </p:sp>
    </p:spTree>
    <p:extLst>
      <p:ext uri="{BB962C8B-B14F-4D97-AF65-F5344CB8AC3E}">
        <p14:creationId xmlns:p14="http://schemas.microsoft.com/office/powerpoint/2010/main" val="234380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ABB0E60-EF08-4B24-B476-ECBE360BAA77}" type="datetimeFigureOut">
              <a:rPr lang="en-IN" smtClean="0"/>
              <a:t>17-09-2024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542CC8B-054A-4D75-B5D4-A3FB437AEBD7}" type="slidenum">
              <a:rPr lang="en-IN" smtClean="0"/>
              <a:t>‹#›</a:t>
            </a:fld>
            <a:endParaRPr lang="en-IN"/>
          </a:p>
        </p:txBody>
      </p:sp>
    </p:spTree>
    <p:extLst>
      <p:ext uri="{BB962C8B-B14F-4D97-AF65-F5344CB8AC3E}">
        <p14:creationId xmlns:p14="http://schemas.microsoft.com/office/powerpoint/2010/main" val="1588304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ABB0E60-EF08-4B24-B476-ECBE360BAA77}" type="datetimeFigureOut">
              <a:rPr lang="en-IN" smtClean="0"/>
              <a:t>17-09-2024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542CC8B-054A-4D75-B5D4-A3FB437AEBD7}" type="slidenum">
              <a:rPr lang="en-IN" smtClean="0"/>
              <a:t>‹#›</a:t>
            </a:fld>
            <a:endParaRPr lang="en-IN"/>
          </a:p>
        </p:txBody>
      </p:sp>
    </p:spTree>
    <p:extLst>
      <p:ext uri="{BB962C8B-B14F-4D97-AF65-F5344CB8AC3E}">
        <p14:creationId xmlns:p14="http://schemas.microsoft.com/office/powerpoint/2010/main" val="2118339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BB0E60-EF08-4B24-B476-ECBE360BAA77}" type="datetimeFigureOut">
              <a:rPr lang="en-IN" smtClean="0"/>
              <a:t>17-09-2024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542CC8B-054A-4D75-B5D4-A3FB437AEBD7}" type="slidenum">
              <a:rPr lang="en-IN" smtClean="0"/>
              <a:t>‹#›</a:t>
            </a:fld>
            <a:endParaRPr lang="en-IN"/>
          </a:p>
        </p:txBody>
      </p:sp>
    </p:spTree>
    <p:extLst>
      <p:ext uri="{BB962C8B-B14F-4D97-AF65-F5344CB8AC3E}">
        <p14:creationId xmlns:p14="http://schemas.microsoft.com/office/powerpoint/2010/main" val="904999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BB0E60-EF08-4B24-B476-ECBE360BAA77}" type="datetimeFigureOut">
              <a:rPr lang="en-IN" smtClean="0"/>
              <a:t>17-09-2024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42CC8B-054A-4D75-B5D4-A3FB437AEBD7}" type="slidenum">
              <a:rPr lang="en-IN" smtClean="0"/>
              <a:t>‹#›</a:t>
            </a:fld>
            <a:endParaRPr lang="en-IN"/>
          </a:p>
        </p:txBody>
      </p:sp>
    </p:spTree>
    <p:extLst>
      <p:ext uri="{BB962C8B-B14F-4D97-AF65-F5344CB8AC3E}">
        <p14:creationId xmlns:p14="http://schemas.microsoft.com/office/powerpoint/2010/main" val="3885011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BB0E60-EF08-4B24-B476-ECBE360BAA77}" type="datetimeFigureOut">
              <a:rPr lang="en-IN" smtClean="0"/>
              <a:t>17-09-2024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42CC8B-054A-4D75-B5D4-A3FB437AEBD7}" type="slidenum">
              <a:rPr lang="en-IN" smtClean="0"/>
              <a:t>‹#›</a:t>
            </a:fld>
            <a:endParaRPr lang="en-IN"/>
          </a:p>
        </p:txBody>
      </p:sp>
    </p:spTree>
    <p:extLst>
      <p:ext uri="{BB962C8B-B14F-4D97-AF65-F5344CB8AC3E}">
        <p14:creationId xmlns:p14="http://schemas.microsoft.com/office/powerpoint/2010/main" val="1922580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ABB0E60-EF08-4B24-B476-ECBE360BAA77}" type="datetimeFigureOut">
              <a:rPr lang="en-IN" smtClean="0"/>
              <a:t>17-09-2024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42CC8B-054A-4D75-B5D4-A3FB437AEBD7}" type="slidenum">
              <a:rPr lang="en-IN" smtClean="0"/>
              <a:t>‹#›</a:t>
            </a:fld>
            <a:endParaRPr lang="en-IN"/>
          </a:p>
        </p:txBody>
      </p:sp>
    </p:spTree>
    <p:extLst>
      <p:ext uri="{BB962C8B-B14F-4D97-AF65-F5344CB8AC3E}">
        <p14:creationId xmlns:p14="http://schemas.microsoft.com/office/powerpoint/2010/main" val="1224084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ABB0E60-EF08-4B24-B476-ECBE360BAA77}" type="datetimeFigureOut">
              <a:rPr lang="en-IN" smtClean="0"/>
              <a:t>17-09-2024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42CC8B-054A-4D75-B5D4-A3FB437AEBD7}" type="slidenum">
              <a:rPr lang="en-IN" smtClean="0"/>
              <a:t>‹#›</a:t>
            </a:fld>
            <a:endParaRPr lang="en-IN"/>
          </a:p>
        </p:txBody>
      </p:sp>
    </p:spTree>
    <p:extLst>
      <p:ext uri="{BB962C8B-B14F-4D97-AF65-F5344CB8AC3E}">
        <p14:creationId xmlns:p14="http://schemas.microsoft.com/office/powerpoint/2010/main" val="24578749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1BC5788-61F5-4778-B0FD-DE21F3CE821E}" type="datetimeFigureOut">
              <a:rPr lang="en-US" smtClean="0">
                <a:solidFill>
                  <a:prstClr val="black">
                    <a:tint val="75000"/>
                  </a:prstClr>
                </a:solidFill>
              </a:rPr>
              <a:pPr/>
              <a:t>9/17/2024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1524054-14D5-4421-BA41-C1C0A379548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619726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1BC5788-61F5-4778-B0FD-DE21F3CE821E}" type="datetimeFigureOut">
              <a:rPr lang="en-US" smtClean="0">
                <a:solidFill>
                  <a:prstClr val="black">
                    <a:tint val="75000"/>
                  </a:prstClr>
                </a:solidFill>
              </a:rPr>
              <a:pPr/>
              <a:t>9/17/2024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1524054-14D5-4421-BA41-C1C0A379548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693812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BC5788-61F5-4778-B0FD-DE21F3CE821E}" type="datetimeFigureOut">
              <a:rPr lang="en-US" smtClean="0">
                <a:solidFill>
                  <a:prstClr val="black">
                    <a:tint val="75000"/>
                  </a:prstClr>
                </a:solidFill>
              </a:rPr>
              <a:pPr/>
              <a:t>9/17/2024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1524054-14D5-4421-BA41-C1C0A379548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766610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1BC5788-61F5-4778-B0FD-DE21F3CE821E}" type="datetimeFigureOut">
              <a:rPr lang="en-US" smtClean="0">
                <a:solidFill>
                  <a:prstClr val="black">
                    <a:tint val="75000"/>
                  </a:prstClr>
                </a:solidFill>
              </a:rPr>
              <a:pPr/>
              <a:t>9/17/2024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1524054-14D5-4421-BA41-C1C0A379548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053929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1BC5788-61F5-4778-B0FD-DE21F3CE821E}" type="datetimeFigureOut">
              <a:rPr lang="en-US" smtClean="0">
                <a:solidFill>
                  <a:prstClr val="black">
                    <a:tint val="75000"/>
                  </a:prstClr>
                </a:solidFill>
              </a:rPr>
              <a:pPr/>
              <a:t>9/17/2024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D1524054-14D5-4421-BA41-C1C0A379548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907634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1BC5788-61F5-4778-B0FD-DE21F3CE821E}" type="datetimeFigureOut">
              <a:rPr lang="en-US" smtClean="0">
                <a:solidFill>
                  <a:prstClr val="black">
                    <a:tint val="75000"/>
                  </a:prstClr>
                </a:solidFill>
              </a:rPr>
              <a:pPr/>
              <a:t>9/17/2024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D1524054-14D5-4421-BA41-C1C0A379548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444913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BC5788-61F5-4778-B0FD-DE21F3CE821E}" type="datetimeFigureOut">
              <a:rPr lang="en-US" smtClean="0">
                <a:solidFill>
                  <a:prstClr val="black">
                    <a:tint val="75000"/>
                  </a:prstClr>
                </a:solidFill>
              </a:rPr>
              <a:pPr/>
              <a:t>9/17/2024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D1524054-14D5-4421-BA41-C1C0A379548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712841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BC5788-61F5-4778-B0FD-DE21F3CE821E}" type="datetimeFigureOut">
              <a:rPr lang="en-US" smtClean="0">
                <a:solidFill>
                  <a:prstClr val="black">
                    <a:tint val="75000"/>
                  </a:prstClr>
                </a:solidFill>
              </a:rPr>
              <a:pPr/>
              <a:t>9/17/2024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1524054-14D5-4421-BA41-C1C0A379548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859655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BC5788-61F5-4778-B0FD-DE21F3CE821E}" type="datetimeFigureOut">
              <a:rPr lang="en-US" smtClean="0">
                <a:solidFill>
                  <a:prstClr val="black">
                    <a:tint val="75000"/>
                  </a:prstClr>
                </a:solidFill>
              </a:rPr>
              <a:pPr/>
              <a:t>9/17/2024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1524054-14D5-4421-BA41-C1C0A379548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96988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1BC5788-61F5-4778-B0FD-DE21F3CE821E}" type="datetimeFigureOut">
              <a:rPr lang="en-US" smtClean="0">
                <a:solidFill>
                  <a:prstClr val="black">
                    <a:tint val="75000"/>
                  </a:prstClr>
                </a:solidFill>
              </a:rPr>
              <a:pPr/>
              <a:t>9/17/2024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1524054-14D5-4421-BA41-C1C0A379548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665268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1BC5788-61F5-4778-B0FD-DE21F3CE821E}" type="datetimeFigureOut">
              <a:rPr lang="en-US" smtClean="0">
                <a:solidFill>
                  <a:prstClr val="black">
                    <a:tint val="75000"/>
                  </a:prstClr>
                </a:solidFill>
              </a:rPr>
              <a:pPr/>
              <a:t>9/17/2024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1524054-14D5-4421-BA41-C1C0A379548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66801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BB0E60-EF08-4B24-B476-ECBE360BAA77}" type="datetimeFigureOut">
              <a:rPr lang="en-IN" smtClean="0"/>
              <a:t>17-09-2024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42CC8B-054A-4D75-B5D4-A3FB437AEBD7}" type="slidenum">
              <a:rPr lang="en-IN" smtClean="0"/>
              <a:t>‹#›</a:t>
            </a:fld>
            <a:endParaRPr lang="en-IN"/>
          </a:p>
        </p:txBody>
      </p:sp>
    </p:spTree>
    <p:extLst>
      <p:ext uri="{BB962C8B-B14F-4D97-AF65-F5344CB8AC3E}">
        <p14:creationId xmlns:p14="http://schemas.microsoft.com/office/powerpoint/2010/main" val="203181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BC5788-61F5-4778-B0FD-DE21F3CE821E}" type="datetimeFigureOut">
              <a:rPr lang="en-US" smtClean="0">
                <a:solidFill>
                  <a:prstClr val="black">
                    <a:tint val="75000"/>
                  </a:prstClr>
                </a:solidFill>
              </a:rPr>
              <a:pPr/>
              <a:t>9/17/2024</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524054-14D5-4421-BA41-C1C0A379548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7959671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4.wmf"/></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31599"/>
            <a:ext cx="9144000" cy="2387600"/>
          </a:xfrm>
        </p:spPr>
        <p:txBody>
          <a:bodyPr/>
          <a:lstStyle/>
          <a:p>
            <a:r>
              <a:rPr lang="en-IN" b="1" dirty="0">
                <a:solidFill>
                  <a:srgbClr val="FF0000"/>
                </a:solidFill>
              </a:rPr>
              <a:t>Unit-2 Linear Regression</a:t>
            </a:r>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4050479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38765"/>
          </a:xfrm>
        </p:spPr>
        <p:txBody>
          <a:bodyPr>
            <a:normAutofit fontScale="90000"/>
          </a:bodyPr>
          <a:lstStyle/>
          <a:p>
            <a:r>
              <a:rPr lang="en-US" sz="3100" b="1" i="0" dirty="0">
                <a:solidFill>
                  <a:srgbClr val="111111"/>
                </a:solidFill>
                <a:effectLst/>
                <a:latin typeface="Cabin-semi-bold"/>
              </a:rPr>
              <a:t/>
            </a:r>
            <a:br>
              <a:rPr lang="en-US" sz="3100" b="1" i="0" dirty="0">
                <a:solidFill>
                  <a:srgbClr val="111111"/>
                </a:solidFill>
                <a:effectLst/>
                <a:latin typeface="Cabin-semi-bold"/>
              </a:rPr>
            </a:br>
            <a:r>
              <a:rPr lang="en-US" sz="3100" b="1" dirty="0">
                <a:latin typeface="Cabin-semi-bold"/>
                <a:cs typeface="Times New Roman" panose="02020603050405020304" pitchFamily="18" charset="0"/>
              </a:rPr>
              <a:t>Regression analysis </a:t>
            </a:r>
            <a:r>
              <a:rPr lang="en-US" sz="3100" b="1" i="0" dirty="0">
                <a:solidFill>
                  <a:srgbClr val="111111"/>
                </a:solidFill>
                <a:effectLst/>
                <a:latin typeface="Cabin-semi-bold"/>
                <a:cs typeface="Times New Roman" panose="02020603050405020304" pitchFamily="18" charset="0"/>
              </a:rPr>
              <a:t>:  </a:t>
            </a:r>
            <a:r>
              <a:rPr lang="en-US" sz="3100" b="1" i="0" dirty="0">
                <a:solidFill>
                  <a:srgbClr val="111111"/>
                </a:solidFill>
                <a:effectLst/>
                <a:latin typeface="Cabin-semi-bold"/>
              </a:rPr>
              <a:t>An Overview</a:t>
            </a:r>
            <a:r>
              <a:rPr lang="en-US" b="1" i="0" dirty="0">
                <a:solidFill>
                  <a:srgbClr val="111111"/>
                </a:solidFill>
                <a:effectLst/>
                <a:latin typeface="Cabin-semi-bold"/>
              </a:rPr>
              <a:t/>
            </a:r>
            <a:br>
              <a:rPr lang="en-US" b="1" i="0" dirty="0">
                <a:solidFill>
                  <a:srgbClr val="111111"/>
                </a:solidFill>
                <a:effectLst/>
                <a:latin typeface="Cabin-semi-bold"/>
              </a:rPr>
            </a:br>
            <a:endParaRPr lang="en-IN" dirty="0"/>
          </a:p>
        </p:txBody>
      </p:sp>
      <p:sp>
        <p:nvSpPr>
          <p:cNvPr id="3" name="Content Placeholder 2"/>
          <p:cNvSpPr>
            <a:spLocks noGrp="1"/>
          </p:cNvSpPr>
          <p:nvPr>
            <p:ph idx="1"/>
          </p:nvPr>
        </p:nvSpPr>
        <p:spPr>
          <a:xfrm>
            <a:off x="522890" y="903889"/>
            <a:ext cx="10515600" cy="5588986"/>
          </a:xfrm>
        </p:spPr>
        <p:txBody>
          <a:bodyPr>
            <a:normAutofit fontScale="92500" lnSpcReduction="10000"/>
          </a:bodyPr>
          <a:lstStyle/>
          <a:p>
            <a:pPr algn="just"/>
            <a:r>
              <a:rPr lang="en-US" sz="2400" dirty="0">
                <a:latin typeface="Times New Roman" panose="02020603050405020304" pitchFamily="18" charset="0"/>
                <a:cs typeface="Times New Roman" panose="02020603050405020304" pitchFamily="18" charset="0"/>
              </a:rPr>
              <a:t>Regression analysis is a statistical method used in finance and investing. </a:t>
            </a:r>
            <a:r>
              <a:rPr lang="en-US" sz="2400" dirty="0">
                <a:latin typeface="Times New Roman" panose="02020603050405020304" pitchFamily="18" charset="0"/>
                <a:cs typeface="Times New Roman" panose="02020603050405020304" pitchFamily="18" charset="0"/>
              </a:rPr>
              <a:t>Regression analysis pools data together to help people and companies make informed decisions. </a:t>
            </a: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There </a:t>
            </a:r>
            <a:r>
              <a:rPr lang="en-US" sz="2400" dirty="0">
                <a:latin typeface="Times New Roman" panose="02020603050405020304" pitchFamily="18" charset="0"/>
                <a:cs typeface="Times New Roman" panose="02020603050405020304" pitchFamily="18" charset="0"/>
              </a:rPr>
              <a:t>are different variables at play in this type of statistical analysis, including a </a:t>
            </a:r>
            <a:r>
              <a:rPr lang="en-US" sz="2400" dirty="0">
                <a:solidFill>
                  <a:srgbClr val="FF0000"/>
                </a:solidFill>
                <a:latin typeface="Times New Roman" panose="02020603050405020304" pitchFamily="18" charset="0"/>
                <a:cs typeface="Times New Roman" panose="02020603050405020304" pitchFamily="18" charset="0"/>
              </a:rPr>
              <a:t>dependent variable—</a:t>
            </a:r>
            <a:r>
              <a:rPr lang="en-US" sz="2400" dirty="0">
                <a:latin typeface="Times New Roman" panose="02020603050405020304" pitchFamily="18" charset="0"/>
                <a:cs typeface="Times New Roman" panose="02020603050405020304" pitchFamily="18" charset="0"/>
              </a:rPr>
              <a:t>the</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main variable that you're trying to understand—and an </a:t>
            </a:r>
            <a:r>
              <a:rPr lang="en-US" sz="2400" dirty="0">
                <a:solidFill>
                  <a:srgbClr val="FF0000"/>
                </a:solidFill>
                <a:latin typeface="Times New Roman" panose="02020603050405020304" pitchFamily="18" charset="0"/>
                <a:cs typeface="Times New Roman" panose="02020603050405020304" pitchFamily="18" charset="0"/>
              </a:rPr>
              <a:t>independent variable(s</a:t>
            </a:r>
            <a:r>
              <a:rPr lang="en-US" sz="2400" dirty="0">
                <a:latin typeface="Times New Roman" panose="02020603050405020304" pitchFamily="18" charset="0"/>
                <a:cs typeface="Times New Roman" panose="02020603050405020304" pitchFamily="18" charset="0"/>
              </a:rPr>
              <a:t>)—factors that may have an impact on the dependent variable.</a:t>
            </a:r>
          </a:p>
          <a:p>
            <a:pPr algn="just"/>
            <a:endParaRPr lang="en-US" sz="2400" dirty="0">
              <a:latin typeface="Times New Roman" panose="02020603050405020304" pitchFamily="18" charset="0"/>
              <a:cs typeface="Times New Roman" panose="02020603050405020304" pitchFamily="18" charset="0"/>
            </a:endParaRPr>
          </a:p>
          <a:p>
            <a:pPr algn="just"/>
            <a:r>
              <a:rPr lang="en-US" sz="2400" b="0" i="0" dirty="0">
                <a:solidFill>
                  <a:srgbClr val="111111"/>
                </a:solidFill>
                <a:effectLst/>
                <a:latin typeface="Times New Roman" panose="02020603050405020304" pitchFamily="18" charset="0"/>
                <a:cs typeface="Times New Roman" panose="02020603050405020304" pitchFamily="18" charset="0"/>
              </a:rPr>
              <a:t>Linear regression (also called simple regression) is one of the most common techniques of </a:t>
            </a:r>
            <a:r>
              <a:rPr lang="en-US" sz="2400" i="0" dirty="0">
                <a:effectLst/>
                <a:latin typeface="Times New Roman" panose="02020603050405020304" pitchFamily="18" charset="0"/>
                <a:cs typeface="Times New Roman" panose="02020603050405020304" pitchFamily="18" charset="0"/>
              </a:rPr>
              <a:t>regression</a:t>
            </a:r>
            <a:r>
              <a:rPr lang="en-US" sz="2400" b="0" i="0" dirty="0">
                <a:solidFill>
                  <a:srgbClr val="111111"/>
                </a:solidFill>
                <a:effectLst/>
                <a:latin typeface="Times New Roman" panose="02020603050405020304" pitchFamily="18" charset="0"/>
                <a:cs typeface="Times New Roman" panose="02020603050405020304" pitchFamily="18" charset="0"/>
              </a:rPr>
              <a:t> analysis. </a:t>
            </a:r>
            <a:r>
              <a:rPr lang="en-US" sz="2400" b="1" dirty="0">
                <a:solidFill>
                  <a:srgbClr val="FF0000"/>
                </a:solidFill>
              </a:rPr>
              <a:t>linear regression </a:t>
            </a:r>
            <a:r>
              <a:rPr lang="en-US" sz="2400" dirty="0">
                <a:solidFill>
                  <a:srgbClr val="FF0000"/>
                </a:solidFill>
              </a:rPr>
              <a:t>only has one independent </a:t>
            </a:r>
            <a:r>
              <a:rPr lang="en-US" sz="2400" dirty="0" smtClean="0">
                <a:solidFill>
                  <a:srgbClr val="FF0000"/>
                </a:solidFill>
              </a:rPr>
              <a:t>variable.</a:t>
            </a:r>
            <a:endParaRPr lang="en-US" sz="2400" b="0" i="0" dirty="0" smtClean="0">
              <a:solidFill>
                <a:srgbClr val="111111"/>
              </a:solidFill>
              <a:effectLst/>
              <a:latin typeface="Times New Roman" panose="02020603050405020304" pitchFamily="18" charset="0"/>
              <a:cs typeface="Times New Roman" panose="02020603050405020304" pitchFamily="18" charset="0"/>
            </a:endParaRPr>
          </a:p>
          <a:p>
            <a:pPr algn="just"/>
            <a:endParaRPr lang="en-US" sz="2400" dirty="0">
              <a:solidFill>
                <a:srgbClr val="FF0000"/>
              </a:solidFill>
              <a:latin typeface="Times New Roman" panose="02020603050405020304" pitchFamily="18" charset="0"/>
              <a:cs typeface="Times New Roman" panose="02020603050405020304" pitchFamily="18" charset="0"/>
            </a:endParaRPr>
          </a:p>
          <a:p>
            <a:pPr algn="just"/>
            <a:r>
              <a:rPr lang="en-US" sz="2400" dirty="0" smtClean="0">
                <a:solidFill>
                  <a:srgbClr val="FF0000"/>
                </a:solidFill>
              </a:rPr>
              <a:t>M</a:t>
            </a:r>
            <a:r>
              <a:rPr lang="en-US" sz="2400" b="1" dirty="0" smtClean="0">
                <a:solidFill>
                  <a:srgbClr val="FF0000"/>
                </a:solidFill>
              </a:rPr>
              <a:t>ultiple </a:t>
            </a:r>
            <a:r>
              <a:rPr lang="en-US" sz="2400" b="1" dirty="0">
                <a:solidFill>
                  <a:srgbClr val="FF0000"/>
                </a:solidFill>
              </a:rPr>
              <a:t>regression </a:t>
            </a:r>
            <a:r>
              <a:rPr lang="en-US" sz="2400" dirty="0"/>
              <a:t>encompasses both linear and nonlinear regressions and incorporates </a:t>
            </a:r>
            <a:r>
              <a:rPr lang="en-US" sz="2400" dirty="0">
                <a:solidFill>
                  <a:srgbClr val="FF0000"/>
                </a:solidFill>
              </a:rPr>
              <a:t>multiple independent variables</a:t>
            </a:r>
            <a:r>
              <a:rPr lang="en-US" sz="2400" dirty="0" smtClean="0"/>
              <a:t>.</a:t>
            </a:r>
          </a:p>
          <a:p>
            <a:pPr algn="just"/>
            <a:endParaRPr lang="en-US" sz="2400" dirty="0"/>
          </a:p>
          <a:p>
            <a:pPr algn="just"/>
            <a:r>
              <a:rPr lang="en-US" sz="2400" dirty="0"/>
              <a:t>Each independent variable in multiple regression has its own coefficient to ensure each variable is weighted appropriately.</a:t>
            </a:r>
          </a:p>
          <a:p>
            <a:pPr algn="just"/>
            <a:endParaRPr lang="en-US" sz="2400" b="0" i="0" dirty="0">
              <a:solidFill>
                <a:srgbClr val="11111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7029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14703"/>
            <a:ext cx="10515600" cy="5462260"/>
          </a:xfrm>
        </p:spPr>
        <p:txBody>
          <a:bodyPr>
            <a:normAutofit/>
          </a:bodyPr>
          <a:lstStyle/>
          <a:p>
            <a:pPr algn="just"/>
            <a:r>
              <a:rPr lang="en-US" sz="2400" dirty="0">
                <a:latin typeface="Times New Roman" panose="02020603050405020304" pitchFamily="18" charset="0"/>
                <a:cs typeface="Times New Roman" panose="02020603050405020304" pitchFamily="18" charset="0"/>
              </a:rPr>
              <a:t>There are several main reasons people use regression analysis:</a:t>
            </a:r>
          </a:p>
          <a:p>
            <a:pPr lvl="1"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predict future economic conditions, trends, or values.</a:t>
            </a:r>
          </a:p>
          <a:p>
            <a:pPr lvl="1"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determine the relationship between two or more variables.</a:t>
            </a:r>
          </a:p>
          <a:p>
            <a:pPr lvl="1"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understand how one variable changes when another changes.</a:t>
            </a:r>
          </a:p>
          <a:p>
            <a:pPr marL="457200" lvl="1" indent="0" algn="just">
              <a:buNone/>
            </a:pPr>
            <a:endParaRPr lang="en-US"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While there are many different kinds of regression analysis, this concept will examine two different types: linear regression and multiple regression.</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solidFill>
                  <a:srgbClr val="FF0000"/>
                </a:solidFill>
                <a:latin typeface="Times New Roman" panose="02020603050405020304" pitchFamily="18" charset="0"/>
                <a:cs typeface="Times New Roman" panose="02020603050405020304" pitchFamily="18" charset="0"/>
              </a:rPr>
              <a:t>NOTE: </a:t>
            </a:r>
            <a:r>
              <a:rPr lang="en-US" sz="2400" dirty="0">
                <a:latin typeface="Times New Roman" panose="02020603050405020304" pitchFamily="18" charset="0"/>
                <a:cs typeface="Times New Roman" panose="02020603050405020304" pitchFamily="18" charset="0"/>
              </a:rPr>
              <a:t>A company can not only use regression analysis to understand certain situations, like why customer service calls are dropping, but also to make forward-looking predictions, like sales figures in the future.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9476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Linear Regression</a:t>
            </a:r>
          </a:p>
        </p:txBody>
      </p:sp>
      <p:sp>
        <p:nvSpPr>
          <p:cNvPr id="3" name="Content Placeholder 2"/>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One of the most common machine learning and statistical methods is linear regression. At its most basic, it’s used when you want to express the mathematical relationship between two variables or attributes.</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When you use it, you are making the assumption that there is a </a:t>
            </a:r>
            <a:r>
              <a:rPr lang="en-US" sz="2400" i="1" dirty="0">
                <a:latin typeface="Times New Roman" panose="02020603050405020304" pitchFamily="18" charset="0"/>
                <a:cs typeface="Times New Roman" panose="02020603050405020304" pitchFamily="18" charset="0"/>
              </a:rPr>
              <a:t>linear relationship between </a:t>
            </a:r>
            <a:r>
              <a:rPr lang="en-US" sz="2400" dirty="0">
                <a:latin typeface="Times New Roman" panose="02020603050405020304" pitchFamily="18" charset="0"/>
                <a:cs typeface="Times New Roman" panose="02020603050405020304" pitchFamily="18" charset="0"/>
              </a:rPr>
              <a:t>an outcome variable (sometimes also called the response variable, dependent variable, or label) and a predictor (sometimes also called an independent variable, explanatory variable, or feature); </a:t>
            </a:r>
          </a:p>
        </p:txBody>
      </p:sp>
    </p:spTree>
    <p:extLst>
      <p:ext uri="{BB962C8B-B14F-4D97-AF65-F5344CB8AC3E}">
        <p14:creationId xmlns:p14="http://schemas.microsoft.com/office/powerpoint/2010/main" val="3353844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41362"/>
          </a:xfrm>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Linear Regression</a:t>
            </a:r>
            <a:endParaRPr lang="en-US" sz="3600" dirty="0"/>
          </a:p>
        </p:txBody>
      </p:sp>
      <p:sp>
        <p:nvSpPr>
          <p:cNvPr id="3" name="Content Placeholder 2"/>
          <p:cNvSpPr>
            <a:spLocks noGrp="1"/>
          </p:cNvSpPr>
          <p:nvPr>
            <p:ph idx="1"/>
          </p:nvPr>
        </p:nvSpPr>
        <p:spPr>
          <a:xfrm>
            <a:off x="609600" y="1219201"/>
            <a:ext cx="10972800" cy="4906964"/>
          </a:xfrm>
        </p:spPr>
        <p:txBody>
          <a:bodyPr>
            <a:normAutofit fontScale="92500"/>
          </a:bodyPr>
          <a:lstStyle/>
          <a:p>
            <a:pPr algn="just"/>
            <a:r>
              <a:rPr lang="en-US" sz="2400" dirty="0">
                <a:latin typeface="Times New Roman" panose="02020603050405020304" pitchFamily="18" charset="0"/>
                <a:cs typeface="Times New Roman" panose="02020603050405020304" pitchFamily="18" charset="0"/>
              </a:rPr>
              <a:t>In some cases, it makes sense that changes in one variable correlate linearly with changes in another variable. For example, it makes sense that the more umbrellas you sell, the more money you make. </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Why would you even want to build a linear model in the first place? You might want to use this relationship to </a:t>
            </a:r>
            <a:r>
              <a:rPr lang="en-US" sz="2400" i="1" dirty="0">
                <a:latin typeface="Times New Roman" panose="02020603050405020304" pitchFamily="18" charset="0"/>
                <a:cs typeface="Times New Roman" panose="02020603050405020304" pitchFamily="18" charset="0"/>
              </a:rPr>
              <a:t>predict future </a:t>
            </a:r>
            <a:r>
              <a:rPr lang="en-US" sz="2400" dirty="0">
                <a:latin typeface="Times New Roman" panose="02020603050405020304" pitchFamily="18" charset="0"/>
                <a:cs typeface="Times New Roman" panose="02020603050405020304" pitchFamily="18" charset="0"/>
              </a:rPr>
              <a:t>outcomes, or you might want to understand or </a:t>
            </a:r>
            <a:r>
              <a:rPr lang="en-US" sz="2400" i="1" dirty="0">
                <a:latin typeface="Times New Roman" panose="02020603050405020304" pitchFamily="18" charset="0"/>
                <a:cs typeface="Times New Roman" panose="02020603050405020304" pitchFamily="18" charset="0"/>
              </a:rPr>
              <a:t>describe the relationship </a:t>
            </a:r>
            <a:r>
              <a:rPr lang="en-US" sz="2400" dirty="0">
                <a:latin typeface="Times New Roman" panose="02020603050405020304" pitchFamily="18" charset="0"/>
                <a:cs typeface="Times New Roman" panose="02020603050405020304" pitchFamily="18" charset="0"/>
              </a:rPr>
              <a:t>to get a grasp on the situation</a:t>
            </a:r>
            <a:r>
              <a:rPr lang="en-US" sz="2400" dirty="0" smtClean="0">
                <a:latin typeface="Times New Roman" panose="02020603050405020304" pitchFamily="18" charset="0"/>
                <a:cs typeface="Times New Roman" panose="02020603050405020304" pitchFamily="18" charset="0"/>
              </a:rPr>
              <a:t>.</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Let’s say you’re studying the relationship between </a:t>
            </a:r>
            <a:endParaRPr lang="en-US" sz="2400" dirty="0" smtClean="0">
              <a:latin typeface="Times New Roman" panose="02020603050405020304" pitchFamily="18" charset="0"/>
              <a:cs typeface="Times New Roman" panose="02020603050405020304" pitchFamily="18" charset="0"/>
            </a:endParaRPr>
          </a:p>
          <a:p>
            <a:pPr lvl="1" algn="just"/>
            <a:r>
              <a:rPr lang="en-US" sz="2000" dirty="0">
                <a:latin typeface="Times New Roman" panose="02020603050405020304" pitchFamily="18" charset="0"/>
                <a:cs typeface="Times New Roman" panose="02020603050405020304" pitchFamily="18" charset="0"/>
              </a:rPr>
              <a:t>A</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company’s sales and how much that company spends on advertising</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or </a:t>
            </a:r>
          </a:p>
          <a:p>
            <a:pPr lvl="1" algn="just"/>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number of friends someone has on a social networking site and the time that person spends on that site daily. </a:t>
            </a:r>
          </a:p>
          <a:p>
            <a:pPr algn="just"/>
            <a:r>
              <a:rPr lang="en-US" sz="2400" dirty="0">
                <a:latin typeface="Times New Roman" panose="02020603050405020304" pitchFamily="18" charset="0"/>
                <a:cs typeface="Times New Roman" panose="02020603050405020304" pitchFamily="18" charset="0"/>
              </a:rPr>
              <a:t>These are all numerical outcomes, which mean </a:t>
            </a:r>
            <a:r>
              <a:rPr lang="en-US" sz="2400" b="1" dirty="0">
                <a:latin typeface="Times New Roman" panose="02020603050405020304" pitchFamily="18" charset="0"/>
                <a:cs typeface="Times New Roman" panose="02020603050405020304" pitchFamily="18" charset="0"/>
              </a:rPr>
              <a:t>linear regression would be a wise choice.</a:t>
            </a: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5555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21289"/>
          </a:xfrm>
        </p:spPr>
        <p:txBody>
          <a:bodyPr>
            <a:noAutofit/>
          </a:bodyPr>
          <a:lstStyle/>
          <a:p>
            <a:r>
              <a:rPr lang="en-US" sz="3600" b="1" dirty="0">
                <a:latin typeface="Times New Roman" panose="02020603050405020304" pitchFamily="18" charset="0"/>
                <a:cs typeface="Times New Roman" panose="02020603050405020304" pitchFamily="18" charset="0"/>
              </a:rPr>
              <a:t>Example 1</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85091" y="960582"/>
            <a:ext cx="10400145" cy="5668818"/>
          </a:xfrm>
        </p:spPr>
        <p:txBody>
          <a:bodyPr>
            <a:normAutofit/>
          </a:bodyPr>
          <a:lstStyle/>
          <a:p>
            <a:pPr algn="just"/>
            <a:r>
              <a:rPr lang="en-US" sz="2400" dirty="0">
                <a:latin typeface="Times New Roman" panose="02020603050405020304" pitchFamily="18" charset="0"/>
                <a:cs typeface="Times New Roman" panose="02020603050405020304" pitchFamily="18" charset="0"/>
              </a:rPr>
              <a:t>Suppose you run a social networking site that charges a monthly subscription fee of $25. Each month you collect data and count your number of users and total revenue. You’ve done this daily over the course of two years, recording it all in a spreadsheet. You could express this data as a series of points. </a:t>
            </a: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Here </a:t>
            </a:r>
            <a:r>
              <a:rPr lang="en-US" sz="2400" dirty="0">
                <a:latin typeface="Times New Roman" panose="02020603050405020304" pitchFamily="18" charset="0"/>
                <a:cs typeface="Times New Roman" panose="02020603050405020304" pitchFamily="18" charset="0"/>
              </a:rPr>
              <a:t>are the first four: </a:t>
            </a:r>
          </a:p>
          <a:p>
            <a:pPr algn="just">
              <a:buNone/>
            </a:pPr>
            <a:r>
              <a:rPr lang="es-ES" sz="2400" i="1" dirty="0">
                <a:latin typeface="Times New Roman" panose="02020603050405020304" pitchFamily="18" charset="0"/>
                <a:cs typeface="Times New Roman" panose="02020603050405020304" pitchFamily="18" charset="0"/>
              </a:rPr>
              <a:t> </a:t>
            </a:r>
            <a:r>
              <a:rPr lang="es-ES" sz="2400" i="1" dirty="0" smtClean="0">
                <a:latin typeface="Times New Roman" panose="02020603050405020304" pitchFamily="18" charset="0"/>
                <a:cs typeface="Times New Roman" panose="02020603050405020304" pitchFamily="18" charset="0"/>
              </a:rPr>
              <a:t>	S</a:t>
            </a:r>
            <a:r>
              <a:rPr lang="es-ES" sz="2400" i="1" dirty="0">
                <a:latin typeface="Times New Roman" panose="02020603050405020304" pitchFamily="18" charset="0"/>
                <a:cs typeface="Times New Roman" panose="02020603050405020304" pitchFamily="18" charset="0"/>
              </a:rPr>
              <a:t>= (x, y) = {(1,25) , (10,250) , (100,2500) , (200,5000</a:t>
            </a:r>
            <a:r>
              <a:rPr lang="es-ES" sz="2400" i="1" dirty="0" smtClean="0">
                <a:latin typeface="Times New Roman" panose="02020603050405020304" pitchFamily="18" charset="0"/>
                <a:cs typeface="Times New Roman" panose="02020603050405020304" pitchFamily="18" charset="0"/>
              </a:rPr>
              <a:t>)}</a:t>
            </a:r>
          </a:p>
          <a:p>
            <a:pPr algn="just">
              <a:buNone/>
            </a:pPr>
            <a:endParaRPr lang="es-ES" sz="2400" i="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One entry point for thinking about linear regression is we could describe a line with a slope and an intercept, </a:t>
            </a:r>
            <a:endParaRPr lang="en-US" sz="2400" i="1" dirty="0">
              <a:latin typeface="Times New Roman" panose="02020603050405020304" pitchFamily="18" charset="0"/>
              <a:cs typeface="Times New Roman" panose="02020603050405020304" pitchFamily="18" charset="0"/>
            </a:endParaRPr>
          </a:p>
          <a:p>
            <a:pPr fontAlgn="base">
              <a:buNone/>
            </a:pPr>
            <a:r>
              <a:rPr lang="es-ES" sz="2400" i="1" dirty="0">
                <a:latin typeface="Times New Roman" panose="02020603050405020304" pitchFamily="18" charset="0"/>
                <a:cs typeface="Times New Roman" panose="02020603050405020304" pitchFamily="18" charset="0"/>
              </a:rPr>
              <a:t>             y = h (x) = β</a:t>
            </a:r>
            <a:r>
              <a:rPr lang="es-ES" sz="2400" i="1" baseline="-25000" dirty="0">
                <a:latin typeface="Times New Roman" panose="02020603050405020304" pitchFamily="18" charset="0"/>
                <a:cs typeface="Times New Roman" panose="02020603050405020304" pitchFamily="18" charset="0"/>
              </a:rPr>
              <a:t>0</a:t>
            </a:r>
            <a:r>
              <a:rPr lang="es-ES" sz="2400" i="1" dirty="0">
                <a:latin typeface="Times New Roman" panose="02020603050405020304" pitchFamily="18" charset="0"/>
                <a:cs typeface="Times New Roman" panose="02020603050405020304" pitchFamily="18" charset="0"/>
              </a:rPr>
              <a:t> +β</a:t>
            </a:r>
            <a:r>
              <a:rPr lang="es-ES" sz="2400" i="1" baseline="-25000" dirty="0">
                <a:latin typeface="Times New Roman" panose="02020603050405020304" pitchFamily="18" charset="0"/>
                <a:cs typeface="Times New Roman" panose="02020603050405020304" pitchFamily="18" charset="0"/>
              </a:rPr>
              <a:t>1 </a:t>
            </a:r>
            <a:r>
              <a:rPr lang="es-ES" sz="2400" i="1" dirty="0">
                <a:latin typeface="Times New Roman" panose="02020603050405020304" pitchFamily="18" charset="0"/>
                <a:cs typeface="Times New Roman" panose="02020603050405020304" pitchFamily="18" charset="0"/>
              </a:rPr>
              <a:t>*x.</a:t>
            </a:r>
            <a:endParaRPr lang="en-US" sz="2400" dirty="0">
              <a:latin typeface="Times New Roman" panose="02020603050405020304" pitchFamily="18" charset="0"/>
              <a:cs typeface="Times New Roman" panose="02020603050405020304" pitchFamily="18" charset="0"/>
            </a:endParaRPr>
          </a:p>
          <a:p>
            <a:pPr lvl="1" fontAlgn="base"/>
            <a:r>
              <a:rPr lang="en-US" sz="2000" dirty="0" smtClean="0">
                <a:latin typeface="Times New Roman" panose="02020603050405020304" pitchFamily="18" charset="0"/>
                <a:cs typeface="Times New Roman" panose="02020603050405020304" pitchFamily="18" charset="0"/>
              </a:rPr>
              <a:t>h(x</a:t>
            </a:r>
            <a:r>
              <a:rPr lang="en-US" sz="2000" baseline="-25000" dirty="0" smtClean="0">
                <a:latin typeface="Times New Roman" panose="02020603050405020304" pitchFamily="18" charset="0"/>
                <a:cs typeface="Times New Roman" panose="02020603050405020304" pitchFamily="18" charset="0"/>
              </a:rPr>
              <a:t>i</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represents the </a:t>
            </a:r>
            <a:r>
              <a:rPr lang="en-US" sz="2000" b="1" dirty="0">
                <a:latin typeface="Times New Roman" panose="02020603050405020304" pitchFamily="18" charset="0"/>
                <a:cs typeface="Times New Roman" panose="02020603050405020304" pitchFamily="18" charset="0"/>
              </a:rPr>
              <a:t>predicted response value</a:t>
            </a:r>
            <a:r>
              <a:rPr lang="en-US" sz="2000" dirty="0">
                <a:latin typeface="Times New Roman" panose="02020603050405020304" pitchFamily="18" charset="0"/>
                <a:cs typeface="Times New Roman" panose="02020603050405020304" pitchFamily="18" charset="0"/>
              </a:rPr>
              <a:t> for </a:t>
            </a:r>
            <a:r>
              <a:rPr lang="en-US" sz="2000" dirty="0" err="1">
                <a:latin typeface="Times New Roman" panose="02020603050405020304" pitchFamily="18" charset="0"/>
                <a:cs typeface="Times New Roman" panose="02020603050405020304" pitchFamily="18" charset="0"/>
              </a:rPr>
              <a:t>ith</a:t>
            </a:r>
            <a:r>
              <a:rPr lang="en-US" sz="2000" dirty="0">
                <a:latin typeface="Times New Roman" panose="02020603050405020304" pitchFamily="18" charset="0"/>
                <a:cs typeface="Times New Roman" panose="02020603050405020304" pitchFamily="18" charset="0"/>
              </a:rPr>
              <a:t> observation.</a:t>
            </a:r>
          </a:p>
          <a:p>
            <a:pPr lvl="1" fontAlgn="base"/>
            <a:r>
              <a:rPr lang="es-ES" sz="2000" i="1" dirty="0">
                <a:latin typeface="Times New Roman" panose="02020603050405020304" pitchFamily="18" charset="0"/>
                <a:cs typeface="Times New Roman" panose="02020603050405020304" pitchFamily="18" charset="0"/>
              </a:rPr>
              <a:t>β</a:t>
            </a:r>
            <a:r>
              <a:rPr lang="es-ES" sz="2000" i="1" baseline="-25000" dirty="0">
                <a:latin typeface="Times New Roman" panose="02020603050405020304" pitchFamily="18" charset="0"/>
                <a:cs typeface="Times New Roman" panose="02020603050405020304" pitchFamily="18" charset="0"/>
              </a:rPr>
              <a:t>0</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 </a:t>
            </a:r>
            <a:r>
              <a:rPr lang="en-US" sz="2000" dirty="0" smtClean="0">
                <a:latin typeface="Times New Roman" panose="02020603050405020304" pitchFamily="18" charset="0"/>
                <a:cs typeface="Times New Roman" panose="02020603050405020304" pitchFamily="18" charset="0"/>
              </a:rPr>
              <a:t>b</a:t>
            </a:r>
            <a:r>
              <a:rPr lang="es-ES" sz="2000" i="1" dirty="0">
                <a:latin typeface="Times New Roman" panose="02020603050405020304" pitchFamily="18" charset="0"/>
                <a:cs typeface="Times New Roman" panose="02020603050405020304" pitchFamily="18" charset="0"/>
              </a:rPr>
              <a:t> β</a:t>
            </a:r>
            <a:r>
              <a:rPr lang="es-ES" sz="2000" i="1" baseline="-25000" dirty="0">
                <a:latin typeface="Times New Roman" panose="02020603050405020304" pitchFamily="18" charset="0"/>
                <a:cs typeface="Times New Roman" panose="02020603050405020304" pitchFamily="18" charset="0"/>
              </a:rPr>
              <a:t>1</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are regression coefficients and represent </a:t>
            </a:r>
            <a:r>
              <a:rPr lang="en-US" sz="2000" b="1" dirty="0">
                <a:latin typeface="Times New Roman" panose="02020603050405020304" pitchFamily="18" charset="0"/>
                <a:cs typeface="Times New Roman" panose="02020603050405020304" pitchFamily="18" charset="0"/>
              </a:rPr>
              <a:t>y-intercept</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slope</a:t>
            </a:r>
            <a:r>
              <a:rPr lang="en-US" sz="2000" dirty="0">
                <a:latin typeface="Times New Roman" panose="02020603050405020304" pitchFamily="18" charset="0"/>
                <a:cs typeface="Times New Roman" panose="02020603050405020304" pitchFamily="18" charset="0"/>
              </a:rPr>
              <a:t> of regression line respectively.</a:t>
            </a:r>
          </a:p>
          <a:p>
            <a:pPr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4805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Example 1</a:t>
            </a:r>
            <a:endParaRPr lang="en-US" sz="3600" dirty="0"/>
          </a:p>
        </p:txBody>
      </p:sp>
      <p:sp>
        <p:nvSpPr>
          <p:cNvPr id="3" name="Content Placeholder 2"/>
          <p:cNvSpPr>
            <a:spLocks noGrp="1"/>
          </p:cNvSpPr>
          <p:nvPr>
            <p:ph idx="1"/>
          </p:nvPr>
        </p:nvSpPr>
        <p:spPr/>
        <p:txBody>
          <a:bodyPr/>
          <a:lstStyle/>
          <a:p>
            <a:pPr>
              <a:buNone/>
            </a:pPr>
            <a:r>
              <a:rPr lang="en-US" i="1" dirty="0">
                <a:latin typeface="Times New Roman" panose="02020603050405020304" pitchFamily="18" charset="0"/>
                <a:cs typeface="Times New Roman" panose="02020603050405020304" pitchFamily="18" charset="0"/>
              </a:rPr>
              <a:t>     y =25x. They likely could do this in their head, in which case</a:t>
            </a:r>
          </a:p>
          <a:p>
            <a:pPr>
              <a:buNone/>
            </a:pPr>
            <a:r>
              <a:rPr lang="en-US" dirty="0">
                <a:latin typeface="Times New Roman" panose="02020603050405020304" pitchFamily="18" charset="0"/>
                <a:cs typeface="Times New Roman" panose="02020603050405020304" pitchFamily="18" charset="0"/>
              </a:rPr>
              <a:t>they figured out that:</a:t>
            </a:r>
          </a:p>
          <a:p>
            <a:pPr lvl="1">
              <a:buNone/>
            </a:pPr>
            <a:r>
              <a:rPr lang="en-US" dirty="0">
                <a:latin typeface="Times New Roman" panose="02020603050405020304" pitchFamily="18" charset="0"/>
                <a:cs typeface="Times New Roman" panose="02020603050405020304" pitchFamily="18" charset="0"/>
              </a:rPr>
              <a:t>• There’s a linear pattern.</a:t>
            </a:r>
          </a:p>
          <a:p>
            <a:pPr lvl="1">
              <a:buNone/>
            </a:pPr>
            <a:r>
              <a:rPr lang="en-US" dirty="0">
                <a:latin typeface="Times New Roman" panose="02020603050405020304" pitchFamily="18" charset="0"/>
                <a:cs typeface="Times New Roman" panose="02020603050405020304" pitchFamily="18" charset="0"/>
              </a:rPr>
              <a:t>• The coefficient relating </a:t>
            </a:r>
            <a:r>
              <a:rPr lang="en-US" i="1" dirty="0">
                <a:latin typeface="Times New Roman" panose="02020603050405020304" pitchFamily="18" charset="0"/>
                <a:cs typeface="Times New Roman" panose="02020603050405020304" pitchFamily="18" charset="0"/>
              </a:rPr>
              <a:t>x and y is 25.</a:t>
            </a:r>
          </a:p>
        </p:txBody>
      </p:sp>
    </p:spTree>
    <p:extLst>
      <p:ext uri="{BB962C8B-B14F-4D97-AF65-F5344CB8AC3E}">
        <p14:creationId xmlns:p14="http://schemas.microsoft.com/office/powerpoint/2010/main" val="377373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Example 2</a:t>
            </a:r>
          </a:p>
        </p:txBody>
      </p:sp>
      <p:pic>
        <p:nvPicPr>
          <p:cNvPr id="2050" name="Picture 2"/>
          <p:cNvPicPr>
            <a:picLocks noGrp="1" noChangeAspect="1" noChangeArrowheads="1"/>
          </p:cNvPicPr>
          <p:nvPr>
            <p:ph idx="1"/>
          </p:nvPr>
        </p:nvPicPr>
        <p:blipFill>
          <a:blip r:embed="rId2"/>
          <a:srcRect/>
          <a:stretch>
            <a:fillRect/>
          </a:stretch>
        </p:blipFill>
        <p:spPr bwMode="auto">
          <a:xfrm>
            <a:off x="1981200" y="3084946"/>
            <a:ext cx="8229600" cy="1803014"/>
          </a:xfrm>
          <a:prstGeom prst="rect">
            <a:avLst/>
          </a:prstGeom>
          <a:noFill/>
          <a:ln w="9525">
            <a:noFill/>
            <a:miter lim="800000"/>
            <a:headEnd/>
            <a:tailEnd/>
          </a:ln>
          <a:effectLst/>
        </p:spPr>
      </p:pic>
      <p:sp>
        <p:nvSpPr>
          <p:cNvPr id="5" name="Rectangle 4"/>
          <p:cNvSpPr/>
          <p:nvPr/>
        </p:nvSpPr>
        <p:spPr>
          <a:xfrm>
            <a:off x="2209800" y="1828801"/>
            <a:ext cx="7848600" cy="830997"/>
          </a:xfrm>
          <a:prstGeom prst="rect">
            <a:avLst/>
          </a:prstGeom>
        </p:spPr>
        <p:txBody>
          <a:bodyPr wrap="square">
            <a:spAutoFit/>
          </a:bodyPr>
          <a:lstStyle/>
          <a:p>
            <a:pPr fontAlgn="base"/>
            <a:r>
              <a:rPr lang="en-US" sz="2400" dirty="0">
                <a:solidFill>
                  <a:prstClr val="black"/>
                </a:solidFill>
                <a:latin typeface="Times New Roman" panose="02020603050405020304" pitchFamily="18" charset="0"/>
                <a:cs typeface="Times New Roman" panose="02020603050405020304" pitchFamily="18" charset="0"/>
              </a:rPr>
              <a:t>Let us consider a dataset where we have a value of response y for every feature x:</a:t>
            </a:r>
          </a:p>
        </p:txBody>
      </p:sp>
      <p:sp>
        <p:nvSpPr>
          <p:cNvPr id="6" name="Rectangle 5"/>
          <p:cNvSpPr/>
          <p:nvPr/>
        </p:nvSpPr>
        <p:spPr>
          <a:xfrm>
            <a:off x="2209800" y="4813995"/>
            <a:ext cx="7620000" cy="1384995"/>
          </a:xfrm>
          <a:prstGeom prst="rect">
            <a:avLst/>
          </a:prstGeom>
        </p:spPr>
        <p:txBody>
          <a:bodyPr wrap="square">
            <a:spAutoFit/>
          </a:bodyPr>
          <a:lstStyle/>
          <a:p>
            <a:pPr fontAlgn="base"/>
            <a:r>
              <a:rPr lang="en-US" sz="2800" dirty="0">
                <a:solidFill>
                  <a:prstClr val="black"/>
                </a:solidFill>
                <a:latin typeface="Times New Roman" panose="02020603050405020304" pitchFamily="18" charset="0"/>
                <a:cs typeface="Times New Roman" panose="02020603050405020304" pitchFamily="18" charset="0"/>
              </a:rPr>
              <a:t>For generality, we define:</a:t>
            </a:r>
          </a:p>
          <a:p>
            <a:pPr fontAlgn="base"/>
            <a:r>
              <a:rPr lang="en-US" sz="2800" dirty="0">
                <a:solidFill>
                  <a:prstClr val="black"/>
                </a:solidFill>
                <a:latin typeface="Times New Roman" panose="02020603050405020304" pitchFamily="18" charset="0"/>
                <a:cs typeface="Times New Roman" panose="02020603050405020304" pitchFamily="18" charset="0"/>
              </a:rPr>
              <a:t>x as </a:t>
            </a:r>
            <a:r>
              <a:rPr lang="en-US" sz="2800" b="1" dirty="0">
                <a:solidFill>
                  <a:prstClr val="black"/>
                </a:solidFill>
                <a:latin typeface="Times New Roman" panose="02020603050405020304" pitchFamily="18" charset="0"/>
                <a:cs typeface="Times New Roman" panose="02020603050405020304" pitchFamily="18" charset="0"/>
              </a:rPr>
              <a:t>feature vector</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i.e</a:t>
            </a:r>
            <a:r>
              <a:rPr lang="en-US" sz="2800" dirty="0">
                <a:solidFill>
                  <a:prstClr val="black"/>
                </a:solidFill>
                <a:latin typeface="Times New Roman" panose="02020603050405020304" pitchFamily="18" charset="0"/>
                <a:cs typeface="Times New Roman" panose="02020603050405020304" pitchFamily="18" charset="0"/>
              </a:rPr>
              <a:t> x = [x_1, x_2, …., </a:t>
            </a:r>
            <a:r>
              <a:rPr lang="en-US" sz="2800" dirty="0" err="1">
                <a:solidFill>
                  <a:prstClr val="black"/>
                </a:solidFill>
                <a:latin typeface="Times New Roman" panose="02020603050405020304" pitchFamily="18" charset="0"/>
                <a:cs typeface="Times New Roman" panose="02020603050405020304" pitchFamily="18" charset="0"/>
              </a:rPr>
              <a:t>x_n</a:t>
            </a:r>
            <a:r>
              <a:rPr lang="en-US" sz="2800" dirty="0">
                <a:solidFill>
                  <a:prstClr val="black"/>
                </a:solidFill>
                <a:latin typeface="Times New Roman" panose="02020603050405020304" pitchFamily="18" charset="0"/>
                <a:cs typeface="Times New Roman" panose="02020603050405020304" pitchFamily="18" charset="0"/>
              </a:rPr>
              <a:t>],</a:t>
            </a:r>
          </a:p>
          <a:p>
            <a:pPr fontAlgn="base"/>
            <a:r>
              <a:rPr lang="en-US" sz="2800" dirty="0">
                <a:solidFill>
                  <a:prstClr val="black"/>
                </a:solidFill>
                <a:latin typeface="Times New Roman" panose="02020603050405020304" pitchFamily="18" charset="0"/>
                <a:cs typeface="Times New Roman" panose="02020603050405020304" pitchFamily="18" charset="0"/>
              </a:rPr>
              <a:t>y as </a:t>
            </a:r>
            <a:r>
              <a:rPr lang="en-US" sz="2800" b="1" dirty="0">
                <a:solidFill>
                  <a:prstClr val="black"/>
                </a:solidFill>
                <a:latin typeface="Times New Roman" panose="02020603050405020304" pitchFamily="18" charset="0"/>
                <a:cs typeface="Times New Roman" panose="02020603050405020304" pitchFamily="18" charset="0"/>
              </a:rPr>
              <a:t>response vector</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i.e</a:t>
            </a:r>
            <a:r>
              <a:rPr lang="en-US" sz="2800" dirty="0">
                <a:solidFill>
                  <a:prstClr val="black"/>
                </a:solidFill>
                <a:latin typeface="Times New Roman" panose="02020603050405020304" pitchFamily="18" charset="0"/>
                <a:cs typeface="Times New Roman" panose="02020603050405020304" pitchFamily="18" charset="0"/>
              </a:rPr>
              <a:t> y = [y_1, y_2, …., </a:t>
            </a:r>
            <a:r>
              <a:rPr lang="en-US" sz="2800" dirty="0" err="1">
                <a:solidFill>
                  <a:prstClr val="black"/>
                </a:solidFill>
                <a:latin typeface="Times New Roman" panose="02020603050405020304" pitchFamily="18" charset="0"/>
                <a:cs typeface="Times New Roman" panose="02020603050405020304" pitchFamily="18" charset="0"/>
              </a:rPr>
              <a:t>y_n</a:t>
            </a:r>
            <a:r>
              <a:rPr lang="en-US" sz="2800" dirty="0">
                <a:solidFill>
                  <a:prstClr val="black"/>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515312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fontAlgn="base"/>
            <a:r>
              <a:rPr lang="en-US" sz="3600" dirty="0">
                <a:latin typeface="Times New Roman" panose="02020603050405020304" pitchFamily="18" charset="0"/>
                <a:cs typeface="Times New Roman" panose="02020603050405020304" pitchFamily="18" charset="0"/>
              </a:rPr>
              <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A scatter plot of above dataset looks like:</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
            </a:r>
            <a:br>
              <a:rPr lang="en-US"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pic>
        <p:nvPicPr>
          <p:cNvPr id="3074" name="Picture 2"/>
          <p:cNvPicPr>
            <a:picLocks noGrp="1" noChangeAspect="1" noChangeArrowheads="1"/>
          </p:cNvPicPr>
          <p:nvPr>
            <p:ph idx="1"/>
          </p:nvPr>
        </p:nvPicPr>
        <p:blipFill>
          <a:blip r:embed="rId2"/>
          <a:srcRect/>
          <a:stretch>
            <a:fillRect/>
          </a:stretch>
        </p:blipFill>
        <p:spPr bwMode="auto">
          <a:xfrm>
            <a:off x="1106057" y="1588653"/>
            <a:ext cx="5987061" cy="4100947"/>
          </a:xfrm>
          <a:prstGeom prst="rect">
            <a:avLst/>
          </a:prstGeom>
          <a:noFill/>
          <a:ln w="9525">
            <a:noFill/>
            <a:miter lim="800000"/>
            <a:headEnd/>
            <a:tailEnd/>
          </a:ln>
          <a:effectLst/>
        </p:spPr>
      </p:pic>
      <p:sp>
        <p:nvSpPr>
          <p:cNvPr id="3" name="Rectangle 2"/>
          <p:cNvSpPr/>
          <p:nvPr/>
        </p:nvSpPr>
        <p:spPr>
          <a:xfrm rot="10800000" flipV="1">
            <a:off x="7093117" y="1343798"/>
            <a:ext cx="4027463" cy="4247317"/>
          </a:xfrm>
          <a:prstGeom prst="rect">
            <a:avLst/>
          </a:prstGeom>
        </p:spPr>
        <p:txBody>
          <a:bodyPr wrap="square">
            <a:spAutoFit/>
          </a:bodyPr>
          <a:lstStyle/>
          <a:p>
            <a:pPr algn="just" fontAlgn="base"/>
            <a:r>
              <a:rPr lang="en-US" dirty="0"/>
              <a:t>Now, the task is to find a </a:t>
            </a:r>
            <a:r>
              <a:rPr lang="en-US" b="1" dirty="0"/>
              <a:t>line which fits best</a:t>
            </a:r>
            <a:r>
              <a:rPr lang="en-US" dirty="0"/>
              <a:t> in above scatter plot so that we can predict the response for any new feature values. (</a:t>
            </a:r>
            <a:r>
              <a:rPr lang="en-US" dirty="0" err="1"/>
              <a:t>i.e</a:t>
            </a:r>
            <a:r>
              <a:rPr lang="en-US" dirty="0"/>
              <a:t> a value of x not present in dataset)</a:t>
            </a:r>
          </a:p>
          <a:p>
            <a:pPr algn="just" fontAlgn="base"/>
            <a:r>
              <a:rPr lang="en-US" dirty="0"/>
              <a:t>This line is called </a:t>
            </a:r>
            <a:r>
              <a:rPr lang="en-US" b="1" dirty="0"/>
              <a:t>regression line</a:t>
            </a:r>
            <a:r>
              <a:rPr lang="en-US" dirty="0" smtClean="0"/>
              <a:t>.</a:t>
            </a:r>
          </a:p>
          <a:p>
            <a:pPr algn="just" fontAlgn="base"/>
            <a:endParaRPr lang="en-US" dirty="0" smtClean="0"/>
          </a:p>
          <a:p>
            <a:pPr algn="just"/>
            <a:r>
              <a:rPr lang="en-US" dirty="0"/>
              <a:t>To create our model, we must “learn” or estimate the values of regression coefficients. </a:t>
            </a:r>
            <a:endParaRPr lang="en-US" dirty="0" smtClean="0"/>
          </a:p>
          <a:p>
            <a:pPr algn="just"/>
            <a:endParaRPr lang="en-US" dirty="0"/>
          </a:p>
          <a:p>
            <a:pPr algn="just"/>
            <a:r>
              <a:rPr lang="en-US" dirty="0"/>
              <a:t>And once we’ve estimated these coefficients, we can use the model to predict responses!</a:t>
            </a:r>
          </a:p>
          <a:p>
            <a:pPr algn="just" fontAlgn="base"/>
            <a:endParaRPr lang="en-IN" dirty="0"/>
          </a:p>
        </p:txBody>
      </p:sp>
    </p:spTree>
    <p:extLst>
      <p:ext uri="{BB962C8B-B14F-4D97-AF65-F5344CB8AC3E}">
        <p14:creationId xmlns:p14="http://schemas.microsoft.com/office/powerpoint/2010/main" val="875184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latin typeface="Times New Roman" panose="02020603050405020304" pitchFamily="18" charset="0"/>
                <a:cs typeface="Times New Roman" panose="02020603050405020304" pitchFamily="18" charset="0"/>
              </a:rPr>
              <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Slope for the Estimated Regression Equation</a:t>
            </a:r>
            <a:br>
              <a:rPr lang="en-US"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5" name="Rectangle 4"/>
          <p:cNvSpPr/>
          <p:nvPr/>
        </p:nvSpPr>
        <p:spPr>
          <a:xfrm>
            <a:off x="2895600" y="3505200"/>
            <a:ext cx="7086600" cy="895630"/>
          </a:xfrm>
          <a:prstGeom prst="rect">
            <a:avLst/>
          </a:prstGeom>
        </p:spPr>
        <p:txBody>
          <a:bodyPr wrap="square">
            <a:spAutoFit/>
          </a:bodyPr>
          <a:lstStyle/>
          <a:p>
            <a:pPr>
              <a:lnSpc>
                <a:spcPct val="90000"/>
              </a:lnSpc>
              <a:spcBef>
                <a:spcPct val="20000"/>
              </a:spcBef>
              <a:buClr>
                <a:srgbClr val="66FFFF"/>
              </a:buClr>
              <a:buSzPct val="75000"/>
            </a:pPr>
            <a:r>
              <a:rPr lang="en-US" dirty="0">
                <a:solidFill>
                  <a:prstClr val="black"/>
                </a:solidFill>
                <a:effectLst>
                  <a:outerShdw blurRad="38100" dist="38100" dir="2700000" algn="tl">
                    <a:srgbClr val="000000"/>
                  </a:outerShdw>
                </a:effectLst>
                <a:latin typeface="Book Antiqua" pitchFamily="18" charset="0"/>
              </a:rPr>
              <a:t>where:</a:t>
            </a:r>
          </a:p>
          <a:p>
            <a:pPr>
              <a:lnSpc>
                <a:spcPct val="80000"/>
              </a:lnSpc>
              <a:spcBef>
                <a:spcPct val="20000"/>
              </a:spcBef>
              <a:buClr>
                <a:srgbClr val="66FFFF"/>
              </a:buClr>
              <a:buSzPct val="75000"/>
            </a:pPr>
            <a:r>
              <a:rPr lang="en-US" dirty="0">
                <a:solidFill>
                  <a:prstClr val="black"/>
                </a:solidFill>
                <a:effectLst>
                  <a:outerShdw blurRad="38100" dist="38100" dir="2700000" algn="tl">
                    <a:srgbClr val="000000"/>
                  </a:outerShdw>
                </a:effectLst>
                <a:latin typeface="Book Antiqua" pitchFamily="18" charset="0"/>
              </a:rPr>
              <a:t>	</a:t>
            </a:r>
            <a:r>
              <a:rPr lang="en-US" i="1" dirty="0">
                <a:solidFill>
                  <a:prstClr val="black"/>
                </a:solidFill>
                <a:effectLst>
                  <a:outerShdw blurRad="38100" dist="38100" dir="2700000" algn="tl">
                    <a:srgbClr val="000000"/>
                  </a:outerShdw>
                </a:effectLst>
                <a:latin typeface="Book Antiqua" pitchFamily="18" charset="0"/>
              </a:rPr>
              <a:t>x</a:t>
            </a:r>
            <a:r>
              <a:rPr lang="en-US" i="1" baseline="-25000" dirty="0">
                <a:solidFill>
                  <a:prstClr val="black"/>
                </a:solidFill>
                <a:effectLst>
                  <a:outerShdw blurRad="38100" dist="38100" dir="2700000" algn="tl">
                    <a:srgbClr val="000000"/>
                  </a:outerShdw>
                </a:effectLst>
                <a:latin typeface="Book Antiqua" pitchFamily="18" charset="0"/>
              </a:rPr>
              <a:t>i</a:t>
            </a:r>
            <a:r>
              <a:rPr lang="en-US" dirty="0">
                <a:solidFill>
                  <a:prstClr val="black"/>
                </a:solidFill>
                <a:effectLst>
                  <a:outerShdw blurRad="38100" dist="38100" dir="2700000" algn="tl">
                    <a:srgbClr val="000000"/>
                  </a:outerShdw>
                </a:effectLst>
                <a:latin typeface="Book Antiqua" pitchFamily="18" charset="0"/>
              </a:rPr>
              <a:t> = value of independent variable for </a:t>
            </a:r>
            <a:r>
              <a:rPr lang="en-US" i="1" dirty="0" err="1">
                <a:solidFill>
                  <a:prstClr val="black"/>
                </a:solidFill>
                <a:effectLst>
                  <a:outerShdw blurRad="38100" dist="38100" dir="2700000" algn="tl">
                    <a:srgbClr val="000000"/>
                  </a:outerShdw>
                </a:effectLst>
                <a:latin typeface="Book Antiqua" pitchFamily="18" charset="0"/>
              </a:rPr>
              <a:t>i</a:t>
            </a:r>
            <a:r>
              <a:rPr lang="en-US" dirty="0" err="1">
                <a:solidFill>
                  <a:prstClr val="black"/>
                </a:solidFill>
                <a:effectLst>
                  <a:outerShdw blurRad="38100" dist="38100" dir="2700000" algn="tl">
                    <a:srgbClr val="000000"/>
                  </a:outerShdw>
                </a:effectLst>
                <a:latin typeface="Book Antiqua" pitchFamily="18" charset="0"/>
              </a:rPr>
              <a:t>th</a:t>
            </a:r>
            <a:endParaRPr lang="en-US" dirty="0">
              <a:solidFill>
                <a:prstClr val="black"/>
              </a:solidFill>
              <a:effectLst>
                <a:outerShdw blurRad="38100" dist="38100" dir="2700000" algn="tl">
                  <a:srgbClr val="000000"/>
                </a:outerShdw>
              </a:effectLst>
              <a:latin typeface="Book Antiqua" pitchFamily="18" charset="0"/>
            </a:endParaRPr>
          </a:p>
          <a:p>
            <a:pPr>
              <a:lnSpc>
                <a:spcPct val="80000"/>
              </a:lnSpc>
              <a:spcBef>
                <a:spcPct val="20000"/>
              </a:spcBef>
              <a:buClr>
                <a:srgbClr val="66FFFF"/>
              </a:buClr>
              <a:buSzPct val="75000"/>
            </a:pPr>
            <a:r>
              <a:rPr lang="en-US" dirty="0">
                <a:solidFill>
                  <a:prstClr val="black"/>
                </a:solidFill>
                <a:effectLst>
                  <a:outerShdw blurRad="38100" dist="38100" dir="2700000" algn="tl">
                    <a:srgbClr val="000000"/>
                  </a:outerShdw>
                </a:effectLst>
                <a:latin typeface="Book Antiqua" pitchFamily="18" charset="0"/>
              </a:rPr>
              <a:t>	        observation</a:t>
            </a:r>
          </a:p>
        </p:txBody>
      </p:sp>
      <p:sp>
        <p:nvSpPr>
          <p:cNvPr id="6" name="Rectangle 5"/>
          <p:cNvSpPr/>
          <p:nvPr/>
        </p:nvSpPr>
        <p:spPr>
          <a:xfrm>
            <a:off x="3810000" y="4419601"/>
            <a:ext cx="4572000" cy="590931"/>
          </a:xfrm>
          <a:prstGeom prst="rect">
            <a:avLst/>
          </a:prstGeom>
        </p:spPr>
        <p:txBody>
          <a:bodyPr wrap="square">
            <a:spAutoFit/>
          </a:bodyPr>
          <a:lstStyle/>
          <a:p>
            <a:pPr>
              <a:lnSpc>
                <a:spcPct val="80000"/>
              </a:lnSpc>
              <a:spcBef>
                <a:spcPct val="20000"/>
              </a:spcBef>
              <a:buClr>
                <a:srgbClr val="66FFFF"/>
              </a:buClr>
              <a:buSzPct val="75000"/>
            </a:pPr>
            <a:r>
              <a:rPr lang="en-US" i="1" dirty="0" err="1">
                <a:solidFill>
                  <a:prstClr val="black"/>
                </a:solidFill>
                <a:effectLst>
                  <a:outerShdw blurRad="38100" dist="38100" dir="2700000" algn="tl">
                    <a:srgbClr val="000000"/>
                  </a:outerShdw>
                </a:effectLst>
                <a:latin typeface="Book Antiqua" pitchFamily="18" charset="0"/>
              </a:rPr>
              <a:t>y</a:t>
            </a:r>
            <a:r>
              <a:rPr lang="en-US" i="1" baseline="-25000" dirty="0" err="1">
                <a:solidFill>
                  <a:prstClr val="black"/>
                </a:solidFill>
                <a:effectLst>
                  <a:outerShdw blurRad="38100" dist="38100" dir="2700000" algn="tl">
                    <a:srgbClr val="000000"/>
                  </a:outerShdw>
                </a:effectLst>
                <a:latin typeface="Book Antiqua" pitchFamily="18" charset="0"/>
              </a:rPr>
              <a:t>i</a:t>
            </a:r>
            <a:r>
              <a:rPr lang="en-US" dirty="0">
                <a:solidFill>
                  <a:prstClr val="black"/>
                </a:solidFill>
                <a:effectLst>
                  <a:outerShdw blurRad="38100" dist="38100" dir="2700000" algn="tl">
                    <a:srgbClr val="000000"/>
                  </a:outerShdw>
                </a:effectLst>
                <a:latin typeface="Book Antiqua" pitchFamily="18" charset="0"/>
              </a:rPr>
              <a:t> = value of dependent variable for </a:t>
            </a:r>
            <a:r>
              <a:rPr lang="en-US" i="1" dirty="0" err="1">
                <a:solidFill>
                  <a:prstClr val="black"/>
                </a:solidFill>
                <a:effectLst>
                  <a:outerShdw blurRad="38100" dist="38100" dir="2700000" algn="tl">
                    <a:srgbClr val="000000"/>
                  </a:outerShdw>
                </a:effectLst>
                <a:latin typeface="Book Antiqua" pitchFamily="18" charset="0"/>
              </a:rPr>
              <a:t>i</a:t>
            </a:r>
            <a:r>
              <a:rPr lang="en-US" dirty="0" err="1">
                <a:solidFill>
                  <a:prstClr val="black"/>
                </a:solidFill>
                <a:effectLst>
                  <a:outerShdw blurRad="38100" dist="38100" dir="2700000" algn="tl">
                    <a:srgbClr val="000000"/>
                  </a:outerShdw>
                </a:effectLst>
                <a:latin typeface="Book Antiqua" pitchFamily="18" charset="0"/>
              </a:rPr>
              <a:t>th</a:t>
            </a:r>
            <a:endParaRPr lang="en-US" dirty="0">
              <a:solidFill>
                <a:prstClr val="black"/>
              </a:solidFill>
              <a:effectLst>
                <a:outerShdw blurRad="38100" dist="38100" dir="2700000" algn="tl">
                  <a:srgbClr val="000000"/>
                </a:outerShdw>
              </a:effectLst>
              <a:latin typeface="Book Antiqua" pitchFamily="18" charset="0"/>
            </a:endParaRPr>
          </a:p>
          <a:p>
            <a:pPr>
              <a:lnSpc>
                <a:spcPct val="80000"/>
              </a:lnSpc>
              <a:spcBef>
                <a:spcPct val="20000"/>
              </a:spcBef>
              <a:buClr>
                <a:srgbClr val="66FFFF"/>
              </a:buClr>
              <a:buSzPct val="75000"/>
            </a:pPr>
            <a:r>
              <a:rPr lang="en-US" dirty="0">
                <a:solidFill>
                  <a:prstClr val="black"/>
                </a:solidFill>
                <a:effectLst>
                  <a:outerShdw blurRad="38100" dist="38100" dir="2700000" algn="tl">
                    <a:srgbClr val="000000"/>
                  </a:outerShdw>
                </a:effectLst>
                <a:latin typeface="Book Antiqua" pitchFamily="18" charset="0"/>
              </a:rPr>
              <a:t>       observation</a:t>
            </a:r>
          </a:p>
        </p:txBody>
      </p:sp>
      <p:sp>
        <p:nvSpPr>
          <p:cNvPr id="7" name="Rectangle 6"/>
          <p:cNvSpPr/>
          <p:nvPr/>
        </p:nvSpPr>
        <p:spPr>
          <a:xfrm>
            <a:off x="3929381" y="5029201"/>
            <a:ext cx="4333238" cy="646331"/>
          </a:xfrm>
          <a:prstGeom prst="rect">
            <a:avLst/>
          </a:prstGeom>
        </p:spPr>
        <p:txBody>
          <a:bodyPr wrap="square">
            <a:spAutoFit/>
          </a:bodyPr>
          <a:lstStyle/>
          <a:p>
            <a:r>
              <a:rPr lang="en-US" i="1" dirty="0">
                <a:solidFill>
                  <a:prstClr val="black"/>
                </a:solidFill>
                <a:effectLst>
                  <a:outerShdw blurRad="38100" dist="38100" dir="2700000" algn="tl">
                    <a:srgbClr val="000000"/>
                  </a:outerShdw>
                </a:effectLst>
                <a:latin typeface="Book Antiqua" pitchFamily="18" charset="0"/>
              </a:rPr>
              <a:t>x^</a:t>
            </a:r>
            <a:r>
              <a:rPr lang="en-US" dirty="0">
                <a:solidFill>
                  <a:prstClr val="black"/>
                </a:solidFill>
                <a:effectLst>
                  <a:outerShdw blurRad="38100" dist="38100" dir="2700000" algn="tl">
                    <a:srgbClr val="000000"/>
                  </a:outerShdw>
                </a:effectLst>
                <a:latin typeface="Book Antiqua" pitchFamily="18" charset="0"/>
              </a:rPr>
              <a:t>= mean value for independent variable</a:t>
            </a:r>
          </a:p>
        </p:txBody>
      </p:sp>
      <p:sp>
        <p:nvSpPr>
          <p:cNvPr id="8" name="Rectangle 7"/>
          <p:cNvSpPr/>
          <p:nvPr/>
        </p:nvSpPr>
        <p:spPr>
          <a:xfrm>
            <a:off x="4030371" y="5715001"/>
            <a:ext cx="4131259" cy="646331"/>
          </a:xfrm>
          <a:prstGeom prst="rect">
            <a:avLst/>
          </a:prstGeom>
        </p:spPr>
        <p:txBody>
          <a:bodyPr wrap="square">
            <a:spAutoFit/>
          </a:bodyPr>
          <a:lstStyle/>
          <a:p>
            <a:r>
              <a:rPr lang="en-US" i="1" dirty="0">
                <a:solidFill>
                  <a:prstClr val="black"/>
                </a:solidFill>
                <a:effectLst>
                  <a:outerShdw blurRad="38100" dist="38100" dir="2700000" algn="tl">
                    <a:srgbClr val="000000"/>
                  </a:outerShdw>
                </a:effectLst>
                <a:latin typeface="Book Antiqua" pitchFamily="18" charset="0"/>
              </a:rPr>
              <a:t>y^</a:t>
            </a:r>
            <a:r>
              <a:rPr lang="en-US" dirty="0">
                <a:solidFill>
                  <a:prstClr val="black"/>
                </a:solidFill>
                <a:effectLst>
                  <a:outerShdw blurRad="38100" dist="38100" dir="2700000" algn="tl">
                    <a:srgbClr val="000000"/>
                  </a:outerShdw>
                </a:effectLst>
                <a:latin typeface="Book Antiqua" pitchFamily="18" charset="0"/>
              </a:rPr>
              <a:t> = mean value for dependent variable</a:t>
            </a:r>
          </a:p>
        </p:txBody>
      </p:sp>
      <p:graphicFrame>
        <p:nvGraphicFramePr>
          <p:cNvPr id="2051" name="Object 3">
            <a:hlinkClick r:id="" action="ppaction://ole?verb=0"/>
          </p:cNvPr>
          <p:cNvGraphicFramePr>
            <a:graphicFrameLocks/>
          </p:cNvGraphicFramePr>
          <p:nvPr/>
        </p:nvGraphicFramePr>
        <p:xfrm>
          <a:off x="2743200" y="1854200"/>
          <a:ext cx="5638800" cy="1028700"/>
        </p:xfrm>
        <a:graphic>
          <a:graphicData uri="http://schemas.openxmlformats.org/presentationml/2006/ole">
            <mc:AlternateContent xmlns:mc="http://schemas.openxmlformats.org/markup-compatibility/2006">
              <mc:Choice xmlns:v="urn:schemas-microsoft-com:vml" Requires="v">
                <p:oleObj spid="_x0000_s1028" name="Equation" r:id="rId3" imgW="3301920" imgH="1041120" progId="">
                  <p:embed/>
                </p:oleObj>
              </mc:Choice>
              <mc:Fallback>
                <p:oleObj name="Equation" r:id="rId3" imgW="3301920" imgH="1041120" progId="">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1854200"/>
                        <a:ext cx="5638800" cy="1028700"/>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63274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304800"/>
            <a:ext cx="8229600" cy="1143000"/>
          </a:xfrm>
        </p:spPr>
        <p:txBody>
          <a:bodyPr>
            <a:normAutofit fontScale="90000"/>
          </a:bodyPr>
          <a:lstStyle/>
          <a:p>
            <a:r>
              <a:rPr lang="en-US" sz="3600" i="1" dirty="0">
                <a:effectLst>
                  <a:outerShdw blurRad="38100" dist="38100" dir="2700000" algn="tl">
                    <a:srgbClr val="000000"/>
                  </a:outerShdw>
                </a:effectLst>
                <a:latin typeface="Book Antiqua" pitchFamily="18" charset="0"/>
              </a:rPr>
              <a:t/>
            </a:r>
            <a:br>
              <a:rPr lang="en-US" sz="3600" i="1" dirty="0">
                <a:effectLst>
                  <a:outerShdw blurRad="38100" dist="38100" dir="2700000" algn="tl">
                    <a:srgbClr val="000000"/>
                  </a:outerShdw>
                </a:effectLst>
                <a:latin typeface="Book Antiqua" pitchFamily="18" charset="0"/>
              </a:rPr>
            </a:br>
            <a:r>
              <a:rPr lang="en-US" sz="3600" i="1" dirty="0">
                <a:effectLst>
                  <a:outerShdw blurRad="38100" dist="38100" dir="2700000" algn="tl">
                    <a:srgbClr val="000000"/>
                  </a:outerShdw>
                </a:effectLst>
                <a:latin typeface="Book Antiqua" pitchFamily="18" charset="0"/>
              </a:rPr>
              <a:t>y</a:t>
            </a:r>
            <a:r>
              <a:rPr lang="en-US" sz="3600" dirty="0">
                <a:effectLst>
                  <a:outerShdw blurRad="38100" dist="38100" dir="2700000" algn="tl">
                    <a:srgbClr val="000000"/>
                  </a:outerShdw>
                </a:effectLst>
                <a:latin typeface="Book Antiqua" pitchFamily="18" charset="0"/>
              </a:rPr>
              <a:t>-Intercept for the Estimated Regression Equation</a:t>
            </a:r>
            <a:r>
              <a:rPr lang="en-US" dirty="0">
                <a:effectLst>
                  <a:outerShdw blurRad="38100" dist="38100" dir="2700000" algn="tl">
                    <a:srgbClr val="000000"/>
                  </a:outerShdw>
                </a:effectLst>
                <a:latin typeface="Book Antiqua" pitchFamily="18" charset="0"/>
              </a:rPr>
              <a:t/>
            </a:r>
            <a:br>
              <a:rPr lang="en-US" dirty="0">
                <a:effectLst>
                  <a:outerShdw blurRad="38100" dist="38100" dir="2700000" algn="tl">
                    <a:srgbClr val="000000"/>
                  </a:outerShdw>
                </a:effectLst>
                <a:latin typeface="Book Antiqua" pitchFamily="18" charset="0"/>
              </a:rPr>
            </a:br>
            <a:endParaRPr lang="en-US" dirty="0"/>
          </a:p>
        </p:txBody>
      </p:sp>
      <p:graphicFrame>
        <p:nvGraphicFramePr>
          <p:cNvPr id="3075" name="Object 3"/>
          <p:cNvGraphicFramePr>
            <a:graphicFrameLocks noChangeAspect="1"/>
          </p:cNvGraphicFramePr>
          <p:nvPr/>
        </p:nvGraphicFramePr>
        <p:xfrm>
          <a:off x="3276600" y="2743200"/>
          <a:ext cx="4800600" cy="1828800"/>
        </p:xfrm>
        <a:graphic>
          <a:graphicData uri="http://schemas.openxmlformats.org/presentationml/2006/ole">
            <mc:AlternateContent xmlns:mc="http://schemas.openxmlformats.org/markup-compatibility/2006">
              <mc:Choice xmlns:v="urn:schemas-microsoft-com:vml" Requires="v">
                <p:oleObj spid="_x0000_s2051" name="Equation" r:id="rId3" imgW="647640" imgH="190440" progId="">
                  <p:embed/>
                </p:oleObj>
              </mc:Choice>
              <mc:Fallback>
                <p:oleObj name="Equation" r:id="rId3" imgW="647640" imgH="19044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2743200"/>
                        <a:ext cx="4800600" cy="1828800"/>
                      </a:xfrm>
                      <a:prstGeom prst="rect">
                        <a:avLst/>
                      </a:prstGeom>
                      <a:noFill/>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08027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anose="02020603050405020304" pitchFamily="18" charset="0"/>
                <a:cs typeface="Times New Roman" panose="02020603050405020304" pitchFamily="18" charset="0"/>
              </a:rPr>
              <a:t>Estimating the Regression coefficients</a:t>
            </a:r>
            <a:endParaRPr lang="en-US" sz="3600" dirty="0"/>
          </a:p>
        </p:txBody>
      </p:sp>
      <p:pic>
        <p:nvPicPr>
          <p:cNvPr id="4098" name="Picture 2"/>
          <p:cNvPicPr>
            <a:picLocks noGrp="1" noChangeAspect="1" noChangeArrowheads="1"/>
          </p:cNvPicPr>
          <p:nvPr>
            <p:ph idx="1"/>
          </p:nvPr>
        </p:nvPicPr>
        <p:blipFill>
          <a:blip r:embed="rId2"/>
          <a:srcRect/>
          <a:stretch>
            <a:fillRect/>
          </a:stretch>
        </p:blipFill>
        <p:spPr bwMode="auto">
          <a:xfrm>
            <a:off x="2133600" y="1676401"/>
            <a:ext cx="7543800" cy="4267199"/>
          </a:xfrm>
          <a:prstGeom prst="rect">
            <a:avLst/>
          </a:prstGeom>
          <a:noFill/>
          <a:ln w="9525">
            <a:noFill/>
            <a:miter lim="800000"/>
            <a:headEnd/>
            <a:tailEnd/>
          </a:ln>
          <a:effectLst/>
        </p:spPr>
      </p:pic>
    </p:spTree>
    <p:extLst>
      <p:ext uri="{BB962C8B-B14F-4D97-AF65-F5344CB8AC3E}">
        <p14:creationId xmlns:p14="http://schemas.microsoft.com/office/powerpoint/2010/main" val="313230621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7559" y="357352"/>
            <a:ext cx="10786241" cy="5819611"/>
          </a:xfrm>
        </p:spPr>
        <p:txBody>
          <a:bodyPr>
            <a:normAutofit/>
          </a:bodyPr>
          <a:lstStyle/>
          <a:p>
            <a:pPr algn="just"/>
            <a:r>
              <a:rPr lang="en-US" dirty="0"/>
              <a:t>In linear regression, every dependent value has a single corresponding independent variable that drives its value.</a:t>
            </a:r>
          </a:p>
          <a:p>
            <a:pPr algn="just"/>
            <a:r>
              <a:rPr lang="en-US" dirty="0"/>
              <a:t> For example, in the linear regression formula of y = 3x + 7, there is only one possible outcome of "y" if "x" is defined as 2. Here y is the dependent variable and x is the independent variable.</a:t>
            </a:r>
          </a:p>
          <a:p>
            <a:pPr algn="just"/>
            <a:r>
              <a:rPr lang="en-US" dirty="0"/>
              <a:t>Linear regression is graphically depicted using a straight line.</a:t>
            </a:r>
          </a:p>
          <a:p>
            <a:pPr algn="just"/>
            <a:r>
              <a:rPr lang="en-US" dirty="0"/>
              <a:t>If the relationship between two variables does not follow a straight line, nonlinear regression may be used instead.</a:t>
            </a:r>
          </a:p>
          <a:p>
            <a:pPr algn="just"/>
            <a:r>
              <a:rPr lang="en-US" b="1" dirty="0"/>
              <a:t>Linear regression Goal</a:t>
            </a:r>
            <a:r>
              <a:rPr lang="en-US" dirty="0"/>
              <a:t>: The goal is to find the best-fitting line through the data points that minimizes the sum of the squared differences between the observed values and the values predicted by the line (this is known as the least squares method).</a:t>
            </a:r>
          </a:p>
          <a:p>
            <a:pPr algn="just"/>
            <a:endParaRPr lang="en-IN" dirty="0"/>
          </a:p>
        </p:txBody>
      </p:sp>
    </p:spTree>
    <p:extLst>
      <p:ext uri="{BB962C8B-B14F-4D97-AF65-F5344CB8AC3E}">
        <p14:creationId xmlns:p14="http://schemas.microsoft.com/office/powerpoint/2010/main" val="3985695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US" b="1" dirty="0"/>
              <a:t>Linear Regression Algorithm</a:t>
            </a:r>
            <a:r>
              <a:rPr lang="en-US" dirty="0"/>
              <a:t> involves formulating the model, estimating the parameters using methods like OLS, making predictions, and then evaluating the model.</a:t>
            </a:r>
          </a:p>
          <a:p>
            <a:pPr algn="just"/>
            <a:r>
              <a:rPr lang="en-US" b="1" dirty="0"/>
              <a:t>Evaluation Metrics</a:t>
            </a:r>
            <a:r>
              <a:rPr lang="en-US" dirty="0"/>
              <a:t> such as MAE, MSE, RMSE, R-squared, and Adjusted R-squared are used to measure how well the model performs and to assess the quality of predictions.</a:t>
            </a:r>
            <a:endParaRPr lang="en-IN" dirty="0"/>
          </a:p>
        </p:txBody>
      </p:sp>
    </p:spTree>
    <p:extLst>
      <p:ext uri="{BB962C8B-B14F-4D97-AF65-F5344CB8AC3E}">
        <p14:creationId xmlns:p14="http://schemas.microsoft.com/office/powerpoint/2010/main" val="1430514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54682"/>
          </a:xfrm>
        </p:spPr>
        <p:txBody>
          <a:bodyPr>
            <a:normAutofit fontScale="90000"/>
          </a:bodyPr>
          <a:lstStyle/>
          <a:p>
            <a:r>
              <a:rPr lang="en-US" b="1" dirty="0">
                <a:solidFill>
                  <a:srgbClr val="FF0000"/>
                </a:solidFill>
              </a:rPr>
              <a:t>Estimate the Parameters:</a:t>
            </a:r>
            <a:endParaRPr lang="en-IN" b="1" dirty="0">
              <a:solidFill>
                <a:srgbClr val="FF0000"/>
              </a:solidFill>
            </a:endParaRPr>
          </a:p>
        </p:txBody>
      </p:sp>
      <p:sp>
        <p:nvSpPr>
          <p:cNvPr id="3" name="Content Placeholder 2"/>
          <p:cNvSpPr>
            <a:spLocks noGrp="1"/>
          </p:cNvSpPr>
          <p:nvPr>
            <p:ph idx="1"/>
          </p:nvPr>
        </p:nvSpPr>
        <p:spPr>
          <a:xfrm>
            <a:off x="449317" y="819807"/>
            <a:ext cx="10515600" cy="5864771"/>
          </a:xfrm>
        </p:spPr>
        <p:txBody>
          <a:bodyPr/>
          <a:lstStyle/>
          <a:p>
            <a:pPr algn="just"/>
            <a:r>
              <a:rPr lang="en-US" dirty="0"/>
              <a:t>Determine the values of the coefficients 𝛽 that minimize the difference between the predicted values and the actual values. This is typically done using the Ordinary Least Squares (OLS) method.</a:t>
            </a:r>
          </a:p>
          <a:p>
            <a:pPr algn="just"/>
            <a:r>
              <a:rPr lang="en-US" dirty="0"/>
              <a:t> The OLS method minimizes the sum of squared residuals (the squared differences between observed and predicted values).Mathematically, you can use matrix notation to find the coefficients. </a:t>
            </a:r>
          </a:p>
          <a:p>
            <a:pPr algn="just"/>
            <a:r>
              <a:rPr lang="en-US" dirty="0"/>
              <a:t>The equation for 𝛽 in matrix form is:</a:t>
            </a:r>
            <a:endParaRPr lang="en-IN" dirty="0"/>
          </a:p>
        </p:txBody>
      </p:sp>
      <p:pic>
        <p:nvPicPr>
          <p:cNvPr id="4" name="Picture 3"/>
          <p:cNvPicPr>
            <a:picLocks noChangeAspect="1"/>
          </p:cNvPicPr>
          <p:nvPr/>
        </p:nvPicPr>
        <p:blipFill>
          <a:blip r:embed="rId2"/>
          <a:stretch>
            <a:fillRect/>
          </a:stretch>
        </p:blipFill>
        <p:spPr>
          <a:xfrm>
            <a:off x="2759116" y="4146484"/>
            <a:ext cx="4887007" cy="1692063"/>
          </a:xfrm>
          <a:prstGeom prst="rect">
            <a:avLst/>
          </a:prstGeom>
        </p:spPr>
      </p:pic>
    </p:spTree>
    <p:extLst>
      <p:ext uri="{BB962C8B-B14F-4D97-AF65-F5344CB8AC3E}">
        <p14:creationId xmlns:p14="http://schemas.microsoft.com/office/powerpoint/2010/main" val="3102773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4378"/>
          </a:xfrm>
        </p:spPr>
        <p:txBody>
          <a:bodyPr>
            <a:normAutofit fontScale="90000"/>
          </a:bodyPr>
          <a:lstStyle/>
          <a:p>
            <a:r>
              <a:rPr lang="en-IN" b="1" dirty="0"/>
              <a:t>Predict</a:t>
            </a:r>
            <a:r>
              <a:rPr lang="en-IN" dirty="0"/>
              <a:t>:</a:t>
            </a:r>
          </a:p>
        </p:txBody>
      </p:sp>
      <p:sp>
        <p:nvSpPr>
          <p:cNvPr id="3" name="Content Placeholder 2"/>
          <p:cNvSpPr>
            <a:spLocks noGrp="1"/>
          </p:cNvSpPr>
          <p:nvPr>
            <p:ph idx="1"/>
          </p:nvPr>
        </p:nvSpPr>
        <p:spPr>
          <a:xfrm>
            <a:off x="838200" y="1019504"/>
            <a:ext cx="10515600" cy="4351338"/>
          </a:xfrm>
        </p:spPr>
        <p:txBody>
          <a:bodyPr/>
          <a:lstStyle/>
          <a:p>
            <a:r>
              <a:rPr lang="en-IN" dirty="0"/>
              <a:t>Use the estimated parameters to predict the dependent variable YYY for new data points using the equation:</a:t>
            </a:r>
          </a:p>
          <a:p>
            <a:endParaRPr lang="en-IN" dirty="0"/>
          </a:p>
        </p:txBody>
      </p:sp>
      <p:pic>
        <p:nvPicPr>
          <p:cNvPr id="4" name="Picture 3"/>
          <p:cNvPicPr>
            <a:picLocks noChangeAspect="1"/>
          </p:cNvPicPr>
          <p:nvPr/>
        </p:nvPicPr>
        <p:blipFill>
          <a:blip r:embed="rId2"/>
          <a:stretch>
            <a:fillRect/>
          </a:stretch>
        </p:blipFill>
        <p:spPr>
          <a:xfrm>
            <a:off x="3326331" y="2313562"/>
            <a:ext cx="3820703" cy="1070769"/>
          </a:xfrm>
          <a:prstGeom prst="rect">
            <a:avLst/>
          </a:prstGeom>
        </p:spPr>
      </p:pic>
    </p:spTree>
    <p:extLst>
      <p:ext uri="{BB962C8B-B14F-4D97-AF65-F5344CB8AC3E}">
        <p14:creationId xmlns:p14="http://schemas.microsoft.com/office/powerpoint/2010/main" val="1759438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6255" y="91856"/>
            <a:ext cx="10515600" cy="717441"/>
          </a:xfrm>
        </p:spPr>
        <p:txBody>
          <a:bodyPr>
            <a:normAutofit fontScale="90000"/>
          </a:bodyPr>
          <a:lstStyle/>
          <a:p>
            <a:r>
              <a:rPr lang="en-US" b="1" dirty="0">
                <a:solidFill>
                  <a:srgbClr val="FF0000"/>
                </a:solidFill>
              </a:rPr>
              <a:t>Linear Regression: Evaluation metrics</a:t>
            </a:r>
            <a:r>
              <a:rPr lang="en-US" dirty="0"/>
              <a:t> </a:t>
            </a:r>
            <a:br>
              <a:rPr lang="en-US" dirty="0"/>
            </a:br>
            <a:r>
              <a:rPr lang="en-US" sz="2200" b="1" dirty="0"/>
              <a:t>To evaluate the performance of a linear regression model, you can use several metrics:</a:t>
            </a:r>
            <a:endParaRPr lang="en-IN" sz="2200" b="1" dirty="0">
              <a:solidFill>
                <a:srgbClr val="FF0000"/>
              </a:solidFill>
            </a:endParaRPr>
          </a:p>
        </p:txBody>
      </p:sp>
      <p:pic>
        <p:nvPicPr>
          <p:cNvPr id="4" name="Content Placeholder 3"/>
          <p:cNvPicPr>
            <a:picLocks noGrp="1" noChangeAspect="1"/>
          </p:cNvPicPr>
          <p:nvPr>
            <p:ph idx="1"/>
          </p:nvPr>
        </p:nvPicPr>
        <p:blipFill>
          <a:blip r:embed="rId2"/>
          <a:stretch>
            <a:fillRect/>
          </a:stretch>
        </p:blipFill>
        <p:spPr>
          <a:xfrm>
            <a:off x="86810" y="1049556"/>
            <a:ext cx="6061742" cy="5057324"/>
          </a:xfrm>
          <a:prstGeom prst="rect">
            <a:avLst/>
          </a:prstGeom>
        </p:spPr>
      </p:pic>
      <p:pic>
        <p:nvPicPr>
          <p:cNvPr id="5" name="Picture 4"/>
          <p:cNvPicPr>
            <a:picLocks noChangeAspect="1"/>
          </p:cNvPicPr>
          <p:nvPr/>
        </p:nvPicPr>
        <p:blipFill>
          <a:blip r:embed="rId3"/>
          <a:stretch>
            <a:fillRect/>
          </a:stretch>
        </p:blipFill>
        <p:spPr>
          <a:xfrm>
            <a:off x="6285187" y="1107178"/>
            <a:ext cx="5487166" cy="4942080"/>
          </a:xfrm>
          <a:prstGeom prst="rect">
            <a:avLst/>
          </a:prstGeom>
        </p:spPr>
      </p:pic>
    </p:spTree>
    <p:extLst>
      <p:ext uri="{BB962C8B-B14F-4D97-AF65-F5344CB8AC3E}">
        <p14:creationId xmlns:p14="http://schemas.microsoft.com/office/powerpoint/2010/main" val="38536407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5293"/>
          </a:xfrm>
        </p:spPr>
        <p:txBody>
          <a:bodyPr>
            <a:normAutofit fontScale="90000"/>
          </a:bodyPr>
          <a:lstStyle/>
          <a:p>
            <a:r>
              <a:rPr lang="en-IN" b="1" dirty="0">
                <a:solidFill>
                  <a:srgbClr val="FF0000"/>
                </a:solidFill>
              </a:rPr>
              <a:t>Complete example on Linear Regression</a:t>
            </a:r>
          </a:p>
        </p:txBody>
      </p:sp>
      <p:sp>
        <p:nvSpPr>
          <p:cNvPr id="3" name="Content Placeholder 2"/>
          <p:cNvSpPr>
            <a:spLocks noGrp="1"/>
          </p:cNvSpPr>
          <p:nvPr>
            <p:ph idx="1"/>
          </p:nvPr>
        </p:nvSpPr>
        <p:spPr>
          <a:xfrm>
            <a:off x="748145" y="1070264"/>
            <a:ext cx="10605655" cy="5106699"/>
          </a:xfrm>
        </p:spPr>
        <p:txBody>
          <a:bodyPr>
            <a:normAutofit/>
          </a:bodyPr>
          <a:lstStyle/>
          <a:p>
            <a:r>
              <a:rPr lang="en-US" sz="2400" dirty="0"/>
              <a:t>We will use Python to fit the model, make predictions, and calculate evaluation metrics.</a:t>
            </a:r>
            <a:endParaRPr lang="en-IN" sz="2400" dirty="0"/>
          </a:p>
        </p:txBody>
      </p:sp>
      <p:pic>
        <p:nvPicPr>
          <p:cNvPr id="5" name="Picture 4"/>
          <p:cNvPicPr>
            <a:picLocks noChangeAspect="1"/>
          </p:cNvPicPr>
          <p:nvPr/>
        </p:nvPicPr>
        <p:blipFill>
          <a:blip r:embed="rId2"/>
          <a:stretch>
            <a:fillRect/>
          </a:stretch>
        </p:blipFill>
        <p:spPr>
          <a:xfrm>
            <a:off x="1818411" y="1837027"/>
            <a:ext cx="7513926" cy="4152900"/>
          </a:xfrm>
          <a:prstGeom prst="rect">
            <a:avLst/>
          </a:prstGeom>
        </p:spPr>
      </p:pic>
    </p:spTree>
    <p:extLst>
      <p:ext uri="{BB962C8B-B14F-4D97-AF65-F5344CB8AC3E}">
        <p14:creationId xmlns:p14="http://schemas.microsoft.com/office/powerpoint/2010/main" val="2977082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008" y="0"/>
            <a:ext cx="10986656" cy="549275"/>
          </a:xfrm>
        </p:spPr>
        <p:txBody>
          <a:bodyPr>
            <a:normAutofit/>
          </a:bodyPr>
          <a:lstStyle/>
          <a:p>
            <a:r>
              <a:rPr lang="en-IN" sz="3200" b="1" dirty="0">
                <a:solidFill>
                  <a:srgbClr val="C00000"/>
                </a:solidFill>
              </a:rPr>
              <a:t>Linear Regression program for Hours studied vs score</a:t>
            </a:r>
          </a:p>
        </p:txBody>
      </p:sp>
      <p:pic>
        <p:nvPicPr>
          <p:cNvPr id="5" name="Picture 4"/>
          <p:cNvPicPr>
            <a:picLocks noChangeAspect="1"/>
          </p:cNvPicPr>
          <p:nvPr/>
        </p:nvPicPr>
        <p:blipFill>
          <a:blip r:embed="rId2"/>
          <a:stretch>
            <a:fillRect/>
          </a:stretch>
        </p:blipFill>
        <p:spPr>
          <a:xfrm>
            <a:off x="142009" y="549275"/>
            <a:ext cx="7807036" cy="5895975"/>
          </a:xfrm>
          <a:prstGeom prst="rect">
            <a:avLst/>
          </a:prstGeom>
        </p:spPr>
      </p:pic>
    </p:spTree>
    <p:extLst>
      <p:ext uri="{BB962C8B-B14F-4D97-AF65-F5344CB8AC3E}">
        <p14:creationId xmlns:p14="http://schemas.microsoft.com/office/powerpoint/2010/main" val="1428207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441181" y="296573"/>
            <a:ext cx="8753475" cy="6239309"/>
          </a:xfrm>
          <a:prstGeom prst="rect">
            <a:avLst/>
          </a:prstGeom>
        </p:spPr>
      </p:pic>
    </p:spTree>
    <p:extLst>
      <p:ext uri="{BB962C8B-B14F-4D97-AF65-F5344CB8AC3E}">
        <p14:creationId xmlns:p14="http://schemas.microsoft.com/office/powerpoint/2010/main" val="28514792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546" y="176645"/>
            <a:ext cx="1257299" cy="477983"/>
          </a:xfrm>
        </p:spPr>
        <p:txBody>
          <a:bodyPr>
            <a:normAutofit fontScale="90000"/>
          </a:bodyPr>
          <a:lstStyle/>
          <a:p>
            <a:r>
              <a:rPr lang="en-IN" sz="2800" b="1" dirty="0">
                <a:solidFill>
                  <a:srgbClr val="FF0000"/>
                </a:solidFill>
              </a:rPr>
              <a:t>Output:</a:t>
            </a:r>
          </a:p>
        </p:txBody>
      </p:sp>
      <p:pic>
        <p:nvPicPr>
          <p:cNvPr id="9" name="Picture 8"/>
          <p:cNvPicPr>
            <a:picLocks noChangeAspect="1"/>
          </p:cNvPicPr>
          <p:nvPr/>
        </p:nvPicPr>
        <p:blipFill>
          <a:blip r:embed="rId2"/>
          <a:stretch>
            <a:fillRect/>
          </a:stretch>
        </p:blipFill>
        <p:spPr>
          <a:xfrm>
            <a:off x="1776845" y="280554"/>
            <a:ext cx="8593282" cy="6124575"/>
          </a:xfrm>
          <a:prstGeom prst="rect">
            <a:avLst/>
          </a:prstGeom>
        </p:spPr>
      </p:pic>
    </p:spTree>
    <p:extLst>
      <p:ext uri="{BB962C8B-B14F-4D97-AF65-F5344CB8AC3E}">
        <p14:creationId xmlns:p14="http://schemas.microsoft.com/office/powerpoint/2010/main" val="1827320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27" y="115744"/>
            <a:ext cx="10515600" cy="393410"/>
          </a:xfrm>
        </p:spPr>
        <p:txBody>
          <a:bodyPr>
            <a:normAutofit fontScale="90000"/>
          </a:bodyPr>
          <a:lstStyle/>
          <a:p>
            <a:r>
              <a:rPr lang="en-IN" sz="3600" dirty="0">
                <a:solidFill>
                  <a:srgbClr val="FF0000"/>
                </a:solidFill>
              </a:rPr>
              <a:t>Output explanation for neat understanding purpose</a:t>
            </a:r>
          </a:p>
        </p:txBody>
      </p:sp>
      <p:sp>
        <p:nvSpPr>
          <p:cNvPr id="3" name="Content Placeholder 2"/>
          <p:cNvSpPr>
            <a:spLocks noGrp="1"/>
          </p:cNvSpPr>
          <p:nvPr>
            <p:ph idx="1"/>
          </p:nvPr>
        </p:nvSpPr>
        <p:spPr>
          <a:xfrm>
            <a:off x="238991" y="789709"/>
            <a:ext cx="11114809" cy="5387254"/>
          </a:xfrm>
        </p:spPr>
        <p:txBody>
          <a:bodyPr>
            <a:normAutofit/>
          </a:bodyPr>
          <a:lstStyle/>
          <a:p>
            <a:pPr marL="0" indent="0">
              <a:buNone/>
            </a:pPr>
            <a:r>
              <a:rPr lang="en-US" b="1" dirty="0"/>
              <a:t>1. </a:t>
            </a:r>
            <a:r>
              <a:rPr lang="en-US" b="1" dirty="0">
                <a:solidFill>
                  <a:srgbClr val="C00000"/>
                </a:solidFill>
              </a:rPr>
              <a:t>Mean Absolute Error (MAE): 1.0</a:t>
            </a:r>
          </a:p>
          <a:p>
            <a:pPr lvl="1"/>
            <a:r>
              <a:rPr lang="en-US" b="1" dirty="0"/>
              <a:t>What It Means:</a:t>
            </a:r>
            <a:r>
              <a:rPr lang="en-US" dirty="0"/>
              <a:t> On average, when the model predicts a student's score, it gets the score wrong by about 1 point.</a:t>
            </a:r>
          </a:p>
          <a:p>
            <a:pPr lvl="1"/>
            <a:r>
              <a:rPr lang="en-US" b="1" dirty="0"/>
              <a:t>Imagine This:</a:t>
            </a:r>
            <a:r>
              <a:rPr lang="en-US" dirty="0"/>
              <a:t> If you were guessing the score someone would get based on how much they studied, on average, your guess would be just 1 point off from the actual score. For example, if the real score was 70, you might guess 69 or 71.</a:t>
            </a:r>
          </a:p>
          <a:p>
            <a:pPr marL="0" indent="0">
              <a:buNone/>
            </a:pPr>
            <a:r>
              <a:rPr lang="en-US" b="1" dirty="0"/>
              <a:t>2. </a:t>
            </a:r>
            <a:r>
              <a:rPr lang="en-US" b="1" dirty="0">
                <a:solidFill>
                  <a:srgbClr val="C00000"/>
                </a:solidFill>
              </a:rPr>
              <a:t>Mean Squared Error (MSE): 1.5</a:t>
            </a:r>
          </a:p>
          <a:p>
            <a:pPr lvl="1"/>
            <a:r>
              <a:rPr lang="en-US" b="1" dirty="0"/>
              <a:t>What It Means:</a:t>
            </a:r>
            <a:r>
              <a:rPr lang="en-US" dirty="0"/>
              <a:t> MSE is a bit like MAE but with extra weight on bigger mistakes. If your guess is off by a lot, MSE makes it count more in the average. In this case, the squared error averages out to 1.5.</a:t>
            </a:r>
          </a:p>
          <a:p>
            <a:pPr lvl="1"/>
            <a:r>
              <a:rPr lang="en-US" b="1" dirty="0"/>
              <a:t>Imagine This:</a:t>
            </a:r>
            <a:r>
              <a:rPr lang="en-US" dirty="0"/>
              <a:t> If most of your guesses are pretty close, but occasionally you're a bit further off, MSE makes those bigger mistakes stand out more. Here, even with those bigger mistakes, the average squared difference is still quite low at 1.5, which is good.</a:t>
            </a:r>
          </a:p>
          <a:p>
            <a:endParaRPr lang="en-IN" dirty="0"/>
          </a:p>
        </p:txBody>
      </p:sp>
    </p:spTree>
    <p:extLst>
      <p:ext uri="{BB962C8B-B14F-4D97-AF65-F5344CB8AC3E}">
        <p14:creationId xmlns:p14="http://schemas.microsoft.com/office/powerpoint/2010/main" val="23446605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27257"/>
          </a:xfrm>
        </p:spPr>
        <p:txBody>
          <a:bodyPr/>
          <a:lstStyle/>
          <a:p>
            <a:endParaRPr lang="en-IN"/>
          </a:p>
        </p:txBody>
      </p:sp>
      <p:sp>
        <p:nvSpPr>
          <p:cNvPr id="3" name="Content Placeholder 2"/>
          <p:cNvSpPr>
            <a:spLocks noGrp="1"/>
          </p:cNvSpPr>
          <p:nvPr>
            <p:ph idx="1"/>
          </p:nvPr>
        </p:nvSpPr>
        <p:spPr/>
        <p:txBody>
          <a:bodyPr>
            <a:normAutofit fontScale="92500" lnSpcReduction="10000"/>
          </a:bodyPr>
          <a:lstStyle/>
          <a:p>
            <a:pPr marL="0" indent="0">
              <a:buNone/>
            </a:pPr>
            <a:r>
              <a:rPr lang="en-US" b="1" dirty="0"/>
              <a:t>3. </a:t>
            </a:r>
            <a:r>
              <a:rPr lang="en-US" b="1" dirty="0">
                <a:solidFill>
                  <a:srgbClr val="C00000"/>
                </a:solidFill>
              </a:rPr>
              <a:t>Root Mean Squared Error (RMSE): 1.22</a:t>
            </a:r>
          </a:p>
          <a:p>
            <a:pPr lvl="1"/>
            <a:r>
              <a:rPr lang="en-US" b="1" dirty="0"/>
              <a:t>What It Means:</a:t>
            </a:r>
            <a:r>
              <a:rPr lang="en-US" dirty="0"/>
              <a:t> RMSE is just a fancy way to say that, on average, your predictions are about 1.22 points off from the real scores. It's similar to MAE but takes those bigger mistakes into account more strongly.</a:t>
            </a:r>
          </a:p>
          <a:p>
            <a:pPr lvl="1"/>
            <a:r>
              <a:rPr lang="en-US" b="1" dirty="0"/>
              <a:t>Imagine This:</a:t>
            </a:r>
            <a:r>
              <a:rPr lang="en-US" dirty="0"/>
              <a:t> When you guess scores, you’re a little over 1 point off from the actual scores most of the time, which is pretty accurate.</a:t>
            </a:r>
          </a:p>
          <a:p>
            <a:pPr marL="0" indent="0">
              <a:buNone/>
            </a:pPr>
            <a:r>
              <a:rPr lang="en-US" b="1" dirty="0"/>
              <a:t>4. </a:t>
            </a:r>
            <a:r>
              <a:rPr lang="en-US" b="1" dirty="0">
                <a:solidFill>
                  <a:srgbClr val="C00000"/>
                </a:solidFill>
              </a:rPr>
              <a:t>R-squared (R²): 0.99</a:t>
            </a:r>
          </a:p>
          <a:p>
            <a:pPr lvl="1"/>
            <a:r>
              <a:rPr lang="en-US" b="1" dirty="0"/>
              <a:t>What It Means:</a:t>
            </a:r>
            <a:r>
              <a:rPr lang="en-US" dirty="0"/>
              <a:t> R-squared tells us how well the number of hours studied explains the scores. An R-squared of 0.99 means that 99% of the differences in scores are explained by how many hours the students studied.</a:t>
            </a:r>
          </a:p>
          <a:p>
            <a:pPr lvl="1"/>
            <a:r>
              <a:rPr lang="en-US" b="1" dirty="0"/>
              <a:t>Imagine This:</a:t>
            </a:r>
            <a:r>
              <a:rPr lang="en-US" dirty="0"/>
              <a:t> If you know how much someone studied, you can be 99% confident that you can predict their score accurately. It's like saying, "I almost completely understand how studying affects scores."</a:t>
            </a:r>
          </a:p>
          <a:p>
            <a:endParaRPr lang="en-IN" dirty="0"/>
          </a:p>
        </p:txBody>
      </p:sp>
    </p:spTree>
    <p:extLst>
      <p:ext uri="{BB962C8B-B14F-4D97-AF65-F5344CB8AC3E}">
        <p14:creationId xmlns:p14="http://schemas.microsoft.com/office/powerpoint/2010/main" val="42815453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3736" y="755361"/>
            <a:ext cx="10515600" cy="4351338"/>
          </a:xfrm>
        </p:spPr>
        <p:txBody>
          <a:bodyPr>
            <a:normAutofit fontScale="92500" lnSpcReduction="20000"/>
          </a:bodyPr>
          <a:lstStyle/>
          <a:p>
            <a:pPr marL="0" indent="0">
              <a:buNone/>
            </a:pPr>
            <a:r>
              <a:rPr lang="en-US" b="1" dirty="0">
                <a:solidFill>
                  <a:srgbClr val="C00000"/>
                </a:solidFill>
              </a:rPr>
              <a:t>5.Adjusted R-squared</a:t>
            </a:r>
          </a:p>
          <a:p>
            <a:pPr algn="just"/>
            <a:r>
              <a:rPr lang="en-US" b="1" dirty="0"/>
              <a:t>What It Means:</a:t>
            </a:r>
            <a:r>
              <a:rPr lang="en-US" dirty="0"/>
              <a:t> Adjusted R-squared tells us how well the model explains the variation in the scores, but it also takes into account the number of predictors used in the model. This adjustment ensures that only useful predictors are considered when determining how well the model fits the data.</a:t>
            </a:r>
          </a:p>
          <a:p>
            <a:pPr algn="just"/>
            <a:r>
              <a:rPr lang="en-US" b="1" dirty="0"/>
              <a:t>Imagine This:</a:t>
            </a:r>
            <a:r>
              <a:rPr lang="en-US" dirty="0"/>
              <a:t> If you were guessing someone’s test score based on how long they studied, Adjusted R-squared would help you see if your guesses are accurate because of the study time or just by chance. It’s like making sure you're not just adding more guesses (predictors) to seem smart—only the ones that actually help should count. In this case, with just one predictor (hours studied), the Adjusted R-squared shows that your model is still highly effective, explaining about 98.75% of the score differences.</a:t>
            </a:r>
          </a:p>
          <a:p>
            <a:endParaRPr lang="en-IN" dirty="0"/>
          </a:p>
        </p:txBody>
      </p:sp>
    </p:spTree>
    <p:extLst>
      <p:ext uri="{BB962C8B-B14F-4D97-AF65-F5344CB8AC3E}">
        <p14:creationId xmlns:p14="http://schemas.microsoft.com/office/powerpoint/2010/main" val="21617346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417" y="188479"/>
            <a:ext cx="10515600" cy="434975"/>
          </a:xfrm>
        </p:spPr>
        <p:txBody>
          <a:bodyPr>
            <a:normAutofit fontScale="90000"/>
          </a:bodyPr>
          <a:lstStyle/>
          <a:p>
            <a:r>
              <a:rPr lang="en-US" sz="3600" b="1" dirty="0">
                <a:solidFill>
                  <a:srgbClr val="C00000"/>
                </a:solidFill>
              </a:rPr>
              <a:t>Summary Table of Evaluation Metrics for given example</a:t>
            </a:r>
            <a:endParaRPr lang="en-IN" sz="3600" b="1" dirty="0">
              <a:solidFill>
                <a:srgbClr val="C00000"/>
              </a:solidFill>
            </a:endParaRPr>
          </a:p>
        </p:txBody>
      </p:sp>
      <p:pic>
        <p:nvPicPr>
          <p:cNvPr id="4" name="Content Placeholder 3"/>
          <p:cNvPicPr>
            <a:picLocks noGrp="1" noChangeAspect="1"/>
          </p:cNvPicPr>
          <p:nvPr>
            <p:ph idx="1"/>
          </p:nvPr>
        </p:nvPicPr>
        <p:blipFill>
          <a:blip r:embed="rId2"/>
          <a:stretch>
            <a:fillRect/>
          </a:stretch>
        </p:blipFill>
        <p:spPr>
          <a:xfrm>
            <a:off x="1308821" y="920823"/>
            <a:ext cx="8276792" cy="5012386"/>
          </a:xfrm>
          <a:prstGeom prst="rect">
            <a:avLst/>
          </a:prstGeom>
        </p:spPr>
      </p:pic>
    </p:spTree>
    <p:extLst>
      <p:ext uri="{BB962C8B-B14F-4D97-AF65-F5344CB8AC3E}">
        <p14:creationId xmlns:p14="http://schemas.microsoft.com/office/powerpoint/2010/main" val="20695331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96723"/>
          </a:xfrm>
        </p:spPr>
        <p:txBody>
          <a:bodyPr>
            <a:normAutofit fontScale="90000"/>
          </a:bodyPr>
          <a:lstStyle/>
          <a:p>
            <a:r>
              <a:rPr lang="en-US" b="1" dirty="0">
                <a:solidFill>
                  <a:srgbClr val="7030A0"/>
                </a:solidFill>
              </a:rPr>
              <a:t/>
            </a:r>
            <a:br>
              <a:rPr lang="en-US" b="1" dirty="0">
                <a:solidFill>
                  <a:srgbClr val="7030A0"/>
                </a:solidFill>
              </a:rPr>
            </a:br>
            <a:r>
              <a:rPr lang="en-US" b="1" dirty="0">
                <a:solidFill>
                  <a:srgbClr val="7030A0"/>
                </a:solidFill>
              </a:rPr>
              <a:t>Multiple Regression or Multivariate Regression</a:t>
            </a:r>
            <a:r>
              <a:rPr lang="en-US" dirty="0"/>
              <a:t/>
            </a:r>
            <a:br>
              <a:rPr lang="en-US" dirty="0"/>
            </a:br>
            <a:endParaRPr lang="en-IN" dirty="0"/>
          </a:p>
        </p:txBody>
      </p:sp>
      <p:sp>
        <p:nvSpPr>
          <p:cNvPr id="3" name="Content Placeholder 2"/>
          <p:cNvSpPr>
            <a:spLocks noGrp="1"/>
          </p:cNvSpPr>
          <p:nvPr>
            <p:ph idx="1"/>
          </p:nvPr>
        </p:nvSpPr>
        <p:spPr>
          <a:xfrm>
            <a:off x="596462" y="1152962"/>
            <a:ext cx="10515600" cy="5174265"/>
          </a:xfrm>
        </p:spPr>
        <p:txBody>
          <a:bodyPr>
            <a:normAutofit fontScale="92500" lnSpcReduction="10000"/>
          </a:bodyPr>
          <a:lstStyle/>
          <a:p>
            <a:pPr algn="just"/>
            <a:r>
              <a:rPr lang="en-US" dirty="0"/>
              <a:t>For complex connections between data, the relationship might be explained by more than one variable. In this case, an analyst uses multiple regression. </a:t>
            </a:r>
          </a:p>
          <a:p>
            <a:pPr algn="just"/>
            <a:r>
              <a:rPr lang="en-US" dirty="0"/>
              <a:t>Multivariate Regression (often called Multiple Regression) is an extension of linear regression that involves multiple independent variables.</a:t>
            </a:r>
          </a:p>
          <a:p>
            <a:pPr algn="just"/>
            <a:r>
              <a:rPr lang="en-US" dirty="0"/>
              <a:t> It models the relationship between one dependent variable and several independent variables. The general form of the equation is:</a:t>
            </a:r>
          </a:p>
          <a:p>
            <a:pPr marL="0" indent="0" algn="just">
              <a:buNone/>
            </a:pPr>
            <a:r>
              <a:rPr lang="en-US" dirty="0"/>
              <a:t>There are two main uses for multiple regression analysis. </a:t>
            </a:r>
          </a:p>
          <a:p>
            <a:pPr lvl="1" algn="just"/>
            <a:r>
              <a:rPr lang="en-US" b="1" dirty="0"/>
              <a:t>The first is </a:t>
            </a:r>
            <a:r>
              <a:rPr lang="en-US" dirty="0">
                <a:solidFill>
                  <a:srgbClr val="FF0000"/>
                </a:solidFill>
              </a:rPr>
              <a:t>to</a:t>
            </a:r>
            <a:r>
              <a:rPr lang="en-US" dirty="0"/>
              <a:t> </a:t>
            </a:r>
            <a:r>
              <a:rPr lang="en-US" dirty="0">
                <a:solidFill>
                  <a:srgbClr val="FF0000"/>
                </a:solidFill>
              </a:rPr>
              <a:t>determine the dependent variable based on multiple independent variables</a:t>
            </a:r>
            <a:r>
              <a:rPr lang="en-US" dirty="0"/>
              <a:t>. </a:t>
            </a:r>
            <a:r>
              <a:rPr lang="en-US" b="1" dirty="0"/>
              <a:t>For example, </a:t>
            </a:r>
            <a:r>
              <a:rPr lang="en-US" dirty="0"/>
              <a:t>you may be interested in determining what a crop yield will be based on temperature, rainfall, and other independent variables. </a:t>
            </a:r>
          </a:p>
          <a:p>
            <a:pPr lvl="1" algn="just"/>
            <a:r>
              <a:rPr lang="en-US" b="1" dirty="0"/>
              <a:t>The second is </a:t>
            </a:r>
            <a:r>
              <a:rPr lang="en-US" dirty="0">
                <a:solidFill>
                  <a:srgbClr val="FF0000"/>
                </a:solidFill>
              </a:rPr>
              <a:t>to determine how strong the relationship is between each variable</a:t>
            </a:r>
            <a:r>
              <a:rPr lang="en-US" dirty="0"/>
              <a:t>. </a:t>
            </a:r>
            <a:r>
              <a:rPr lang="en-US" b="1" dirty="0"/>
              <a:t>For example</a:t>
            </a:r>
            <a:r>
              <a:rPr lang="en-US" dirty="0"/>
              <a:t>, you may be interested in knowing how a crop yield will change if rainfall increases—or the temperature decreases.</a:t>
            </a:r>
            <a:endParaRPr lang="en-IN" dirty="0"/>
          </a:p>
        </p:txBody>
      </p:sp>
    </p:spTree>
    <p:extLst>
      <p:ext uri="{BB962C8B-B14F-4D97-AF65-F5344CB8AC3E}">
        <p14:creationId xmlns:p14="http://schemas.microsoft.com/office/powerpoint/2010/main" val="26683235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274992" y="1336773"/>
            <a:ext cx="5353797" cy="2133898"/>
          </a:xfrm>
          <a:prstGeom prst="rect">
            <a:avLst/>
          </a:prstGeom>
        </p:spPr>
      </p:pic>
      <p:sp>
        <p:nvSpPr>
          <p:cNvPr id="5" name="Rectangle 4"/>
          <p:cNvSpPr/>
          <p:nvPr/>
        </p:nvSpPr>
        <p:spPr>
          <a:xfrm>
            <a:off x="809297" y="402933"/>
            <a:ext cx="8008882" cy="646331"/>
          </a:xfrm>
          <a:prstGeom prst="rect">
            <a:avLst/>
          </a:prstGeom>
        </p:spPr>
        <p:txBody>
          <a:bodyPr wrap="square">
            <a:spAutoFit/>
          </a:bodyPr>
          <a:lstStyle/>
          <a:p>
            <a:r>
              <a:rPr lang="en-US" dirty="0">
                <a:solidFill>
                  <a:prstClr val="black"/>
                </a:solidFill>
              </a:rPr>
              <a:t>Multiple Regression models the relationship between one dependent variable and several independent variables. The general form of the equation is:</a:t>
            </a:r>
            <a:endParaRPr lang="en-IN" dirty="0">
              <a:solidFill>
                <a:prstClr val="black"/>
              </a:solidFill>
            </a:endParaRPr>
          </a:p>
        </p:txBody>
      </p:sp>
      <p:sp>
        <p:nvSpPr>
          <p:cNvPr id="6" name="Rectangle 5"/>
          <p:cNvSpPr/>
          <p:nvPr/>
        </p:nvSpPr>
        <p:spPr>
          <a:xfrm>
            <a:off x="1166648" y="3758180"/>
            <a:ext cx="10110951" cy="1200329"/>
          </a:xfrm>
          <a:prstGeom prst="rect">
            <a:avLst/>
          </a:prstGeom>
        </p:spPr>
        <p:txBody>
          <a:bodyPr wrap="square">
            <a:spAutoFit/>
          </a:bodyPr>
          <a:lstStyle/>
          <a:p>
            <a:pPr algn="just"/>
            <a:r>
              <a:rPr lang="en-US" b="1" dirty="0">
                <a:solidFill>
                  <a:srgbClr val="FF0000"/>
                </a:solidFill>
              </a:rPr>
              <a:t>Goal: </a:t>
            </a:r>
            <a:r>
              <a:rPr lang="en-US" dirty="0">
                <a:solidFill>
                  <a:prstClr val="black"/>
                </a:solidFill>
              </a:rPr>
              <a:t>The aim is to determine the relationship between the dependent variable and the multiple independent variables, and to predict the dependent variable based on the values of the independent variables. The model seeks to find the best-fitting </a:t>
            </a:r>
            <a:r>
              <a:rPr lang="en-US" dirty="0" err="1">
                <a:solidFill>
                  <a:prstClr val="black"/>
                </a:solidFill>
              </a:rPr>
              <a:t>hyperplane</a:t>
            </a:r>
            <a:r>
              <a:rPr lang="en-US" dirty="0">
                <a:solidFill>
                  <a:prstClr val="black"/>
                </a:solidFill>
              </a:rPr>
              <a:t> (in a multidimensional space) that minimizes the sum of the squared differences between the observed and predicted values.</a:t>
            </a:r>
            <a:endParaRPr lang="en-IN" dirty="0">
              <a:solidFill>
                <a:prstClr val="black"/>
              </a:solidFill>
            </a:endParaRPr>
          </a:p>
        </p:txBody>
      </p:sp>
      <p:sp>
        <p:nvSpPr>
          <p:cNvPr id="7" name="Rectangle 6"/>
          <p:cNvSpPr/>
          <p:nvPr/>
        </p:nvSpPr>
        <p:spPr>
          <a:xfrm>
            <a:off x="2774731" y="5160579"/>
            <a:ext cx="8650014" cy="923330"/>
          </a:xfrm>
          <a:prstGeom prst="rect">
            <a:avLst/>
          </a:prstGeom>
        </p:spPr>
        <p:txBody>
          <a:bodyPr wrap="square">
            <a:spAutoFit/>
          </a:bodyPr>
          <a:lstStyle/>
          <a:p>
            <a:r>
              <a:rPr lang="en-US" b="1" dirty="0">
                <a:solidFill>
                  <a:srgbClr val="FF0000"/>
                </a:solidFill>
              </a:rPr>
              <a:t>In summary: </a:t>
            </a:r>
          </a:p>
          <a:p>
            <a:pPr marL="285750" indent="-285750">
              <a:buFont typeface="Arial" panose="020B0604020202020204" pitchFamily="34" charset="0"/>
              <a:buChar char="•"/>
            </a:pPr>
            <a:r>
              <a:rPr lang="en-US" b="1" dirty="0">
                <a:solidFill>
                  <a:prstClr val="black"/>
                </a:solidFill>
              </a:rPr>
              <a:t>Linear Regression typically refers to simple linear regression (one predictor).</a:t>
            </a:r>
          </a:p>
          <a:p>
            <a:pPr marL="285750" indent="-285750">
              <a:buFont typeface="Arial" panose="020B0604020202020204" pitchFamily="34" charset="0"/>
              <a:buChar char="•"/>
            </a:pPr>
            <a:r>
              <a:rPr lang="en-US" b="1" dirty="0">
                <a:solidFill>
                  <a:prstClr val="black"/>
                </a:solidFill>
              </a:rPr>
              <a:t>Multivariate Regression refers to multiple regression (more than one predictor).</a:t>
            </a:r>
            <a:endParaRPr lang="en-IN" b="1" dirty="0">
              <a:solidFill>
                <a:prstClr val="black"/>
              </a:solidFill>
            </a:endParaRPr>
          </a:p>
        </p:txBody>
      </p:sp>
    </p:spTree>
    <p:extLst>
      <p:ext uri="{BB962C8B-B14F-4D97-AF65-F5344CB8AC3E}">
        <p14:creationId xmlns:p14="http://schemas.microsoft.com/office/powerpoint/2010/main" val="28995312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172" y="154919"/>
            <a:ext cx="10376338" cy="528254"/>
          </a:xfrm>
        </p:spPr>
        <p:txBody>
          <a:bodyPr>
            <a:normAutofit fontScale="90000"/>
          </a:bodyPr>
          <a:lstStyle/>
          <a:p>
            <a:r>
              <a:rPr lang="en-US" b="1" dirty="0">
                <a:solidFill>
                  <a:srgbClr val="FF0000"/>
                </a:solidFill>
              </a:rPr>
              <a:t>Linear Regression </a:t>
            </a:r>
            <a:r>
              <a:rPr lang="en-US" b="1" dirty="0" err="1">
                <a:solidFill>
                  <a:srgbClr val="FF0000"/>
                </a:solidFill>
              </a:rPr>
              <a:t>Vs</a:t>
            </a:r>
            <a:r>
              <a:rPr lang="en-US" b="1" dirty="0">
                <a:solidFill>
                  <a:srgbClr val="FF0000"/>
                </a:solidFill>
              </a:rPr>
              <a:t> Multiple Linear Regression</a:t>
            </a:r>
            <a:endParaRPr lang="en-IN" b="1" dirty="0">
              <a:solidFill>
                <a:srgbClr val="FF0000"/>
              </a:solidFill>
            </a:endParaRPr>
          </a:p>
        </p:txBody>
      </p:sp>
      <p:pic>
        <p:nvPicPr>
          <p:cNvPr id="4" name="Content Placeholder 3"/>
          <p:cNvPicPr>
            <a:picLocks noGrp="1" noChangeAspect="1"/>
          </p:cNvPicPr>
          <p:nvPr>
            <p:ph idx="1"/>
          </p:nvPr>
        </p:nvPicPr>
        <p:blipFill>
          <a:blip r:embed="rId2"/>
          <a:stretch>
            <a:fillRect/>
          </a:stretch>
        </p:blipFill>
        <p:spPr>
          <a:xfrm>
            <a:off x="1127233" y="921735"/>
            <a:ext cx="9932277" cy="5636720"/>
          </a:xfrm>
          <a:prstGeom prst="rect">
            <a:avLst/>
          </a:prstGeom>
        </p:spPr>
      </p:pic>
    </p:spTree>
    <p:extLst>
      <p:ext uri="{BB962C8B-B14F-4D97-AF65-F5344CB8AC3E}">
        <p14:creationId xmlns:p14="http://schemas.microsoft.com/office/powerpoint/2010/main" val="26122621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Multiple linear regression and simple linear regression both fall under the umbrella of linear regression models, and they share common evaluation metrics because the underlying principles of assessing model performance are similar.</a:t>
            </a:r>
          </a:p>
        </p:txBody>
      </p:sp>
    </p:spTree>
    <p:extLst>
      <p:ext uri="{BB962C8B-B14F-4D97-AF65-F5344CB8AC3E}">
        <p14:creationId xmlns:p14="http://schemas.microsoft.com/office/powerpoint/2010/main" val="12796577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2455" y="252248"/>
            <a:ext cx="10891345" cy="6264165"/>
          </a:xfrm>
        </p:spPr>
        <p:txBody>
          <a:bodyPr>
            <a:normAutofit fontScale="92500" lnSpcReduction="20000"/>
          </a:bodyPr>
          <a:lstStyle/>
          <a:p>
            <a:pPr marL="0" indent="0">
              <a:buNone/>
            </a:pPr>
            <a:r>
              <a:rPr lang="en-US" b="1" i="0" dirty="0">
                <a:solidFill>
                  <a:srgbClr val="FF0000"/>
                </a:solidFill>
                <a:effectLst/>
                <a:latin typeface="Cabin-semi-bold"/>
              </a:rPr>
              <a:t>Is Multiple Linear Regression Better Than Simple Linear Regression?</a:t>
            </a:r>
          </a:p>
          <a:p>
            <a:r>
              <a:rPr lang="en-US" dirty="0"/>
              <a:t>Multiple linear regression is a more specific calculation than simple linear regression. </a:t>
            </a:r>
          </a:p>
          <a:p>
            <a:r>
              <a:rPr lang="en-US" dirty="0"/>
              <a:t>For straight-forward relationships, simple linear regression may easily capture the relationship between the two variables. </a:t>
            </a:r>
          </a:p>
          <a:p>
            <a:r>
              <a:rPr lang="en-US" dirty="0"/>
              <a:t>For more complex relationships requiring more consideration, multiple linear regression is often better.</a:t>
            </a:r>
          </a:p>
          <a:p>
            <a:pPr marL="0" indent="0">
              <a:buNone/>
            </a:pPr>
            <a:r>
              <a:rPr lang="en-US" b="1" dirty="0">
                <a:solidFill>
                  <a:srgbClr val="FF0000"/>
                </a:solidFill>
              </a:rPr>
              <a:t>When Should You Use Multiple Linear Regression?</a:t>
            </a:r>
          </a:p>
          <a:p>
            <a:r>
              <a:rPr lang="en-US" dirty="0"/>
              <a:t>Multiple linear regression should be used when multiple independent variables determine the outcome of a single dependent variable. This is often the case when forecasting more complex relationships.</a:t>
            </a:r>
          </a:p>
          <a:p>
            <a:pPr marL="0" indent="0">
              <a:buNone/>
            </a:pPr>
            <a:endParaRPr lang="en-US" dirty="0"/>
          </a:p>
          <a:p>
            <a:pPr marL="0" indent="0">
              <a:buNone/>
            </a:pPr>
            <a:r>
              <a:rPr lang="en-US" b="1" dirty="0">
                <a:solidFill>
                  <a:srgbClr val="FF0000"/>
                </a:solidFill>
              </a:rPr>
              <a:t>How Do You Interpret Multiple Regression?</a:t>
            </a:r>
          </a:p>
          <a:p>
            <a:r>
              <a:rPr lang="en-US" dirty="0"/>
              <a:t>A multiple regression formula has multiple slopes (one for each variable) and one y-intercept. It is interpreted the same as a simple linear regression formula—except there are multiple variables that all impact the slope of the relationship.</a:t>
            </a:r>
          </a:p>
          <a:p>
            <a:endParaRPr lang="en-IN" dirty="0"/>
          </a:p>
        </p:txBody>
      </p:sp>
    </p:spTree>
    <p:extLst>
      <p:ext uri="{BB962C8B-B14F-4D97-AF65-F5344CB8AC3E}">
        <p14:creationId xmlns:p14="http://schemas.microsoft.com/office/powerpoint/2010/main" val="25327047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The Bottom Line</a:t>
            </a:r>
            <a:r>
              <a:rPr lang="en-US" dirty="0"/>
              <a:t/>
            </a:r>
            <a:br>
              <a:rPr lang="en-US" dirty="0"/>
            </a:br>
            <a:endParaRPr lang="en-IN" dirty="0"/>
          </a:p>
        </p:txBody>
      </p:sp>
      <p:sp>
        <p:nvSpPr>
          <p:cNvPr id="3" name="Content Placeholder 2"/>
          <p:cNvSpPr>
            <a:spLocks noGrp="1"/>
          </p:cNvSpPr>
          <p:nvPr>
            <p:ph idx="1"/>
          </p:nvPr>
        </p:nvSpPr>
        <p:spPr>
          <a:xfrm>
            <a:off x="838200" y="1145628"/>
            <a:ext cx="10515600" cy="5031335"/>
          </a:xfrm>
        </p:spPr>
        <p:txBody>
          <a:bodyPr>
            <a:normAutofit/>
          </a:bodyPr>
          <a:lstStyle/>
          <a:p>
            <a:pPr algn="just"/>
            <a:r>
              <a:rPr lang="en-US" sz="2400" dirty="0">
                <a:latin typeface="Times New Roman" panose="02020603050405020304" pitchFamily="18" charset="0"/>
                <a:cs typeface="Times New Roman" panose="02020603050405020304" pitchFamily="18" charset="0"/>
              </a:rPr>
              <a:t>Regression analysis is a statistical method. There are many different types of regression analysis, including linear regression and multiple regression (among others). </a:t>
            </a:r>
          </a:p>
          <a:p>
            <a:pPr algn="just"/>
            <a:r>
              <a:rPr lang="en-US" sz="2400" dirty="0">
                <a:latin typeface="Times New Roman" panose="02020603050405020304" pitchFamily="18" charset="0"/>
                <a:cs typeface="Times New Roman" panose="02020603050405020304" pitchFamily="18" charset="0"/>
              </a:rPr>
              <a:t>Linear regression captures the relationship between two variables—for example, the relationship between the daily change in a company's stock prices and the daily change in trading volume.</a:t>
            </a:r>
          </a:p>
          <a:p>
            <a:pPr algn="just"/>
            <a:r>
              <a:rPr lang="en-US" sz="2400" dirty="0">
                <a:latin typeface="Times New Roman" panose="02020603050405020304" pitchFamily="18" charset="0"/>
                <a:cs typeface="Times New Roman" panose="02020603050405020304" pitchFamily="18" charset="0"/>
              </a:rPr>
              <a:t> Multiple linear regression is a more specific (and complex) calculation than simple linear regression. It incorporates multiple independent variables. For example, multiple regression could capture how the daily change in a company's stock price is impacted by the company's P/E ratio, dividends, the prevailing inflation rate, and the daily change in trading volume.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97225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2793"/>
          </a:xfrm>
        </p:spPr>
        <p:txBody>
          <a:bodyPr>
            <a:normAutofit/>
          </a:bodyPr>
          <a:lstStyle/>
          <a:p>
            <a:r>
              <a:rPr lang="en-IN" sz="3200" b="1" dirty="0">
                <a:solidFill>
                  <a:srgbClr val="C00000"/>
                </a:solidFill>
              </a:rPr>
              <a:t>Example on Multiple Linear Regression: </a:t>
            </a:r>
            <a:r>
              <a:rPr lang="en-IN" sz="3200" b="1" dirty="0"/>
              <a:t>House price prediction</a:t>
            </a:r>
          </a:p>
        </p:txBody>
      </p:sp>
      <p:sp>
        <p:nvSpPr>
          <p:cNvPr id="3" name="Content Placeholder 2"/>
          <p:cNvSpPr>
            <a:spLocks noGrp="1"/>
          </p:cNvSpPr>
          <p:nvPr>
            <p:ph idx="1"/>
          </p:nvPr>
        </p:nvSpPr>
        <p:spPr/>
        <p:txBody>
          <a:bodyPr/>
          <a:lstStyle/>
          <a:p>
            <a:pPr marL="0" indent="0">
              <a:buNone/>
            </a:pPr>
            <a:r>
              <a:rPr lang="en-US" dirty="0"/>
              <a:t>Let's go through example of multiple linear regression. we'll predict the </a:t>
            </a:r>
            <a:r>
              <a:rPr lang="en-US" b="1" dirty="0"/>
              <a:t>house price</a:t>
            </a:r>
            <a:r>
              <a:rPr lang="en-US" dirty="0"/>
              <a:t> based on three factors:</a:t>
            </a:r>
          </a:p>
          <a:p>
            <a:r>
              <a:rPr lang="en-US" b="1" dirty="0"/>
              <a:t>Size of the house (in square feet)</a:t>
            </a:r>
            <a:endParaRPr lang="en-US" dirty="0"/>
          </a:p>
          <a:p>
            <a:r>
              <a:rPr lang="en-US" b="1" dirty="0"/>
              <a:t>Number of bedrooms</a:t>
            </a:r>
            <a:endParaRPr lang="en-US" dirty="0"/>
          </a:p>
          <a:p>
            <a:r>
              <a:rPr lang="en-US" b="1" dirty="0"/>
              <a:t>Age of the house (in years)</a:t>
            </a:r>
            <a:endParaRPr lang="en-US" dirty="0"/>
          </a:p>
          <a:p>
            <a:endParaRPr lang="en-IN" dirty="0"/>
          </a:p>
        </p:txBody>
      </p:sp>
    </p:spTree>
    <p:extLst>
      <p:ext uri="{BB962C8B-B14F-4D97-AF65-F5344CB8AC3E}">
        <p14:creationId xmlns:p14="http://schemas.microsoft.com/office/powerpoint/2010/main" val="14354867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654" y="167699"/>
            <a:ext cx="10515600" cy="403802"/>
          </a:xfrm>
        </p:spPr>
        <p:txBody>
          <a:bodyPr>
            <a:noAutofit/>
          </a:bodyPr>
          <a:lstStyle/>
          <a:p>
            <a:r>
              <a:rPr lang="en-IN" sz="2400" b="1" dirty="0">
                <a:solidFill>
                  <a:srgbClr val="C00000"/>
                </a:solidFill>
              </a:rPr>
              <a:t>Example on Multiple Linear Regression: </a:t>
            </a:r>
            <a:r>
              <a:rPr lang="en-IN" sz="2400" b="1" dirty="0"/>
              <a:t>House price prediction</a:t>
            </a:r>
            <a:endParaRPr lang="en-IN" sz="2400" dirty="0"/>
          </a:p>
        </p:txBody>
      </p:sp>
      <p:pic>
        <p:nvPicPr>
          <p:cNvPr id="4" name="Content Placeholder 3"/>
          <p:cNvPicPr>
            <a:picLocks noGrp="1" noChangeAspect="1"/>
          </p:cNvPicPr>
          <p:nvPr>
            <p:ph idx="1"/>
          </p:nvPr>
        </p:nvPicPr>
        <p:blipFill>
          <a:blip r:embed="rId2"/>
          <a:stretch>
            <a:fillRect/>
          </a:stretch>
        </p:blipFill>
        <p:spPr>
          <a:xfrm>
            <a:off x="1523432" y="724188"/>
            <a:ext cx="8701222" cy="5572703"/>
          </a:xfrm>
          <a:prstGeom prst="rect">
            <a:avLst/>
          </a:prstGeom>
        </p:spPr>
      </p:pic>
    </p:spTree>
    <p:extLst>
      <p:ext uri="{BB962C8B-B14F-4D97-AF65-F5344CB8AC3E}">
        <p14:creationId xmlns:p14="http://schemas.microsoft.com/office/powerpoint/2010/main" val="28127910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61815" y="173471"/>
            <a:ext cx="9035476" cy="6196156"/>
          </a:xfrm>
          <a:prstGeom prst="rect">
            <a:avLst/>
          </a:prstGeom>
        </p:spPr>
      </p:pic>
    </p:spTree>
    <p:extLst>
      <p:ext uri="{BB962C8B-B14F-4D97-AF65-F5344CB8AC3E}">
        <p14:creationId xmlns:p14="http://schemas.microsoft.com/office/powerpoint/2010/main" val="20468254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28" y="275359"/>
            <a:ext cx="1676400" cy="455757"/>
          </a:xfrm>
        </p:spPr>
        <p:txBody>
          <a:bodyPr>
            <a:noAutofit/>
          </a:bodyPr>
          <a:lstStyle/>
          <a:p>
            <a:r>
              <a:rPr lang="en-US" sz="3600" b="1" dirty="0"/>
              <a:t>Output:</a:t>
            </a:r>
          </a:p>
        </p:txBody>
      </p:sp>
      <p:pic>
        <p:nvPicPr>
          <p:cNvPr id="6" name="Picture 5"/>
          <p:cNvPicPr>
            <a:picLocks noChangeAspect="1"/>
          </p:cNvPicPr>
          <p:nvPr/>
        </p:nvPicPr>
        <p:blipFill>
          <a:blip r:embed="rId2"/>
          <a:stretch>
            <a:fillRect/>
          </a:stretch>
        </p:blipFill>
        <p:spPr>
          <a:xfrm>
            <a:off x="2782165" y="275359"/>
            <a:ext cx="7723043" cy="6286500"/>
          </a:xfrm>
          <a:prstGeom prst="rect">
            <a:avLst/>
          </a:prstGeom>
        </p:spPr>
      </p:pic>
    </p:spTree>
    <p:extLst>
      <p:ext uri="{BB962C8B-B14F-4D97-AF65-F5344CB8AC3E}">
        <p14:creationId xmlns:p14="http://schemas.microsoft.com/office/powerpoint/2010/main" val="2145188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009" y="94963"/>
            <a:ext cx="10515600" cy="497320"/>
          </a:xfrm>
        </p:spPr>
        <p:txBody>
          <a:bodyPr>
            <a:normAutofit fontScale="90000"/>
          </a:bodyPr>
          <a:lstStyle/>
          <a:p>
            <a:r>
              <a:rPr lang="en-US" dirty="0"/>
              <a:t>Explanation</a:t>
            </a:r>
          </a:p>
        </p:txBody>
      </p:sp>
      <p:pic>
        <p:nvPicPr>
          <p:cNvPr id="9" name="Content Placeholder 8"/>
          <p:cNvPicPr>
            <a:picLocks noGrp="1" noChangeAspect="1"/>
          </p:cNvPicPr>
          <p:nvPr>
            <p:ph idx="1"/>
          </p:nvPr>
        </p:nvPicPr>
        <p:blipFill>
          <a:blip r:embed="rId2"/>
          <a:stretch>
            <a:fillRect/>
          </a:stretch>
        </p:blipFill>
        <p:spPr>
          <a:xfrm>
            <a:off x="345931" y="696552"/>
            <a:ext cx="7292542" cy="4513432"/>
          </a:xfrm>
          <a:prstGeom prst="rect">
            <a:avLst/>
          </a:prstGeom>
        </p:spPr>
      </p:pic>
      <p:pic>
        <p:nvPicPr>
          <p:cNvPr id="10" name="Picture 9"/>
          <p:cNvPicPr>
            <a:picLocks noChangeAspect="1"/>
          </p:cNvPicPr>
          <p:nvPr/>
        </p:nvPicPr>
        <p:blipFill>
          <a:blip r:embed="rId3"/>
          <a:stretch>
            <a:fillRect/>
          </a:stretch>
        </p:blipFill>
        <p:spPr>
          <a:xfrm>
            <a:off x="546821" y="5029200"/>
            <a:ext cx="6079116" cy="1295400"/>
          </a:xfrm>
          <a:prstGeom prst="rect">
            <a:avLst/>
          </a:prstGeom>
        </p:spPr>
      </p:pic>
    </p:spTree>
    <p:extLst>
      <p:ext uri="{BB962C8B-B14F-4D97-AF65-F5344CB8AC3E}">
        <p14:creationId xmlns:p14="http://schemas.microsoft.com/office/powerpoint/2010/main" val="15147402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83572" y="0"/>
            <a:ext cx="10515600" cy="455757"/>
          </a:xfrm>
        </p:spPr>
        <p:txBody>
          <a:bodyPr>
            <a:normAutofit fontScale="90000"/>
          </a:bodyPr>
          <a:lstStyle/>
          <a:p>
            <a:endParaRPr lang="en-US" dirty="0"/>
          </a:p>
        </p:txBody>
      </p:sp>
      <p:pic>
        <p:nvPicPr>
          <p:cNvPr id="6" name="Content Placeholder 5"/>
          <p:cNvPicPr>
            <a:picLocks noGrp="1" noChangeAspect="1"/>
          </p:cNvPicPr>
          <p:nvPr>
            <p:ph idx="1"/>
          </p:nvPr>
        </p:nvPicPr>
        <p:blipFill>
          <a:blip r:embed="rId2"/>
          <a:stretch>
            <a:fillRect/>
          </a:stretch>
        </p:blipFill>
        <p:spPr>
          <a:xfrm>
            <a:off x="898851" y="973714"/>
            <a:ext cx="8130849" cy="5354349"/>
          </a:xfrm>
          <a:prstGeom prst="rect">
            <a:avLst/>
          </a:prstGeom>
        </p:spPr>
      </p:pic>
    </p:spTree>
    <p:extLst>
      <p:ext uri="{BB962C8B-B14F-4D97-AF65-F5344CB8AC3E}">
        <p14:creationId xmlns:p14="http://schemas.microsoft.com/office/powerpoint/2010/main" val="8445211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552</TotalTime>
  <Words>1958</Words>
  <Application>Microsoft Office PowerPoint</Application>
  <PresentationFormat>Widescreen</PresentationFormat>
  <Paragraphs>139</Paragraphs>
  <Slides>37</Slides>
  <Notes>0</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37</vt:i4>
      </vt:variant>
    </vt:vector>
  </HeadingPairs>
  <TitlesOfParts>
    <vt:vector size="47" baseType="lpstr">
      <vt:lpstr>Arial</vt:lpstr>
      <vt:lpstr>Book Antiqua</vt:lpstr>
      <vt:lpstr>Cabin-semi-bold</vt:lpstr>
      <vt:lpstr>Calibri</vt:lpstr>
      <vt:lpstr>Calibri Light</vt:lpstr>
      <vt:lpstr>Times New Roman</vt:lpstr>
      <vt:lpstr>Wingdings</vt:lpstr>
      <vt:lpstr>Office Theme</vt:lpstr>
      <vt:lpstr>2_Office Theme</vt:lpstr>
      <vt:lpstr>Equation</vt:lpstr>
      <vt:lpstr>Unit-2 Linear Regression</vt:lpstr>
      <vt:lpstr> Regression analysis :  An Overview </vt:lpstr>
      <vt:lpstr>PowerPoint Presentation</vt:lpstr>
      <vt:lpstr>Linear Regression</vt:lpstr>
      <vt:lpstr>Linear Regression</vt:lpstr>
      <vt:lpstr>Example 1</vt:lpstr>
      <vt:lpstr>Example 1</vt:lpstr>
      <vt:lpstr>Example 2</vt:lpstr>
      <vt:lpstr>  A scatter plot of above dataset looks like:  </vt:lpstr>
      <vt:lpstr> Slope for the Estimated Regression Equation </vt:lpstr>
      <vt:lpstr> y-Intercept for the Estimated Regression Equation </vt:lpstr>
      <vt:lpstr>Estimating the Regression coefficients</vt:lpstr>
      <vt:lpstr>PowerPoint Presentation</vt:lpstr>
      <vt:lpstr>PowerPoint Presentation</vt:lpstr>
      <vt:lpstr>Estimate the Parameters:</vt:lpstr>
      <vt:lpstr>Predict:</vt:lpstr>
      <vt:lpstr>Linear Regression: Evaluation metrics  To evaluate the performance of a linear regression model, you can use several metrics:</vt:lpstr>
      <vt:lpstr>Complete example on Linear Regression</vt:lpstr>
      <vt:lpstr>Linear Regression program for Hours studied vs score</vt:lpstr>
      <vt:lpstr>PowerPoint Presentation</vt:lpstr>
      <vt:lpstr>Output:</vt:lpstr>
      <vt:lpstr>Output explanation for neat understanding purpose</vt:lpstr>
      <vt:lpstr>PowerPoint Presentation</vt:lpstr>
      <vt:lpstr>PowerPoint Presentation</vt:lpstr>
      <vt:lpstr>Summary Table of Evaluation Metrics for given example</vt:lpstr>
      <vt:lpstr> Multiple Regression or Multivariate Regression </vt:lpstr>
      <vt:lpstr>PowerPoint Presentation</vt:lpstr>
      <vt:lpstr>Linear Regression Vs Multiple Linear Regression</vt:lpstr>
      <vt:lpstr>PowerPoint Presentation</vt:lpstr>
      <vt:lpstr>PowerPoint Presentation</vt:lpstr>
      <vt:lpstr>The Bottom Line </vt:lpstr>
      <vt:lpstr>Example on Multiple Linear Regression: House price prediction</vt:lpstr>
      <vt:lpstr>Example on Multiple Linear Regression: House price prediction</vt:lpstr>
      <vt:lpstr>PowerPoint Presentation</vt:lpstr>
      <vt:lpstr>Output:</vt:lpstr>
      <vt:lpstr>Explanation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CBIT</dc:creator>
  <cp:lastModifiedBy>Sirisha Alamanda</cp:lastModifiedBy>
  <cp:revision>46</cp:revision>
  <dcterms:created xsi:type="dcterms:W3CDTF">2024-08-17T04:57:16Z</dcterms:created>
  <dcterms:modified xsi:type="dcterms:W3CDTF">2024-09-17T18:57:25Z</dcterms:modified>
</cp:coreProperties>
</file>