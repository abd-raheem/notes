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89" r:id="rId2"/>
    <p:sldId id="290" r:id="rId3"/>
    <p:sldId id="292" r:id="rId4"/>
    <p:sldId id="294" r:id="rId5"/>
    <p:sldId id="295" r:id="rId6"/>
    <p:sldId id="297" r:id="rId7"/>
    <p:sldId id="298" r:id="rId8"/>
    <p:sldId id="300" r:id="rId9"/>
    <p:sldId id="302" r:id="rId10"/>
    <p:sldId id="256" r:id="rId11"/>
    <p:sldId id="258" r:id="rId12"/>
    <p:sldId id="259" r:id="rId13"/>
    <p:sldId id="270" r:id="rId14"/>
    <p:sldId id="271" r:id="rId15"/>
    <p:sldId id="272" r:id="rId16"/>
    <p:sldId id="275" r:id="rId17"/>
    <p:sldId id="273" r:id="rId18"/>
    <p:sldId id="282" r:id="rId19"/>
    <p:sldId id="274" r:id="rId20"/>
    <p:sldId id="283" r:id="rId21"/>
    <p:sldId id="276" r:id="rId22"/>
    <p:sldId id="279" r:id="rId23"/>
    <p:sldId id="278" r:id="rId24"/>
    <p:sldId id="288" r:id="rId25"/>
    <p:sldId id="284" r:id="rId26"/>
    <p:sldId id="287" r:id="rId27"/>
    <p:sldId id="286" r:id="rId28"/>
    <p:sldId id="26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0104" autoAdjust="0"/>
  </p:normalViewPr>
  <p:slideViewPr>
    <p:cSldViewPr snapToGrid="0">
      <p:cViewPr varScale="1">
        <p:scale>
          <a:sx n="62" d="100"/>
          <a:sy n="62" d="100"/>
        </p:scale>
        <p:origin x="8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CCD77-73EA-4477-951C-F6B5D6C7F1CC}" type="datetimeFigureOut">
              <a:rPr lang="en-IN" smtClean="0"/>
              <a:t>18-11-2024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A318E-9356-4639-BD17-D3B57B0D2A3A}" type="slidenum">
              <a:rPr lang="en-IN" smtClean="0"/>
              <a:t>‹#›</a:t>
            </a:fld>
            <a:endParaRPr lang="en-IN"/>
          </a:p>
        </p:txBody>
      </p:sp>
    </p:spTree>
    <p:extLst>
      <p:ext uri="{BB962C8B-B14F-4D97-AF65-F5344CB8AC3E}">
        <p14:creationId xmlns:p14="http://schemas.microsoft.com/office/powerpoint/2010/main" val="937859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t>3</a:t>
            </a:fld>
            <a:endParaRPr lang="en-US" dirty="0"/>
          </a:p>
        </p:txBody>
      </p:sp>
    </p:spTree>
    <p:extLst>
      <p:ext uri="{BB962C8B-B14F-4D97-AF65-F5344CB8AC3E}">
        <p14:creationId xmlns:p14="http://schemas.microsoft.com/office/powerpoint/2010/main" val="309190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0616907-D452-43A8-930C-0C3B71EB61A1}" type="slidenum">
              <a:rPr lang="en-US" altLang="en-US" smtClean="0">
                <a:solidFill>
                  <a:prstClr val="black"/>
                </a:solidFill>
              </a:rPr>
              <a:pPr>
                <a:spcBef>
                  <a:spcPct val="0"/>
                </a:spcBef>
              </a:pPr>
              <a:t>4</a:t>
            </a:fld>
            <a:endParaRPr lang="en-US" altLang="en-US" dirty="0">
              <a:solidFill>
                <a:prstClr val="black"/>
              </a:solidFill>
            </a:endParaRPr>
          </a:p>
        </p:txBody>
      </p:sp>
      <p:sp>
        <p:nvSpPr>
          <p:cNvPr id="17411" name="Rectangle 2"/>
          <p:cNvSpPr>
            <a:spLocks noGrp="1" noRot="1" noChangeAspect="1" noChangeArrowheads="1" noTextEdit="1"/>
          </p:cNvSpPr>
          <p:nvPr>
            <p:ph type="sldImg"/>
          </p:nvPr>
        </p:nvSpPr>
        <p:spPr>
          <a:xfrm>
            <a:off x="717550" y="1162050"/>
            <a:ext cx="5575300" cy="313690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862803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pPr>
                <a:spcBef>
                  <a:spcPct val="0"/>
                </a:spcBef>
              </a:pPr>
              <a:t>5</a:t>
            </a:fld>
            <a:endParaRPr lang="en-US" altLang="en-US"/>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3461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16648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71001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15037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30521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Imagine you are a fashion retailer trying to understand the purchasing habits of your customers. By applying clustering techniques to your customer data, you can group together customers who share similar buying patterns, such as those who prefer high-end fashion, those who frequently buy discounted items, or those who favor athletic wear. This can help you to tailor your marketing efforts and product offerings to different customer segments, increasing sales and customer satisfaction.</a:t>
            </a:r>
          </a:p>
          <a:p>
            <a:endParaRPr lang="en-IN" dirty="0"/>
          </a:p>
        </p:txBody>
      </p:sp>
      <p:sp>
        <p:nvSpPr>
          <p:cNvPr id="4" name="Slide Number Placeholder 3"/>
          <p:cNvSpPr>
            <a:spLocks noGrp="1"/>
          </p:cNvSpPr>
          <p:nvPr>
            <p:ph type="sldNum" sz="quarter" idx="10"/>
          </p:nvPr>
        </p:nvSpPr>
        <p:spPr/>
        <p:txBody>
          <a:bodyPr/>
          <a:lstStyle/>
          <a:p>
            <a:fld id="{440A318E-9356-4639-BD17-D3B57B0D2A3A}" type="slidenum">
              <a:rPr lang="en-IN" smtClean="0"/>
              <a:t>11</a:t>
            </a:fld>
            <a:endParaRPr lang="en-IN"/>
          </a:p>
        </p:txBody>
      </p:sp>
    </p:spTree>
    <p:extLst>
      <p:ext uri="{BB962C8B-B14F-4D97-AF65-F5344CB8AC3E}">
        <p14:creationId xmlns:p14="http://schemas.microsoft.com/office/powerpoint/2010/main" val="3348219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9A042A-82C2-475F-BDD8-31028501AAD1}"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037602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9A042A-82C2-475F-BDD8-31028501AAD1}"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390215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9A042A-82C2-475F-BDD8-31028501AAD1}"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155173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9A042A-82C2-475F-BDD8-31028501AAD1}"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11028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9A042A-82C2-475F-BDD8-31028501AAD1}"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3439003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9A042A-82C2-475F-BDD8-31028501AAD1}"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649532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9A042A-82C2-475F-BDD8-31028501AAD1}"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460164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9A042A-82C2-475F-BDD8-31028501AAD1}"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2927371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9A042A-82C2-475F-BDD8-31028501AAD1}"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43007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9A042A-82C2-475F-BDD8-31028501AAD1}"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155514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9A042A-82C2-475F-BDD8-31028501AAD1}"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7D7A0D-5EBF-4B16-A445-4C9A15D7B874}" type="slidenum">
              <a:rPr lang="en-US" smtClean="0"/>
              <a:t>‹#›</a:t>
            </a:fld>
            <a:endParaRPr lang="en-US"/>
          </a:p>
        </p:txBody>
      </p:sp>
    </p:spTree>
    <p:extLst>
      <p:ext uri="{BB962C8B-B14F-4D97-AF65-F5344CB8AC3E}">
        <p14:creationId xmlns:p14="http://schemas.microsoft.com/office/powerpoint/2010/main" val="1457652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A042A-82C2-475F-BDD8-31028501AAD1}" type="datetimeFigureOut">
              <a:rPr lang="en-US" smtClean="0"/>
              <a:t>11/18/2024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D7A0D-5EBF-4B16-A445-4C9A15D7B874}" type="slidenum">
              <a:rPr lang="en-US" smtClean="0"/>
              <a:t>‹#›</a:t>
            </a:fld>
            <a:endParaRPr lang="en-US"/>
          </a:p>
        </p:txBody>
      </p:sp>
    </p:spTree>
    <p:extLst>
      <p:ext uri="{BB962C8B-B14F-4D97-AF65-F5344CB8AC3E}">
        <p14:creationId xmlns:p14="http://schemas.microsoft.com/office/powerpoint/2010/main" val="2528979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D25598D-4EC7-3273-85CB-16C1EC16714B}"/>
              </a:ext>
            </a:extLst>
          </p:cNvPr>
          <p:cNvSpPr>
            <a:spLocks noGrp="1"/>
          </p:cNvSpPr>
          <p:nvPr>
            <p:ph type="ctrTitle"/>
          </p:nvPr>
        </p:nvSpPr>
        <p:spPr/>
        <p:txBody>
          <a:bodyPr>
            <a:normAutofit/>
          </a:bodyPr>
          <a:lstStyle/>
          <a:p>
            <a:r>
              <a:rPr lang="en-US" sz="4000" dirty="0" smtClean="0"/>
              <a:t>Unit-3</a:t>
            </a:r>
            <a:r>
              <a:rPr lang="en-US" sz="4000" dirty="0"/>
              <a:t/>
            </a:r>
            <a:br>
              <a:rPr lang="en-US" sz="4000" dirty="0"/>
            </a:br>
            <a:r>
              <a:rPr lang="en-US" sz="4000" b="1" dirty="0"/>
              <a:t>Cluster </a:t>
            </a:r>
            <a:r>
              <a:rPr lang="en-US" sz="4000" b="1" dirty="0" smtClean="0"/>
              <a:t>Analysis</a:t>
            </a:r>
            <a:endParaRPr lang="en-US" sz="4000" b="1" dirty="0"/>
          </a:p>
        </p:txBody>
      </p:sp>
      <p:sp>
        <p:nvSpPr>
          <p:cNvPr id="5" name="Subtitle 4">
            <a:extLst>
              <a:ext uri="{FF2B5EF4-FFF2-40B4-BE49-F238E27FC236}">
                <a16:creationId xmlns:a16="http://schemas.microsoft.com/office/drawing/2014/main" xmlns="" id="{82FC6413-9E4C-16E5-728F-C95705A517D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5042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xmlns="" id="{6F9A4635-719E-6A25-209D-9F1082D6E609}"/>
              </a:ext>
            </a:extLst>
          </p:cNvPr>
          <p:cNvSpPr>
            <a:spLocks noGrp="1"/>
          </p:cNvSpPr>
          <p:nvPr>
            <p:ph idx="1"/>
          </p:nvPr>
        </p:nvSpPr>
        <p:spPr/>
        <p:txBody>
          <a:bodyPr/>
          <a:lstStyle/>
          <a:p>
            <a:r>
              <a:rPr lang="en-US" dirty="0" smtClean="0"/>
              <a:t>Cluster </a:t>
            </a:r>
            <a:r>
              <a:rPr lang="en-US" dirty="0"/>
              <a:t>analysis</a:t>
            </a:r>
          </a:p>
          <a:p>
            <a:pPr lvl="1"/>
            <a:r>
              <a:rPr lang="en-US" dirty="0"/>
              <a:t>What is cluster analysis?</a:t>
            </a:r>
          </a:p>
          <a:p>
            <a:pPr lvl="1"/>
            <a:r>
              <a:rPr lang="en-US" dirty="0"/>
              <a:t>Requirements for cluster analysis</a:t>
            </a:r>
          </a:p>
          <a:p>
            <a:pPr lvl="1"/>
            <a:r>
              <a:rPr lang="en-US" dirty="0"/>
              <a:t>Overview of basic clustering methods</a:t>
            </a:r>
          </a:p>
          <a:p>
            <a:r>
              <a:rPr lang="en-US" dirty="0" smtClean="0"/>
              <a:t>Partitioning </a:t>
            </a:r>
            <a:r>
              <a:rPr lang="en-US" dirty="0"/>
              <a:t>methods</a:t>
            </a:r>
          </a:p>
          <a:p>
            <a:r>
              <a:rPr lang="en-US" dirty="0"/>
              <a:t>Hierarchical methods</a:t>
            </a:r>
          </a:p>
          <a:p>
            <a:r>
              <a:rPr lang="en-US" dirty="0"/>
              <a:t>Density-based </a:t>
            </a:r>
            <a:r>
              <a:rPr lang="en-US" dirty="0" smtClean="0"/>
              <a:t>methods</a:t>
            </a:r>
            <a:endParaRPr lang="en-US" dirty="0"/>
          </a:p>
        </p:txBody>
      </p:sp>
    </p:spTree>
    <p:extLst>
      <p:ext uri="{BB962C8B-B14F-4D97-AF65-F5344CB8AC3E}">
        <p14:creationId xmlns:p14="http://schemas.microsoft.com/office/powerpoint/2010/main" val="3710139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600" b="1" dirty="0" smtClean="0">
                <a:latin typeface="Times New Roman" panose="02020603050405020304" pitchFamily="18" charset="0"/>
                <a:cs typeface="Times New Roman" panose="02020603050405020304" pitchFamily="18" charset="0"/>
              </a:rPr>
              <a:t>Cluster Analysis: A Quick Overview</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altLang="en-US"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When flying over a city, one can easily identify fields, forests, commercial areas, and residential areas based on their features, without anyone’s explicit “training”—This is the power of cluster </a:t>
            </a:r>
            <a:r>
              <a:rPr lang="en-US" altLang="en-US" sz="2400" dirty="0" smtClean="0">
                <a:latin typeface="Times New Roman" panose="02020603050405020304" pitchFamily="18" charset="0"/>
                <a:cs typeface="Times New Roman" panose="02020603050405020304" pitchFamily="18" charset="0"/>
              </a:rPr>
              <a:t>analysis</a:t>
            </a:r>
          </a:p>
          <a:p>
            <a:pPr algn="just"/>
            <a:endParaRPr lang="en-US" altLang="en-US" sz="2400" dirty="0">
              <a:latin typeface="Times New Roman" panose="02020603050405020304" pitchFamily="18" charset="0"/>
              <a:cs typeface="Times New Roman" panose="02020603050405020304" pitchFamily="18" charset="0"/>
            </a:endParaRPr>
          </a:p>
          <a:p>
            <a:pPr algn="just"/>
            <a:r>
              <a:rPr lang="en-US" altLang="en-US" sz="2400" dirty="0" smtClean="0">
                <a:latin typeface="Times New Roman" panose="02020603050405020304" pitchFamily="18" charset="0"/>
                <a:cs typeface="Times New Roman" panose="02020603050405020304" pitchFamily="18" charset="0"/>
              </a:rPr>
              <a:t>We systematically </a:t>
            </a:r>
            <a:r>
              <a:rPr lang="en-US" altLang="en-US" sz="2400" dirty="0">
                <a:latin typeface="Times New Roman" panose="02020603050405020304" pitchFamily="18" charset="0"/>
                <a:cs typeface="Times New Roman" panose="02020603050405020304" pitchFamily="18" charset="0"/>
              </a:rPr>
              <a:t>study cluster analysis methods and help answer the following:</a:t>
            </a:r>
          </a:p>
          <a:p>
            <a:pPr lvl="1" algn="just"/>
            <a:r>
              <a:rPr lang="en-US" altLang="en-US" dirty="0">
                <a:latin typeface="Times New Roman" panose="02020603050405020304" pitchFamily="18" charset="0"/>
                <a:cs typeface="Times New Roman" panose="02020603050405020304" pitchFamily="18" charset="0"/>
              </a:rPr>
              <a:t>What are the different proximity measures for effective clustering?</a:t>
            </a:r>
          </a:p>
          <a:p>
            <a:pPr lvl="1" algn="just"/>
            <a:r>
              <a:rPr lang="en-US" altLang="en-US" dirty="0">
                <a:latin typeface="Times New Roman" panose="02020603050405020304" pitchFamily="18" charset="0"/>
                <a:cs typeface="Times New Roman" panose="02020603050405020304" pitchFamily="18" charset="0"/>
              </a:rPr>
              <a:t>Can we cluster a massive number of data points efficiently?</a:t>
            </a:r>
          </a:p>
          <a:p>
            <a:pPr lvl="1" algn="just"/>
            <a:r>
              <a:rPr lang="en-US" altLang="en-US" dirty="0">
                <a:latin typeface="Times New Roman" panose="02020603050405020304" pitchFamily="18" charset="0"/>
                <a:cs typeface="Times New Roman" panose="02020603050405020304" pitchFamily="18" charset="0"/>
              </a:rPr>
              <a:t>Can we find clusters of arbitrary shape? At multiple levels of granularity?</a:t>
            </a:r>
          </a:p>
          <a:p>
            <a:pPr lvl="1" algn="just"/>
            <a:r>
              <a:rPr lang="en-US" altLang="en-US" dirty="0">
                <a:latin typeface="Times New Roman" panose="02020603050405020304" pitchFamily="18" charset="0"/>
                <a:cs typeface="Times New Roman" panose="02020603050405020304" pitchFamily="18" charset="0"/>
              </a:rPr>
              <a:t>How can we judge the quality of the clusters discovered by our system?</a:t>
            </a:r>
          </a:p>
        </p:txBody>
      </p:sp>
    </p:spTree>
    <p:extLst>
      <p:ext uri="{BB962C8B-B14F-4D97-AF65-F5344CB8AC3E}">
        <p14:creationId xmlns:p14="http://schemas.microsoft.com/office/powerpoint/2010/main" val="444087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normAutofit/>
          </a:bodyPr>
          <a:lstStyle/>
          <a:p>
            <a:r>
              <a:rPr lang="en-US" altLang="en-US" sz="3600" dirty="0">
                <a:latin typeface="Times New Roman" panose="02020603050405020304" pitchFamily="18" charset="0"/>
                <a:cs typeface="Times New Roman" panose="02020603050405020304" pitchFamily="18" charset="0"/>
              </a:rPr>
              <a:t>Broad Applications of </a:t>
            </a:r>
            <a:r>
              <a:rPr lang="en-US" sz="3600" dirty="0">
                <a:latin typeface="Times New Roman" panose="02020603050405020304" pitchFamily="18" charset="0"/>
                <a:cs typeface="Times New Roman" panose="02020603050405020304" pitchFamily="18" charset="0"/>
              </a:rPr>
              <a:t>Cluster Analysis</a:t>
            </a:r>
            <a:endParaRPr lang="en-US" altLang="en-US" sz="3600" dirty="0">
              <a:latin typeface="Times New Roman" panose="02020603050405020304" pitchFamily="18" charset="0"/>
              <a:cs typeface="Times New Roman" panose="02020603050405020304" pitchFamily="18" charset="0"/>
            </a:endParaRPr>
          </a:p>
        </p:txBody>
      </p:sp>
      <p:sp>
        <p:nvSpPr>
          <p:cNvPr id="5124" name="Rectangle 3"/>
          <p:cNvSpPr>
            <a:spLocks noGrp="1" noChangeArrowheads="1"/>
          </p:cNvSpPr>
          <p:nvPr>
            <p:ph type="body" idx="1"/>
          </p:nvPr>
        </p:nvSpPr>
        <p:spPr>
          <a:xfrm>
            <a:off x="838200" y="1507787"/>
            <a:ext cx="10515600" cy="5068111"/>
          </a:xfrm>
        </p:spPr>
        <p:txBody>
          <a:bodyPr>
            <a:noAutofit/>
          </a:bodyPr>
          <a:lstStyle/>
          <a:p>
            <a:pPr algn="just"/>
            <a:r>
              <a:rPr lang="en-US" altLang="en-US" sz="2400" dirty="0"/>
              <a:t> </a:t>
            </a:r>
            <a:r>
              <a:rPr lang="en-US" altLang="en-US" sz="2400" dirty="0">
                <a:latin typeface="Times New Roman" panose="02020603050405020304" pitchFamily="18" charset="0"/>
                <a:cs typeface="Times New Roman" panose="02020603050405020304" pitchFamily="18" charset="0"/>
              </a:rPr>
              <a:t>Data summarization, compression, and reduction</a:t>
            </a:r>
          </a:p>
          <a:p>
            <a:pPr lvl="1" algn="just"/>
            <a:r>
              <a:rPr lang="en-US" altLang="zh-CN" dirty="0">
                <a:latin typeface="Times New Roman" panose="02020603050405020304" pitchFamily="18" charset="0"/>
                <a:cs typeface="Times New Roman" panose="02020603050405020304" pitchFamily="18" charset="0"/>
              </a:rPr>
              <a:t>Examples: Image processing or vector quantization</a:t>
            </a:r>
            <a:endParaRPr lang="en-US" altLang="en-US" dirty="0">
              <a:latin typeface="Times New Roman" panose="02020603050405020304" pitchFamily="18" charset="0"/>
              <a:cs typeface="Times New Roman" panose="02020603050405020304" pitchFamily="18" charset="0"/>
            </a:endParaRPr>
          </a:p>
          <a:p>
            <a:pPr algn="just"/>
            <a:r>
              <a:rPr lang="en-US" altLang="en-US" sz="2400" dirty="0">
                <a:latin typeface="Times New Roman" panose="02020603050405020304" pitchFamily="18" charset="0"/>
                <a:cs typeface="Times New Roman" panose="02020603050405020304" pitchFamily="18" charset="0"/>
              </a:rPr>
              <a:t> Collaborative filtering, recommendation systems, or customer segmentation</a:t>
            </a:r>
          </a:p>
          <a:p>
            <a:pPr lvl="1" algn="just"/>
            <a:r>
              <a:rPr lang="en-US" altLang="en-US" dirty="0">
                <a:latin typeface="Times New Roman" panose="02020603050405020304" pitchFamily="18" charset="0"/>
                <a:cs typeface="Times New Roman" panose="02020603050405020304" pitchFamily="18" charset="0"/>
              </a:rPr>
              <a:t>Finding like-minded users or similar products</a:t>
            </a:r>
          </a:p>
          <a:p>
            <a:pPr algn="just"/>
            <a:r>
              <a:rPr lang="en-US" altLang="en-US" sz="2400" dirty="0">
                <a:latin typeface="Times New Roman" panose="02020603050405020304" pitchFamily="18" charset="0"/>
                <a:cs typeface="Times New Roman" panose="02020603050405020304" pitchFamily="18" charset="0"/>
              </a:rPr>
              <a:t> Dynamic trend detection</a:t>
            </a:r>
          </a:p>
          <a:p>
            <a:pPr lvl="1" algn="just"/>
            <a:r>
              <a:rPr lang="en-US" altLang="en-US" dirty="0">
                <a:latin typeface="Times New Roman" panose="02020603050405020304" pitchFamily="18" charset="0"/>
                <a:cs typeface="Times New Roman" panose="02020603050405020304" pitchFamily="18" charset="0"/>
              </a:rPr>
              <a:t>Clustering stream data and detecting trends and patterns</a:t>
            </a:r>
          </a:p>
          <a:p>
            <a:pPr algn="just"/>
            <a:r>
              <a:rPr lang="en-US" altLang="zh-CN" sz="2400" dirty="0">
                <a:latin typeface="Times New Roman" panose="02020603050405020304" pitchFamily="18" charset="0"/>
                <a:cs typeface="Times New Roman" panose="02020603050405020304" pitchFamily="18" charset="0"/>
              </a:rPr>
              <a:t> Multimedia data analysis, biological data analysis, and social network analysis</a:t>
            </a:r>
          </a:p>
          <a:p>
            <a:pPr lvl="1" algn="just"/>
            <a:r>
              <a:rPr lang="en-US" altLang="zh-CN" dirty="0">
                <a:latin typeface="Times New Roman" panose="02020603050405020304" pitchFamily="18" charset="0"/>
                <a:cs typeface="Times New Roman" panose="02020603050405020304" pitchFamily="18" charset="0"/>
              </a:rPr>
              <a:t>Examples: Clustering video/audio clips or gene/protein sequences </a:t>
            </a:r>
          </a:p>
          <a:p>
            <a:pPr algn="just"/>
            <a:r>
              <a:rPr lang="en-US" altLang="en-US" sz="2400" dirty="0">
                <a:latin typeface="Times New Roman" panose="02020603050405020304" pitchFamily="18" charset="0"/>
                <a:cs typeface="Times New Roman" panose="02020603050405020304" pitchFamily="18" charset="0"/>
              </a:rPr>
              <a:t> A key intermediate step for other data mining tasks</a:t>
            </a:r>
          </a:p>
          <a:p>
            <a:pPr lvl="1" algn="just"/>
            <a:r>
              <a:rPr lang="en-US" altLang="en-US" dirty="0">
                <a:latin typeface="Times New Roman" panose="02020603050405020304" pitchFamily="18" charset="0"/>
                <a:cs typeface="Times New Roman" panose="02020603050405020304" pitchFamily="18" charset="0"/>
              </a:rPr>
              <a:t>Generating a compact summary of data for classification, pattern discovery, and hypothesis generation and testing</a:t>
            </a:r>
          </a:p>
          <a:p>
            <a:pPr lvl="1" algn="just"/>
            <a:r>
              <a:rPr lang="en-US" altLang="en-US" dirty="0">
                <a:latin typeface="Times New Roman" panose="02020603050405020304" pitchFamily="18" charset="0"/>
                <a:cs typeface="Times New Roman" panose="02020603050405020304" pitchFamily="18" charset="0"/>
              </a:rPr>
              <a:t>Outlier detection: </a:t>
            </a:r>
            <a:r>
              <a:rPr lang="en-US" altLang="zh-CN" dirty="0">
                <a:latin typeface="Times New Roman" panose="02020603050405020304" pitchFamily="18" charset="0"/>
                <a:cs typeface="Times New Roman" panose="02020603050405020304" pitchFamily="18" charset="0"/>
              </a:rPr>
              <a:t>Outliers are those “far away” from any cluster</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5361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838200" y="365126"/>
            <a:ext cx="10515600" cy="802194"/>
          </a:xfrm>
        </p:spPr>
        <p:txBody>
          <a:bodyPr>
            <a:normAutofit/>
          </a:bodyPr>
          <a:lstStyle/>
          <a:p>
            <a:r>
              <a:rPr lang="en-US" altLang="en-US" sz="3600" dirty="0">
                <a:latin typeface="Times New Roman" panose="02020603050405020304" pitchFamily="18" charset="0"/>
                <a:cs typeface="Times New Roman" panose="02020603050405020304" pitchFamily="18" charset="0"/>
              </a:rPr>
              <a:t>What </a:t>
            </a:r>
            <a:r>
              <a:rPr lang="en-US" altLang="en-US" sz="3600" dirty="0" smtClean="0">
                <a:latin typeface="Times New Roman" panose="02020603050405020304" pitchFamily="18" charset="0"/>
                <a:cs typeface="Times New Roman" panose="02020603050405020304" pitchFamily="18" charset="0"/>
              </a:rPr>
              <a:t>is </a:t>
            </a:r>
            <a:r>
              <a:rPr lang="en-US" altLang="zh-CN" sz="3600" dirty="0">
                <a:latin typeface="Times New Roman" panose="02020603050405020304" pitchFamily="18" charset="0"/>
                <a:cs typeface="Times New Roman" panose="02020603050405020304" pitchFamily="18" charset="0"/>
              </a:rPr>
              <a:t>Cluster Analysis</a:t>
            </a:r>
            <a:r>
              <a:rPr lang="en-US" altLang="en-US" sz="3600" dirty="0">
                <a:latin typeface="Times New Roman" panose="02020603050405020304" pitchFamily="18" charset="0"/>
                <a:cs typeface="Times New Roman" panose="02020603050405020304" pitchFamily="18" charset="0"/>
              </a:rPr>
              <a:t>?</a:t>
            </a:r>
          </a:p>
        </p:txBody>
      </p:sp>
      <p:sp>
        <p:nvSpPr>
          <p:cNvPr id="4100" name="Rectangle 3"/>
          <p:cNvSpPr>
            <a:spLocks noGrp="1" noChangeArrowheads="1"/>
          </p:cNvSpPr>
          <p:nvPr>
            <p:ph type="body" idx="1"/>
          </p:nvPr>
        </p:nvSpPr>
        <p:spPr>
          <a:xfrm>
            <a:off x="760379" y="1426791"/>
            <a:ext cx="10515600" cy="4672452"/>
          </a:xfrm>
        </p:spPr>
        <p:txBody>
          <a:bodyPr>
            <a:normAutofit fontScale="77500" lnSpcReduction="20000"/>
          </a:bodyPr>
          <a:lstStyle/>
          <a:p>
            <a:r>
              <a:rPr lang="en-US" altLang="zh-CN" sz="3000" dirty="0">
                <a:latin typeface="Times New Roman" panose="02020603050405020304" pitchFamily="18" charset="0"/>
                <a:cs typeface="Times New Roman" panose="02020603050405020304" pitchFamily="18" charset="0"/>
              </a:rPr>
              <a:t>A </a:t>
            </a:r>
            <a:r>
              <a:rPr lang="en-US" altLang="zh-CN" sz="3000" dirty="0">
                <a:latin typeface="Times New Roman" panose="02020603050405020304" pitchFamily="18" charset="0"/>
                <a:cs typeface="Times New Roman" panose="02020603050405020304" pitchFamily="18" charset="0"/>
              </a:rPr>
              <a:t>cluster is a collection of data objects which are</a:t>
            </a:r>
          </a:p>
          <a:p>
            <a:pPr lvl="1"/>
            <a:r>
              <a:rPr lang="en-US" altLang="zh-CN" sz="3000" dirty="0">
                <a:latin typeface="Times New Roman" panose="02020603050405020304" pitchFamily="18" charset="0"/>
                <a:cs typeface="Times New Roman" panose="02020603050405020304" pitchFamily="18" charset="0"/>
              </a:rPr>
              <a:t>Similar (or related) to one another within the same group (i.e., cluster)</a:t>
            </a:r>
          </a:p>
          <a:p>
            <a:pPr lvl="1"/>
            <a:r>
              <a:rPr lang="en-US" altLang="zh-CN" sz="3000" dirty="0">
                <a:latin typeface="Times New Roman" panose="02020603050405020304" pitchFamily="18" charset="0"/>
                <a:cs typeface="Times New Roman" panose="02020603050405020304" pitchFamily="18" charset="0"/>
              </a:rPr>
              <a:t>Dissimilar (or unrelated) to the objects in other groups (i.e., clusters</a:t>
            </a:r>
            <a:r>
              <a:rPr lang="en-US" altLang="zh-CN" sz="3000" dirty="0">
                <a:latin typeface="Times New Roman" panose="02020603050405020304" pitchFamily="18" charset="0"/>
                <a:cs typeface="Times New Roman" panose="02020603050405020304" pitchFamily="18" charset="0"/>
              </a:rPr>
              <a:t>)</a:t>
            </a:r>
          </a:p>
          <a:p>
            <a:pPr marL="914400" lvl="2" indent="0">
              <a:buNone/>
            </a:pPr>
            <a:endParaRPr lang="en-US" altLang="zh-CN" sz="2600" dirty="0">
              <a:latin typeface="Times New Roman" panose="02020603050405020304" pitchFamily="18" charset="0"/>
              <a:cs typeface="Times New Roman" panose="02020603050405020304" pitchFamily="18" charset="0"/>
            </a:endParaRPr>
          </a:p>
          <a:p>
            <a:r>
              <a:rPr lang="en-US" altLang="zh-CN" sz="2600" dirty="0">
                <a:latin typeface="Times New Roman" panose="02020603050405020304" pitchFamily="18" charset="0"/>
                <a:cs typeface="Times New Roman" panose="02020603050405020304" pitchFamily="18" charset="0"/>
              </a:rPr>
              <a:t>Cluster analysis (or clustering, data segmentation, …)</a:t>
            </a:r>
          </a:p>
          <a:p>
            <a:pPr lvl="1"/>
            <a:r>
              <a:rPr lang="en-US" altLang="zh-CN" sz="2600" dirty="0">
                <a:latin typeface="Times New Roman" panose="02020603050405020304" pitchFamily="18" charset="0"/>
                <a:cs typeface="Times New Roman" panose="02020603050405020304" pitchFamily="18" charset="0"/>
              </a:rPr>
              <a:t>Given a set of data points, partition them into a set of groups (i.e., clusters) which are as similar as </a:t>
            </a:r>
            <a:r>
              <a:rPr lang="en-US" altLang="zh-CN" sz="2600" dirty="0" smtClean="0">
                <a:latin typeface="Times New Roman" panose="02020603050405020304" pitchFamily="18" charset="0"/>
                <a:cs typeface="Times New Roman" panose="02020603050405020304" pitchFamily="18" charset="0"/>
              </a:rPr>
              <a:t>possible</a:t>
            </a:r>
          </a:p>
          <a:p>
            <a:pPr marL="457200" lvl="1" indent="0">
              <a:buNone/>
            </a:pPr>
            <a:endParaRPr lang="en-US" altLang="zh-CN" sz="2600" dirty="0">
              <a:latin typeface="Times New Roman" panose="02020603050405020304" pitchFamily="18" charset="0"/>
              <a:cs typeface="Times New Roman" panose="02020603050405020304" pitchFamily="18" charset="0"/>
            </a:endParaRPr>
          </a:p>
          <a:p>
            <a:r>
              <a:rPr lang="en-US" altLang="zh-CN" sz="2600" dirty="0">
                <a:latin typeface="Times New Roman" panose="02020603050405020304" pitchFamily="18" charset="0"/>
                <a:cs typeface="Times New Roman" panose="02020603050405020304" pitchFamily="18" charset="0"/>
              </a:rPr>
              <a:t>Cluster analysis is unsupervised learning (i.e., no predefined classes)</a:t>
            </a:r>
          </a:p>
          <a:p>
            <a:pPr lvl="1"/>
            <a:r>
              <a:rPr lang="en-US" altLang="zh-CN" sz="2600" dirty="0">
                <a:latin typeface="Times New Roman" panose="02020603050405020304" pitchFamily="18" charset="0"/>
                <a:cs typeface="Times New Roman" panose="02020603050405020304" pitchFamily="18" charset="0"/>
              </a:rPr>
              <a:t>This contrasts with classification (i.e., supervised learning) </a:t>
            </a:r>
            <a:endParaRPr lang="en-US" altLang="zh-CN" sz="2600" dirty="0" smtClean="0">
              <a:latin typeface="Times New Roman" panose="02020603050405020304" pitchFamily="18" charset="0"/>
              <a:cs typeface="Times New Roman" panose="02020603050405020304" pitchFamily="18" charset="0"/>
            </a:endParaRPr>
          </a:p>
          <a:p>
            <a:pPr lvl="1"/>
            <a:endParaRPr lang="en-US" altLang="zh-CN"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What is the value of cluster analysis?</a:t>
            </a:r>
          </a:p>
          <a:p>
            <a:pPr lvl="1" algn="just"/>
            <a:r>
              <a:rPr lang="en-US" altLang="en-US" sz="2600" dirty="0">
                <a:latin typeface="Times New Roman" panose="02020603050405020304" pitchFamily="18" charset="0"/>
                <a:cs typeface="Times New Roman" panose="02020603050405020304" pitchFamily="18" charset="0"/>
              </a:rPr>
              <a:t>Cluster analysis helps you partition massive data into groups based on its features</a:t>
            </a:r>
          </a:p>
          <a:p>
            <a:pPr lvl="1" algn="just"/>
            <a:r>
              <a:rPr lang="en-US" altLang="en-US" sz="2600" dirty="0">
                <a:latin typeface="Times New Roman" panose="02020603050405020304" pitchFamily="18" charset="0"/>
                <a:cs typeface="Times New Roman" panose="02020603050405020304" pitchFamily="18" charset="0"/>
              </a:rPr>
              <a:t>Cluster analysis will often help subsequent processes such as pattern discovery, </a:t>
            </a:r>
            <a:r>
              <a:rPr lang="en-US" altLang="en-US" sz="2600" dirty="0" smtClean="0">
                <a:latin typeface="Times New Roman" panose="02020603050405020304" pitchFamily="18" charset="0"/>
                <a:cs typeface="Times New Roman" panose="02020603050405020304" pitchFamily="18" charset="0"/>
              </a:rPr>
              <a:t>classification</a:t>
            </a:r>
            <a:r>
              <a:rPr lang="en-US" altLang="en-US" sz="2600" dirty="0">
                <a:latin typeface="Times New Roman" panose="02020603050405020304" pitchFamily="18" charset="0"/>
                <a:cs typeface="Times New Roman" panose="02020603050405020304" pitchFamily="18" charset="0"/>
              </a:rPr>
              <a:t>, and outlier analysis   </a:t>
            </a:r>
          </a:p>
        </p:txBody>
      </p:sp>
    </p:spTree>
    <p:extLst>
      <p:ext uri="{BB962C8B-B14F-4D97-AF65-F5344CB8AC3E}">
        <p14:creationId xmlns:p14="http://schemas.microsoft.com/office/powerpoint/2010/main" val="1437344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Considerations for Cluster Analysis</a:t>
            </a:r>
            <a:endParaRPr lang="en-US" altLang="en-US" dirty="0"/>
          </a:p>
        </p:txBody>
      </p:sp>
      <p:sp>
        <p:nvSpPr>
          <p:cNvPr id="4100" name="Rectangle 3"/>
          <p:cNvSpPr>
            <a:spLocks noGrp="1" noChangeArrowheads="1"/>
          </p:cNvSpPr>
          <p:nvPr>
            <p:ph idx="1"/>
          </p:nvPr>
        </p:nvSpPr>
        <p:spPr/>
        <p:txBody>
          <a:bodyPr>
            <a:normAutofit fontScale="92500" lnSpcReduction="10000"/>
          </a:bodyPr>
          <a:lstStyle/>
          <a:p>
            <a:r>
              <a:rPr lang="en-US" altLang="zh-CN" dirty="0"/>
              <a:t>Partitioning criteria</a:t>
            </a:r>
          </a:p>
          <a:p>
            <a:pPr lvl="1"/>
            <a:r>
              <a:rPr lang="en-US" altLang="zh-CN" dirty="0"/>
              <a:t>Single level vs. hierarchical partitioning (often, multi-level hierarchical partitioning is desirable, e.g., grouping topical terms)</a:t>
            </a:r>
          </a:p>
          <a:p>
            <a:r>
              <a:rPr lang="en-US" altLang="zh-CN" dirty="0"/>
              <a:t>Separation of clusters</a:t>
            </a:r>
          </a:p>
          <a:p>
            <a:pPr lvl="1"/>
            <a:r>
              <a:rPr lang="en-US" altLang="zh-CN" dirty="0"/>
              <a:t>Exclusive (e.g., one customer belongs to only one region) vs. non-exclusive (e.g., one document may belong to more than one class)</a:t>
            </a:r>
          </a:p>
          <a:p>
            <a:r>
              <a:rPr lang="en-US" altLang="zh-CN" dirty="0"/>
              <a:t>Similarity measure</a:t>
            </a:r>
          </a:p>
          <a:p>
            <a:pPr lvl="1"/>
            <a:r>
              <a:rPr lang="en-US" altLang="zh-CN" dirty="0"/>
              <a:t>Distance-based (e.g., Euclidean, road network, vector)  vs. connectivity-based (e.g., density or contiguity)</a:t>
            </a:r>
          </a:p>
          <a:p>
            <a:r>
              <a:rPr lang="en-US" altLang="zh-CN" dirty="0"/>
              <a:t>Clustering space</a:t>
            </a:r>
          </a:p>
          <a:p>
            <a:pPr lvl="1"/>
            <a:r>
              <a:rPr lang="en-US" altLang="zh-CN" dirty="0"/>
              <a:t>Full space (often when low dimensional) vs. subspaces (often in high-dimensional clustering)</a:t>
            </a:r>
          </a:p>
        </p:txBody>
      </p:sp>
    </p:spTree>
    <p:extLst>
      <p:ext uri="{BB962C8B-B14F-4D97-AF65-F5344CB8AC3E}">
        <p14:creationId xmlns:p14="http://schemas.microsoft.com/office/powerpoint/2010/main" val="839031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a:bodyPr>
          <a:lstStyle/>
          <a:p>
            <a:r>
              <a:rPr lang="en-US" altLang="zh-CN" sz="3600" dirty="0">
                <a:latin typeface="Times New Roman" panose="02020603050405020304" pitchFamily="18" charset="0"/>
                <a:cs typeface="Times New Roman" panose="02020603050405020304" pitchFamily="18" charset="0"/>
              </a:rPr>
              <a:t>Requirements and Challenges</a:t>
            </a:r>
            <a:endParaRPr lang="en-US" altLang="en-US" sz="3600" dirty="0">
              <a:latin typeface="Times New Roman" panose="02020603050405020304" pitchFamily="18" charset="0"/>
              <a:cs typeface="Times New Roman" panose="02020603050405020304" pitchFamily="18" charset="0"/>
            </a:endParaRPr>
          </a:p>
        </p:txBody>
      </p:sp>
      <p:sp>
        <p:nvSpPr>
          <p:cNvPr id="4100" name="Rectangle 3"/>
          <p:cNvSpPr>
            <a:spLocks noGrp="1" noChangeArrowheads="1"/>
          </p:cNvSpPr>
          <p:nvPr>
            <p:ph type="body" idx="1"/>
          </p:nvPr>
        </p:nvSpPr>
        <p:spPr>
          <a:xfrm>
            <a:off x="710119" y="1690688"/>
            <a:ext cx="10643681" cy="4486275"/>
          </a:xfrm>
        </p:spPr>
        <p:txBody>
          <a:bodyPr>
            <a:normAutofit fontScale="92500" lnSpcReduction="10000"/>
          </a:bodyPr>
          <a:lstStyle/>
          <a:p>
            <a:r>
              <a:rPr lang="en-US" altLang="zh-CN" dirty="0">
                <a:latin typeface="Times New Roman" panose="02020603050405020304" pitchFamily="18" charset="0"/>
                <a:cs typeface="Times New Roman" panose="02020603050405020304" pitchFamily="18" charset="0"/>
              </a:rPr>
              <a:t>Quality</a:t>
            </a:r>
          </a:p>
          <a:p>
            <a:pPr lvl="1"/>
            <a:r>
              <a:rPr lang="en-US" altLang="zh-CN" dirty="0">
                <a:latin typeface="Times New Roman" panose="02020603050405020304" pitchFamily="18" charset="0"/>
                <a:cs typeface="Times New Roman" panose="02020603050405020304" pitchFamily="18" charset="0"/>
              </a:rPr>
              <a:t>Ability to deal with different types of attributes: Numerical, categorical, text, multimedia, networks, and mixture of multiple types</a:t>
            </a:r>
          </a:p>
          <a:p>
            <a:pPr lvl="1"/>
            <a:r>
              <a:rPr lang="en-US" altLang="zh-CN" dirty="0">
                <a:latin typeface="Times New Roman" panose="02020603050405020304" pitchFamily="18" charset="0"/>
                <a:cs typeface="Times New Roman" panose="02020603050405020304" pitchFamily="18" charset="0"/>
              </a:rPr>
              <a:t>Discovery of clusters with arbitrary shape</a:t>
            </a:r>
          </a:p>
          <a:p>
            <a:pPr lvl="1"/>
            <a:r>
              <a:rPr lang="en-US" altLang="zh-CN" dirty="0">
                <a:latin typeface="Times New Roman" panose="02020603050405020304" pitchFamily="18" charset="0"/>
                <a:cs typeface="Times New Roman" panose="02020603050405020304" pitchFamily="18" charset="0"/>
              </a:rPr>
              <a:t>Ability to deal with noisy data</a:t>
            </a:r>
          </a:p>
          <a:p>
            <a:r>
              <a:rPr lang="en-US" altLang="zh-CN" dirty="0">
                <a:latin typeface="Times New Roman" panose="02020603050405020304" pitchFamily="18" charset="0"/>
                <a:cs typeface="Times New Roman" panose="02020603050405020304" pitchFamily="18" charset="0"/>
              </a:rPr>
              <a:t>Scalability</a:t>
            </a:r>
          </a:p>
          <a:p>
            <a:pPr lvl="1"/>
            <a:r>
              <a:rPr lang="en-US" altLang="zh-CN" dirty="0">
                <a:latin typeface="Times New Roman" panose="02020603050405020304" pitchFamily="18" charset="0"/>
                <a:cs typeface="Times New Roman" panose="02020603050405020304" pitchFamily="18" charset="0"/>
              </a:rPr>
              <a:t>Clustering all the data instead of only on samples</a:t>
            </a:r>
          </a:p>
          <a:p>
            <a:pPr lvl="1"/>
            <a:r>
              <a:rPr lang="en-US" altLang="zh-CN" dirty="0">
                <a:latin typeface="Times New Roman" panose="02020603050405020304" pitchFamily="18" charset="0"/>
                <a:cs typeface="Times New Roman" panose="02020603050405020304" pitchFamily="18" charset="0"/>
              </a:rPr>
              <a:t>High dimensionality</a:t>
            </a:r>
          </a:p>
          <a:p>
            <a:pPr lvl="1"/>
            <a:r>
              <a:rPr lang="en-US" altLang="zh-CN" dirty="0">
                <a:latin typeface="Times New Roman" panose="02020603050405020304" pitchFamily="18" charset="0"/>
                <a:cs typeface="Times New Roman" panose="02020603050405020304" pitchFamily="18" charset="0"/>
              </a:rPr>
              <a:t>Incremental </a:t>
            </a:r>
            <a:r>
              <a:rPr lang="en-US" altLang="zh-CN" dirty="0" smtClean="0">
                <a:latin typeface="Times New Roman" panose="02020603050405020304" pitchFamily="18" charset="0"/>
                <a:cs typeface="Times New Roman" panose="02020603050405020304" pitchFamily="18" charset="0"/>
              </a:rPr>
              <a:t>clustering </a:t>
            </a:r>
            <a:r>
              <a:rPr lang="en-US" altLang="zh-CN" dirty="0">
                <a:latin typeface="Times New Roman" panose="02020603050405020304" pitchFamily="18" charset="0"/>
                <a:cs typeface="Times New Roman" panose="02020603050405020304" pitchFamily="18" charset="0"/>
              </a:rPr>
              <a:t>and insensitivity to input order</a:t>
            </a:r>
          </a:p>
          <a:p>
            <a:r>
              <a:rPr lang="en-US" altLang="zh-CN" dirty="0">
                <a:latin typeface="Times New Roman" panose="02020603050405020304" pitchFamily="18" charset="0"/>
                <a:cs typeface="Times New Roman" panose="02020603050405020304" pitchFamily="18" charset="0"/>
              </a:rPr>
              <a:t>Constraint-based clustering</a:t>
            </a:r>
          </a:p>
          <a:p>
            <a:pPr lvl="1"/>
            <a:r>
              <a:rPr lang="en-US" altLang="zh-CN" dirty="0">
                <a:latin typeface="Times New Roman" panose="02020603050405020304" pitchFamily="18" charset="0"/>
                <a:cs typeface="Times New Roman" panose="02020603050405020304" pitchFamily="18" charset="0"/>
              </a:rPr>
              <a:t>User-given preferences or constraints; domain knowledge; user queries  </a:t>
            </a:r>
          </a:p>
          <a:p>
            <a:r>
              <a:rPr lang="en-US" altLang="zh-CN" dirty="0">
                <a:latin typeface="Times New Roman" panose="02020603050405020304" pitchFamily="18" charset="0"/>
                <a:cs typeface="Times New Roman" panose="02020603050405020304" pitchFamily="18" charset="0"/>
              </a:rPr>
              <a:t>Interpretability and usability</a:t>
            </a:r>
          </a:p>
        </p:txBody>
      </p:sp>
    </p:spTree>
    <p:extLst>
      <p:ext uri="{BB962C8B-B14F-4D97-AF65-F5344CB8AC3E}">
        <p14:creationId xmlns:p14="http://schemas.microsoft.com/office/powerpoint/2010/main" val="746796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838200" y="365126"/>
            <a:ext cx="10515600" cy="860560"/>
          </a:xfrm>
        </p:spPr>
        <p:txBody>
          <a:bodyPr>
            <a:normAutofit/>
          </a:bodyPr>
          <a:lstStyle/>
          <a:p>
            <a:r>
              <a:rPr lang="en-US" altLang="en-US" sz="3600" dirty="0">
                <a:latin typeface="Times New Roman" panose="02020603050405020304" pitchFamily="18" charset="0"/>
                <a:cs typeface="Times New Roman" panose="02020603050405020304" pitchFamily="18" charset="0"/>
              </a:rPr>
              <a:t>Typical Clustering Methodologies</a:t>
            </a:r>
          </a:p>
        </p:txBody>
      </p:sp>
      <p:sp>
        <p:nvSpPr>
          <p:cNvPr id="4100" name="Rectangle 3"/>
          <p:cNvSpPr>
            <a:spLocks noGrp="1" noChangeArrowheads="1"/>
          </p:cNvSpPr>
          <p:nvPr>
            <p:ph type="body" idx="1"/>
          </p:nvPr>
        </p:nvSpPr>
        <p:spPr>
          <a:xfrm>
            <a:off x="838200" y="1420238"/>
            <a:ext cx="10515600" cy="4756725"/>
          </a:xfrm>
        </p:spPr>
        <p:txBody>
          <a:bodyPr>
            <a:normAutofit/>
          </a:bodyPr>
          <a:lstStyle/>
          <a:p>
            <a:r>
              <a:rPr lang="en-US" altLang="en-US" dirty="0">
                <a:latin typeface="Times New Roman" panose="02020603050405020304" pitchFamily="18" charset="0"/>
                <a:cs typeface="Times New Roman" panose="02020603050405020304" pitchFamily="18" charset="0"/>
              </a:rPr>
              <a:t>Distance-based methods</a:t>
            </a:r>
          </a:p>
          <a:p>
            <a:pPr lvl="1"/>
            <a:r>
              <a:rPr lang="en-US" altLang="en-US" dirty="0">
                <a:latin typeface="Times New Roman" panose="02020603050405020304" pitchFamily="18" charset="0"/>
                <a:cs typeface="Times New Roman" panose="02020603050405020304" pitchFamily="18" charset="0"/>
              </a:rPr>
              <a:t>Partitioning algorithms: K-Means, K-Medians, K-</a:t>
            </a:r>
            <a:r>
              <a:rPr lang="en-US" altLang="en-US" dirty="0" err="1">
                <a:latin typeface="Times New Roman" panose="02020603050405020304" pitchFamily="18" charset="0"/>
                <a:cs typeface="Times New Roman" panose="02020603050405020304" pitchFamily="18" charset="0"/>
              </a:rPr>
              <a:t>Medoids</a:t>
            </a:r>
            <a:endParaRPr lang="en-US" altLang="en-US" dirty="0">
              <a:latin typeface="Times New Roman" panose="02020603050405020304" pitchFamily="18" charset="0"/>
              <a:cs typeface="Times New Roman" panose="02020603050405020304" pitchFamily="18" charset="0"/>
            </a:endParaRPr>
          </a:p>
          <a:p>
            <a:pPr lvl="1"/>
            <a:r>
              <a:rPr lang="en-US" altLang="en-US" dirty="0">
                <a:latin typeface="Times New Roman" panose="02020603050405020304" pitchFamily="18" charset="0"/>
                <a:cs typeface="Times New Roman" panose="02020603050405020304" pitchFamily="18" charset="0"/>
              </a:rPr>
              <a:t>Hierarchical algorithms: Agglomerative vs. divisive </a:t>
            </a:r>
            <a:r>
              <a:rPr lang="en-US" altLang="en-US" dirty="0" smtClean="0">
                <a:latin typeface="Times New Roman" panose="02020603050405020304" pitchFamily="18" charset="0"/>
                <a:cs typeface="Times New Roman" panose="02020603050405020304" pitchFamily="18" charset="0"/>
              </a:rPr>
              <a:t>methods</a:t>
            </a:r>
          </a:p>
          <a:p>
            <a:pPr marL="457200" lvl="1" indent="0">
              <a:buNone/>
            </a:pP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Density-based and grid-based methods</a:t>
            </a:r>
          </a:p>
          <a:p>
            <a:pPr lvl="1"/>
            <a:r>
              <a:rPr lang="en-US" altLang="en-US" dirty="0">
                <a:latin typeface="Times New Roman" panose="02020603050405020304" pitchFamily="18" charset="0"/>
                <a:cs typeface="Times New Roman" panose="02020603050405020304" pitchFamily="18" charset="0"/>
              </a:rPr>
              <a:t>Density-based:  Data space is explored at a high-level of granularity and then post-processing to put together dense regions into an arbitrary shape</a:t>
            </a:r>
          </a:p>
          <a:p>
            <a:pPr marL="0" indent="0">
              <a:buNone/>
            </a:pPr>
            <a:endParaRPr lang="en-US" altLang="en-US" dirty="0"/>
          </a:p>
        </p:txBody>
      </p:sp>
    </p:spTree>
    <p:extLst>
      <p:ext uri="{BB962C8B-B14F-4D97-AF65-F5344CB8AC3E}">
        <p14:creationId xmlns:p14="http://schemas.microsoft.com/office/powerpoint/2010/main" val="3845382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838200" y="365126"/>
            <a:ext cx="10515600" cy="918926"/>
          </a:xfrm>
        </p:spPr>
        <p:txBody>
          <a:bodyPr>
            <a:normAutofit/>
          </a:bodyPr>
          <a:lstStyle/>
          <a:p>
            <a:r>
              <a:rPr lang="en-US" altLang="en-US" sz="3600" dirty="0">
                <a:latin typeface="Times New Roman" panose="02020603050405020304" pitchFamily="18" charset="0"/>
                <a:cs typeface="Times New Roman" panose="02020603050405020304" pitchFamily="18" charset="0"/>
              </a:rPr>
              <a:t>Clustering Different Types of </a:t>
            </a:r>
            <a:r>
              <a:rPr lang="en-US" altLang="en-US" sz="3600" dirty="0" smtClean="0">
                <a:latin typeface="Times New Roman" panose="02020603050405020304" pitchFamily="18" charset="0"/>
                <a:cs typeface="Times New Roman" panose="02020603050405020304" pitchFamily="18" charset="0"/>
              </a:rPr>
              <a:t>Data</a:t>
            </a:r>
            <a:endParaRPr lang="en-US" altLang="en-US" sz="3600" dirty="0">
              <a:latin typeface="Times New Roman" panose="02020603050405020304" pitchFamily="18" charset="0"/>
              <a:cs typeface="Times New Roman" panose="02020603050405020304" pitchFamily="18" charset="0"/>
            </a:endParaRPr>
          </a:p>
        </p:txBody>
      </p:sp>
      <p:sp>
        <p:nvSpPr>
          <p:cNvPr id="4100" name="Rectangle 3"/>
          <p:cNvSpPr>
            <a:spLocks noGrp="1" noChangeArrowheads="1"/>
          </p:cNvSpPr>
          <p:nvPr>
            <p:ph type="body" idx="1"/>
          </p:nvPr>
        </p:nvSpPr>
        <p:spPr>
          <a:xfrm>
            <a:off x="838200" y="1284052"/>
            <a:ext cx="10515600" cy="4892911"/>
          </a:xfrm>
        </p:spPr>
        <p:txBody>
          <a:bodyPr>
            <a:normAutofit/>
          </a:bodyPr>
          <a:lstStyle/>
          <a:p>
            <a:r>
              <a:rPr lang="en-US" altLang="en-US" dirty="0"/>
              <a:t>Numerical data</a:t>
            </a:r>
          </a:p>
          <a:p>
            <a:pPr lvl="1"/>
            <a:r>
              <a:rPr lang="en-US" altLang="en-US" dirty="0"/>
              <a:t>Most earliest clustering algorithms were designed for numerical </a:t>
            </a:r>
            <a:r>
              <a:rPr lang="en-US" altLang="en-US" dirty="0" smtClean="0"/>
              <a:t>data</a:t>
            </a:r>
          </a:p>
          <a:p>
            <a:pPr marL="457200" lvl="1" indent="0">
              <a:buNone/>
            </a:pPr>
            <a:endParaRPr lang="en-US" altLang="en-US" dirty="0"/>
          </a:p>
          <a:p>
            <a:r>
              <a:rPr lang="en-US" altLang="en-US" dirty="0"/>
              <a:t>Categorical data (including binary data)</a:t>
            </a:r>
          </a:p>
          <a:p>
            <a:pPr lvl="1"/>
            <a:r>
              <a:rPr lang="en-US" altLang="en-US" dirty="0"/>
              <a:t>Discrete data, no natural order (e.g., sex, race, zip-code, and market-basket) </a:t>
            </a:r>
            <a:endParaRPr lang="en-US" altLang="en-US" dirty="0" smtClean="0"/>
          </a:p>
          <a:p>
            <a:pPr marL="457200" lvl="1" indent="0">
              <a:buNone/>
            </a:pPr>
            <a:endParaRPr lang="en-US" altLang="en-US" dirty="0"/>
          </a:p>
          <a:p>
            <a:r>
              <a:rPr lang="en-US" altLang="en-US" dirty="0"/>
              <a:t>Text data:  Popular in social media, Web, and social networks</a:t>
            </a:r>
          </a:p>
          <a:p>
            <a:pPr lvl="1"/>
            <a:r>
              <a:rPr lang="en-US" altLang="en-US" dirty="0"/>
              <a:t>Features:  High-dimensional, sparse, value corresponding to word frequencies</a:t>
            </a:r>
          </a:p>
          <a:p>
            <a:pPr lvl="1"/>
            <a:r>
              <a:rPr lang="en-US" altLang="en-US" dirty="0"/>
              <a:t>Methods: Combination of k-means and agglomerative; topic modeling; </a:t>
            </a:r>
            <a:r>
              <a:rPr lang="en-US" altLang="en-US" dirty="0" smtClean="0"/>
              <a:t>co-clustering</a:t>
            </a:r>
          </a:p>
          <a:p>
            <a:pPr marL="457200" lvl="1" indent="0">
              <a:buNone/>
            </a:pPr>
            <a:endParaRPr lang="en-US" altLang="en-US" dirty="0"/>
          </a:p>
        </p:txBody>
      </p:sp>
    </p:spTree>
    <p:extLst>
      <p:ext uri="{BB962C8B-B14F-4D97-AF65-F5344CB8AC3E}">
        <p14:creationId xmlns:p14="http://schemas.microsoft.com/office/powerpoint/2010/main" val="2350571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Similarity measures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3999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91" y="365126"/>
            <a:ext cx="10886209" cy="601230"/>
          </a:xfrm>
        </p:spPr>
        <p:txBody>
          <a:bodyPr>
            <a:normAutofit fontScale="90000"/>
          </a:bodyPr>
          <a:lstStyle/>
          <a:p>
            <a:r>
              <a:rPr lang="en-US" dirty="0" smtClean="0"/>
              <a:t/>
            </a:r>
            <a:br>
              <a:rPr lang="en-US" dirty="0" smtClean="0"/>
            </a:br>
            <a:r>
              <a:rPr lang="en-US" sz="4000" b="1" dirty="0" smtClean="0">
                <a:latin typeface="Times New Roman" panose="02020603050405020304" pitchFamily="18" charset="0"/>
                <a:cs typeface="Times New Roman" panose="02020603050405020304" pitchFamily="18" charset="0"/>
              </a:rPr>
              <a:t>Similarity measures Introduction:</a:t>
            </a:r>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8654" y="1119042"/>
            <a:ext cx="10515600" cy="5146675"/>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Clustering is the process of dividing a set of objects into groups or clusters based on their similarities. </a:t>
            </a:r>
            <a:r>
              <a:rPr lang="en-US" sz="2400" dirty="0" smtClean="0">
                <a:solidFill>
                  <a:srgbClr val="FF0000"/>
                </a:solidFill>
                <a:latin typeface="Times New Roman" panose="02020603050405020304" pitchFamily="18" charset="0"/>
                <a:cs typeface="Times New Roman" panose="02020603050405020304" pitchFamily="18" charset="0"/>
              </a:rPr>
              <a:t>The similarity between objects is typically measured using a distance or similarity measure. </a:t>
            </a:r>
          </a:p>
          <a:p>
            <a:pPr marL="0" indent="0" algn="just">
              <a:buNone/>
            </a:pPr>
            <a:endParaRPr lang="en-US" sz="2400" dirty="0" smtClean="0">
              <a:solidFill>
                <a:srgbClr val="FF000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choice of distance or similarity measure can greatly impact the clustering results, as different measures can lead to different clusters.</a:t>
            </a:r>
          </a:p>
          <a:p>
            <a:pPr marL="0" indent="0" algn="just">
              <a:buNone/>
            </a:pPr>
            <a:r>
              <a:rPr lang="en-US" sz="2400" dirty="0" smtClean="0">
                <a:latin typeface="Times New Roman" panose="02020603050405020304" pitchFamily="18" charset="0"/>
                <a:cs typeface="Times New Roman" panose="02020603050405020304" pitchFamily="18" charset="0"/>
              </a:rPr>
              <a:t> </a:t>
            </a:r>
          </a:p>
          <a:p>
            <a:pPr algn="just"/>
            <a:r>
              <a:rPr lang="en-US" sz="2400" dirty="0" smtClean="0">
                <a:latin typeface="Times New Roman" panose="02020603050405020304" pitchFamily="18" charset="0"/>
                <a:cs typeface="Times New Roman" panose="02020603050405020304" pitchFamily="18" charset="0"/>
              </a:rPr>
              <a:t>In this topic, we will explore the different distance and similarity measures used in clustering and their impact on the clustering results.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8378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7484"/>
          </a:xfrm>
        </p:spPr>
        <p:txBody>
          <a:bodyPr>
            <a:normAutofit/>
          </a:bodyPr>
          <a:lstStyle/>
          <a:p>
            <a:r>
              <a:rPr lang="en-US" sz="3600" b="1" dirty="0" smtClean="0">
                <a:latin typeface="Times New Roman" panose="02020603050405020304" pitchFamily="18" charset="0"/>
                <a:cs typeface="Times New Roman" panose="02020603050405020304" pitchFamily="18" charset="0"/>
              </a:rPr>
              <a:t>Similarity measure purpose</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6518"/>
            <a:ext cx="10515600" cy="4940445"/>
          </a:xfrm>
        </p:spPr>
        <p:txBody>
          <a:bodyPr>
            <a:normAutofit fontScale="92500" lnSpcReduction="10000"/>
          </a:bodyPr>
          <a:lstStyle/>
          <a:p>
            <a:pPr algn="just"/>
            <a:r>
              <a:rPr lang="en-US" sz="2400" b="1" dirty="0" smtClean="0">
                <a:latin typeface="Times New Roman" panose="02020603050405020304" pitchFamily="18" charset="0"/>
                <a:cs typeface="Times New Roman" panose="02020603050405020304" pitchFamily="18" charset="0"/>
              </a:rPr>
              <a:t>Similarity measures</a:t>
            </a:r>
            <a:r>
              <a:rPr lang="en-US" sz="2400" dirty="0" smtClean="0">
                <a:latin typeface="Times New Roman" panose="02020603050405020304" pitchFamily="18" charset="0"/>
                <a:cs typeface="Times New Roman" panose="02020603050405020304" pitchFamily="18" charset="0"/>
              </a:rPr>
              <a:t> in clustering refer to mathematical tools or functions used to quantify how similar or dissimilar two data points are. </a:t>
            </a:r>
            <a:endParaRPr lang="en-US" sz="2400" dirty="0" smtClean="0">
              <a:latin typeface="Times New Roman" panose="02020603050405020304" pitchFamily="18" charset="0"/>
              <a:cs typeface="Times New Roman" panose="02020603050405020304" pitchFamily="18" charset="0"/>
            </a:endParaRP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These measures determine how data points are grouped together based on their likeness, where points with higher similarity are clustered together</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solidFill>
                  <a:srgbClr val="FF0000"/>
                </a:solidFill>
                <a:latin typeface="Times New Roman" panose="02020603050405020304" pitchFamily="18" charset="0"/>
                <a:cs typeface="Times New Roman" panose="02020603050405020304" pitchFamily="18" charset="0"/>
              </a:rPr>
              <a:t> Common similarity measures </a:t>
            </a:r>
            <a:r>
              <a:rPr lang="en-US" sz="2400" dirty="0" smtClean="0">
                <a:latin typeface="Times New Roman" panose="02020603050405020304" pitchFamily="18" charset="0"/>
                <a:cs typeface="Times New Roman" panose="02020603050405020304" pitchFamily="18" charset="0"/>
              </a:rPr>
              <a:t>include </a:t>
            </a:r>
            <a:r>
              <a:rPr lang="en-US" sz="2400" b="1" dirty="0" smtClean="0">
                <a:latin typeface="Times New Roman" panose="02020603050405020304" pitchFamily="18" charset="0"/>
                <a:cs typeface="Times New Roman" panose="02020603050405020304" pitchFamily="18" charset="0"/>
              </a:rPr>
              <a:t>Euclidean distance</a:t>
            </a:r>
            <a:r>
              <a:rPr lang="en-US" sz="24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Manhattan distance</a:t>
            </a:r>
            <a:r>
              <a:rPr lang="en-US" sz="2400"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Cosine similarity</a:t>
            </a:r>
            <a:r>
              <a:rPr lang="en-US" sz="2400" dirty="0" smtClean="0">
                <a:latin typeface="Times New Roman" panose="02020603050405020304" pitchFamily="18" charset="0"/>
                <a:cs typeface="Times New Roman" panose="02020603050405020304" pitchFamily="18" charset="0"/>
              </a:rPr>
              <a:t>, and </a:t>
            </a:r>
            <a:r>
              <a:rPr lang="en-US" sz="2400" b="1" dirty="0" err="1" smtClean="0">
                <a:latin typeface="Times New Roman" panose="02020603050405020304" pitchFamily="18" charset="0"/>
                <a:cs typeface="Times New Roman" panose="02020603050405020304" pitchFamily="18" charset="0"/>
              </a:rPr>
              <a:t>Jaccard</a:t>
            </a:r>
            <a:r>
              <a:rPr lang="en-US" sz="2400" b="1" dirty="0" smtClean="0">
                <a:latin typeface="Times New Roman" panose="02020603050405020304" pitchFamily="18" charset="0"/>
                <a:cs typeface="Times New Roman" panose="02020603050405020304" pitchFamily="18" charset="0"/>
              </a:rPr>
              <a:t> similarity</a:t>
            </a:r>
            <a:r>
              <a:rPr lang="en-US" sz="2400" dirty="0" smtClean="0">
                <a:latin typeface="Times New Roman" panose="02020603050405020304" pitchFamily="18" charset="0"/>
                <a:cs typeface="Times New Roman" panose="02020603050405020304" pitchFamily="18" charset="0"/>
              </a:rPr>
              <a:t>, each suited for different types of data and clustering algorithms</a:t>
            </a:r>
            <a:r>
              <a:rPr lang="en-US" sz="2400" dirty="0" smtClean="0">
                <a:latin typeface="Times New Roman" panose="02020603050405020304" pitchFamily="18" charset="0"/>
                <a:cs typeface="Times New Roman" panose="02020603050405020304" pitchFamily="18" charset="0"/>
              </a:rPr>
              <a:t>.</a:t>
            </a:r>
          </a:p>
          <a:p>
            <a:pPr marL="0" indent="0" algn="just">
              <a:buNone/>
            </a:pP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Depending on the type of data (numbers, categories, or text), you choose different ways to measure similarity. The right similarity measure helps the algorithm find patterns, group similar things together, and make sure the clusters are meaningful and accurate. Choosing the right one is important for getting good results.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0732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083" y="384464"/>
            <a:ext cx="11010900" cy="6068291"/>
          </a:xfrm>
        </p:spPr>
        <p:txBody>
          <a:bodyPr>
            <a:normAutofit fontScale="92500" lnSpcReduction="20000"/>
          </a:bodyPr>
          <a:lstStyle/>
          <a:p>
            <a:pPr marL="0" indent="0">
              <a:buNone/>
            </a:pPr>
            <a:r>
              <a:rPr lang="en-US" dirty="0" smtClean="0"/>
              <a:t> </a:t>
            </a:r>
            <a:r>
              <a:rPr lang="en-US" sz="2600" dirty="0" smtClean="0">
                <a:latin typeface="Times New Roman" panose="02020603050405020304" pitchFamily="18" charset="0"/>
                <a:cs typeface="Times New Roman" panose="02020603050405020304" pitchFamily="18" charset="0"/>
              </a:rPr>
              <a:t>1.</a:t>
            </a:r>
            <a:r>
              <a:rPr lang="en-US" sz="2600" dirty="0" smtClean="0">
                <a:solidFill>
                  <a:srgbClr val="FF0000"/>
                </a:solidFill>
                <a:latin typeface="Times New Roman" panose="02020603050405020304" pitchFamily="18" charset="0"/>
                <a:cs typeface="Times New Roman" panose="02020603050405020304" pitchFamily="18" charset="0"/>
              </a:rPr>
              <a:t>Euclidean Distance: </a:t>
            </a:r>
            <a:r>
              <a:rPr lang="en-US" sz="2600" dirty="0" smtClean="0">
                <a:latin typeface="Times New Roman" panose="02020603050405020304" pitchFamily="18" charset="0"/>
                <a:cs typeface="Times New Roman" panose="02020603050405020304" pitchFamily="18" charset="0"/>
              </a:rPr>
              <a:t>Measures the straight-line distance between two points in a multi-dimensional space.</a:t>
            </a:r>
          </a:p>
          <a:p>
            <a:r>
              <a:rPr lang="en-US" sz="2600" dirty="0" smtClean="0">
                <a:latin typeface="Times New Roman" panose="02020603050405020304" pitchFamily="18" charset="0"/>
                <a:cs typeface="Times New Roman" panose="02020603050405020304" pitchFamily="18" charset="0"/>
              </a:rPr>
              <a:t>This is the most common distance measure used in clustering. Euclidean distance can be used for data with continuous variables, such as height, weight, or age.</a:t>
            </a:r>
          </a:p>
          <a:p>
            <a:r>
              <a:rPr lang="en-US" sz="2600" dirty="0" smtClean="0">
                <a:latin typeface="Times New Roman" panose="02020603050405020304" pitchFamily="18" charset="0"/>
                <a:cs typeface="Times New Roman" panose="02020603050405020304" pitchFamily="18" charset="0"/>
              </a:rPr>
              <a:t>Formula:</a:t>
            </a:r>
          </a:p>
          <a:p>
            <a:pPr marL="0" indent="0">
              <a:buNone/>
            </a:pPr>
            <a:endParaRPr lang="en-US" dirty="0" smtClean="0"/>
          </a:p>
          <a:p>
            <a:endParaRPr lang="en-US" dirty="0" smtClean="0">
              <a:solidFill>
                <a:srgbClr val="FF0000"/>
              </a:solidFill>
            </a:endParaRPr>
          </a:p>
          <a:p>
            <a:pPr marL="0" indent="0">
              <a:buNone/>
            </a:pPr>
            <a:endParaRPr lang="en-US" dirty="0" smtClean="0">
              <a:solidFill>
                <a:srgbClr val="FF0000"/>
              </a:solidFill>
            </a:endParaRPr>
          </a:p>
          <a:p>
            <a:pPr marL="0" indent="0">
              <a:buNone/>
            </a:pPr>
            <a:endParaRPr lang="en-US" dirty="0">
              <a:solidFill>
                <a:srgbClr val="FF0000"/>
              </a:solidFill>
            </a:endParaRPr>
          </a:p>
          <a:p>
            <a:pPr marL="0" indent="0">
              <a:buNone/>
            </a:pPr>
            <a:endParaRPr lang="en-US" dirty="0" smtClean="0">
              <a:solidFill>
                <a:srgbClr val="FF0000"/>
              </a:solidFill>
            </a:endParaRPr>
          </a:p>
          <a:p>
            <a:pPr marL="0" indent="0">
              <a:buNone/>
            </a:pPr>
            <a:r>
              <a:rPr lang="en-US" sz="2600" dirty="0" smtClean="0">
                <a:solidFill>
                  <a:srgbClr val="FF0000"/>
                </a:solidFill>
                <a:latin typeface="Times New Roman" panose="02020603050405020304" pitchFamily="18" charset="0"/>
                <a:cs typeface="Times New Roman" panose="02020603050405020304" pitchFamily="18" charset="0"/>
              </a:rPr>
              <a:t>Use Cases:</a:t>
            </a:r>
          </a:p>
          <a:p>
            <a:r>
              <a:rPr lang="en-US" sz="2600" dirty="0" smtClean="0">
                <a:latin typeface="Times New Roman" panose="02020603050405020304" pitchFamily="18" charset="0"/>
                <a:cs typeface="Times New Roman" panose="02020603050405020304" pitchFamily="18" charset="0"/>
              </a:rPr>
              <a:t>Widely used in algorithms like K-Means and Hierarchical Clustering.</a:t>
            </a:r>
          </a:p>
          <a:p>
            <a:r>
              <a:rPr lang="en-US" sz="2600" dirty="0" smtClean="0">
                <a:latin typeface="Times New Roman" panose="02020603050405020304" pitchFamily="18" charset="0"/>
                <a:cs typeface="Times New Roman" panose="02020603050405020304" pitchFamily="18" charset="0"/>
              </a:rPr>
              <a:t>Suitable for numerical and continuous data.</a:t>
            </a:r>
          </a:p>
          <a:p>
            <a:pPr marL="0" indent="0">
              <a:buNone/>
            </a:pPr>
            <a:r>
              <a:rPr lang="en-US" sz="2600" dirty="0" smtClean="0">
                <a:solidFill>
                  <a:srgbClr val="FF0000"/>
                </a:solidFill>
                <a:latin typeface="Times New Roman" panose="02020603050405020304" pitchFamily="18" charset="0"/>
                <a:cs typeface="Times New Roman" panose="02020603050405020304" pitchFamily="18" charset="0"/>
              </a:rPr>
              <a:t>Advantages: </a:t>
            </a:r>
            <a:r>
              <a:rPr lang="en-US" sz="2600" dirty="0" smtClean="0">
                <a:latin typeface="Times New Roman" panose="02020603050405020304" pitchFamily="18" charset="0"/>
                <a:cs typeface="Times New Roman" panose="02020603050405020304" pitchFamily="18" charset="0"/>
              </a:rPr>
              <a:t>Easy to compute, works well with compact, </a:t>
            </a:r>
            <a:r>
              <a:rPr lang="en-US" sz="2600" b="1" dirty="0" smtClean="0">
                <a:latin typeface="Times New Roman" panose="02020603050405020304" pitchFamily="18" charset="0"/>
                <a:cs typeface="Times New Roman" panose="02020603050405020304" pitchFamily="18" charset="0"/>
              </a:rPr>
              <a:t>spherical clusters</a:t>
            </a:r>
            <a:r>
              <a:rPr lang="en-US" sz="2600" dirty="0" smtClean="0">
                <a:latin typeface="Times New Roman" panose="02020603050405020304" pitchFamily="18" charset="0"/>
                <a:cs typeface="Times New Roman" panose="02020603050405020304" pitchFamily="18" charset="0"/>
              </a:rPr>
              <a:t>.</a:t>
            </a:r>
          </a:p>
          <a:p>
            <a:pPr marL="0" indent="0">
              <a:buNone/>
            </a:pPr>
            <a:r>
              <a:rPr lang="en-US" sz="2600" dirty="0" smtClean="0">
                <a:solidFill>
                  <a:srgbClr val="FF0000"/>
                </a:solidFill>
                <a:latin typeface="Times New Roman" panose="02020603050405020304" pitchFamily="18" charset="0"/>
                <a:cs typeface="Times New Roman" panose="02020603050405020304" pitchFamily="18" charset="0"/>
              </a:rPr>
              <a:t>Disadvantages: </a:t>
            </a:r>
            <a:r>
              <a:rPr lang="en-US" sz="2600" dirty="0" smtClean="0">
                <a:latin typeface="Times New Roman" panose="02020603050405020304" pitchFamily="18" charset="0"/>
                <a:cs typeface="Times New Roman" panose="02020603050405020304" pitchFamily="18" charset="0"/>
              </a:rPr>
              <a:t>Sensitive to outliers and the scale of features, requires normalization in many cases.</a:t>
            </a:r>
          </a:p>
        </p:txBody>
      </p:sp>
      <p:pic>
        <p:nvPicPr>
          <p:cNvPr id="5" name="Picture 4"/>
          <p:cNvPicPr>
            <a:picLocks noChangeAspect="1"/>
          </p:cNvPicPr>
          <p:nvPr/>
        </p:nvPicPr>
        <p:blipFill>
          <a:blip r:embed="rId2"/>
          <a:stretch>
            <a:fillRect/>
          </a:stretch>
        </p:blipFill>
        <p:spPr>
          <a:xfrm>
            <a:off x="5663047" y="1600199"/>
            <a:ext cx="5056906" cy="2368694"/>
          </a:xfrm>
          <a:prstGeom prst="rect">
            <a:avLst/>
          </a:prstGeom>
        </p:spPr>
      </p:pic>
      <p:pic>
        <p:nvPicPr>
          <p:cNvPr id="6" name="Picture 5"/>
          <p:cNvPicPr>
            <a:picLocks noChangeAspect="1"/>
          </p:cNvPicPr>
          <p:nvPr/>
        </p:nvPicPr>
        <p:blipFill>
          <a:blip r:embed="rId3"/>
          <a:stretch>
            <a:fillRect/>
          </a:stretch>
        </p:blipFill>
        <p:spPr>
          <a:xfrm>
            <a:off x="1477673" y="2421515"/>
            <a:ext cx="3209925" cy="1266825"/>
          </a:xfrm>
          <a:prstGeom prst="rect">
            <a:avLst/>
          </a:prstGeom>
        </p:spPr>
      </p:pic>
      <p:pic>
        <p:nvPicPr>
          <p:cNvPr id="7" name="Picture 6"/>
          <p:cNvPicPr>
            <a:picLocks noChangeAspect="1"/>
          </p:cNvPicPr>
          <p:nvPr/>
        </p:nvPicPr>
        <p:blipFill>
          <a:blip r:embed="rId4"/>
          <a:stretch>
            <a:fillRect/>
          </a:stretch>
        </p:blipFill>
        <p:spPr>
          <a:xfrm>
            <a:off x="6340618" y="3792682"/>
            <a:ext cx="3971925" cy="685800"/>
          </a:xfrm>
          <a:prstGeom prst="rect">
            <a:avLst/>
          </a:prstGeom>
        </p:spPr>
      </p:pic>
    </p:spTree>
    <p:extLst>
      <p:ext uri="{BB962C8B-B14F-4D97-AF65-F5344CB8AC3E}">
        <p14:creationId xmlns:p14="http://schemas.microsoft.com/office/powerpoint/2010/main" val="2472572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5353"/>
            <a:ext cx="11104418" cy="310284"/>
          </a:xfrm>
        </p:spPr>
        <p:txBody>
          <a:bodyPr>
            <a:normAutofit fontScale="90000"/>
          </a:bodyPr>
          <a:lstStyle/>
          <a:p>
            <a:r>
              <a:rPr lang="en-US" dirty="0" smtClean="0">
                <a:latin typeface="Times New Roman" panose="02020603050405020304" pitchFamily="18" charset="0"/>
                <a:cs typeface="Times New Roman" panose="02020603050405020304" pitchFamily="18" charset="0"/>
              </a:rPr>
              <a:t>Example Problem on </a:t>
            </a:r>
            <a:r>
              <a:rPr lang="en-US" dirty="0" smtClean="0">
                <a:solidFill>
                  <a:srgbClr val="FF0000"/>
                </a:solidFill>
                <a:latin typeface="Times New Roman" panose="02020603050405020304" pitchFamily="18" charset="0"/>
                <a:cs typeface="Times New Roman" panose="02020603050405020304" pitchFamily="18" charset="0"/>
              </a:rPr>
              <a:t>Euclidean Distance: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126" y="516370"/>
            <a:ext cx="10432473" cy="4351338"/>
          </a:xfrm>
        </p:spPr>
        <p:txBody>
          <a:bodyPr/>
          <a:lstStyle/>
          <a:p>
            <a:r>
              <a:rPr lang="en-US" sz="2000" dirty="0" smtClean="0"/>
              <a:t>Let's say we have two friends, Alice and Bob, standing at different locations in a park. Their positions are represented as points on a map:</a:t>
            </a:r>
          </a:p>
          <a:p>
            <a:r>
              <a:rPr lang="en-US" sz="2000" dirty="0" smtClean="0"/>
              <a:t>Alice is standing at position </a:t>
            </a:r>
            <a:r>
              <a:rPr lang="en-US" sz="2000" b="1" dirty="0" smtClean="0"/>
              <a:t>(2, 3)</a:t>
            </a:r>
            <a:r>
              <a:rPr lang="en-US" sz="2000" dirty="0" smtClean="0"/>
              <a:t>.</a:t>
            </a:r>
          </a:p>
          <a:p>
            <a:r>
              <a:rPr lang="en-US" sz="2000" dirty="0" smtClean="0"/>
              <a:t>Bob is standing at position </a:t>
            </a:r>
            <a:r>
              <a:rPr lang="en-US" sz="2000" b="1" dirty="0" smtClean="0"/>
              <a:t>(6, 7)</a:t>
            </a:r>
            <a:r>
              <a:rPr lang="en-US" sz="2000" dirty="0" smtClean="0"/>
              <a:t>.</a:t>
            </a:r>
          </a:p>
          <a:p>
            <a:pPr marL="0" indent="0">
              <a:buNone/>
            </a:pPr>
            <a:r>
              <a:rPr lang="en-US" sz="2000" dirty="0" smtClean="0"/>
              <a:t> </a:t>
            </a:r>
            <a:r>
              <a:rPr lang="en-US" sz="2000" b="1" dirty="0" smtClean="0">
                <a:solidFill>
                  <a:srgbClr val="FF0000"/>
                </a:solidFill>
              </a:rPr>
              <a:t>We want to know the straight-line distance between Alice and Bob.</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538595" y="2546925"/>
            <a:ext cx="7493577" cy="3762375"/>
          </a:xfrm>
          <a:prstGeom prst="rect">
            <a:avLst/>
          </a:prstGeom>
        </p:spPr>
      </p:pic>
      <p:pic>
        <p:nvPicPr>
          <p:cNvPr id="5" name="Picture 4"/>
          <p:cNvPicPr>
            <a:picLocks noChangeAspect="1"/>
          </p:cNvPicPr>
          <p:nvPr/>
        </p:nvPicPr>
        <p:blipFill>
          <a:blip r:embed="rId3"/>
          <a:stretch>
            <a:fillRect/>
          </a:stretch>
        </p:blipFill>
        <p:spPr>
          <a:xfrm>
            <a:off x="7729105" y="966714"/>
            <a:ext cx="3964998" cy="4343041"/>
          </a:xfrm>
          <a:prstGeom prst="rect">
            <a:avLst/>
          </a:prstGeom>
        </p:spPr>
      </p:pic>
    </p:spTree>
    <p:extLst>
      <p:ext uri="{BB962C8B-B14F-4D97-AF65-F5344CB8AC3E}">
        <p14:creationId xmlns:p14="http://schemas.microsoft.com/office/powerpoint/2010/main" val="1215868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527" y="176645"/>
            <a:ext cx="11515486" cy="6307281"/>
          </a:xfrm>
        </p:spPr>
        <p:txBody>
          <a:bodyPr>
            <a:normAutofit/>
          </a:bodyPr>
          <a:lstStyle/>
          <a:p>
            <a:pPr marL="0" indent="0">
              <a:buNone/>
            </a:pPr>
            <a:r>
              <a:rPr lang="en-US" dirty="0" smtClean="0">
                <a:solidFill>
                  <a:srgbClr val="FF0000"/>
                </a:solidFill>
              </a:rPr>
              <a:t>2</a:t>
            </a:r>
            <a:r>
              <a:rPr lang="en-US" sz="2000" dirty="0" smtClean="0">
                <a:solidFill>
                  <a:srgbClr val="FF0000"/>
                </a:solidFill>
              </a:rPr>
              <a:t>. </a:t>
            </a:r>
            <a:r>
              <a:rPr lang="en-US" sz="2400" dirty="0" smtClean="0">
                <a:solidFill>
                  <a:srgbClr val="FF0000"/>
                </a:solidFill>
                <a:latin typeface="Times New Roman" panose="02020603050405020304" pitchFamily="18" charset="0"/>
                <a:cs typeface="Times New Roman" panose="02020603050405020304" pitchFamily="18" charset="0"/>
              </a:rPr>
              <a:t>Manhattan Distance: </a:t>
            </a:r>
            <a:r>
              <a:rPr lang="en-US" sz="2400" dirty="0" smtClean="0">
                <a:latin typeface="Times New Roman" panose="02020603050405020304" pitchFamily="18" charset="0"/>
                <a:cs typeface="Times New Roman" panose="02020603050405020304" pitchFamily="18" charset="0"/>
              </a:rPr>
              <a:t>This distance measure is also known as city block distance or taxicab distance</a:t>
            </a:r>
            <a:r>
              <a:rPr lang="en-US" sz="2400" b="1" dirty="0" smtClean="0">
                <a:latin typeface="Times New Roman" panose="02020603050405020304" pitchFamily="18" charset="0"/>
                <a:cs typeface="Times New Roman" panose="02020603050405020304" pitchFamily="18" charset="0"/>
              </a:rPr>
              <a:t>. Manhattan distance can be used for data with discrete variables, such as the number of bedrooms in a house.</a:t>
            </a:r>
            <a:r>
              <a:rPr lang="en-US" sz="2400" dirty="0" smtClean="0">
                <a:latin typeface="Times New Roman" panose="02020603050405020304" pitchFamily="18" charset="0"/>
                <a:cs typeface="Times New Roman" panose="02020603050405020304" pitchFamily="18" charset="0"/>
              </a:rPr>
              <a:t> </a:t>
            </a:r>
          </a:p>
          <a:p>
            <a:pPr marL="0" indent="0">
              <a:buNone/>
            </a:pPr>
            <a:r>
              <a:rPr lang="en-US" sz="2400" dirty="0" smtClean="0">
                <a:latin typeface="Times New Roman" panose="02020603050405020304" pitchFamily="18" charset="0"/>
                <a:cs typeface="Times New Roman" panose="02020603050405020304" pitchFamily="18" charset="0"/>
              </a:rPr>
              <a:t>Imagine you're walking in a city with streets laid out in a grid. To get from one point to another, you can't walk through buildings, so you walk along the streets, taking right-angle turns. The </a:t>
            </a:r>
            <a:r>
              <a:rPr lang="en-US" sz="2400" b="1" dirty="0" smtClean="0">
                <a:latin typeface="Times New Roman" panose="02020603050405020304" pitchFamily="18" charset="0"/>
                <a:cs typeface="Times New Roman" panose="02020603050405020304" pitchFamily="18" charset="0"/>
              </a:rPr>
              <a:t>Manhattan distance</a:t>
            </a:r>
            <a:r>
              <a:rPr lang="en-US" sz="2400" dirty="0" smtClean="0">
                <a:latin typeface="Times New Roman" panose="02020603050405020304" pitchFamily="18" charset="0"/>
                <a:cs typeface="Times New Roman" panose="02020603050405020304" pitchFamily="18" charset="0"/>
              </a:rPr>
              <a:t> is the total distance you would walk by moving along the grid (like blocks in a city), rather than in a straight line.</a:t>
            </a:r>
          </a:p>
          <a:p>
            <a:r>
              <a:rPr lang="en-US" sz="2400" dirty="0" smtClean="0">
                <a:latin typeface="Times New Roman" panose="02020603050405020304" pitchFamily="18" charset="0"/>
                <a:cs typeface="Times New Roman" panose="02020603050405020304" pitchFamily="18" charset="0"/>
              </a:rPr>
              <a:t>Suppose you’re inside a two-dimensional plane and you can move only along the axes as shown:</a:t>
            </a:r>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881927" y="3465367"/>
            <a:ext cx="4505325" cy="2927638"/>
          </a:xfrm>
          <a:prstGeom prst="rect">
            <a:avLst/>
          </a:prstGeom>
        </p:spPr>
      </p:pic>
      <p:sp>
        <p:nvSpPr>
          <p:cNvPr id="6" name="Rectangle 5"/>
          <p:cNvSpPr/>
          <p:nvPr/>
        </p:nvSpPr>
        <p:spPr>
          <a:xfrm>
            <a:off x="5566063" y="3913523"/>
            <a:ext cx="6096000" cy="2062103"/>
          </a:xfrm>
          <a:prstGeom prst="rect">
            <a:avLst/>
          </a:prstGeom>
        </p:spPr>
        <p:txBody>
          <a:bodyPr>
            <a:spAutoFit/>
          </a:bodyPr>
          <a:lstStyle/>
          <a:p>
            <a:r>
              <a:rPr lang="en-US" b="1" dirty="0" smtClean="0">
                <a:solidFill>
                  <a:srgbClr val="FF0000"/>
                </a:solidFill>
                <a:latin typeface="Times New Roman" panose="02020603050405020304" pitchFamily="18" charset="0"/>
                <a:cs typeface="Times New Roman" panose="02020603050405020304" pitchFamily="18" charset="0"/>
              </a:rPr>
              <a:t>Use Cases of </a:t>
            </a:r>
            <a:r>
              <a:rPr lang="en-US" dirty="0" smtClean="0">
                <a:solidFill>
                  <a:srgbClr val="FF0000"/>
                </a:solidFill>
                <a:latin typeface="Times New Roman" panose="02020603050405020304" pitchFamily="18" charset="0"/>
                <a:cs typeface="Times New Roman" panose="02020603050405020304" pitchFamily="18" charset="0"/>
              </a:rPr>
              <a:t>Manhattan Distance </a:t>
            </a:r>
            <a:r>
              <a:rPr lang="en-US" b="1" dirty="0" smtClean="0">
                <a:solidFill>
                  <a:srgbClr val="FF0000"/>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Useful when the difference between features is more significant than their absolute distance.</a:t>
            </a: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Suitable for grid-like data structures (e.g., in urban planning or logistics).</a:t>
            </a:r>
          </a:p>
          <a:p>
            <a:r>
              <a:rPr lang="en-US" dirty="0" smtClean="0">
                <a:solidFill>
                  <a:srgbClr val="FF0000"/>
                </a:solidFill>
                <a:latin typeface="Times New Roman" panose="02020603050405020304" pitchFamily="18" charset="0"/>
                <a:cs typeface="Times New Roman" panose="02020603050405020304" pitchFamily="18" charset="0"/>
              </a:rPr>
              <a:t>Advantages: </a:t>
            </a:r>
            <a:r>
              <a:rPr lang="en-US" dirty="0" smtClean="0">
                <a:latin typeface="Times New Roman" panose="02020603050405020304" pitchFamily="18" charset="0"/>
                <a:cs typeface="Times New Roman" panose="02020603050405020304" pitchFamily="18" charset="0"/>
              </a:rPr>
              <a:t>Less sensitive to outliers than Euclidean distance.</a:t>
            </a:r>
          </a:p>
          <a:p>
            <a:r>
              <a:rPr lang="en-US" dirty="0" smtClean="0">
                <a:solidFill>
                  <a:srgbClr val="FF0000"/>
                </a:solidFill>
                <a:latin typeface="Times New Roman" panose="02020603050405020304" pitchFamily="18" charset="0"/>
                <a:cs typeface="Times New Roman" panose="02020603050405020304" pitchFamily="18" charset="0"/>
              </a:rPr>
              <a:t>Disadvantages: </a:t>
            </a:r>
            <a:r>
              <a:rPr lang="en-US" dirty="0" smtClean="0">
                <a:latin typeface="Times New Roman" panose="02020603050405020304" pitchFamily="18" charset="0"/>
                <a:cs typeface="Times New Roman" panose="02020603050405020304" pitchFamily="18" charset="0"/>
              </a:rPr>
              <a:t>May not be ideal for naturally spherical clusters.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358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97507" y="90678"/>
            <a:ext cx="9886920" cy="1938992"/>
          </a:xfrm>
          <a:prstGeom prst="rect">
            <a:avLst/>
          </a:prstGeom>
        </p:spPr>
        <p:txBody>
          <a:bodyPr wrap="square">
            <a:spAutoFit/>
          </a:bodyPr>
          <a:lstStyle/>
          <a:p>
            <a:pPr algn="just"/>
            <a:r>
              <a:rPr lang="en-US" sz="2000" dirty="0" smtClean="0">
                <a:latin typeface="Times New Roman" panose="02020603050405020304" pitchFamily="18" charset="0"/>
                <a:cs typeface="Times New Roman" panose="02020603050405020304" pitchFamily="18" charset="0"/>
              </a:rPr>
              <a:t>Let's use the same example with Alice and Bob standing at different locations in the park:</a:t>
            </a:r>
          </a:p>
          <a:p>
            <a:pPr algn="just"/>
            <a:r>
              <a:rPr lang="en-US" sz="2000" dirty="0" smtClean="0">
                <a:latin typeface="Times New Roman" panose="02020603050405020304" pitchFamily="18" charset="0"/>
                <a:cs typeface="Times New Roman" panose="02020603050405020304" pitchFamily="18" charset="0"/>
              </a:rPr>
              <a:t>Alice is at position (2, 3).</a:t>
            </a:r>
          </a:p>
          <a:p>
            <a:pPr algn="just"/>
            <a:r>
              <a:rPr lang="en-US" sz="2000" dirty="0" smtClean="0">
                <a:latin typeface="Times New Roman" panose="02020603050405020304" pitchFamily="18" charset="0"/>
                <a:cs typeface="Times New Roman" panose="02020603050405020304" pitchFamily="18" charset="0"/>
              </a:rPr>
              <a:t>Bob is at position (6, 7).</a:t>
            </a:r>
          </a:p>
          <a:p>
            <a:pPr algn="just"/>
            <a:r>
              <a:rPr lang="en-US" sz="2000" dirty="0" smtClean="0">
                <a:solidFill>
                  <a:srgbClr val="FF0000"/>
                </a:solidFill>
                <a:latin typeface="Times New Roman" panose="02020603050405020304" pitchFamily="18" charset="0"/>
                <a:cs typeface="Times New Roman" panose="02020603050405020304" pitchFamily="18" charset="0"/>
              </a:rPr>
              <a:t>We want to know the </a:t>
            </a:r>
            <a:r>
              <a:rPr lang="en-US" sz="2000" b="1" dirty="0" smtClean="0">
                <a:latin typeface="Times New Roman" panose="02020603050405020304" pitchFamily="18" charset="0"/>
                <a:cs typeface="Times New Roman" panose="02020603050405020304" pitchFamily="18" charset="0"/>
              </a:rPr>
              <a:t>Manhattan distance </a:t>
            </a:r>
            <a:r>
              <a:rPr lang="en-US" sz="2000" dirty="0" smtClean="0">
                <a:solidFill>
                  <a:srgbClr val="FF0000"/>
                </a:solidFill>
                <a:latin typeface="Times New Roman" panose="02020603050405020304" pitchFamily="18" charset="0"/>
                <a:cs typeface="Times New Roman" panose="02020603050405020304" pitchFamily="18" charset="0"/>
              </a:rPr>
              <a:t>between them, which is the total number of horizontal and vertical steps required to get from Alice to Bob if we can only move along a grid (like city blocks).</a:t>
            </a:r>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1473942" y="2029670"/>
            <a:ext cx="7553325" cy="4337338"/>
          </a:xfrm>
          <a:prstGeom prst="rect">
            <a:avLst/>
          </a:prstGeom>
        </p:spPr>
      </p:pic>
    </p:spTree>
    <p:extLst>
      <p:ext uri="{BB962C8B-B14F-4D97-AF65-F5344CB8AC3E}">
        <p14:creationId xmlns:p14="http://schemas.microsoft.com/office/powerpoint/2010/main" val="302749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4627418" cy="528493"/>
          </a:xfrm>
        </p:spPr>
        <p:txBody>
          <a:bodyPr>
            <a:noAutofit/>
          </a:bodyPr>
          <a:lstStyle/>
          <a:p>
            <a:r>
              <a:rPr lang="en-US" sz="3600" dirty="0" smtClean="0">
                <a:solidFill>
                  <a:srgbClr val="FF0000"/>
                </a:solidFill>
                <a:latin typeface="Times New Roman" panose="02020603050405020304" pitchFamily="18" charset="0"/>
                <a:cs typeface="Times New Roman" panose="02020603050405020304" pitchFamily="18" charset="0"/>
              </a:rPr>
              <a:t>3.Minkowski </a:t>
            </a:r>
            <a:r>
              <a:rPr lang="en-US" sz="3600" dirty="0">
                <a:solidFill>
                  <a:srgbClr val="FF0000"/>
                </a:solidFill>
                <a:latin typeface="Times New Roman" panose="02020603050405020304" pitchFamily="18" charset="0"/>
                <a:cs typeface="Times New Roman" panose="02020603050405020304" pitchFamily="18" charset="0"/>
              </a:rPr>
              <a:t>distance</a:t>
            </a:r>
          </a:p>
        </p:txBody>
      </p:sp>
      <p:pic>
        <p:nvPicPr>
          <p:cNvPr id="5" name="Picture 4"/>
          <p:cNvPicPr>
            <a:picLocks noChangeAspect="1"/>
          </p:cNvPicPr>
          <p:nvPr/>
        </p:nvPicPr>
        <p:blipFill>
          <a:blip r:embed="rId2"/>
          <a:stretch>
            <a:fillRect/>
          </a:stretch>
        </p:blipFill>
        <p:spPr>
          <a:xfrm>
            <a:off x="6096000" y="3136827"/>
            <a:ext cx="5324475" cy="3565309"/>
          </a:xfrm>
          <a:prstGeom prst="rect">
            <a:avLst/>
          </a:prstGeom>
        </p:spPr>
      </p:pic>
      <p:pic>
        <p:nvPicPr>
          <p:cNvPr id="6" name="Picture 5"/>
          <p:cNvPicPr>
            <a:picLocks noChangeAspect="1"/>
          </p:cNvPicPr>
          <p:nvPr/>
        </p:nvPicPr>
        <p:blipFill>
          <a:blip r:embed="rId3"/>
          <a:stretch>
            <a:fillRect/>
          </a:stretch>
        </p:blipFill>
        <p:spPr>
          <a:xfrm>
            <a:off x="165370" y="1120991"/>
            <a:ext cx="5997305" cy="5286375"/>
          </a:xfrm>
          <a:prstGeom prst="rect">
            <a:avLst/>
          </a:prstGeom>
        </p:spPr>
      </p:pic>
      <p:pic>
        <p:nvPicPr>
          <p:cNvPr id="9" name="Picture 8"/>
          <p:cNvPicPr>
            <a:picLocks noChangeAspect="1"/>
          </p:cNvPicPr>
          <p:nvPr/>
        </p:nvPicPr>
        <p:blipFill>
          <a:blip r:embed="rId4"/>
          <a:stretch>
            <a:fillRect/>
          </a:stretch>
        </p:blipFill>
        <p:spPr>
          <a:xfrm>
            <a:off x="6668973" y="250482"/>
            <a:ext cx="5363346" cy="2658972"/>
          </a:xfrm>
          <a:prstGeom prst="rect">
            <a:avLst/>
          </a:prstGeom>
        </p:spPr>
      </p:pic>
    </p:spTree>
    <p:extLst>
      <p:ext uri="{BB962C8B-B14F-4D97-AF65-F5344CB8AC3E}">
        <p14:creationId xmlns:p14="http://schemas.microsoft.com/office/powerpoint/2010/main" val="540023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710119" y="408562"/>
            <a:ext cx="10150307" cy="5719763"/>
          </a:xfrm>
          <a:prstGeom prst="rect">
            <a:avLst/>
          </a:prstGeom>
        </p:spPr>
      </p:pic>
    </p:spTree>
    <p:extLst>
      <p:ext uri="{BB962C8B-B14F-4D97-AF65-F5344CB8AC3E}">
        <p14:creationId xmlns:p14="http://schemas.microsoft.com/office/powerpoint/2010/main" val="2994783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5136" y="219652"/>
            <a:ext cx="10515600" cy="320675"/>
          </a:xfrm>
        </p:spPr>
        <p:txBody>
          <a:bodyPr>
            <a:noAutofit/>
          </a:bodyPr>
          <a:lstStyle/>
          <a:p>
            <a:r>
              <a:rPr lang="en-US" sz="2800" dirty="0" smtClean="0">
                <a:latin typeface="Times New Roman" panose="02020603050405020304" pitchFamily="18" charset="0"/>
                <a:cs typeface="Times New Roman" panose="02020603050405020304" pitchFamily="18" charset="0"/>
              </a:rPr>
              <a:t>4.Hamming distance</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47472" y="778212"/>
            <a:ext cx="10739337" cy="5846323"/>
          </a:xfrm>
        </p:spPr>
        <p:txBody>
          <a:bodyPr>
            <a:noAutofit/>
          </a:bodyPr>
          <a:lstStyle/>
          <a:p>
            <a:r>
              <a:rPr lang="en-US" sz="2000" dirty="0">
                <a:latin typeface="Times New Roman" panose="02020603050405020304" pitchFamily="18" charset="0"/>
                <a:cs typeface="Times New Roman" panose="02020603050405020304" pitchFamily="18" charset="0"/>
              </a:rPr>
              <a:t>Hamming distance is a metric for comparing two binary data strings. While comparing two binary strings of equal length, Hamming distance is the number of bit positions in which the two bits are different.</a:t>
            </a:r>
          </a:p>
          <a:p>
            <a:r>
              <a:rPr lang="en-US" sz="2000" dirty="0" smtClean="0">
                <a:latin typeface="Times New Roman" panose="02020603050405020304" pitchFamily="18" charset="0"/>
                <a:cs typeface="Times New Roman" panose="02020603050405020304" pitchFamily="18" charset="0"/>
              </a:rPr>
              <a:t>Formula:</a:t>
            </a:r>
          </a:p>
          <a:p>
            <a:endParaRPr lang="en-US" sz="2000" dirty="0" smtClean="0">
              <a:latin typeface="Times New Roman" panose="02020603050405020304" pitchFamily="18" charset="0"/>
              <a:cs typeface="Times New Roman" panose="02020603050405020304" pitchFamily="18" charset="0"/>
            </a:endParaRP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Use </a:t>
            </a:r>
            <a:r>
              <a:rPr lang="en-US" sz="2000" dirty="0" smtClean="0">
                <a:solidFill>
                  <a:srgbClr val="FF0000"/>
                </a:solidFill>
                <a:latin typeface="Times New Roman" panose="02020603050405020304" pitchFamily="18" charset="0"/>
                <a:cs typeface="Times New Roman" panose="02020603050405020304" pitchFamily="18" charset="0"/>
              </a:rPr>
              <a:t>Cases:</a:t>
            </a:r>
          </a:p>
          <a:p>
            <a:pPr lvl="1"/>
            <a:r>
              <a:rPr lang="en-US" sz="2000" dirty="0" smtClean="0">
                <a:latin typeface="Times New Roman" panose="02020603050405020304" pitchFamily="18" charset="0"/>
                <a:cs typeface="Times New Roman" panose="02020603050405020304" pitchFamily="18" charset="0"/>
              </a:rPr>
              <a:t>Suitable for categorical or binary data.</a:t>
            </a:r>
          </a:p>
          <a:p>
            <a:pPr lvl="1"/>
            <a:r>
              <a:rPr lang="en-US" sz="2000" dirty="0" smtClean="0">
                <a:latin typeface="Times New Roman" panose="02020603050405020304" pitchFamily="18" charset="0"/>
                <a:cs typeface="Times New Roman" panose="02020603050405020304" pitchFamily="18" charset="0"/>
              </a:rPr>
              <a:t>Often used in clustering of DNA sequences or text mining for binary features.</a:t>
            </a:r>
          </a:p>
          <a:p>
            <a:r>
              <a:rPr lang="en-US" sz="2000" dirty="0" smtClean="0">
                <a:solidFill>
                  <a:srgbClr val="FF0000"/>
                </a:solidFill>
                <a:latin typeface="Times New Roman" panose="02020603050405020304" pitchFamily="18" charset="0"/>
                <a:cs typeface="Times New Roman" panose="02020603050405020304" pitchFamily="18" charset="0"/>
              </a:rPr>
              <a:t>Advantages: </a:t>
            </a:r>
            <a:r>
              <a:rPr lang="en-US" sz="2000" dirty="0" smtClean="0">
                <a:latin typeface="Times New Roman" panose="02020603050405020304" pitchFamily="18" charset="0"/>
                <a:cs typeface="Times New Roman" panose="02020603050405020304" pitchFamily="18" charset="0"/>
              </a:rPr>
              <a:t>Simple and effective for categorical data.</a:t>
            </a:r>
          </a:p>
          <a:p>
            <a:r>
              <a:rPr lang="en-US" sz="2000" dirty="0" smtClean="0">
                <a:solidFill>
                  <a:srgbClr val="FF0000"/>
                </a:solidFill>
                <a:latin typeface="Times New Roman" panose="02020603050405020304" pitchFamily="18" charset="0"/>
                <a:cs typeface="Times New Roman" panose="02020603050405020304" pitchFamily="18" charset="0"/>
              </a:rPr>
              <a:t>Disadvantages: </a:t>
            </a:r>
            <a:r>
              <a:rPr lang="en-US" sz="2000" dirty="0" smtClean="0">
                <a:latin typeface="Times New Roman" panose="02020603050405020304" pitchFamily="18" charset="0"/>
                <a:cs typeface="Times New Roman" panose="02020603050405020304" pitchFamily="18" charset="0"/>
              </a:rPr>
              <a:t>Cannot be used for numerical or continuous data.</a:t>
            </a:r>
          </a:p>
          <a:p>
            <a:pPr marL="0" indent="0">
              <a:buNone/>
            </a:pPr>
            <a:endParaRPr lang="en-US" sz="2000" b="1" dirty="0" smtClean="0">
              <a:solidFill>
                <a:srgbClr val="0070C0"/>
              </a:solidFill>
              <a:latin typeface="Times New Roman" panose="02020603050405020304" pitchFamily="18" charset="0"/>
              <a:cs typeface="Times New Roman" panose="02020603050405020304" pitchFamily="18" charset="0"/>
            </a:endParaRPr>
          </a:p>
          <a:p>
            <a:pPr marL="0" indent="0">
              <a:buNone/>
            </a:pPr>
            <a:r>
              <a:rPr lang="en-US" sz="2000" b="1" dirty="0" smtClean="0">
                <a:solidFill>
                  <a:srgbClr val="0070C0"/>
                </a:solidFill>
                <a:latin typeface="Times New Roman" panose="02020603050405020304" pitchFamily="18" charset="0"/>
                <a:cs typeface="Times New Roman" panose="02020603050405020304" pitchFamily="18" charset="0"/>
              </a:rPr>
              <a:t>NOTE: </a:t>
            </a: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order to calculate the Hamming distance between two strings, and, we perform their XOR operation, (a⊕ b), and then count the total number of 1s in the resultant string.</a:t>
            </a:r>
          </a:p>
          <a:p>
            <a:pPr marL="0" indent="0">
              <a:buNone/>
            </a:pPr>
            <a:r>
              <a:rPr lang="en-US" sz="2000" dirty="0">
                <a:solidFill>
                  <a:srgbClr val="FF0000"/>
                </a:solidFill>
                <a:latin typeface="Times New Roman" panose="02020603050405020304" pitchFamily="18" charset="0"/>
                <a:cs typeface="Times New Roman" panose="02020603050405020304" pitchFamily="18" charset="0"/>
              </a:rPr>
              <a:t>Suppose there are two strings 11011001 and 10011101.</a:t>
            </a:r>
          </a:p>
          <a:p>
            <a:r>
              <a:rPr lang="en-US" sz="2000" dirty="0">
                <a:latin typeface="Times New Roman" panose="02020603050405020304" pitchFamily="18" charset="0"/>
                <a:cs typeface="Times New Roman" panose="02020603050405020304" pitchFamily="18" charset="0"/>
              </a:rPr>
              <a:t>11011001 ⊕ 10011101 = 01000100. Since, this contains two 1s, the Hamming distance, d(11011001, 10011101) = 2.</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87758" y="1626900"/>
            <a:ext cx="4743450" cy="1152525"/>
          </a:xfrm>
          <a:prstGeom prst="rect">
            <a:avLst/>
          </a:prstGeom>
        </p:spPr>
      </p:pic>
    </p:spTree>
    <p:extLst>
      <p:ext uri="{BB962C8B-B14F-4D97-AF65-F5344CB8AC3E}">
        <p14:creationId xmlns:p14="http://schemas.microsoft.com/office/powerpoint/2010/main" val="13772658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476655" y="365125"/>
            <a:ext cx="10270720" cy="5811838"/>
          </a:xfrm>
          <a:prstGeom prst="rect">
            <a:avLst/>
          </a:prstGeom>
        </p:spPr>
      </p:pic>
    </p:spTree>
    <p:extLst>
      <p:ext uri="{BB962C8B-B14F-4D97-AF65-F5344CB8AC3E}">
        <p14:creationId xmlns:p14="http://schemas.microsoft.com/office/powerpoint/2010/main" val="3931754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5139"/>
          </a:xfrm>
        </p:spPr>
        <p:txBody>
          <a:bodyPr>
            <a:normAutofit fontScale="90000"/>
          </a:bodyPr>
          <a:lstStyle/>
          <a:p>
            <a:r>
              <a:rPr lang="en-US" dirty="0" smtClean="0"/>
              <a:t/>
            </a:r>
            <a:br>
              <a:rPr lang="en-US" dirty="0" smtClean="0"/>
            </a:br>
            <a:r>
              <a:rPr lang="en-US" sz="4000" dirty="0" smtClean="0">
                <a:latin typeface="Times New Roman" panose="02020603050405020304" pitchFamily="18" charset="0"/>
                <a:cs typeface="Times New Roman" panose="02020603050405020304" pitchFamily="18" charset="0"/>
              </a:rPr>
              <a:t>5.Cosine Distance &amp; Cosine Similarity:</a:t>
            </a:r>
            <a:br>
              <a:rPr lang="en-US" sz="4000" dirty="0" smtClean="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1208" y="1517514"/>
            <a:ext cx="10682591" cy="4377447"/>
          </a:xfrm>
        </p:spPr>
        <p:txBody>
          <a:bodyPr>
            <a:normAutofit fontScale="85000" lnSpcReduction="20000"/>
          </a:bodyPr>
          <a:lstStyle/>
          <a:p>
            <a:pPr algn="just"/>
            <a:r>
              <a:rPr lang="en-US" dirty="0" smtClean="0">
                <a:latin typeface="Times New Roman" panose="02020603050405020304" pitchFamily="18" charset="0"/>
                <a:cs typeface="Times New Roman" panose="02020603050405020304" pitchFamily="18" charset="0"/>
              </a:rPr>
              <a:t>Cosine distance &amp; Cosine Similarity metric is mainly used to find similarities between two data points. Measures the cosine of the angle between two non-zero vectors, ignoring magnitude and focusing on direction.</a:t>
            </a:r>
          </a:p>
          <a:p>
            <a:pPr marL="0" indent="0" algn="just">
              <a:buNone/>
            </a:pPr>
            <a:r>
              <a:rPr lang="en-US" dirty="0" smtClean="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As the cosine distance between the data points increases, the cosine similarity, or the amount of similarity decreases, and vice versa. Thus, Points closer to each other are more similar than points that are far away from each other. Cosine similarity is given by Cos θ, and cosine distance is 1- Cos θ.</a:t>
            </a:r>
          </a:p>
          <a:p>
            <a:pPr algn="just"/>
            <a:endParaRPr lang="en-US" dirty="0" smtClean="0">
              <a:latin typeface="Times New Roman" panose="02020603050405020304" pitchFamily="18" charset="0"/>
              <a:cs typeface="Times New Roman" panose="02020603050405020304" pitchFamily="18" charset="0"/>
            </a:endParaRPr>
          </a:p>
          <a:p>
            <a:r>
              <a:rPr lang="en-US" b="1" dirty="0" smtClean="0">
                <a:latin typeface="Times New Roman" panose="02020603050405020304" pitchFamily="18" charset="0"/>
                <a:cs typeface="Times New Roman" panose="02020603050405020304" pitchFamily="18" charset="0"/>
              </a:rPr>
              <a:t>Where </a:t>
            </a:r>
            <a:r>
              <a:rPr lang="en-US" b="1" dirty="0">
                <a:latin typeface="Times New Roman" panose="02020603050405020304" pitchFamily="18" charset="0"/>
                <a:cs typeface="Times New Roman" panose="02020603050405020304" pitchFamily="18" charset="0"/>
              </a:rPr>
              <a:t>is it used?</a:t>
            </a:r>
          </a:p>
          <a:p>
            <a:pPr marL="0" indent="0">
              <a:buNone/>
            </a:pPr>
            <a:r>
              <a:rPr lang="en-US" dirty="0">
                <a:latin typeface="Times New Roman" panose="02020603050405020304" pitchFamily="18" charset="0"/>
                <a:cs typeface="Times New Roman" panose="02020603050405020304" pitchFamily="18" charset="0"/>
              </a:rPr>
              <a:t>Cosine metric is mainly used in Collaborative Filtering based recommendation systems to offer future recommendations to users.</a:t>
            </a:r>
          </a:p>
          <a:p>
            <a:pPr algn="just"/>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500793" y="2337779"/>
            <a:ext cx="2447925" cy="752475"/>
          </a:xfrm>
          <a:prstGeom prst="rect">
            <a:avLst/>
          </a:prstGeom>
        </p:spPr>
      </p:pic>
    </p:spTree>
    <p:extLst>
      <p:ext uri="{BB962C8B-B14F-4D97-AF65-F5344CB8AC3E}">
        <p14:creationId xmlns:p14="http://schemas.microsoft.com/office/powerpoint/2010/main" val="4131472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4281"/>
            <a:ext cx="10515600" cy="418289"/>
          </a:xfrm>
        </p:spPr>
        <p:txBody>
          <a:bodyPr>
            <a:normAutofit fontScale="90000"/>
          </a:bodyPr>
          <a:lstStyle/>
          <a:p>
            <a:r>
              <a:rPr lang="en-US" sz="3600" dirty="0">
                <a:latin typeface="Times New Roman" panose="02020603050405020304" pitchFamily="18" charset="0"/>
                <a:cs typeface="Times New Roman" panose="02020603050405020304" pitchFamily="18" charset="0"/>
              </a:rPr>
              <a:t>Cosine </a:t>
            </a:r>
            <a:r>
              <a:rPr lang="en-US" sz="3600" dirty="0" smtClean="0">
                <a:latin typeface="Times New Roman" panose="02020603050405020304" pitchFamily="18" charset="0"/>
                <a:cs typeface="Times New Roman" panose="02020603050405020304" pitchFamily="18" charset="0"/>
              </a:rPr>
              <a:t>Similarity contd.</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3660" y="719848"/>
            <a:ext cx="10770140" cy="5856050"/>
          </a:xfrm>
        </p:spPr>
        <p:txBody>
          <a:bodyPr>
            <a:noAutofit/>
          </a:bodyPr>
          <a:lstStyle/>
          <a:p>
            <a:pPr algn="just"/>
            <a:r>
              <a:rPr lang="en-US" sz="2200" dirty="0" smtClean="0">
                <a:latin typeface="Times New Roman" panose="02020603050405020304" pitchFamily="18" charset="0"/>
                <a:cs typeface="Times New Roman" panose="02020603050405020304" pitchFamily="18" charset="0"/>
              </a:rPr>
              <a:t>See how cosine similarity would work in the context of the Telugu movie recommendation system:</a:t>
            </a:r>
          </a:p>
          <a:p>
            <a:pPr algn="just"/>
            <a:r>
              <a:rPr lang="en-US" sz="2200" dirty="0" smtClean="0">
                <a:solidFill>
                  <a:srgbClr val="FF0000"/>
                </a:solidFill>
                <a:latin typeface="Times New Roman" panose="02020603050405020304" pitchFamily="18" charset="0"/>
                <a:cs typeface="Times New Roman" panose="02020603050405020304" pitchFamily="18" charset="0"/>
              </a:rPr>
              <a:t>Cosine Similarity Example: </a:t>
            </a:r>
            <a:r>
              <a:rPr lang="en-US" sz="2200" dirty="0" smtClean="0">
                <a:latin typeface="Times New Roman" panose="02020603050405020304" pitchFamily="18" charset="0"/>
                <a:cs typeface="Times New Roman" panose="02020603050405020304" pitchFamily="18" charset="0"/>
              </a:rPr>
              <a:t>Cosine similarity measures how similar two sets of preferences are by comparing the angles between their vectors. </a:t>
            </a:r>
          </a:p>
          <a:p>
            <a:pPr marL="0" indent="0" algn="just">
              <a:buNone/>
            </a:pPr>
            <a:r>
              <a:rPr lang="en-US" sz="2200" dirty="0" smtClean="0">
                <a:latin typeface="Times New Roman" panose="02020603050405020304" pitchFamily="18" charset="0"/>
                <a:cs typeface="Times New Roman" panose="02020603050405020304" pitchFamily="18" charset="0"/>
              </a:rPr>
              <a:t>For Telugu movies:</a:t>
            </a:r>
          </a:p>
          <a:p>
            <a:pPr algn="just"/>
            <a:r>
              <a:rPr lang="en-US" sz="2200" dirty="0" smtClean="0">
                <a:latin typeface="Times New Roman" panose="02020603050405020304" pitchFamily="18" charset="0"/>
                <a:cs typeface="Times New Roman" panose="02020603050405020304" pitchFamily="18" charset="0"/>
              </a:rPr>
              <a:t> </a:t>
            </a:r>
            <a:r>
              <a:rPr lang="en-US" sz="2200" dirty="0" smtClean="0">
                <a:solidFill>
                  <a:srgbClr val="FF0000"/>
                </a:solidFill>
                <a:latin typeface="Times New Roman" panose="02020603050405020304" pitchFamily="18" charset="0"/>
                <a:cs typeface="Times New Roman" panose="02020603050405020304" pitchFamily="18" charset="0"/>
              </a:rPr>
              <a:t>User #1 likes romantic movies like </a:t>
            </a:r>
            <a:r>
              <a:rPr lang="en-US" sz="2200" dirty="0" err="1" smtClean="0">
                <a:solidFill>
                  <a:srgbClr val="FF0000"/>
                </a:solidFill>
                <a:latin typeface="Times New Roman" panose="02020603050405020304" pitchFamily="18" charset="0"/>
                <a:cs typeface="Times New Roman" panose="02020603050405020304" pitchFamily="18" charset="0"/>
              </a:rPr>
              <a:t>Premam</a:t>
            </a:r>
            <a:r>
              <a:rPr lang="en-US" sz="2200" dirty="0" smtClean="0">
                <a:solidFill>
                  <a:srgbClr val="FF0000"/>
                </a:solidFill>
                <a:latin typeface="Times New Roman" panose="02020603050405020304" pitchFamily="18" charset="0"/>
                <a:cs typeface="Times New Roman" panose="02020603050405020304" pitchFamily="18" charset="0"/>
              </a:rPr>
              <a:t> and </a:t>
            </a:r>
            <a:r>
              <a:rPr lang="en-US" sz="2200" dirty="0" err="1" smtClean="0">
                <a:solidFill>
                  <a:srgbClr val="FF0000"/>
                </a:solidFill>
                <a:latin typeface="Times New Roman" panose="02020603050405020304" pitchFamily="18" charset="0"/>
                <a:cs typeface="Times New Roman" panose="02020603050405020304" pitchFamily="18" charset="0"/>
              </a:rPr>
              <a:t>Kshana</a:t>
            </a:r>
            <a:r>
              <a:rPr lang="en-US" sz="2200" dirty="0" smtClean="0">
                <a:solidFill>
                  <a:srgbClr val="FF0000"/>
                </a:solidFill>
                <a:latin typeface="Times New Roman" panose="02020603050405020304" pitchFamily="18" charset="0"/>
                <a:cs typeface="Times New Roman" panose="02020603050405020304" pitchFamily="18" charset="0"/>
              </a:rPr>
              <a:t> </a:t>
            </a:r>
            <a:r>
              <a:rPr lang="en-US" sz="2200" dirty="0" err="1" smtClean="0">
                <a:solidFill>
                  <a:srgbClr val="FF0000"/>
                </a:solidFill>
                <a:latin typeface="Times New Roman" panose="02020603050405020304" pitchFamily="18" charset="0"/>
                <a:cs typeface="Times New Roman" panose="02020603050405020304" pitchFamily="18" charset="0"/>
              </a:rPr>
              <a:t>Kshanam</a:t>
            </a:r>
            <a:r>
              <a:rPr lang="en-US" sz="2200" dirty="0" smtClean="0">
                <a:solidFill>
                  <a:srgbClr val="FF0000"/>
                </a:solidFill>
                <a:latin typeface="Times New Roman" panose="02020603050405020304" pitchFamily="18" charset="0"/>
                <a:cs typeface="Times New Roman" panose="02020603050405020304" pitchFamily="18" charset="0"/>
              </a:rPr>
              <a:t>.</a:t>
            </a:r>
          </a:p>
          <a:p>
            <a:pPr algn="just"/>
            <a:r>
              <a:rPr lang="en-US" sz="2200" dirty="0" smtClean="0">
                <a:solidFill>
                  <a:srgbClr val="FF0000"/>
                </a:solidFill>
                <a:latin typeface="Times New Roman" panose="02020603050405020304" pitchFamily="18" charset="0"/>
                <a:cs typeface="Times New Roman" panose="02020603050405020304" pitchFamily="18" charset="0"/>
              </a:rPr>
              <a:t>User #2 also enjoys romantic movies like </a:t>
            </a:r>
            <a:r>
              <a:rPr lang="en-US" sz="2200" dirty="0" err="1" smtClean="0">
                <a:solidFill>
                  <a:srgbClr val="FF0000"/>
                </a:solidFill>
                <a:latin typeface="Times New Roman" panose="02020603050405020304" pitchFamily="18" charset="0"/>
                <a:cs typeface="Times New Roman" panose="02020603050405020304" pitchFamily="18" charset="0"/>
              </a:rPr>
              <a:t>Fidaa</a:t>
            </a:r>
            <a:r>
              <a:rPr lang="en-US" sz="2200" dirty="0" smtClean="0">
                <a:solidFill>
                  <a:srgbClr val="FF0000"/>
                </a:solidFill>
                <a:latin typeface="Times New Roman" panose="02020603050405020304" pitchFamily="18" charset="0"/>
                <a:cs typeface="Times New Roman" panose="02020603050405020304" pitchFamily="18" charset="0"/>
              </a:rPr>
              <a:t> and </a:t>
            </a:r>
            <a:r>
              <a:rPr lang="en-US" sz="2200" dirty="0" err="1" smtClean="0">
                <a:solidFill>
                  <a:srgbClr val="FF0000"/>
                </a:solidFill>
                <a:latin typeface="Times New Roman" panose="02020603050405020304" pitchFamily="18" charset="0"/>
                <a:cs typeface="Times New Roman" panose="02020603050405020304" pitchFamily="18" charset="0"/>
              </a:rPr>
              <a:t>Geetha</a:t>
            </a:r>
            <a:r>
              <a:rPr lang="en-US" sz="2200" dirty="0" smtClean="0">
                <a:solidFill>
                  <a:srgbClr val="FF0000"/>
                </a:solidFill>
                <a:latin typeface="Times New Roman" panose="02020603050405020304" pitchFamily="18" charset="0"/>
                <a:cs typeface="Times New Roman" panose="02020603050405020304" pitchFamily="18" charset="0"/>
              </a:rPr>
              <a:t> </a:t>
            </a:r>
            <a:r>
              <a:rPr lang="en-US" sz="2200" dirty="0" err="1" smtClean="0">
                <a:solidFill>
                  <a:srgbClr val="FF0000"/>
                </a:solidFill>
                <a:latin typeface="Times New Roman" panose="02020603050405020304" pitchFamily="18" charset="0"/>
                <a:cs typeface="Times New Roman" panose="02020603050405020304" pitchFamily="18" charset="0"/>
              </a:rPr>
              <a:t>Govindam</a:t>
            </a:r>
            <a:r>
              <a:rPr lang="en-US" sz="2200" dirty="0" smtClean="0">
                <a:solidFill>
                  <a:srgbClr val="FF0000"/>
                </a:solidFill>
                <a:latin typeface="Times New Roman" panose="02020603050405020304" pitchFamily="18" charset="0"/>
                <a:cs typeface="Times New Roman" panose="02020603050405020304" pitchFamily="18" charset="0"/>
              </a:rPr>
              <a:t>.</a:t>
            </a:r>
          </a:p>
          <a:p>
            <a:pPr algn="just"/>
            <a:r>
              <a:rPr lang="en-US" sz="2200" dirty="0" smtClean="0">
                <a:latin typeface="Times New Roman" panose="02020603050405020304" pitchFamily="18" charset="0"/>
                <a:cs typeface="Times New Roman" panose="02020603050405020304" pitchFamily="18" charset="0"/>
              </a:rPr>
              <a:t>The system calculates the cosine similarity between the movie preferences of User #1 and User #2.</a:t>
            </a:r>
          </a:p>
          <a:p>
            <a:pPr algn="just"/>
            <a:r>
              <a:rPr lang="en-US" sz="2200" dirty="0" smtClean="0">
                <a:latin typeface="Times New Roman" panose="02020603050405020304" pitchFamily="18" charset="0"/>
                <a:cs typeface="Times New Roman" panose="02020603050405020304" pitchFamily="18" charset="0"/>
              </a:rPr>
              <a:t> Since both users prefer romantic movies, the cosine similarity score will be high, indicating they have similar tastes. </a:t>
            </a:r>
          </a:p>
          <a:p>
            <a:pPr algn="just"/>
            <a:r>
              <a:rPr lang="en-US" sz="2200" dirty="0" smtClean="0">
                <a:latin typeface="Times New Roman" panose="02020603050405020304" pitchFamily="18" charset="0"/>
                <a:cs typeface="Times New Roman" panose="02020603050405020304" pitchFamily="18" charset="0"/>
              </a:rPr>
              <a:t>Consequently, the system will recommend movies liked by User #2 (e.g., Hello and </a:t>
            </a:r>
            <a:r>
              <a:rPr lang="en-US" sz="2200" dirty="0" err="1" smtClean="0">
                <a:latin typeface="Times New Roman" panose="02020603050405020304" pitchFamily="18" charset="0"/>
                <a:cs typeface="Times New Roman" panose="02020603050405020304" pitchFamily="18" charset="0"/>
              </a:rPr>
              <a:t>Pelli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Sandadi</a:t>
            </a:r>
            <a:r>
              <a:rPr lang="en-US" sz="2200" dirty="0" smtClean="0">
                <a:latin typeface="Times New Roman" panose="02020603050405020304" pitchFamily="18" charset="0"/>
                <a:cs typeface="Times New Roman" panose="02020603050405020304" pitchFamily="18" charset="0"/>
              </a:rPr>
              <a:t>) to User #1.</a:t>
            </a:r>
          </a:p>
          <a:p>
            <a:pPr algn="just"/>
            <a:r>
              <a:rPr lang="en-US" sz="2200" dirty="0" smtClean="0">
                <a:latin typeface="Times New Roman" panose="02020603050405020304" pitchFamily="18" charset="0"/>
                <a:cs typeface="Times New Roman" panose="02020603050405020304" pitchFamily="18" charset="0"/>
              </a:rPr>
              <a:t>In contrast, if User #1 prefers horror movies and User #2 prefers romance, their cosine similarity score will be low, suggesting their tastes are quite different. Thus, the system will avoid recommending horror movies to User #2 and will focus on romance movies instead.</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104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763284"/>
          </a:xfrm>
        </p:spPr>
        <p:txBody>
          <a:bodyPr>
            <a:normAutofit/>
          </a:bodyPr>
          <a:lstStyle/>
          <a:p>
            <a:r>
              <a:rPr lang="en-US" sz="3600" dirty="0">
                <a:latin typeface="Times New Roman" panose="02020603050405020304" pitchFamily="18" charset="0"/>
                <a:cs typeface="Times New Roman" panose="02020603050405020304" pitchFamily="18" charset="0"/>
              </a:rPr>
              <a:t>Cosine Similarity contd.</a:t>
            </a:r>
            <a:endParaRPr lang="en-US" sz="3600" dirty="0"/>
          </a:p>
        </p:txBody>
      </p:sp>
      <p:sp>
        <p:nvSpPr>
          <p:cNvPr id="6" name="Content Placeholder 5"/>
          <p:cNvSpPr>
            <a:spLocks noGrp="1"/>
          </p:cNvSpPr>
          <p:nvPr>
            <p:ph idx="1"/>
          </p:nvPr>
        </p:nvSpPr>
        <p:spPr>
          <a:xfrm>
            <a:off x="838200" y="1391055"/>
            <a:ext cx="10515600" cy="4785908"/>
          </a:xfrm>
        </p:spPr>
        <p:txBody>
          <a:bodyPr/>
          <a:lstStyle/>
          <a:p>
            <a:r>
              <a:rPr lang="en-US" sz="2400" dirty="0" smtClean="0">
                <a:solidFill>
                  <a:srgbClr val="FF0000"/>
                </a:solidFill>
                <a:latin typeface="Times New Roman" panose="02020603050405020304" pitchFamily="18" charset="0"/>
                <a:cs typeface="Times New Roman" panose="02020603050405020304" pitchFamily="18" charset="0"/>
              </a:rPr>
              <a:t>Use Cases:</a:t>
            </a:r>
          </a:p>
          <a:p>
            <a:pPr lvl="1"/>
            <a:r>
              <a:rPr lang="en-US" dirty="0" smtClean="0">
                <a:latin typeface="Times New Roman" panose="02020603050405020304" pitchFamily="18" charset="0"/>
                <a:cs typeface="Times New Roman" panose="02020603050405020304" pitchFamily="18" charset="0"/>
              </a:rPr>
              <a:t>Common in text clustering, like document clustering or topic modeling.</a:t>
            </a:r>
          </a:p>
          <a:p>
            <a:pPr lvl="1"/>
            <a:r>
              <a:rPr lang="en-US" dirty="0" smtClean="0">
                <a:latin typeface="Times New Roman" panose="02020603050405020304" pitchFamily="18" charset="0"/>
                <a:cs typeface="Times New Roman" panose="02020603050405020304" pitchFamily="18" charset="0"/>
              </a:rPr>
              <a:t>Works well in high-dimensional, sparse data (e.g., word vectors in NLP).</a:t>
            </a:r>
          </a:p>
          <a:p>
            <a:r>
              <a:rPr lang="en-US" sz="2400" dirty="0" smtClean="0">
                <a:solidFill>
                  <a:srgbClr val="FF0000"/>
                </a:solidFill>
                <a:latin typeface="Times New Roman" panose="02020603050405020304" pitchFamily="18" charset="0"/>
                <a:cs typeface="Times New Roman" panose="02020603050405020304" pitchFamily="18" charset="0"/>
              </a:rPr>
              <a:t>Advantages: </a:t>
            </a:r>
            <a:r>
              <a:rPr lang="en-US" sz="2400" dirty="0" smtClean="0">
                <a:latin typeface="Times New Roman" panose="02020603050405020304" pitchFamily="18" charset="0"/>
                <a:cs typeface="Times New Roman" panose="02020603050405020304" pitchFamily="18" charset="0"/>
              </a:rPr>
              <a:t>Ignores magnitude, making it suitable for text and high-dimensional data.</a:t>
            </a:r>
          </a:p>
          <a:p>
            <a:r>
              <a:rPr lang="en-US" sz="2400" dirty="0" smtClean="0">
                <a:solidFill>
                  <a:srgbClr val="FF0000"/>
                </a:solidFill>
                <a:latin typeface="Times New Roman" panose="02020603050405020304" pitchFamily="18" charset="0"/>
                <a:cs typeface="Times New Roman" panose="02020603050405020304" pitchFamily="18" charset="0"/>
              </a:rPr>
              <a:t>Disadvantages: </a:t>
            </a:r>
            <a:r>
              <a:rPr lang="en-US" sz="2400" dirty="0" smtClean="0">
                <a:latin typeface="Times New Roman" panose="02020603050405020304" pitchFamily="18" charset="0"/>
                <a:cs typeface="Times New Roman" panose="02020603050405020304" pitchFamily="18" charset="0"/>
              </a:rPr>
              <a:t>Not ideal for data where the magnitude (or length) of vectors is meaningful</a:t>
            </a:r>
            <a:r>
              <a:rPr lang="en-US" dirty="0" smtClean="0"/>
              <a:t>.</a:t>
            </a:r>
            <a:endParaRPr lang="en-US" dirty="0"/>
          </a:p>
        </p:txBody>
      </p:sp>
    </p:spTree>
    <p:extLst>
      <p:ext uri="{BB962C8B-B14F-4D97-AF65-F5344CB8AC3E}">
        <p14:creationId xmlns:p14="http://schemas.microsoft.com/office/powerpoint/2010/main" val="1828730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5792" y="218210"/>
            <a:ext cx="10559300" cy="6089072"/>
          </a:xfrm>
          <a:prstGeom prst="rect">
            <a:avLst/>
          </a:prstGeom>
        </p:spPr>
      </p:pic>
      <p:sp>
        <p:nvSpPr>
          <p:cNvPr id="5" name="Rectangle 4"/>
          <p:cNvSpPr/>
          <p:nvPr/>
        </p:nvSpPr>
        <p:spPr>
          <a:xfrm>
            <a:off x="3318162" y="5523499"/>
            <a:ext cx="7696929" cy="646331"/>
          </a:xfrm>
          <a:prstGeom prst="rect">
            <a:avLst/>
          </a:prstGeom>
        </p:spPr>
        <p:txBody>
          <a:bodyPr wrap="square">
            <a:spAutoFit/>
          </a:bodyPr>
          <a:lstStyle/>
          <a:p>
            <a:r>
              <a:rPr lang="en-US" dirty="0"/>
              <a:t>In this case, the Cosine similarity score is 0.50, meaning that User #1 and User #2 have a 50% similarity in their movie preferences.</a:t>
            </a:r>
          </a:p>
        </p:txBody>
      </p:sp>
    </p:spTree>
    <p:extLst>
      <p:ext uri="{BB962C8B-B14F-4D97-AF65-F5344CB8AC3E}">
        <p14:creationId xmlns:p14="http://schemas.microsoft.com/office/powerpoint/2010/main" val="413034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983" y="0"/>
            <a:ext cx="10515600" cy="580448"/>
          </a:xfrm>
        </p:spPr>
        <p:txBody>
          <a:bodyPr>
            <a:noAutofit/>
          </a:bodyPr>
          <a:lstStyle/>
          <a:p>
            <a:r>
              <a:rPr lang="en-US" sz="3600" b="1" dirty="0" smtClean="0">
                <a:latin typeface="Times New Roman" panose="02020603050405020304" pitchFamily="18" charset="0"/>
                <a:cs typeface="Times New Roman" panose="02020603050405020304" pitchFamily="18" charset="0"/>
              </a:rPr>
              <a:t>6. </a:t>
            </a:r>
            <a:r>
              <a:rPr lang="en-US" sz="3600" b="1" dirty="0" err="1" smtClean="0">
                <a:latin typeface="Times New Roman" panose="02020603050405020304" pitchFamily="18" charset="0"/>
                <a:cs typeface="Times New Roman" panose="02020603050405020304" pitchFamily="18" charset="0"/>
              </a:rPr>
              <a:t>Jaccard</a:t>
            </a:r>
            <a:r>
              <a:rPr lang="en-US" sz="3600" b="1" dirty="0" smtClean="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similarity</a:t>
            </a:r>
          </a:p>
        </p:txBody>
      </p:sp>
      <p:sp>
        <p:nvSpPr>
          <p:cNvPr id="3" name="Content Placeholder 2"/>
          <p:cNvSpPr>
            <a:spLocks noGrp="1"/>
          </p:cNvSpPr>
          <p:nvPr>
            <p:ph idx="1"/>
          </p:nvPr>
        </p:nvSpPr>
        <p:spPr>
          <a:xfrm>
            <a:off x="254983" y="665020"/>
            <a:ext cx="10515600" cy="4351338"/>
          </a:xfrm>
        </p:spPr>
        <p:txBody>
          <a:bodyPr>
            <a:normAutofit/>
          </a:bodyPr>
          <a:lstStyle/>
          <a:p>
            <a:pPr algn="just"/>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Jaccard</a:t>
            </a:r>
            <a:r>
              <a:rPr lang="en-US" sz="2000" dirty="0">
                <a:latin typeface="Times New Roman" panose="02020603050405020304" pitchFamily="18" charset="0"/>
                <a:cs typeface="Times New Roman" panose="02020603050405020304" pitchFamily="18" charset="0"/>
              </a:rPr>
              <a:t> similarity is a statistical measure used to compare the similarity and diversity between two sets. </a:t>
            </a:r>
            <a:endParaRPr lang="en-US" sz="2000" dirty="0" smtClean="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It </a:t>
            </a:r>
            <a:r>
              <a:rPr lang="en-US" sz="2000" dirty="0">
                <a:latin typeface="Times New Roman" panose="02020603050405020304" pitchFamily="18" charset="0"/>
                <a:cs typeface="Times New Roman" panose="02020603050405020304" pitchFamily="18" charset="0"/>
              </a:rPr>
              <a:t>is defined as the size of the intersection of the sets divided by the size of their union</a:t>
            </a:r>
            <a:r>
              <a:rPr lang="en-US" sz="2000" dirty="0" smtClean="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For example: Given two sets A and B, their </a:t>
            </a:r>
            <a:r>
              <a:rPr lang="en-US" sz="2000" dirty="0" err="1">
                <a:latin typeface="Times New Roman" panose="02020603050405020304" pitchFamily="18" charset="0"/>
                <a:cs typeface="Times New Roman" panose="02020603050405020304" pitchFamily="18" charset="0"/>
              </a:rPr>
              <a:t>Jaccard</a:t>
            </a:r>
            <a:r>
              <a:rPr lang="en-US" sz="2000" dirty="0">
                <a:latin typeface="Times New Roman" panose="02020603050405020304" pitchFamily="18" charset="0"/>
                <a:cs typeface="Times New Roman" panose="02020603050405020304" pitchFamily="18" charset="0"/>
              </a:rPr>
              <a:t> Similarity is provided by,</a:t>
            </a:r>
          </a:p>
        </p:txBody>
      </p:sp>
      <p:pic>
        <p:nvPicPr>
          <p:cNvPr id="5" name="Picture 4"/>
          <p:cNvPicPr>
            <a:picLocks noChangeAspect="1"/>
          </p:cNvPicPr>
          <p:nvPr/>
        </p:nvPicPr>
        <p:blipFill>
          <a:blip r:embed="rId2"/>
          <a:stretch>
            <a:fillRect/>
          </a:stretch>
        </p:blipFill>
        <p:spPr>
          <a:xfrm>
            <a:off x="496934" y="2412459"/>
            <a:ext cx="10903219" cy="3290775"/>
          </a:xfrm>
          <a:prstGeom prst="rect">
            <a:avLst/>
          </a:prstGeom>
        </p:spPr>
      </p:pic>
    </p:spTree>
    <p:extLst>
      <p:ext uri="{BB962C8B-B14F-4D97-AF65-F5344CB8AC3E}">
        <p14:creationId xmlns:p14="http://schemas.microsoft.com/office/powerpoint/2010/main" val="551540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2739"/>
          </a:xfrm>
        </p:spPr>
        <p:txBody>
          <a:bodyPr>
            <a:normAutofit/>
          </a:bodyPr>
          <a:lstStyle/>
          <a:p>
            <a:r>
              <a:rPr lang="en-US" sz="3600" b="1" dirty="0" err="1" smtClean="0">
                <a:latin typeface="Times New Roman" panose="02020603050405020304" pitchFamily="18" charset="0"/>
                <a:cs typeface="Times New Roman" panose="02020603050405020304" pitchFamily="18" charset="0"/>
              </a:rPr>
              <a:t>Jaccard</a:t>
            </a:r>
            <a:r>
              <a:rPr lang="en-US" sz="3600" b="1" dirty="0" smtClean="0">
                <a:latin typeface="Times New Roman" panose="02020603050405020304" pitchFamily="18" charset="0"/>
                <a:cs typeface="Times New Roman" panose="02020603050405020304" pitchFamily="18" charset="0"/>
              </a:rPr>
              <a:t> similarity contd.</a:t>
            </a:r>
            <a:endParaRPr lang="en-US" sz="3600" dirty="0"/>
          </a:p>
        </p:txBody>
      </p:sp>
      <p:pic>
        <p:nvPicPr>
          <p:cNvPr id="4" name="Content Placeholder 3"/>
          <p:cNvPicPr>
            <a:picLocks noGrp="1" noChangeAspect="1"/>
          </p:cNvPicPr>
          <p:nvPr>
            <p:ph idx="1"/>
          </p:nvPr>
        </p:nvPicPr>
        <p:blipFill>
          <a:blip r:embed="rId2"/>
          <a:stretch>
            <a:fillRect/>
          </a:stretch>
        </p:blipFill>
        <p:spPr>
          <a:xfrm>
            <a:off x="1234307" y="1228728"/>
            <a:ext cx="8456468" cy="4024871"/>
          </a:xfrm>
          <a:prstGeom prst="rect">
            <a:avLst/>
          </a:prstGeom>
        </p:spPr>
      </p:pic>
    </p:spTree>
    <p:extLst>
      <p:ext uri="{BB962C8B-B14F-4D97-AF65-F5344CB8AC3E}">
        <p14:creationId xmlns:p14="http://schemas.microsoft.com/office/powerpoint/2010/main" val="2056761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19022" y="415636"/>
            <a:ext cx="10976342" cy="5507182"/>
          </a:xfrm>
          <a:prstGeom prst="rect">
            <a:avLst/>
          </a:prstGeom>
        </p:spPr>
      </p:pic>
    </p:spTree>
    <p:extLst>
      <p:ext uri="{BB962C8B-B14F-4D97-AF65-F5344CB8AC3E}">
        <p14:creationId xmlns:p14="http://schemas.microsoft.com/office/powerpoint/2010/main" val="3324921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646" y="398834"/>
            <a:ext cx="11087984" cy="651425"/>
          </a:xfrm>
        </p:spPr>
        <p:txBody>
          <a:bodyPr>
            <a:noAutofit/>
          </a:bodyPr>
          <a:lstStyle/>
          <a:p>
            <a:pPr algn="ctr"/>
            <a:r>
              <a:rPr kumimoji="0" lang="en-US" altLang="en-US" sz="3600" b="0"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The choice of similarity measure depends on the nature of the data</a:t>
            </a:r>
            <a:endParaRPr lang="en-US" sz="3600" dirty="0">
              <a:solidFill>
                <a:srgbClr val="FF0000"/>
              </a:solidFill>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644236" y="1219536"/>
            <a:ext cx="10814947"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Numerical data</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Euclidean, Manhattan, </a:t>
            </a:r>
            <a:r>
              <a:rPr kumimoji="0" lang="en-US" alt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Minkowski</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Categorical data</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Hamming, </a:t>
            </a:r>
            <a:r>
              <a:rPr kumimoji="0" lang="en-US" alt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Jaccard</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Text data</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Cosine similarity.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Scaling</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Some similarity measures (like Euclidean and Manhattan) require data scaling to </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atin typeface="Times New Roman" panose="02020603050405020304" pitchFamily="18" charset="0"/>
                <a:cs typeface="Times New Roman" panose="02020603050405020304" pitchFamily="18" charset="0"/>
              </a:rPr>
              <a:t> </a:t>
            </a:r>
            <a:r>
              <a:rPr lang="en-US" altLang="en-US" sz="2200" dirty="0" smtClean="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avoid biases from large-scale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Outliers</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Consider the sensitivity of the similarity measure to outliers.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For instance,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Euclidean distance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is sensitive to outliers, while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Manhattan distance</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atin typeface="Times New Roman" panose="02020603050405020304" pitchFamily="18" charset="0"/>
                <a:cs typeface="Times New Roman" panose="02020603050405020304" pitchFamily="18" charset="0"/>
              </a:rPr>
              <a:t> </a:t>
            </a:r>
            <a:r>
              <a:rPr lang="en-US" altLang="en-US" sz="2200" dirty="0" smtClean="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is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less so.</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Dimensionality</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Cosine similarity</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works well in high-dimensional spaces, </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atin typeface="Times New Roman" panose="02020603050405020304" pitchFamily="18" charset="0"/>
                <a:cs typeface="Times New Roman" panose="02020603050405020304" pitchFamily="18" charset="0"/>
              </a:rPr>
              <a:t> </a:t>
            </a:r>
            <a:r>
              <a:rPr lang="en-US" altLang="en-US" sz="2200" dirty="0" smtClean="0">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such as in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text</a:t>
            </a:r>
            <a:r>
              <a:rPr kumimoji="0" lang="en-US" alt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document clustering</a:t>
            </a:r>
            <a:r>
              <a:rPr kumimoji="0" lang="en-US" altLang="en-US" sz="2200" b="0" i="0" u="none" strike="noStrike" cap="none" normalizeH="0" baseline="0" dirty="0" smtClean="0">
                <a:ln>
                  <a:noFill/>
                </a:ln>
                <a:solidFill>
                  <a:schemeClr val="tx1"/>
                </a:solidFill>
                <a:effectLst/>
                <a:latin typeface="Arial" panose="020B0604020202020204" pitchFamily="34" charset="0"/>
              </a:rPr>
              <a:t>.</a:t>
            </a:r>
            <a:endParaRPr kumimoji="0" lang="en-US" altLang="en-US" sz="2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74183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2146</Words>
  <Application>Microsoft Office PowerPoint</Application>
  <PresentationFormat>Widescreen</PresentationFormat>
  <Paragraphs>195</Paragraphs>
  <Slides>28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SimSun</vt:lpstr>
      <vt:lpstr>Arial</vt:lpstr>
      <vt:lpstr>Calibri</vt:lpstr>
      <vt:lpstr>Calibri Light</vt:lpstr>
      <vt:lpstr>Times New Roman</vt:lpstr>
      <vt:lpstr>Office Theme</vt:lpstr>
      <vt:lpstr>Unit-3 Cluster Analysis</vt:lpstr>
      <vt:lpstr>Outline</vt:lpstr>
      <vt:lpstr>Cluster Analysis: A Quick Overview</vt:lpstr>
      <vt:lpstr>Broad Applications of Cluster Analysis</vt:lpstr>
      <vt:lpstr>What is Cluster Analysis?</vt:lpstr>
      <vt:lpstr>Considerations for Cluster Analysis</vt:lpstr>
      <vt:lpstr>Requirements and Challenges</vt:lpstr>
      <vt:lpstr>Typical Clustering Methodologies</vt:lpstr>
      <vt:lpstr>Clustering Different Types of Data</vt:lpstr>
      <vt:lpstr>Similarity measures</vt:lpstr>
      <vt:lpstr> Similarity measures Introduction: </vt:lpstr>
      <vt:lpstr>Similarity measure purpose</vt:lpstr>
      <vt:lpstr>PowerPoint Presentation</vt:lpstr>
      <vt:lpstr>Example Problem on Euclidean Distance:</vt:lpstr>
      <vt:lpstr>PowerPoint Presentation</vt:lpstr>
      <vt:lpstr>PowerPoint Presentation</vt:lpstr>
      <vt:lpstr>3.Minkowski distance</vt:lpstr>
      <vt:lpstr>PowerPoint Presentation</vt:lpstr>
      <vt:lpstr>4.Hamming distance</vt:lpstr>
      <vt:lpstr>PowerPoint Presentation</vt:lpstr>
      <vt:lpstr> 5.Cosine Distance &amp; Cosine Similarity: </vt:lpstr>
      <vt:lpstr>Cosine Similarity contd.</vt:lpstr>
      <vt:lpstr>Cosine Similarity contd.</vt:lpstr>
      <vt:lpstr>PowerPoint Presentation</vt:lpstr>
      <vt:lpstr>6. Jaccard similarity</vt:lpstr>
      <vt:lpstr>Jaccard similarity contd.</vt:lpstr>
      <vt:lpstr>PowerPoint Presentation</vt:lpstr>
      <vt:lpstr>The choice of similarity measure depends on the nature of the data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Similarity measures</dc:title>
  <dc:creator>ADMIN</dc:creator>
  <cp:lastModifiedBy>Sirisha Alamanda</cp:lastModifiedBy>
  <cp:revision>30</cp:revision>
  <dcterms:created xsi:type="dcterms:W3CDTF">2024-09-10T08:22:31Z</dcterms:created>
  <dcterms:modified xsi:type="dcterms:W3CDTF">2024-11-18T07:35:13Z</dcterms:modified>
</cp:coreProperties>
</file>