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57AB-FAAD-47A1-8DA2-76081A4CA9B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CB654-FA27-4706-88FB-067030026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24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57AB-FAAD-47A1-8DA2-76081A4CA9B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CB654-FA27-4706-88FB-067030026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06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57AB-FAAD-47A1-8DA2-76081A4CA9B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CB654-FA27-4706-88FB-067030026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850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57AB-FAAD-47A1-8DA2-76081A4CA9B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CB654-FA27-4706-88FB-067030026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632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57AB-FAAD-47A1-8DA2-76081A4CA9B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CB654-FA27-4706-88FB-067030026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59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57AB-FAAD-47A1-8DA2-76081A4CA9B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CB654-FA27-4706-88FB-067030026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108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57AB-FAAD-47A1-8DA2-76081A4CA9B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CB654-FA27-4706-88FB-067030026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164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57AB-FAAD-47A1-8DA2-76081A4CA9B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CB654-FA27-4706-88FB-067030026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12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57AB-FAAD-47A1-8DA2-76081A4CA9B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CB654-FA27-4706-88FB-067030026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71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57AB-FAAD-47A1-8DA2-76081A4CA9B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CB654-FA27-4706-88FB-067030026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015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57AB-FAAD-47A1-8DA2-76081A4CA9B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CB654-FA27-4706-88FB-067030026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56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357AB-FAAD-47A1-8DA2-76081A4CA9B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CB654-FA27-4706-88FB-067030026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144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camp.com/tutorial/naive-bayes-scikit-learn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UNIT-2</a:t>
            </a:r>
            <a:br>
              <a:rPr lang="en-IN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Bayesian Classifier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614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" y="184557"/>
            <a:ext cx="12100560" cy="840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3000" b="1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Naive Bayes classifier</a:t>
            </a:r>
            <a:r>
              <a:rPr lang="en-US" sz="30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 </a:t>
            </a:r>
            <a:r>
              <a:rPr lang="en-US" sz="3000" b="1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algorithm</a:t>
            </a:r>
            <a:r>
              <a:rPr lang="en-US" sz="30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used for solving classification problems.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b="0" i="0" dirty="0" smtClean="0">
              <a:solidFill>
                <a:srgbClr val="19191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based on </a:t>
            </a:r>
            <a:r>
              <a:rPr lang="en-US" sz="3000" b="1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Bayes’ Theorem</a:t>
            </a:r>
            <a:r>
              <a:rPr lang="en-US" sz="30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calculates the probability of a certain event occurring based on prior knowledge.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b="0" i="0" dirty="0" smtClean="0">
              <a:solidFill>
                <a:srgbClr val="19191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Naive Bayes algorithm </a:t>
            </a:r>
            <a:r>
              <a:rPr lang="en-US" sz="3000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assigns new data points to the most likely class by comparing probabilities</a:t>
            </a:r>
            <a:r>
              <a:rPr lang="en-US" sz="30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19191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“naive”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assumption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all the features in the dataset are 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of each other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that the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presence of one feature does not affect the presence of another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368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577" y="94734"/>
            <a:ext cx="19544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i="0" dirty="0" smtClean="0">
                <a:solidFill>
                  <a:srgbClr val="191919"/>
                </a:solidFill>
                <a:effectLst/>
                <a:latin typeface="Barlow Semi Condensed"/>
              </a:rPr>
              <a:t>Bayes’ Theorem</a:t>
            </a:r>
            <a:endParaRPr lang="en-IN" b="1" i="0" dirty="0">
              <a:solidFill>
                <a:srgbClr val="191919"/>
              </a:solidFill>
              <a:effectLst/>
              <a:latin typeface="Barlow Semi Condensed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9577" y="464066"/>
            <a:ext cx="1166554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calculates the </a:t>
            </a:r>
            <a:r>
              <a:rPr lang="en-US" sz="2000" b="1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posterior probability</a:t>
            </a:r>
            <a:r>
              <a:rPr lang="en-US" sz="20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an event occurring based on </a:t>
            </a:r>
            <a:r>
              <a:rPr lang="en-US" sz="2000" b="1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prior knowledge</a:t>
            </a:r>
            <a:r>
              <a:rPr lang="en-US" sz="20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000" b="1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evidence</a:t>
            </a:r>
            <a:r>
              <a:rPr lang="en-US" sz="20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9191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 err="1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0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Bayes’ Theorem describes </a:t>
            </a:r>
            <a:r>
              <a:rPr lang="en-US" sz="2000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probability of an event based on prior knowledge of the conditions that might be related to the event.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9191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simple terms, it helps answer: “</a:t>
            </a:r>
            <a:r>
              <a:rPr lang="en-US" sz="2000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Given some observations, how likely is this event to belong to a particular class?”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56" y="2783841"/>
            <a:ext cx="7855354" cy="38481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26210" y="2866807"/>
            <a:ext cx="397275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i="0" dirty="0" smtClean="0">
                <a:solidFill>
                  <a:srgbClr val="191919"/>
                </a:solidFill>
                <a:effectLst/>
                <a:latin typeface="Roboto Slab"/>
              </a:rPr>
              <a:t>P(A∣B)</a:t>
            </a:r>
            <a:r>
              <a:rPr lang="en-US" sz="2000" b="0" i="0" dirty="0" smtClean="0">
                <a:solidFill>
                  <a:srgbClr val="191919"/>
                </a:solidFill>
                <a:effectLst/>
                <a:latin typeface="Roboto Slab"/>
              </a:rPr>
              <a:t>: Posterior probability – probability of hypothesis A given that B is true.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0" dirty="0" smtClean="0">
                <a:solidFill>
                  <a:srgbClr val="191919"/>
                </a:solidFill>
                <a:effectLst/>
                <a:latin typeface="Roboto Slab"/>
              </a:rPr>
              <a:t>P(B∣A)</a:t>
            </a:r>
            <a:r>
              <a:rPr lang="en-US" sz="2000" b="0" i="0" dirty="0" smtClean="0">
                <a:solidFill>
                  <a:srgbClr val="191919"/>
                </a:solidFill>
                <a:effectLst/>
                <a:latin typeface="Roboto Slab"/>
              </a:rPr>
              <a:t>: Likelihood – probability of observing B given that A is true.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0" dirty="0" smtClean="0">
                <a:solidFill>
                  <a:srgbClr val="191919"/>
                </a:solidFill>
                <a:effectLst/>
                <a:latin typeface="Roboto Slab"/>
              </a:rPr>
              <a:t>P(A)</a:t>
            </a:r>
            <a:r>
              <a:rPr lang="en-US" sz="2000" b="0" i="0" dirty="0" smtClean="0">
                <a:solidFill>
                  <a:srgbClr val="191919"/>
                </a:solidFill>
                <a:effectLst/>
                <a:latin typeface="Roboto Slab"/>
              </a:rPr>
              <a:t>: Prior probability – the initial probability of A before seeing any evidence.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0" dirty="0" smtClean="0">
                <a:solidFill>
                  <a:srgbClr val="191919"/>
                </a:solidFill>
                <a:effectLst/>
                <a:latin typeface="Roboto Slab"/>
              </a:rPr>
              <a:t>P(B)</a:t>
            </a:r>
            <a:r>
              <a:rPr lang="en-US" sz="2000" b="0" i="0" dirty="0" smtClean="0">
                <a:solidFill>
                  <a:srgbClr val="191919"/>
                </a:solidFill>
                <a:effectLst/>
                <a:latin typeface="Roboto Slab"/>
              </a:rPr>
              <a:t>: Marginal probability of observing B.</a:t>
            </a:r>
            <a:endParaRPr lang="en-US" sz="2000" b="0" i="0" dirty="0">
              <a:solidFill>
                <a:srgbClr val="191919"/>
              </a:solidFill>
              <a:effectLst/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34876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95" y="1701079"/>
            <a:ext cx="9292282" cy="51569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332155"/>
            <a:ext cx="1155192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 smtClean="0">
                <a:solidFill>
                  <a:srgbClr val="191919"/>
                </a:solidFill>
                <a:effectLst/>
                <a:latin typeface="Roboto Slab"/>
              </a:rPr>
              <a:t>Dataset: </a:t>
            </a:r>
          </a:p>
          <a:p>
            <a:r>
              <a:rPr lang="en-US" sz="2800" b="0" i="0" dirty="0" smtClean="0">
                <a:solidFill>
                  <a:srgbClr val="191919"/>
                </a:solidFill>
                <a:effectLst/>
                <a:latin typeface="Roboto Slab"/>
              </a:rPr>
              <a:t>The goal is to predict whether it’s fit (“Yes”) or unfit (“No”) for playing golf based on the weather conditions.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3886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2080" y="308600"/>
            <a:ext cx="1190752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Bayes’ Theorem Works in Naive Bayes Classifier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 Naive Bayes classifier, </a:t>
            </a:r>
            <a:r>
              <a:rPr lang="en-US" sz="3200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Bayes’ Theorem is used to calculate the probability of a class based on given features</a:t>
            </a:r>
            <a:r>
              <a:rPr lang="en-US" sz="32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instance, if we want to predict whether it is fit to </a:t>
            </a:r>
            <a:r>
              <a:rPr lang="en-US" sz="3200" b="1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play golf</a:t>
            </a:r>
            <a:r>
              <a:rPr lang="en-US" sz="32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on a </a:t>
            </a:r>
            <a:r>
              <a:rPr lang="en-US" sz="3200" b="1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Sunny day with Mild temperature</a:t>
            </a:r>
            <a:r>
              <a:rPr lang="en-US" sz="32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 classifier will compute two probabilities: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P(Play = </a:t>
            </a:r>
            <a:r>
              <a:rPr lang="en-US" sz="3200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sz="3200" b="1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| Sunny, Mild)</a:t>
            </a:r>
            <a:r>
              <a:rPr lang="en-US" sz="32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Probability of playing on a sunny, mild day.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P(Play = No | Sunny, Mild)</a:t>
            </a:r>
            <a:r>
              <a:rPr lang="en-US" sz="32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Probability of not playing on a sunny, mild day.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Whichever probability is </a:t>
            </a:r>
            <a:r>
              <a:rPr lang="en-US" sz="3200" b="1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sz="32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becomes the </a:t>
            </a:r>
            <a:r>
              <a:rPr lang="en-US" sz="3200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prediction</a:t>
            </a:r>
            <a:r>
              <a:rPr lang="en-US" sz="3200" b="0" i="0" dirty="0" smtClean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b="0" i="0" dirty="0">
              <a:solidFill>
                <a:srgbClr val="19191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31" y="5817800"/>
            <a:ext cx="9339083" cy="857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1171" y="6080174"/>
            <a:ext cx="72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>
                <a:solidFill>
                  <a:srgbClr val="FF0000"/>
                </a:solidFill>
              </a:rPr>
              <a:t>Ex</a:t>
            </a:r>
            <a:r>
              <a:rPr lang="en-IN" dirty="0" smtClean="0"/>
              <a:t>: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405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1120"/>
            <a:ext cx="11504866" cy="55168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1913" y="140791"/>
            <a:ext cx="108610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5192D"/>
                </a:solidFill>
                <a:latin typeface="Studio-Feixen-Sans"/>
              </a:rPr>
              <a:t>Step 1</a:t>
            </a:r>
            <a:r>
              <a:rPr lang="en-US" dirty="0">
                <a:solidFill>
                  <a:srgbClr val="05192D"/>
                </a:solidFill>
                <a:latin typeface="Studio-Feixen-Sans"/>
              </a:rPr>
              <a:t>: Calculate the </a:t>
            </a:r>
            <a:r>
              <a:rPr lang="en-US" dirty="0">
                <a:solidFill>
                  <a:schemeClr val="accent2"/>
                </a:solidFill>
                <a:latin typeface="Studio-Feixen-Sans"/>
              </a:rPr>
              <a:t>prior probability </a:t>
            </a:r>
            <a:r>
              <a:rPr lang="en-US" dirty="0">
                <a:solidFill>
                  <a:srgbClr val="05192D"/>
                </a:solidFill>
                <a:latin typeface="Studio-Feixen-Sans"/>
              </a:rPr>
              <a:t>for given class labels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5192D"/>
                </a:solidFill>
                <a:latin typeface="Studio-Feixen-Sans"/>
              </a:rPr>
              <a:t>Step 2</a:t>
            </a:r>
            <a:r>
              <a:rPr lang="en-US" dirty="0">
                <a:solidFill>
                  <a:srgbClr val="05192D"/>
                </a:solidFill>
                <a:latin typeface="Studio-Feixen-Sans"/>
              </a:rPr>
              <a:t>: </a:t>
            </a:r>
            <a:r>
              <a:rPr lang="en-US" dirty="0">
                <a:solidFill>
                  <a:schemeClr val="accent2"/>
                </a:solidFill>
                <a:latin typeface="Studio-Feixen-Sans"/>
              </a:rPr>
              <a:t>Find Likelihood probability with each attribute for each 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5192D"/>
                </a:solidFill>
                <a:latin typeface="Studio-Feixen-Sans"/>
              </a:rPr>
              <a:t>Step 3</a:t>
            </a:r>
            <a:r>
              <a:rPr lang="en-US" dirty="0">
                <a:solidFill>
                  <a:srgbClr val="05192D"/>
                </a:solidFill>
                <a:latin typeface="Studio-Feixen-Sans"/>
              </a:rPr>
              <a:t>: Put these value in Bayes Formula and calculate </a:t>
            </a:r>
            <a:r>
              <a:rPr lang="en-US" dirty="0">
                <a:solidFill>
                  <a:schemeClr val="accent2"/>
                </a:solidFill>
                <a:latin typeface="Studio-Feixen-Sans"/>
              </a:rPr>
              <a:t>posterior probability.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5192D"/>
                </a:solidFill>
                <a:latin typeface="Studio-Feixen-Sans"/>
              </a:rPr>
              <a:t>Step 4</a:t>
            </a:r>
            <a:r>
              <a:rPr lang="en-US" dirty="0">
                <a:solidFill>
                  <a:srgbClr val="05192D"/>
                </a:solidFill>
                <a:latin typeface="Studio-Feixen-Sans"/>
              </a:rPr>
              <a:t>: See </a:t>
            </a:r>
            <a:r>
              <a:rPr lang="en-US" dirty="0">
                <a:solidFill>
                  <a:schemeClr val="accent2"/>
                </a:solidFill>
                <a:latin typeface="Studio-Feixen-Sans"/>
              </a:rPr>
              <a:t>which class has a higher probability,</a:t>
            </a:r>
            <a:r>
              <a:rPr lang="en-US" dirty="0">
                <a:solidFill>
                  <a:srgbClr val="05192D"/>
                </a:solidFill>
                <a:latin typeface="Studio-Feixen-Sans"/>
              </a:rPr>
              <a:t> given the input belongs to the higher probability class.</a:t>
            </a:r>
            <a:endParaRPr lang="en-US" b="0" i="0" dirty="0">
              <a:solidFill>
                <a:srgbClr val="05192D"/>
              </a:solidFill>
              <a:effectLst/>
              <a:latin typeface="Studio-Feixen-Sans"/>
            </a:endParaRPr>
          </a:p>
        </p:txBody>
      </p:sp>
    </p:spTree>
    <p:extLst>
      <p:ext uri="{BB962C8B-B14F-4D97-AF65-F5344CB8AC3E}">
        <p14:creationId xmlns:p14="http://schemas.microsoft.com/office/powerpoint/2010/main" val="830981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40" y="92616"/>
            <a:ext cx="11734503" cy="6145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79920" y="182880"/>
            <a:ext cx="3921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/>
              <a:t>Or Conditional Probability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78989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92" y="1330960"/>
            <a:ext cx="12041108" cy="54051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917" y="199320"/>
            <a:ext cx="9339083" cy="857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02480" y="3718560"/>
            <a:ext cx="995680" cy="4368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171446" y="6075680"/>
            <a:ext cx="995680" cy="436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652" y="2705052"/>
            <a:ext cx="4273770" cy="185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01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86" y="265398"/>
            <a:ext cx="11334050" cy="185804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0992" y="6272014"/>
            <a:ext cx="11545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Read more  using this link:  </a:t>
            </a:r>
            <a:r>
              <a:rPr lang="en-IN" dirty="0" smtClean="0">
                <a:solidFill>
                  <a:srgbClr val="FF0000"/>
                </a:solidFill>
                <a:hlinkClick r:id="rId3"/>
              </a:rPr>
              <a:t>https</a:t>
            </a:r>
            <a:r>
              <a:rPr lang="en-IN" dirty="0">
                <a:solidFill>
                  <a:srgbClr val="FF0000"/>
                </a:solidFill>
                <a:hlinkClick r:id="rId3"/>
              </a:rPr>
              <a:t>://</a:t>
            </a:r>
            <a:r>
              <a:rPr lang="en-IN" dirty="0" smtClean="0">
                <a:solidFill>
                  <a:srgbClr val="FF0000"/>
                </a:solidFill>
                <a:hlinkClick r:id="rId3"/>
              </a:rPr>
              <a:t>www.datacamp.com/tutorial/naive-bayes-scikit-learn</a:t>
            </a:r>
            <a:r>
              <a:rPr lang="en-IN" dirty="0" smtClean="0">
                <a:solidFill>
                  <a:srgbClr val="FF0000"/>
                </a:solidFill>
              </a:rPr>
              <a:t>  ( for more than one feature )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17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811333" cy="28588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8882"/>
            <a:ext cx="8464686" cy="399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69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"/>
            <a:ext cx="11401161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228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" y="230882"/>
            <a:ext cx="9276080" cy="662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31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8" y="-1"/>
            <a:ext cx="9147332" cy="689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7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Barlow Semi Condensed</vt:lpstr>
      <vt:lpstr>Calibri</vt:lpstr>
      <vt:lpstr>Calibri Light</vt:lpstr>
      <vt:lpstr>Roboto Slab</vt:lpstr>
      <vt:lpstr>Studio-Feixen-Sans</vt:lpstr>
      <vt:lpstr>Times New Roman</vt:lpstr>
      <vt:lpstr>Office Theme</vt:lpstr>
      <vt:lpstr>UNIT-2 Bayesian Classifier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UNIT-2 Bayesian Classifier</dc:title>
  <dc:creator>Sirisha Alamanda</dc:creator>
  <cp:lastModifiedBy>Sirisha Alamanda</cp:lastModifiedBy>
  <cp:revision>1</cp:revision>
  <dcterms:created xsi:type="dcterms:W3CDTF">2025-09-04T14:50:08Z</dcterms:created>
  <dcterms:modified xsi:type="dcterms:W3CDTF">2025-09-04T14:50:32Z</dcterms:modified>
</cp:coreProperties>
</file>