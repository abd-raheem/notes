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8"/>
  </p:notesMasterIdLst>
  <p:handoutMasterIdLst>
    <p:handoutMasterId r:id="rId49"/>
  </p:handoutMasterIdLst>
  <p:sldIdLst>
    <p:sldId id="438" r:id="rId2"/>
    <p:sldId id="499" r:id="rId3"/>
    <p:sldId id="500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1" r:id="rId16"/>
    <p:sldId id="472" r:id="rId17"/>
    <p:sldId id="372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5" r:id="rId44"/>
    <p:sldId id="416" r:id="rId45"/>
    <p:sldId id="417" r:id="rId46"/>
    <p:sldId id="429" r:id="rId47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4" autoAdjust="0"/>
    <p:restoredTop sz="84000" autoAdjust="0"/>
  </p:normalViewPr>
  <p:slideViewPr>
    <p:cSldViewPr snapToGrid="0">
      <p:cViewPr varScale="1">
        <p:scale>
          <a:sx n="77" d="100"/>
          <a:sy n="77" d="100"/>
        </p:scale>
        <p:origin x="-1644" y="-8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1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xmlns="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xmlns="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xmlns="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xmlns="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7760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xmlns="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xmlns="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xmlns="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xmlns="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xmlns="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4914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A4B368-5493-43AB-83D2-FB2745DC6257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7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26C2D1-1E1E-42BD-85B4-1BCC855514C0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648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FCC4C7-9321-4F85-AC15-C96C02999C1E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7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F539C29-DF58-4677-B4D9-0CC127174E2D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39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2CACEA-96F7-41D9-A638-F44E853DC1F9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07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678A41-D873-4EFC-8823-1C9E9A3093F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027" y="4410392"/>
            <a:ext cx="5131647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89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A18F2D-D4E4-4C99-9424-81DA77918E26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99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6443853-1DD4-4877-B587-65D98B968857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00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8B56BC-BF26-4697-801E-84F2929930E3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848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A4DCD6-4990-4088-8EFB-FAD2F8B84679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027" y="4410392"/>
            <a:ext cx="5131647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02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B97D8D-6A75-4AFA-8548-85396391880A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969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6DB8CD2-F9D8-4BCF-90A1-A8E625EDFB97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396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9040D4-3005-4847-ABB3-16A2B4BDF1C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158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9B7593E-E541-408E-B62F-DEA0E60392EA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769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03737A-222D-46BE-B7A9-3EA09C13F967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482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4B6CE2F-3CD3-45FE-B460-EC2ED3F07842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C0C611-501B-4334-8DD9-2D5A8FF01FE8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87BC9CE-BF8C-4DA1-B24E-2871B5D5AD09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BC47A9-62C0-457E-AB19-17B7324B6011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37B9D3-CFBC-4A9A-892E-C5B737D92079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96B17E-EA99-4BE4-8109-8D7786A8AC53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7F53DE-0A03-40E0-A2C9-F027B409EFB7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BA1292-271E-4250-9539-FFC50DBCE514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027822-1DA4-45D6-8B4A-F0F2C0E9336B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5AE4C2-505E-4B52-AE25-D384F1F0AFC8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749D456-034E-4195-8672-8080BB49D1C9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5C975C-CA24-4F0D-85AD-F6146BCF0205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5F8435-A232-49CF-A9C6-B8722E09AEA4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9301218-705C-4D04-BB0F-53A85D1868AA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9D207-2DEF-441B-BED4-CFAF747A5F24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0B2CAC-AEF3-41E1-B7D5-B6BAEDAB4D0E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62B22B-5B5B-47F1-897F-E166688E4CF0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E8797-367B-4BC3-98D0-381C471A0413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84E881-A958-4B68-ADE6-2B7C0AFAFFC8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4A4D597-B539-4990-B3B7-C5878BB257C4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F6520D-BDC3-4206-98C8-000B2AAC71C5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439975-68C6-4A78-9207-604005262388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CA98BF-2766-4132-A090-BEDD1F53C69F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70A9382-BE8A-447D-8A13-E2C05FAE4009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EE3D57-1AB5-4E55-9DE6-56A88860B688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FF916E-004C-4E0F-94C7-A1F1AB4046CB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A5FC84-D300-4993-8FFF-76B7189FD726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34D146A-0FCA-4AA9-B806-71D700033438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7662A18-7A7C-4076-893B-6E4783118D4F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8419CD-81A9-4ED0-AB27-AA58D803B9B6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127" y="582136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xmlns="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xmlns="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 smtClean="0">
                <a:solidFill>
                  <a:srgbClr val="002060"/>
                </a:solidFill>
              </a:rPr>
              <a:t>7.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xmlns="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6D0E67A-7F0B-46D5-BCFA-1287AF4962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42655"/>
            <a:ext cx="7772400" cy="1995054"/>
          </a:xfrm>
          <a:extLst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  <a:b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</a:br>
            <a:r>
              <a:rPr lang="en-US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Unit-3,Part-2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/>
            </a:r>
            <a:b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</a:b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Normalization- </a:t>
            </a:r>
            <a:r>
              <a:rPr lang="en-US" alt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(Part-2)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/>
            </a:r>
            <a:b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</a:br>
            <a:r>
              <a:rPr lang="en-US" altLang="en-US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A.Sirisha</a:t>
            </a:r>
            <a:endParaRPr lang="en-US" altLang="en-US" dirty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923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First Normal Form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7268"/>
            <a:ext cx="7789724" cy="4321008"/>
          </a:xfrm>
        </p:spPr>
        <p:txBody>
          <a:bodyPr/>
          <a:lstStyle/>
          <a:p>
            <a:r>
              <a:rPr lang="en-US" altLang="en-US" dirty="0"/>
              <a:t>Domain is </a:t>
            </a:r>
            <a:r>
              <a:rPr lang="en-US" altLang="en-US" b="1" dirty="0">
                <a:solidFill>
                  <a:srgbClr val="002060"/>
                </a:solidFill>
              </a:rPr>
              <a:t>atomic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its elements are considered to be indivisible units</a:t>
            </a:r>
          </a:p>
          <a:p>
            <a:pPr lvl="1"/>
            <a:r>
              <a:rPr lang="en-US" altLang="en-US" dirty="0"/>
              <a:t>Examples of non-atomic domains:</a:t>
            </a:r>
          </a:p>
          <a:p>
            <a:pPr lvl="2"/>
            <a:r>
              <a:rPr lang="en-US" altLang="en-US" dirty="0"/>
              <a:t>Set of names, composite attributes</a:t>
            </a:r>
          </a:p>
          <a:p>
            <a:pPr lvl="2"/>
            <a:r>
              <a:rPr lang="en-US" altLang="en-US" dirty="0"/>
              <a:t>Identification numbers like CS101  that can be broken up into parts</a:t>
            </a:r>
          </a:p>
          <a:p>
            <a:r>
              <a:rPr lang="en-US" altLang="en-US" dirty="0"/>
              <a:t>A relational schema R is in </a:t>
            </a:r>
            <a:r>
              <a:rPr lang="en-US" altLang="en-US" b="1" dirty="0">
                <a:solidFill>
                  <a:srgbClr val="002060"/>
                </a:solidFill>
              </a:rPr>
              <a:t>first normal form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the domains of all attributes of R are atomic</a:t>
            </a:r>
          </a:p>
          <a:p>
            <a:r>
              <a:rPr lang="en-US" altLang="en-US" dirty="0"/>
              <a:t>Non-atomic values complicate storage and encourage redundant (repeated) storage of data</a:t>
            </a:r>
          </a:p>
          <a:p>
            <a:pPr lvl="1"/>
            <a:r>
              <a:rPr lang="en-US" altLang="en-US" dirty="0"/>
              <a:t>Example:  Set of accounts stored with each customer, and set of owners stored with each account</a:t>
            </a:r>
          </a:p>
          <a:p>
            <a:pPr lvl="1"/>
            <a:r>
              <a:rPr lang="en-US" altLang="en-US" dirty="0"/>
              <a:t>We assume all relations are in first normal form (and revisit this in Chapter 22: Object Based Databases)</a:t>
            </a:r>
          </a:p>
        </p:txBody>
      </p:sp>
    </p:spTree>
    <p:extLst>
      <p:ext uri="{BB962C8B-B14F-4D97-AF65-F5344CB8AC3E}">
        <p14:creationId xmlns:p14="http://schemas.microsoft.com/office/powerpoint/2010/main" val="231721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First Normal Form (Cont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itchFamily="34" charset="-128"/>
              </a:rPr>
              <a:t>.</a:t>
            </a:r>
            <a:r>
              <a:rPr lang="en-US" altLang="ja-JP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100" y="1203326"/>
            <a:ext cx="7743463" cy="3055854"/>
          </a:xfrm>
        </p:spPr>
        <p:txBody>
          <a:bodyPr/>
          <a:lstStyle/>
          <a:p>
            <a:r>
              <a:rPr lang="en-US" altLang="en-US" dirty="0"/>
              <a:t>Atomicity is actually a property of how the elements of the domain are used.</a:t>
            </a:r>
          </a:p>
          <a:p>
            <a:pPr lvl="1"/>
            <a:r>
              <a:rPr lang="en-US" altLang="en-US" dirty="0"/>
              <a:t>Example: Strings would normally be considered indivisible </a:t>
            </a:r>
          </a:p>
          <a:p>
            <a:pPr lvl="1"/>
            <a:r>
              <a:rPr lang="en-US" altLang="en-US" dirty="0"/>
              <a:t>Suppose that students are given roll numbers which are strings of the form </a:t>
            </a:r>
            <a:r>
              <a:rPr lang="en-US" altLang="en-US" i="1" dirty="0"/>
              <a:t>CS0012 </a:t>
            </a:r>
            <a:r>
              <a:rPr lang="en-US" altLang="en-US" dirty="0"/>
              <a:t>or </a:t>
            </a:r>
            <a:r>
              <a:rPr lang="en-US" altLang="en-US" i="1" dirty="0"/>
              <a:t>EE1127</a:t>
            </a:r>
          </a:p>
          <a:p>
            <a:pPr lvl="1"/>
            <a:r>
              <a:rPr lang="en-US" altLang="en-US" dirty="0"/>
              <a:t>If the first two characters are extracted to find the department, the domain of roll numbers is not atomic.</a:t>
            </a:r>
          </a:p>
          <a:p>
            <a:pPr lvl="1"/>
            <a:r>
              <a:rPr lang="en-US" altLang="en-US" dirty="0"/>
              <a:t>Doing so is a bad idea: leads to encoding of information in application program rather than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53894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Boyce-Codd Normal Form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541149" cy="26646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A relation schema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BCNF with respect to a set </a:t>
            </a:r>
            <a:r>
              <a:rPr lang="en-US" altLang="en-US" sz="1700" i="1" dirty="0"/>
              <a:t>F</a:t>
            </a:r>
            <a:r>
              <a:rPr lang="en-US" altLang="en-US" sz="1700" dirty="0"/>
              <a:t> of functional  dependencies if for all functional dependencies in </a:t>
            </a:r>
            <a:r>
              <a:rPr lang="en-US" altLang="en-US" sz="1700" i="1" dirty="0"/>
              <a:t>F</a:t>
            </a:r>
            <a:r>
              <a:rPr lang="en-US" altLang="en-US" sz="1700" baseline="30000" dirty="0"/>
              <a:t>+</a:t>
            </a:r>
            <a:r>
              <a:rPr lang="en-US" altLang="en-US" sz="1700" dirty="0"/>
              <a:t> of the form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    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endParaRPr lang="en-US" altLang="en-US" sz="1700" i="1" dirty="0">
              <a:sym typeface="Greek Symbols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700" i="1" dirty="0">
                <a:sym typeface="Greek Symbols"/>
              </a:rPr>
              <a:t>      </a:t>
            </a:r>
            <a:r>
              <a:rPr lang="en-US" altLang="en-US" sz="1700" dirty="0">
                <a:sym typeface="Greek Symbols"/>
              </a:rPr>
              <a:t>where 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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and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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,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at least one of the following holds: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 </a:t>
            </a:r>
            <a:r>
              <a:rPr lang="en-US" altLang="en-US" sz="1700" dirty="0">
                <a:sym typeface="Greek Symbols"/>
              </a:rPr>
              <a:t>is trivial (i.e.,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 </a:t>
            </a:r>
            <a:r>
              <a:rPr lang="en-US" altLang="en-US" sz="1700" dirty="0">
                <a:sym typeface="Greek Symbols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is a </a:t>
            </a:r>
            <a:r>
              <a:rPr lang="en-US" altLang="en-US" sz="1700" dirty="0" err="1">
                <a:sym typeface="Greek Symbols"/>
              </a:rPr>
              <a:t>superkey</a:t>
            </a:r>
            <a:r>
              <a:rPr lang="en-US" altLang="en-US" sz="1700" dirty="0">
                <a:sym typeface="Greek Symbols"/>
              </a:rPr>
              <a:t> for </a:t>
            </a:r>
            <a:r>
              <a:rPr lang="en-US" altLang="en-US" sz="1700" i="1" dirty="0">
                <a:sym typeface="Greek Symbols"/>
              </a:rPr>
              <a:t>R</a:t>
            </a: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5138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Boyce-Codd Normal Form (Cont.)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774928" cy="372535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Example schema  that is </a:t>
            </a:r>
            <a:r>
              <a:rPr lang="en-US" altLang="en-US" sz="1700" b="1" i="1" dirty="0"/>
              <a:t>not</a:t>
            </a:r>
            <a:r>
              <a:rPr lang="en-US" altLang="en-US" sz="1700" dirty="0"/>
              <a:t>  in BCNF: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u="sng" dirty="0"/>
              <a:t>ID, </a:t>
            </a:r>
            <a:r>
              <a:rPr lang="en-US" altLang="en-US" sz="1700" i="1" dirty="0"/>
              <a:t>name, salary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dept_name</a:t>
            </a:r>
            <a:r>
              <a:rPr lang="en-US" altLang="en-US" sz="1700" i="1" u="sng" dirty="0"/>
              <a:t>, </a:t>
            </a:r>
            <a:r>
              <a:rPr lang="en-US" altLang="en-US" sz="1700" i="1" dirty="0"/>
              <a:t>building, budget 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because :</a:t>
            </a:r>
          </a:p>
          <a:p>
            <a:pPr lvl="1"/>
            <a:r>
              <a:rPr lang="en-US" altLang="en-US" sz="1700" i="1" dirty="0" err="1"/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building, budget  </a:t>
            </a:r>
          </a:p>
          <a:p>
            <a:pPr lvl="2"/>
            <a:r>
              <a:rPr lang="en-US" altLang="en-US" sz="1700" dirty="0">
                <a:sym typeface="Monotype Sorts" pitchFamily="-84" charset="2"/>
              </a:rPr>
              <a:t>holds on </a:t>
            </a:r>
            <a:r>
              <a:rPr lang="en-US" altLang="en-US" sz="1700" i="1" dirty="0" err="1">
                <a:sym typeface="Monotype Sorts" pitchFamily="-84" charset="2"/>
              </a:rPr>
              <a:t>in_dep</a:t>
            </a:r>
            <a:endParaRPr lang="en-US" altLang="en-US" sz="1700" i="1" dirty="0">
              <a:sym typeface="Monotype Sorts" pitchFamily="-84" charset="2"/>
            </a:endParaRPr>
          </a:p>
          <a:p>
            <a:pPr lvl="2"/>
            <a:r>
              <a:rPr lang="en-US" altLang="en-US" sz="1700" dirty="0">
                <a:sym typeface="Monotype Sorts" pitchFamily="-84" charset="2"/>
              </a:rPr>
              <a:t>but </a:t>
            </a:r>
          </a:p>
          <a:p>
            <a:pPr lvl="1"/>
            <a:r>
              <a:rPr lang="en-US" altLang="en-US" sz="1700" i="1" dirty="0" err="1">
                <a:sym typeface="Monotype Sorts" pitchFamily="-84" charset="2"/>
              </a:rPr>
              <a:t>dept_name</a:t>
            </a:r>
            <a:r>
              <a:rPr lang="en-US" altLang="en-US" sz="1700" dirty="0">
                <a:sym typeface="Monotype Sorts" pitchFamily="-84" charset="2"/>
              </a:rPr>
              <a:t> is not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endParaRPr lang="en-US" altLang="en-US" sz="1700" dirty="0">
              <a:sym typeface="Monotype Sorts" pitchFamily="-84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When decompose  </a:t>
            </a:r>
            <a:r>
              <a:rPr lang="en-US" altLang="en-US" sz="1700" i="1" dirty="0" err="1">
                <a:sym typeface="Monotype Sorts" pitchFamily="-84" charset="2"/>
              </a:rPr>
              <a:t>in_dept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Monotype Sorts" pitchFamily="-84" charset="2"/>
              </a:rPr>
              <a:t>into</a:t>
            </a:r>
            <a:r>
              <a:rPr lang="en-US" altLang="en-US" sz="1700" i="1" dirty="0">
                <a:sym typeface="Monotype Sorts" pitchFamily="-84" charset="2"/>
              </a:rPr>
              <a:t> instructor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department 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instructor</a:t>
            </a:r>
            <a:r>
              <a:rPr lang="en-US" altLang="en-US" sz="1700" dirty="0">
                <a:sym typeface="Monotype Sorts" pitchFamily="-84" charset="2"/>
              </a:rPr>
              <a:t>  is in BCNF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department </a:t>
            </a:r>
            <a:r>
              <a:rPr lang="en-US" altLang="en-US" sz="1700" dirty="0">
                <a:sym typeface="Monotype Sorts" pitchFamily="-84" charset="2"/>
              </a:rPr>
              <a:t>is in BCNF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Monotype Sorts" pitchFamily="-84" charset="2"/>
            </a:endParaRP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2074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Decomposing a Schema into BCNF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399106" cy="43349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Let  R be a schema </a:t>
            </a:r>
            <a:r>
              <a:rPr lang="en-US" altLang="en-US" sz="1700" i="1" dirty="0"/>
              <a:t>R  </a:t>
            </a:r>
            <a:r>
              <a:rPr lang="en-US" altLang="en-US" sz="1700" dirty="0"/>
              <a:t>that is not in BCNF.  Let 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kumimoji="0"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  </a:t>
            </a:r>
            <a:r>
              <a:rPr lang="en-US" altLang="en-US" sz="1700" dirty="0">
                <a:sym typeface="Greek Symbols"/>
              </a:rPr>
              <a:t>be the FD that </a:t>
            </a:r>
            <a:r>
              <a:rPr lang="en-US" altLang="en-US" sz="1700" dirty="0"/>
              <a:t>causes a violation of BCNF.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We decompose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into:</a:t>
            </a:r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1700" dirty="0"/>
              <a:t>(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U </a:t>
            </a:r>
            <a:r>
              <a:rPr lang="en-US" altLang="en-US" sz="1700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1700" dirty="0"/>
              <a:t>( </a:t>
            </a:r>
            <a:r>
              <a:rPr lang="en-US" altLang="en-US" sz="1700" i="1" dirty="0"/>
              <a:t>R</a:t>
            </a:r>
            <a:r>
              <a:rPr lang="en-US" altLang="en-US" sz="1700" dirty="0"/>
              <a:t> - ( </a:t>
            </a:r>
            <a:r>
              <a:rPr lang="en-US" altLang="en-US" sz="1700" i="1" dirty="0">
                <a:sym typeface="Symbol" panose="05050102010706020507" pitchFamily="18" charset="2"/>
              </a:rPr>
              <a:t> - </a:t>
            </a:r>
            <a:r>
              <a:rPr lang="en-US" altLang="en-US" sz="1700" dirty="0">
                <a:sym typeface="Symbol" panose="05050102010706020507" pitchFamily="18" charset="2"/>
              </a:rPr>
              <a:t> ) )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dirty="0"/>
              <a:t>In our example of </a:t>
            </a:r>
            <a:r>
              <a:rPr lang="en-US" altLang="en-US" sz="1700" i="1" dirty="0" err="1"/>
              <a:t>in_dep</a:t>
            </a:r>
            <a:r>
              <a:rPr lang="en-US" altLang="en-US" sz="1700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 =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=</a:t>
            </a:r>
            <a:r>
              <a:rPr lang="en-US" altLang="en-US" sz="1700" i="1" dirty="0">
                <a:sym typeface="Symbol" panose="05050102010706020507" pitchFamily="18" charset="2"/>
              </a:rPr>
              <a:t> building, budget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700" dirty="0"/>
              <a:t>and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is replaced by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 (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U </a:t>
            </a:r>
            <a:r>
              <a:rPr lang="en-US" altLang="en-US" sz="1700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) = (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Symbol" panose="05050102010706020507" pitchFamily="18" charset="2"/>
              </a:rPr>
              <a:t>, building, budget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( </a:t>
            </a:r>
            <a:r>
              <a:rPr lang="en-US" altLang="en-US" sz="1700" i="1" dirty="0"/>
              <a:t>R</a:t>
            </a:r>
            <a:r>
              <a:rPr lang="en-US" altLang="en-US" sz="1700" dirty="0"/>
              <a:t> - ( </a:t>
            </a:r>
            <a:r>
              <a:rPr lang="en-US" altLang="en-US" sz="1700" i="1" dirty="0">
                <a:sym typeface="Symbol" panose="05050102010706020507" pitchFamily="18" charset="2"/>
              </a:rPr>
              <a:t> - </a:t>
            </a:r>
            <a:r>
              <a:rPr lang="en-US" altLang="en-US" sz="1700" dirty="0">
                <a:sym typeface="Symbol" panose="05050102010706020507" pitchFamily="18" charset="2"/>
              </a:rPr>
              <a:t> ) ) = ( </a:t>
            </a:r>
            <a:r>
              <a:rPr lang="en-US" altLang="en-US" sz="1700" i="1" dirty="0">
                <a:sym typeface="Symbol" panose="05050102010706020507" pitchFamily="18" charset="2"/>
              </a:rPr>
              <a:t>ID, name,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Symbol" panose="05050102010706020507" pitchFamily="18" charset="2"/>
              </a:rPr>
              <a:t>, salary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46254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ＭＳ Ｐゴシック" pitchFamily="34" charset="-128"/>
              </a:rPr>
              <a:t>Example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07554" cy="4502340"/>
          </a:xfrm>
        </p:spPr>
        <p:txBody>
          <a:bodyPr/>
          <a:lstStyle/>
          <a:p>
            <a:pPr>
              <a:tabLst>
                <a:tab pos="2054225" algn="l"/>
              </a:tabLst>
            </a:pPr>
            <a:r>
              <a:rPr lang="en-US" altLang="en-US" sz="1700" i="1" dirty="0"/>
              <a:t>R = (A, B, C)</a:t>
            </a:r>
            <a:br>
              <a:rPr lang="en-US" altLang="en-US" sz="1700" i="1" dirty="0"/>
            </a:br>
            <a:r>
              <a:rPr lang="en-US" altLang="en-US" sz="1700" i="1" dirty="0"/>
              <a:t>F = {A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B, 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C)</a:t>
            </a:r>
            <a:endParaRPr lang="en-US" altLang="en-US" sz="1700" dirty="0">
              <a:sym typeface="Monotype Sorts" pitchFamily="-84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</a:t>
            </a:r>
            <a:r>
              <a:rPr lang="en-US" altLang="en-US" sz="1700" i="1" dirty="0">
                <a:sym typeface="Monotype Sorts" pitchFamily="-84" charset="2"/>
              </a:rPr>
              <a:t> = (A, B),   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(B, C)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Lossless-join decomposition:</a:t>
            </a:r>
          </a:p>
          <a:p>
            <a:pPr lvl="1">
              <a:buFont typeface="Monotype Sorts" pitchFamily="-84" charset="2"/>
              <a:buNone/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		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 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</a:t>
            </a:r>
            <a:r>
              <a:rPr lang="en-US" altLang="en-US" sz="1700" dirty="0">
                <a:sym typeface="Monotype Sorts" pitchFamily="-84" charset="2"/>
              </a:rPr>
              <a:t>{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  <a:r>
              <a:rPr lang="en-US" altLang="en-US" sz="1700" dirty="0">
                <a:sym typeface="Monotype Sorts" pitchFamily="-84" charset="2"/>
              </a:rPr>
              <a:t>}</a:t>
            </a:r>
            <a:r>
              <a:rPr lang="en-US" altLang="en-US" sz="1700" i="1" dirty="0">
                <a:sym typeface="Monotype Sorts" pitchFamily="-84" charset="2"/>
              </a:rPr>
              <a:t>  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BC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Dependency preserving</a:t>
            </a:r>
          </a:p>
          <a:p>
            <a:pPr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i="1" baseline="-25000" dirty="0">
                <a:sym typeface="Monotype Sorts" pitchFamily="-84" charset="2"/>
              </a:rPr>
              <a:t>1 </a:t>
            </a:r>
            <a:r>
              <a:rPr lang="en-US" altLang="en-US" sz="1700" i="1" dirty="0">
                <a:sym typeface="Monotype Sorts" pitchFamily="-84" charset="2"/>
              </a:rPr>
              <a:t>= (A, B),   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(A, C)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Lossless-join decomposition:</a:t>
            </a:r>
          </a:p>
          <a:p>
            <a:pPr lvl="1">
              <a:buFont typeface="Monotype Sorts" pitchFamily="-84" charset="2"/>
              <a:buNone/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		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 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</a:t>
            </a:r>
            <a:r>
              <a:rPr lang="en-US" altLang="en-US" sz="1700" dirty="0">
                <a:sym typeface="Monotype Sorts" pitchFamily="-84" charset="2"/>
              </a:rPr>
              <a:t> {</a:t>
            </a:r>
            <a:r>
              <a:rPr lang="en-US" altLang="en-US" sz="1700" i="1" dirty="0">
                <a:sym typeface="Monotype Sorts" pitchFamily="-84" charset="2"/>
              </a:rPr>
              <a:t>A</a:t>
            </a:r>
            <a:r>
              <a:rPr lang="en-US" altLang="en-US" sz="1700" dirty="0">
                <a:sym typeface="Monotype Sorts" pitchFamily="-84" charset="2"/>
              </a:rPr>
              <a:t>}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A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A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Not dependency preserving </a:t>
            </a:r>
            <a:br>
              <a:rPr lang="en-US" altLang="en-US" sz="1700" dirty="0">
                <a:sym typeface="Monotype Sorts" pitchFamily="-84" charset="2"/>
              </a:rPr>
            </a:br>
            <a:r>
              <a:rPr lang="en-US" altLang="en-US" sz="1700" dirty="0">
                <a:sym typeface="Monotype Sorts" pitchFamily="-84" charset="2"/>
              </a:rPr>
              <a:t>(cannot check </a:t>
            </a:r>
            <a:r>
              <a:rPr lang="en-US" altLang="en-US" sz="1700" i="1" dirty="0">
                <a:sym typeface="Monotype Sorts" pitchFamily="-84" charset="2"/>
              </a:rPr>
              <a:t>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C </a:t>
            </a:r>
            <a:r>
              <a:rPr lang="en-US" altLang="en-US" sz="1700" dirty="0">
                <a:sym typeface="Monotype Sorts" pitchFamily="-84" charset="2"/>
              </a:rPr>
              <a:t>without computing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i="1" baseline="-25000" dirty="0">
                <a:sym typeface="Monotype Sorts" pitchFamily="-84" charset="2"/>
              </a:rPr>
              <a:t>1 </a:t>
            </a:r>
            <a:r>
              <a:rPr lang="en-US" altLang="en-US" sz="1700" dirty="0">
                <a:sym typeface="Monotype Sorts" pitchFamily="-84" charset="2"/>
              </a:rPr>
              <a:t>   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dirty="0">
                <a:sym typeface="Monotype Sorts" pitchFamily="-84" charset="2"/>
              </a:rPr>
              <a:t>)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156" y="4474921"/>
            <a:ext cx="2349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527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BCNF and Dependency Preservation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612170" cy="5075000"/>
          </a:xfrm>
        </p:spPr>
        <p:txBody>
          <a:bodyPr/>
          <a:lstStyle/>
          <a:p>
            <a:pPr>
              <a:defRPr/>
            </a:pPr>
            <a:r>
              <a:rPr lang="en-US" altLang="en-US" sz="1700" dirty="0">
                <a:ea typeface="ＭＳ Ｐゴシック" pitchFamily="34" charset="-128"/>
              </a:rPr>
              <a:t>It is not always possible to achieve both BCNF and dependency preservation </a:t>
            </a:r>
            <a:endParaRPr lang="en-US" altLang="en-US" sz="1700" dirty="0"/>
          </a:p>
          <a:p>
            <a:pPr>
              <a:defRPr/>
            </a:pPr>
            <a:r>
              <a:rPr lang="en-US" altLang="en-US" sz="1700" dirty="0"/>
              <a:t>Consider a schema: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700" dirty="0"/>
              <a:t>         </a:t>
            </a:r>
            <a:r>
              <a:rPr lang="en-US" altLang="en-US" sz="1700" i="1" dirty="0" err="1"/>
              <a:t>dept_advisor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i_ID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department_name</a:t>
            </a:r>
            <a:r>
              <a:rPr lang="en-US" altLang="en-US" sz="1700" dirty="0"/>
              <a:t>)</a:t>
            </a:r>
          </a:p>
          <a:p>
            <a:pPr>
              <a:defRPr/>
            </a:pPr>
            <a:r>
              <a:rPr lang="en-US" altLang="en-US" sz="1700" dirty="0"/>
              <a:t>With function dependencies: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700" dirty="0"/>
              <a:t>             </a:t>
            </a:r>
            <a:r>
              <a:rPr lang="en-US" altLang="en-US" sz="1700" i="1" dirty="0"/>
              <a:t>i_ID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itchFamily="18" charset="2"/>
              </a:rPr>
              <a:t> </a:t>
            </a:r>
            <a:r>
              <a:rPr lang="en-US" altLang="en-US" sz="1700" i="1" dirty="0">
                <a:sym typeface="Symbol" pitchFamily="18" charset="2"/>
              </a:rPr>
              <a:t>dept_name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700" dirty="0"/>
              <a:t>             </a:t>
            </a:r>
            <a:r>
              <a:rPr lang="en-US" altLang="en-US" sz="1700" i="1" dirty="0"/>
              <a:t>s_ID, </a:t>
            </a:r>
            <a:r>
              <a:rPr lang="en-US" altLang="en-US" sz="1700" i="1" dirty="0">
                <a:sym typeface="Symbol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Symbol" pitchFamily="18" charset="2"/>
              </a:rPr>
              <a:t> </a:t>
            </a:r>
            <a:r>
              <a:rPr lang="en-US" altLang="en-US" sz="1700" i="1" dirty="0">
                <a:sym typeface="Symbol" pitchFamily="18" charset="2"/>
              </a:rPr>
              <a:t>i_ID</a:t>
            </a:r>
          </a:p>
          <a:p>
            <a:pPr>
              <a:defRPr/>
            </a:pPr>
            <a:r>
              <a:rPr lang="en-US" altLang="en-US" sz="1700" i="1" dirty="0"/>
              <a:t>dept_advisor </a:t>
            </a:r>
            <a:r>
              <a:rPr lang="en-US" altLang="en-US" sz="1700" dirty="0"/>
              <a:t>is not in BCNF </a:t>
            </a:r>
          </a:p>
          <a:p>
            <a:pPr lvl="1">
              <a:defRPr/>
            </a:pPr>
            <a:r>
              <a:rPr lang="en-US" altLang="en-US" sz="1700" dirty="0"/>
              <a:t> </a:t>
            </a:r>
            <a:r>
              <a:rPr lang="en-US" altLang="en-US" sz="1700" i="1" dirty="0"/>
              <a:t>i_ID</a:t>
            </a:r>
            <a:r>
              <a:rPr lang="en-US" altLang="en-US" sz="1700" dirty="0"/>
              <a:t>  is not a superkey.</a:t>
            </a:r>
          </a:p>
          <a:p>
            <a:pPr>
              <a:defRPr/>
            </a:pPr>
            <a:r>
              <a:rPr lang="en-US" altLang="en-US" sz="1700" dirty="0">
                <a:sym typeface="Symbol" pitchFamily="18" charset="2"/>
              </a:rPr>
              <a:t>Any decomposition  of </a:t>
            </a:r>
            <a:r>
              <a:rPr lang="en-US" altLang="en-US" sz="1700" i="1" dirty="0"/>
              <a:t>dept_advisor </a:t>
            </a:r>
            <a:r>
              <a:rPr lang="en-US" altLang="en-US" sz="1700" dirty="0">
                <a:sym typeface="Symbol" pitchFamily="18" charset="2"/>
              </a:rPr>
              <a:t>will not include all the attributes in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700" dirty="0">
                <a:sym typeface="Symbol" pitchFamily="18" charset="2"/>
              </a:rPr>
              <a:t>            </a:t>
            </a:r>
            <a:r>
              <a:rPr lang="en-US" altLang="en-US" sz="1700" i="1" dirty="0"/>
              <a:t>s_ID, </a:t>
            </a:r>
            <a:r>
              <a:rPr lang="en-US" altLang="en-US" sz="1700" i="1" dirty="0">
                <a:sym typeface="Symbol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i="1" dirty="0">
                <a:sym typeface="Symbol" pitchFamily="18" charset="2"/>
              </a:rPr>
              <a:t> i_ID</a:t>
            </a:r>
          </a:p>
          <a:p>
            <a:pPr>
              <a:defRPr/>
            </a:pPr>
            <a:r>
              <a:rPr lang="en-US" altLang="en-US" sz="1700" dirty="0">
                <a:sym typeface="Symbol" pitchFamily="18" charset="2"/>
              </a:rPr>
              <a:t>Thus, the composition is  NOT be</a:t>
            </a:r>
            <a:r>
              <a:rPr lang="en-US" altLang="en-US" sz="1700" b="1" dirty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altLang="en-US" sz="1700" dirty="0">
                <a:sym typeface="Symbol" pitchFamily="18" charset="2"/>
              </a:rPr>
              <a:t>dependency preserving</a:t>
            </a:r>
            <a:endParaRPr lang="en-US" altLang="en-US" sz="17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036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Third Normal Form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21048" cy="4903787"/>
          </a:xfrm>
        </p:spPr>
        <p:txBody>
          <a:bodyPr/>
          <a:lstStyle/>
          <a:p>
            <a:pPr>
              <a:tabLst>
                <a:tab pos="2738438" algn="l"/>
              </a:tabLst>
            </a:pPr>
            <a:r>
              <a:rPr lang="en-US" altLang="en-US" sz="1700" dirty="0"/>
              <a:t>A relation schema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</a:t>
            </a:r>
            <a:r>
              <a:rPr lang="en-US" altLang="en-US" sz="1700" b="1" dirty="0">
                <a:solidFill>
                  <a:srgbClr val="002060"/>
                </a:solidFill>
              </a:rPr>
              <a:t>third normal form (3NF)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if for all:</a:t>
            </a:r>
          </a:p>
          <a:p>
            <a:pPr>
              <a:buFont typeface="Monotype Sorts" pitchFamily="-84" charset="2"/>
              <a:buNone/>
              <a:tabLst>
                <a:tab pos="2738438" algn="l"/>
              </a:tabLst>
            </a:pPr>
            <a:r>
              <a:rPr lang="en-US" altLang="en-US" sz="1700" dirty="0"/>
              <a:t>		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Monotype Sorts" pitchFamily="-84" charset="2"/>
              </a:rPr>
              <a:t> in </a:t>
            </a:r>
            <a:r>
              <a:rPr lang="en-US" altLang="en-US" sz="1700" i="1" dirty="0">
                <a:sym typeface="Monotype Sorts" pitchFamily="-84" charset="2"/>
              </a:rPr>
              <a:t>F</a:t>
            </a:r>
            <a:r>
              <a:rPr lang="en-US" altLang="en-US" sz="1700" baseline="30000" dirty="0">
                <a:sym typeface="Monotype Sorts" pitchFamily="-84" charset="2"/>
              </a:rPr>
              <a:t>+</a:t>
            </a:r>
          </a:p>
          <a:p>
            <a:pPr>
              <a:buFont typeface="Monotype Sorts" pitchFamily="-84" charset="2"/>
              <a:buNone/>
              <a:tabLst>
                <a:tab pos="2738438" algn="l"/>
              </a:tabLst>
            </a:pPr>
            <a:r>
              <a:rPr lang="en-US" altLang="en-US" sz="800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/>
            </a:r>
            <a:br>
              <a:rPr lang="en-US" altLang="en-US" sz="1700" dirty="0">
                <a:sym typeface="Monotype Sorts" pitchFamily="-84" charset="2"/>
              </a:rPr>
            </a:br>
            <a:r>
              <a:rPr lang="en-US" altLang="en-US" sz="1700" dirty="0">
                <a:sym typeface="Monotype Sorts" pitchFamily="-84" charset="2"/>
              </a:rPr>
              <a:t>at least one of the following holds:</a:t>
            </a:r>
          </a:p>
          <a:p>
            <a:pPr lvl="1">
              <a:tabLst>
                <a:tab pos="2738438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</a:t>
            </a:r>
            <a:r>
              <a:rPr lang="en-US" altLang="en-US" sz="1700" dirty="0">
                <a:sym typeface="Greek Symbols"/>
              </a:rPr>
              <a:t>is trivial (i.e.,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 </a:t>
            </a:r>
            <a:r>
              <a:rPr lang="en-US" altLang="en-US" sz="1700" dirty="0">
                <a:sym typeface="Greek Symbols"/>
              </a:rPr>
              <a:t>)</a:t>
            </a:r>
          </a:p>
          <a:p>
            <a:pPr lvl="1">
              <a:tabLst>
                <a:tab pos="2738438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is a </a:t>
            </a:r>
            <a:r>
              <a:rPr lang="en-US" altLang="en-US" sz="1700" dirty="0" err="1">
                <a:sym typeface="Greek Symbols"/>
              </a:rPr>
              <a:t>superkey</a:t>
            </a:r>
            <a:r>
              <a:rPr lang="en-US" altLang="en-US" sz="1700" dirty="0">
                <a:sym typeface="Greek Symbols"/>
              </a:rPr>
              <a:t> for </a:t>
            </a:r>
            <a:r>
              <a:rPr lang="en-US" altLang="en-US" sz="1700" i="1" dirty="0">
                <a:sym typeface="Greek Symbols"/>
              </a:rPr>
              <a:t>R</a:t>
            </a:r>
            <a:endParaRPr lang="en-US" altLang="en-US" sz="1700" dirty="0">
              <a:sym typeface="Greek Symbols"/>
            </a:endParaRPr>
          </a:p>
          <a:p>
            <a:pPr lvl="1">
              <a:tabLst>
                <a:tab pos="2738438" algn="l"/>
              </a:tabLst>
            </a:pPr>
            <a:r>
              <a:rPr lang="en-US" altLang="en-US" sz="1700" dirty="0">
                <a:sym typeface="Greek Symbols"/>
              </a:rPr>
              <a:t>Each attribute </a:t>
            </a:r>
            <a:r>
              <a:rPr lang="en-US" altLang="en-US" sz="1700" i="1" dirty="0">
                <a:sym typeface="Greek Symbols"/>
              </a:rPr>
              <a:t>A</a:t>
            </a:r>
            <a:r>
              <a:rPr lang="en-US" altLang="en-US" sz="1700" dirty="0">
                <a:sym typeface="Greek Symbols"/>
              </a:rPr>
              <a:t> in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Greek Symbols"/>
              </a:rPr>
              <a:t> – 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is contained in a candidate key for </a:t>
            </a:r>
            <a:r>
              <a:rPr lang="en-US" altLang="en-US" sz="1700" i="1" dirty="0">
                <a:sym typeface="Greek Symbols"/>
              </a:rPr>
              <a:t>R.</a:t>
            </a:r>
          </a:p>
          <a:p>
            <a:pPr lvl="1">
              <a:buFont typeface="Monotype Sorts" pitchFamily="-84" charset="2"/>
              <a:buNone/>
              <a:tabLst>
                <a:tab pos="2738438" algn="l"/>
              </a:tabLst>
            </a:pPr>
            <a:r>
              <a:rPr lang="en-US" altLang="en-US" sz="1700" i="1" dirty="0">
                <a:sym typeface="Greek Symbols"/>
              </a:rPr>
              <a:t>   </a:t>
            </a:r>
            <a:r>
              <a:rPr lang="en-US" altLang="en-US" sz="1700" dirty="0">
                <a:sym typeface="Greek Symbols"/>
              </a:rPr>
              <a:t>(</a:t>
            </a:r>
            <a:r>
              <a:rPr lang="en-US" altLang="en-US" sz="1700" b="1" dirty="0">
                <a:sym typeface="Greek Symbols"/>
              </a:rPr>
              <a:t>NOTE</a:t>
            </a:r>
            <a:r>
              <a:rPr lang="en-US" altLang="en-US" sz="1700" i="1" dirty="0">
                <a:sym typeface="Greek Symbols"/>
              </a:rPr>
              <a:t>: </a:t>
            </a:r>
            <a:r>
              <a:rPr lang="en-US" altLang="en-US" sz="1700" dirty="0">
                <a:sym typeface="Greek Symbols"/>
              </a:rPr>
              <a:t>each attribute may be in a different candidate key)</a:t>
            </a:r>
            <a:endParaRPr lang="en-US" altLang="en-US" sz="1700" i="1" dirty="0">
              <a:sym typeface="Greek Symbols"/>
            </a:endParaRPr>
          </a:p>
          <a:p>
            <a:pPr>
              <a:tabLst>
                <a:tab pos="2738438" algn="l"/>
              </a:tabLst>
            </a:pPr>
            <a:r>
              <a:rPr lang="en-US" altLang="en-US" sz="1700" dirty="0">
                <a:sym typeface="Greek Symbols"/>
              </a:rPr>
              <a:t>If a relation is in BCNF it is in 3NF (since in BCNF one of the first two conditions above must hold).</a:t>
            </a:r>
          </a:p>
          <a:p>
            <a:pPr>
              <a:tabLst>
                <a:tab pos="2738438" algn="l"/>
              </a:tabLst>
            </a:pPr>
            <a:r>
              <a:rPr lang="en-US" altLang="en-US" sz="1700" dirty="0"/>
              <a:t>Third condition is a minimal relaxation of BCNF to ensure dependency preservation (will see why later).</a:t>
            </a:r>
          </a:p>
          <a:p>
            <a:pPr>
              <a:tabLst>
                <a:tab pos="2738438" algn="l"/>
              </a:tabLst>
            </a:pPr>
            <a:endParaRPr lang="en-US" altLang="en-US" sz="2000" dirty="0">
              <a:sym typeface="Greek Symbols"/>
            </a:endParaRPr>
          </a:p>
        </p:txBody>
      </p:sp>
    </p:spTree>
    <p:extLst>
      <p:ext uri="{BB962C8B-B14F-4D97-AF65-F5344CB8AC3E}">
        <p14:creationId xmlns:p14="http://schemas.microsoft.com/office/powerpoint/2010/main" val="295696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98425"/>
            <a:ext cx="8015287" cy="625475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ＭＳ Ｐゴシック" pitchFamily="34" charset="-128"/>
              </a:rPr>
              <a:t>3NF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953" y="1093788"/>
            <a:ext cx="8015287" cy="4490148"/>
          </a:xfrm>
        </p:spPr>
        <p:txBody>
          <a:bodyPr/>
          <a:lstStyle/>
          <a:p>
            <a:r>
              <a:rPr lang="en-US" altLang="en-US" sz="1700" dirty="0"/>
              <a:t>Consider a schema: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</a:t>
            </a:r>
            <a:r>
              <a:rPr lang="en-US" altLang="en-US" sz="1700" i="1" dirty="0" err="1"/>
              <a:t>dept_advisor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i_ID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With function dependencies: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i="1" dirty="0" err="1"/>
              <a:t>i_ID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endParaRPr lang="en-US" altLang="en-US" sz="1700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 </a:t>
            </a:r>
            <a:r>
              <a:rPr lang="en-US" altLang="en-US" sz="1700" i="1" dirty="0" err="1">
                <a:sym typeface="Symbol" panose="05050102010706020507" pitchFamily="18" charset="2"/>
              </a:rPr>
              <a:t>i_ID</a:t>
            </a:r>
            <a:endParaRPr lang="en-US" altLang="en-US" sz="1700" i="1" dirty="0">
              <a:sym typeface="Symbol" panose="05050102010706020507" pitchFamily="18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Two candidate keys =  {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}, {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i="1" dirty="0" err="1">
                <a:sym typeface="Symbol" panose="05050102010706020507" pitchFamily="18" charset="2"/>
              </a:rPr>
              <a:t>i_ID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}</a:t>
            </a:r>
            <a:endParaRPr lang="en-US" altLang="en-US" sz="1700" dirty="0">
              <a:sym typeface="Monotype Sorts" pitchFamily="-84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We have seen before that </a:t>
            </a:r>
            <a:r>
              <a:rPr lang="en-US" altLang="en-US" sz="1700" i="1" dirty="0" err="1"/>
              <a:t>dept_advisor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Monotype Sorts" pitchFamily="-84" charset="2"/>
              </a:rPr>
              <a:t>is </a:t>
            </a:r>
            <a:r>
              <a:rPr lang="en-US" altLang="en-US" sz="1700" dirty="0">
                <a:solidFill>
                  <a:srgbClr val="002060"/>
                </a:solidFill>
                <a:sym typeface="Monotype Sorts" pitchFamily="-84" charset="2"/>
              </a:rPr>
              <a:t>not</a:t>
            </a:r>
            <a:r>
              <a:rPr lang="en-US" altLang="en-US" sz="1700" dirty="0">
                <a:sym typeface="Monotype Sorts" pitchFamily="-84" charset="2"/>
              </a:rPr>
              <a:t> in BCNF</a:t>
            </a:r>
          </a:p>
          <a:p>
            <a:r>
              <a:rPr lang="en-US" altLang="en-US" sz="1700" i="1" dirty="0">
                <a:sym typeface="Monotype Sorts" pitchFamily="-84" charset="2"/>
              </a:rPr>
              <a:t>R,  </a:t>
            </a:r>
            <a:r>
              <a:rPr lang="en-US" altLang="en-US" sz="1700" dirty="0">
                <a:sym typeface="Monotype Sorts" pitchFamily="-84" charset="2"/>
              </a:rPr>
              <a:t>however, 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>is in  3NF</a:t>
            </a:r>
          </a:p>
          <a:p>
            <a:pPr lvl="1"/>
            <a:r>
              <a:rPr lang="en-US" altLang="en-US" sz="1700" i="1" dirty="0"/>
              <a:t> 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Monotype Sorts" pitchFamily="-84" charset="2"/>
              </a:rPr>
              <a:t>is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endParaRPr lang="en-US" altLang="en-US" sz="1700" dirty="0">
              <a:sym typeface="Monotype Sorts" pitchFamily="-84" charset="2"/>
            </a:endParaRPr>
          </a:p>
          <a:p>
            <a:pPr lvl="1"/>
            <a:r>
              <a:rPr lang="en-US" altLang="en-US" sz="1700" dirty="0"/>
              <a:t> </a:t>
            </a:r>
            <a:r>
              <a:rPr lang="en-US" altLang="en-US" sz="1700" i="1" dirty="0" err="1"/>
              <a:t>i_ID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 and 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i_ID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>is NOT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r>
              <a:rPr lang="en-US" altLang="en-US" sz="1700" dirty="0">
                <a:sym typeface="Monotype Sorts" pitchFamily="-84" charset="2"/>
              </a:rPr>
              <a:t>, but:</a:t>
            </a:r>
          </a:p>
          <a:p>
            <a:pPr lvl="2"/>
            <a:r>
              <a:rPr lang="en-US" altLang="en-US" sz="1700" dirty="0">
                <a:sym typeface="Monotype Sorts" pitchFamily="-84" charset="2"/>
              </a:rPr>
              <a:t>{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Monotype Sorts" pitchFamily="-84" charset="2"/>
              </a:rPr>
              <a:t>} – {</a:t>
            </a:r>
            <a:r>
              <a:rPr lang="en-US" altLang="en-US" sz="1700" i="1" dirty="0" err="1"/>
              <a:t>i_ID</a:t>
            </a:r>
            <a:r>
              <a:rPr lang="en-US" altLang="en-US" sz="1700" dirty="0">
                <a:sym typeface="Monotype Sorts" pitchFamily="-84" charset="2"/>
              </a:rPr>
              <a:t> }  = 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Monotype Sorts" pitchFamily="-84" charset="2"/>
              </a:rPr>
              <a:t>{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>} and</a:t>
            </a:r>
          </a:p>
          <a:p>
            <a:pPr lvl="2"/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Greek Symbols"/>
              </a:rPr>
              <a:t>is contained in a  candidate key</a:t>
            </a:r>
            <a:endParaRPr lang="en-US" altLang="en-US" sz="1700" i="1" dirty="0">
              <a:sym typeface="Greek Symbols"/>
            </a:endParaRPr>
          </a:p>
          <a:p>
            <a:pPr>
              <a:buFont typeface="Monotype Sorts" pitchFamily="-84" charset="2"/>
              <a:buNone/>
            </a:pP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Symbol" panose="05050102010706020507" pitchFamily="18" charset="2"/>
            </a:endParaRP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303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749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ＭＳ Ｐゴシック" pitchFamily="34" charset="-128"/>
              </a:rPr>
              <a:t>Redundancy in 3NF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781050" y="1130542"/>
            <a:ext cx="7716774" cy="5123954"/>
          </a:xfrm>
        </p:spPr>
        <p:txBody>
          <a:bodyPr/>
          <a:lstStyle/>
          <a:p>
            <a:r>
              <a:rPr lang="en-US" altLang="en-US" sz="1700" dirty="0"/>
              <a:t>Consider  the schema R below,  which is in 3NF</a:t>
            </a:r>
          </a:p>
          <a:p>
            <a:pPr marL="0" indent="0">
              <a:buNone/>
            </a:pP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0" indent="0">
              <a:buNone/>
            </a:pPr>
            <a:endParaRPr lang="en-US" altLang="en-US" sz="1700" dirty="0"/>
          </a:p>
          <a:p>
            <a:r>
              <a:rPr lang="en-US" altLang="en-US" sz="1800" dirty="0"/>
              <a:t>What is wrong with the table?</a:t>
            </a:r>
            <a:endParaRPr lang="en-US" altLang="en-US" sz="1700" dirty="0"/>
          </a:p>
          <a:p>
            <a:pPr marL="0" indent="0">
              <a:buNone/>
            </a:pPr>
            <a:endParaRPr lang="en-US" altLang="en-US" sz="1700" dirty="0"/>
          </a:p>
        </p:txBody>
      </p:sp>
      <p:sp>
        <p:nvSpPr>
          <p:cNvPr id="34822" name="TextBox 1"/>
          <p:cNvSpPr txBox="1">
            <a:spLocks noChangeArrowheads="1"/>
          </p:cNvSpPr>
          <p:nvPr/>
        </p:nvSpPr>
        <p:spPr bwMode="auto">
          <a:xfrm>
            <a:off x="781051" y="1530989"/>
            <a:ext cx="6717030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/>
              <a:t>R = </a:t>
            </a:r>
            <a:r>
              <a:rPr lang="en-US" altLang="en-US" sz="1700" dirty="0"/>
              <a:t>(</a:t>
            </a:r>
            <a:r>
              <a:rPr lang="en-US" altLang="en-US" sz="1700" i="1" dirty="0"/>
              <a:t>J, K, L </a:t>
            </a:r>
            <a:r>
              <a:rPr lang="en-US" altLang="en-US" sz="1700" dirty="0"/>
              <a:t>)</a:t>
            </a:r>
            <a:endParaRPr lang="en-US" altLang="en-US" sz="1700" i="1" dirty="0"/>
          </a:p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/>
              <a:t>F = </a:t>
            </a:r>
            <a:r>
              <a:rPr lang="en-US" altLang="en-US" sz="1700" dirty="0"/>
              <a:t>{</a:t>
            </a:r>
            <a:r>
              <a:rPr lang="en-US" altLang="en-US" sz="1700" i="1" dirty="0"/>
              <a:t>JK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L, L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K </a:t>
            </a:r>
            <a:r>
              <a:rPr lang="en-US" altLang="en-US" sz="1700" dirty="0">
                <a:sym typeface="Monotype Sorts" pitchFamily="-84" charset="2"/>
              </a:rPr>
              <a:t>}</a:t>
            </a:r>
          </a:p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sym typeface="Monotype Sorts" pitchFamily="-84" charset="2"/>
              </a:rPr>
              <a:t>And an instance table: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81049" y="4316201"/>
            <a:ext cx="7472935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Repetition of information</a:t>
            </a:r>
          </a:p>
          <a:p>
            <a:pPr marL="800100" lvl="1" indent="-34290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Need to use null values (e.g., to represent the relationship </a:t>
            </a:r>
            <a:r>
              <a:rPr lang="en-US" altLang="en-US" sz="1700" i="1" dirty="0">
                <a:sym typeface="Monotype Sorts" pitchFamily="-84" charset="2"/>
              </a:rPr>
              <a:t>l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dirty="0">
                <a:sym typeface="Monotype Sorts" pitchFamily="-84" charset="2"/>
              </a:rPr>
              <a:t>, </a:t>
            </a:r>
            <a:r>
              <a:rPr lang="en-US" altLang="en-US" sz="1700" i="1" dirty="0">
                <a:sym typeface="Monotype Sorts" pitchFamily="-84" charset="2"/>
              </a:rPr>
              <a:t>k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dirty="0">
                <a:sym typeface="Monotype Sorts" pitchFamily="-84" charset="2"/>
              </a:rPr>
              <a:t> </a:t>
            </a:r>
          </a:p>
          <a:p>
            <a:pPr lvl="1">
              <a:buClr>
                <a:srgbClr val="F89108"/>
              </a:buClr>
              <a:buSzPct val="80000"/>
            </a:pPr>
            <a:r>
              <a:rPr lang="en-US" altLang="en-US" sz="1700" dirty="0">
                <a:sym typeface="Monotype Sorts" pitchFamily="-84" charset="2"/>
              </a:rPr>
              <a:t>     where there is no corresponding value for </a:t>
            </a:r>
            <a:r>
              <a:rPr lang="en-US" altLang="en-US" sz="1700" i="1" dirty="0">
                <a:sym typeface="Monotype Sorts" pitchFamily="-84" charset="2"/>
              </a:rPr>
              <a:t>J</a:t>
            </a:r>
            <a:r>
              <a:rPr lang="en-US" altLang="en-US" sz="1700" dirty="0">
                <a:sym typeface="Monotype Sorts" pitchFamily="-84" charset="2"/>
              </a:rPr>
              <a:t>)</a:t>
            </a:r>
            <a:endParaRPr lang="en-US" altLang="en-US" sz="1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643" y="2565463"/>
            <a:ext cx="9334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7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625" y="184150"/>
            <a:ext cx="6969125" cy="5000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Comparison of BCNF and 3NF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093788"/>
            <a:ext cx="7599285" cy="2661348"/>
          </a:xfrm>
        </p:spPr>
        <p:txBody>
          <a:bodyPr/>
          <a:lstStyle/>
          <a:p>
            <a:r>
              <a:rPr lang="en-US" altLang="en-US" sz="1700" dirty="0"/>
              <a:t>Advantages to 3NF over BCNF.  It is always possible to obtain a 3NF design without sacrificing </a:t>
            </a:r>
            <a:r>
              <a:rPr lang="en-US" altLang="en-US" sz="1700" dirty="0" err="1"/>
              <a:t>losslessness</a:t>
            </a:r>
            <a:r>
              <a:rPr lang="en-US" altLang="en-US" sz="1700" dirty="0"/>
              <a:t> or dependency preservation. </a:t>
            </a:r>
            <a:endParaRPr lang="en-US" altLang="en-US" sz="1700" dirty="0" smtClean="0"/>
          </a:p>
          <a:p>
            <a:pPr marL="0" indent="0">
              <a:buNone/>
            </a:pPr>
            <a:endParaRPr lang="en-US" altLang="en-US" sz="1700" dirty="0"/>
          </a:p>
          <a:p>
            <a:r>
              <a:rPr lang="en-US" altLang="en-US" sz="1700" dirty="0"/>
              <a:t>Disadvantages to 3NF. </a:t>
            </a:r>
          </a:p>
          <a:p>
            <a:pPr lvl="1"/>
            <a:r>
              <a:rPr lang="en-US" altLang="en-US" sz="1700" dirty="0"/>
              <a:t>We may have to use null values to represent some of the possible meaningful relationships among data items.</a:t>
            </a:r>
          </a:p>
          <a:p>
            <a:pPr lvl="1"/>
            <a:r>
              <a:rPr lang="en-US" altLang="en-US" sz="1700" dirty="0"/>
              <a:t> There is the problem of repetition of information.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8924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625" y="184150"/>
            <a:ext cx="6969125" cy="5000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Goals of Normalization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093789"/>
            <a:ext cx="7401846" cy="2844227"/>
          </a:xfrm>
        </p:spPr>
        <p:txBody>
          <a:bodyPr/>
          <a:lstStyle/>
          <a:p>
            <a:r>
              <a:rPr lang="en-US" altLang="en-US" sz="1700" dirty="0"/>
              <a:t>Let </a:t>
            </a:r>
            <a:r>
              <a:rPr lang="en-US" altLang="en-US" sz="1700" i="1" dirty="0"/>
              <a:t>R</a:t>
            </a:r>
            <a:r>
              <a:rPr lang="en-US" altLang="en-US" sz="1700" dirty="0"/>
              <a:t> be a relation scheme with a set</a:t>
            </a:r>
            <a:r>
              <a:rPr lang="en-US" altLang="en-US" sz="1700" i="1" dirty="0"/>
              <a:t> F</a:t>
            </a:r>
            <a:r>
              <a:rPr lang="en-US" altLang="en-US" sz="1700" dirty="0"/>
              <a:t> of functional dependencies.</a:t>
            </a:r>
          </a:p>
          <a:p>
            <a:r>
              <a:rPr lang="en-US" altLang="en-US" sz="1700" dirty="0"/>
              <a:t>Decide whether a relation scheme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</a:t>
            </a:r>
            <a:r>
              <a:rPr lang="ja-JP" altLang="en-US" sz="1700" dirty="0">
                <a:latin typeface="Arial" panose="020B0604020202020204" pitchFamily="34" charset="0"/>
              </a:rPr>
              <a:t>“</a:t>
            </a:r>
            <a:r>
              <a:rPr lang="en-US" altLang="ja-JP" sz="1700" dirty="0"/>
              <a:t>good</a:t>
            </a:r>
            <a:r>
              <a:rPr lang="ja-JP" altLang="en-US" sz="1700" dirty="0">
                <a:latin typeface="Arial" panose="020B0604020202020204" pitchFamily="34" charset="0"/>
              </a:rPr>
              <a:t>”</a:t>
            </a:r>
            <a:r>
              <a:rPr lang="en-US" altLang="ja-JP" sz="1700" dirty="0"/>
              <a:t> form.</a:t>
            </a:r>
          </a:p>
          <a:p>
            <a:r>
              <a:rPr lang="en-US" altLang="en-US" sz="1700" dirty="0"/>
              <a:t>In the case that a relation scheme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not in </a:t>
            </a:r>
            <a:r>
              <a:rPr lang="ja-JP" altLang="en-US" sz="1700" dirty="0">
                <a:latin typeface="Arial" panose="020B0604020202020204" pitchFamily="34" charset="0"/>
              </a:rPr>
              <a:t>“</a:t>
            </a:r>
            <a:r>
              <a:rPr lang="en-US" altLang="ja-JP" sz="1700" dirty="0"/>
              <a:t>good</a:t>
            </a:r>
            <a:r>
              <a:rPr lang="ja-JP" altLang="en-US" sz="1700" dirty="0">
                <a:latin typeface="Arial" panose="020B0604020202020204" pitchFamily="34" charset="0"/>
              </a:rPr>
              <a:t>”</a:t>
            </a:r>
            <a:r>
              <a:rPr lang="en-US" altLang="ja-JP" sz="1700" dirty="0"/>
              <a:t> form, need to decompose it into a set of relation scheme  {</a:t>
            </a:r>
            <a:r>
              <a:rPr lang="en-US" altLang="ja-JP" sz="1700" i="1" dirty="0"/>
              <a:t>R</a:t>
            </a:r>
            <a:r>
              <a:rPr lang="en-US" altLang="ja-JP" sz="1700" baseline="-25000" dirty="0"/>
              <a:t>1</a:t>
            </a:r>
            <a:r>
              <a:rPr lang="en-US" altLang="ja-JP" sz="1700" i="1" dirty="0"/>
              <a:t>, R</a:t>
            </a:r>
            <a:r>
              <a:rPr lang="en-US" altLang="ja-JP" sz="1700" baseline="-25000" dirty="0"/>
              <a:t>2</a:t>
            </a:r>
            <a:r>
              <a:rPr lang="en-US" altLang="ja-JP" sz="1700" i="1" dirty="0"/>
              <a:t>, ..., R</a:t>
            </a:r>
            <a:r>
              <a:rPr lang="en-US" altLang="ja-JP" sz="1700" i="1" baseline="-25000" dirty="0"/>
              <a:t>n</a:t>
            </a:r>
            <a:r>
              <a:rPr lang="en-US" altLang="ja-JP" sz="1700" dirty="0"/>
              <a:t>} such that:</a:t>
            </a:r>
          </a:p>
          <a:p>
            <a:pPr lvl="1"/>
            <a:r>
              <a:rPr lang="en-US" altLang="en-US" sz="1700" dirty="0"/>
              <a:t>Each relation scheme is in good form </a:t>
            </a:r>
          </a:p>
          <a:p>
            <a:pPr lvl="1"/>
            <a:r>
              <a:rPr lang="en-US" altLang="en-US" sz="1700" dirty="0"/>
              <a:t>The decomposition is a lossless decomposition</a:t>
            </a:r>
          </a:p>
          <a:p>
            <a:pPr lvl="1"/>
            <a:r>
              <a:rPr lang="en-US" altLang="en-US" sz="1700" dirty="0"/>
              <a:t>Preferably, the decomposition should be dependency preserving.</a:t>
            </a:r>
          </a:p>
        </p:txBody>
      </p:sp>
    </p:spTree>
    <p:extLst>
      <p:ext uri="{BB962C8B-B14F-4D97-AF65-F5344CB8AC3E}">
        <p14:creationId xmlns:p14="http://schemas.microsoft.com/office/powerpoint/2010/main" val="85893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22400" y="125766"/>
            <a:ext cx="7124700" cy="6350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How good is BCNF?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9"/>
            <a:ext cx="7469436" cy="2454084"/>
          </a:xfrm>
        </p:spPr>
        <p:txBody>
          <a:bodyPr/>
          <a:lstStyle/>
          <a:p>
            <a:pPr>
              <a:tabLst>
                <a:tab pos="2976563" algn="ctr"/>
              </a:tabLst>
            </a:pPr>
            <a:r>
              <a:rPr lang="en-US" altLang="en-US" sz="1700" dirty="0"/>
              <a:t>There are database schemas in BCNF that do not seem to be sufficiently normalized </a:t>
            </a:r>
          </a:p>
          <a:p>
            <a:pPr>
              <a:tabLst>
                <a:tab pos="2976563" algn="ctr"/>
              </a:tabLst>
            </a:pPr>
            <a:r>
              <a:rPr lang="en-US" altLang="en-US" sz="1700" dirty="0"/>
              <a:t>Consider a relation </a:t>
            </a:r>
          </a:p>
          <a:p>
            <a:pPr>
              <a:buFont typeface="Monotype Sorts" pitchFamily="-84" charset="2"/>
              <a:buNone/>
              <a:tabLst>
                <a:tab pos="2976563" algn="ctr"/>
              </a:tabLst>
            </a:pPr>
            <a:r>
              <a:rPr lang="en-US" altLang="en-US" sz="1700" dirty="0"/>
              <a:t>		</a:t>
            </a:r>
            <a:r>
              <a:rPr lang="en-US" altLang="en-US" sz="1700" i="1" dirty="0" err="1"/>
              <a:t>inst_info</a:t>
            </a:r>
            <a:r>
              <a:rPr lang="en-US" altLang="en-US" sz="1700" i="1" dirty="0"/>
              <a:t> (ID, </a:t>
            </a:r>
            <a:r>
              <a:rPr lang="en-US" altLang="en-US" sz="1700" i="1" dirty="0" err="1"/>
              <a:t>child_name</a:t>
            </a:r>
            <a:r>
              <a:rPr lang="en-US" altLang="en-US" sz="1700" i="1" dirty="0"/>
              <a:t>, phone)</a:t>
            </a:r>
          </a:p>
          <a:p>
            <a:pPr lvl="1">
              <a:tabLst>
                <a:tab pos="2976563" algn="ctr"/>
              </a:tabLst>
            </a:pPr>
            <a:r>
              <a:rPr lang="en-US" altLang="en-US" sz="1700" dirty="0"/>
              <a:t>where an instructor may have more than one phone and can have multiple children</a:t>
            </a:r>
          </a:p>
          <a:p>
            <a:pPr lvl="1">
              <a:tabLst>
                <a:tab pos="2976563" algn="ctr"/>
              </a:tabLst>
            </a:pPr>
            <a:r>
              <a:rPr lang="en-US" altLang="en-US" sz="1700" dirty="0"/>
              <a:t>Instance of </a:t>
            </a:r>
            <a:r>
              <a:rPr lang="en-US" altLang="en-US" sz="1700" i="1" dirty="0" err="1"/>
              <a:t>inst_info</a:t>
            </a:r>
            <a:endParaRPr lang="en-US" altLang="en-US" sz="1700" i="1" dirty="0"/>
          </a:p>
          <a:p>
            <a:pPr>
              <a:buFont typeface="Monotype Sorts" pitchFamily="-84" charset="2"/>
              <a:buNone/>
              <a:tabLst>
                <a:tab pos="2976563" algn="ctr"/>
              </a:tabLst>
            </a:pPr>
            <a:endParaRPr lang="en-US" altLang="en-US" sz="1700" dirty="0"/>
          </a:p>
          <a:p>
            <a:pPr>
              <a:buFont typeface="Monotype Sorts" pitchFamily="-84" charset="2"/>
              <a:buNone/>
              <a:tabLst>
                <a:tab pos="2976563" algn="ctr"/>
              </a:tabLst>
            </a:pPr>
            <a:endParaRPr lang="en-US" altLang="en-US" sz="1700" dirty="0"/>
          </a:p>
        </p:txBody>
      </p:sp>
      <p:pic>
        <p:nvPicPr>
          <p:cNvPr id="37892" name="Picture 11" descr="C:\Users\as668\Desktop\Judi-Done\7_1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855" y="3648464"/>
            <a:ext cx="3536569" cy="152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9535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594415" cy="2314575"/>
          </a:xfrm>
        </p:spPr>
        <p:txBody>
          <a:bodyPr/>
          <a:lstStyle/>
          <a:p>
            <a:pPr>
              <a:tabLst>
                <a:tab pos="1993900" algn="l"/>
              </a:tabLst>
            </a:pPr>
            <a:r>
              <a:rPr kumimoji="0" lang="en-US" altLang="en-US" sz="1700" dirty="0"/>
              <a:t>There are no non-trivial functional dependencies and therefore the relation is in BCNF </a:t>
            </a:r>
          </a:p>
          <a:p>
            <a:pPr>
              <a:tabLst>
                <a:tab pos="1993900" algn="l"/>
              </a:tabLst>
            </a:pPr>
            <a:r>
              <a:rPr kumimoji="0" lang="en-US" altLang="en-US" sz="1700" dirty="0"/>
              <a:t>Insertion anomalies – i.e., if we add a phone 981-992-3443 to 99999, we need to add two tuples</a:t>
            </a:r>
          </a:p>
          <a:p>
            <a:pPr>
              <a:buFont typeface="Monotype Sorts" pitchFamily="-84" charset="2"/>
              <a:buNone/>
              <a:tabLst>
                <a:tab pos="1993900" algn="l"/>
              </a:tabLst>
            </a:pPr>
            <a:r>
              <a:rPr kumimoji="0" lang="en-US" altLang="en-US" sz="1700" dirty="0"/>
              <a:t>		(99999, David,   981-992-3443)</a:t>
            </a:r>
            <a:br>
              <a:rPr kumimoji="0" lang="en-US" altLang="en-US" sz="1700" dirty="0"/>
            </a:br>
            <a:r>
              <a:rPr kumimoji="0" lang="en-US" altLang="en-US" sz="1700" dirty="0"/>
              <a:t>	(99999, William, 981-992-3443)</a:t>
            </a:r>
            <a:br>
              <a:rPr kumimoji="0" lang="en-US" altLang="en-US" sz="1700" dirty="0"/>
            </a:br>
            <a:endParaRPr kumimoji="0" lang="en-US" altLang="en-US" sz="17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How good is BCNF? (Cont.)</a:t>
            </a:r>
          </a:p>
        </p:txBody>
      </p:sp>
    </p:spTree>
    <p:extLst>
      <p:ext uri="{BB962C8B-B14F-4D97-AF65-F5344CB8AC3E}">
        <p14:creationId xmlns:p14="http://schemas.microsoft.com/office/powerpoint/2010/main" val="22365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2359" y="1020763"/>
            <a:ext cx="7252558" cy="4646612"/>
          </a:xfrm>
        </p:spPr>
        <p:txBody>
          <a:bodyPr/>
          <a:lstStyle/>
          <a:p>
            <a:r>
              <a:rPr lang="en-US" altLang="en-US" sz="1700" dirty="0"/>
              <a:t>It is better to decompose </a:t>
            </a:r>
            <a:r>
              <a:rPr lang="en-US" altLang="en-US" sz="1700" i="1" dirty="0" err="1"/>
              <a:t>inst_info</a:t>
            </a:r>
            <a:r>
              <a:rPr lang="en-US" altLang="en-US" sz="1700" i="1" dirty="0"/>
              <a:t> </a:t>
            </a:r>
            <a:r>
              <a:rPr lang="en-US" altLang="en-US" sz="1700" dirty="0"/>
              <a:t>into:</a:t>
            </a:r>
          </a:p>
          <a:p>
            <a:pPr lvl="1"/>
            <a:r>
              <a:rPr lang="en-US" altLang="en-US" sz="1700" i="1" dirty="0" err="1"/>
              <a:t>inst_child</a:t>
            </a:r>
            <a:r>
              <a:rPr lang="en-US" altLang="en-US" sz="1700" dirty="0"/>
              <a:t>:</a:t>
            </a:r>
          </a:p>
          <a:p>
            <a:pPr lvl="1"/>
            <a:endParaRPr lang="en-US" altLang="en-US" sz="1700" dirty="0"/>
          </a:p>
          <a:p>
            <a:pPr lvl="1">
              <a:buFont typeface="Monotype Sorts" pitchFamily="-84" charset="2"/>
              <a:buNone/>
            </a:pPr>
            <a:endParaRPr lang="en-US" altLang="en-US" sz="1700" dirty="0"/>
          </a:p>
          <a:p>
            <a:pPr lvl="1">
              <a:buFont typeface="Monotype Sorts" pitchFamily="-84" charset="2"/>
              <a:buNone/>
            </a:pPr>
            <a:endParaRPr lang="en-US" altLang="en-US" sz="1700" dirty="0"/>
          </a:p>
          <a:p>
            <a:pPr lvl="1"/>
            <a:r>
              <a:rPr lang="en-US" altLang="en-US" sz="1700" i="1" dirty="0" err="1"/>
              <a:t>inst_phone</a:t>
            </a:r>
            <a:r>
              <a:rPr lang="en-US" altLang="en-US" sz="1700" i="1" dirty="0"/>
              <a:t>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0" indent="0">
              <a:buNone/>
            </a:pPr>
            <a:endParaRPr lang="en-US" altLang="en-US" sz="1700" dirty="0"/>
          </a:p>
          <a:p>
            <a:r>
              <a:rPr lang="en-US" altLang="en-US" sz="1700" dirty="0"/>
              <a:t>This suggests the need for higher normal forms, such as Fourth Normal Form (4NF), which we shall see later</a:t>
            </a:r>
          </a:p>
        </p:txBody>
      </p:sp>
      <p:sp>
        <p:nvSpPr>
          <p:cNvPr id="695310" name="Rectangle 14"/>
          <p:cNvSpPr>
            <a:spLocks noGrp="1" noChangeArrowheads="1"/>
          </p:cNvSpPr>
          <p:nvPr>
            <p:ph type="title"/>
          </p:nvPr>
        </p:nvSpPr>
        <p:spPr>
          <a:xfrm>
            <a:off x="958788" y="119063"/>
            <a:ext cx="7804212" cy="57626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Higher Normal Forms </a:t>
            </a:r>
          </a:p>
        </p:txBody>
      </p:sp>
      <p:pic>
        <p:nvPicPr>
          <p:cNvPr id="3994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368" y="1835421"/>
            <a:ext cx="1975676" cy="8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752" y="3299428"/>
            <a:ext cx="1939354" cy="7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727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Functional-Dependency Theory Roadmap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950"/>
            <a:ext cx="7523394" cy="2365208"/>
          </a:xfrm>
        </p:spPr>
        <p:txBody>
          <a:bodyPr/>
          <a:lstStyle/>
          <a:p>
            <a:r>
              <a:rPr lang="en-US" altLang="en-US" dirty="0"/>
              <a:t>We now consider the formal theory that tells us which functional dependencies are implied logically by a given set of functional dependencies.</a:t>
            </a:r>
          </a:p>
          <a:p>
            <a:r>
              <a:rPr lang="en-US" altLang="en-US" dirty="0"/>
              <a:t>We then develop algorithms to generate lossless decompositions into BCNF and 3NF</a:t>
            </a:r>
          </a:p>
          <a:p>
            <a:r>
              <a:rPr lang="en-US" altLang="en-US" dirty="0"/>
              <a:t>We then develop algorithms to test if a decomposition is dependency-preserving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12725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Dependency Preservation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8"/>
            <a:ext cx="7818190" cy="2696159"/>
          </a:xfrm>
        </p:spPr>
        <p:txBody>
          <a:bodyPr/>
          <a:lstStyle/>
          <a:p>
            <a:r>
              <a:rPr lang="en-US" altLang="en-US" dirty="0"/>
              <a:t> Let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be the set of dependencies </a:t>
            </a:r>
            <a:r>
              <a:rPr lang="en-US" altLang="en-US" i="1" dirty="0"/>
              <a:t>F </a:t>
            </a:r>
            <a:r>
              <a:rPr lang="en-US" altLang="en-US" i="1" baseline="30000" dirty="0"/>
              <a:t>+</a:t>
            </a:r>
            <a:r>
              <a:rPr lang="en-US" altLang="en-US" dirty="0"/>
              <a:t> that include only attributes in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. </a:t>
            </a:r>
          </a:p>
          <a:p>
            <a:pPr lvl="1"/>
            <a:r>
              <a:rPr lang="en-US" altLang="en-US" dirty="0"/>
              <a:t> A  decomposition is </a:t>
            </a:r>
            <a:r>
              <a:rPr lang="en-US" altLang="en-US" b="1" dirty="0">
                <a:solidFill>
                  <a:srgbClr val="002060"/>
                </a:solidFill>
              </a:rPr>
              <a:t>dependency preserving</a:t>
            </a:r>
            <a:r>
              <a:rPr lang="en-US" altLang="en-US" dirty="0"/>
              <a:t>,  if</a:t>
            </a:r>
          </a:p>
          <a:p>
            <a:pPr lvl="1">
              <a:buFont typeface="Webdings" panose="05030102010509060703" pitchFamily="18" charset="2"/>
              <a:buNone/>
            </a:pPr>
            <a:r>
              <a:rPr lang="en-US" altLang="en-US" dirty="0"/>
              <a:t>           (</a:t>
            </a:r>
            <a:r>
              <a:rPr lang="en-US" altLang="en-US" i="1" dirty="0"/>
              <a:t>F</a:t>
            </a:r>
            <a:r>
              <a:rPr lang="en-US" altLang="en-US" baseline="-25000" dirty="0"/>
              <a:t>1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F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…</a:t>
            </a:r>
            <a:r>
              <a:rPr lang="en-US" altLang="en-US" dirty="0">
                <a:sym typeface="Symbol" panose="05050102010706020507" pitchFamily="18" charset="2"/>
              </a:rPr>
              <a:t> 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F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i="1" baseline="30000" dirty="0">
                <a:sym typeface="Symbol" panose="05050102010706020507" pitchFamily="18" charset="2"/>
              </a:rPr>
              <a:t>+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Using the above definition,  testing for dependency preservation take exponential time.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Not that if a decomposition is NOT dependency preserving </a:t>
            </a:r>
            <a:r>
              <a:rPr lang="en-US" altLang="en-US" dirty="0"/>
              <a:t>then checking updates for violation of functional dependencies may require computing joins, which is expensive.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12725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Dependency Preservation (Cont.)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8"/>
            <a:ext cx="7688998" cy="3466180"/>
          </a:xfrm>
        </p:spPr>
        <p:txBody>
          <a:bodyPr/>
          <a:lstStyle/>
          <a:p>
            <a:r>
              <a:rPr lang="en-US" altLang="en-US" dirty="0"/>
              <a:t>Let </a:t>
            </a:r>
            <a:r>
              <a:rPr lang="en-US" altLang="en-US" i="1" dirty="0"/>
              <a:t>F </a:t>
            </a:r>
            <a:r>
              <a:rPr lang="en-US" altLang="en-US" i="1" baseline="-25000" dirty="0"/>
              <a:t> </a:t>
            </a:r>
            <a:r>
              <a:rPr lang="en-US" altLang="en-US" dirty="0"/>
              <a:t>be the set of dependencies  on schema </a:t>
            </a:r>
            <a:r>
              <a:rPr lang="en-US" altLang="en-US" i="1" dirty="0"/>
              <a:t>R</a:t>
            </a:r>
            <a:r>
              <a:rPr lang="en-US" altLang="en-US" dirty="0"/>
              <a:t>  and let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i="1" dirty="0"/>
              <a:t>,</a:t>
            </a:r>
            <a:r>
              <a:rPr lang="en-US" altLang="en-US" i="1" dirty="0">
                <a:sym typeface="Symbol" panose="05050102010706020507" pitchFamily="18" charset="2"/>
              </a:rPr>
              <a:t> R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i="1" dirty="0">
                <a:sym typeface="Symbol" panose="05050102010706020507" pitchFamily="18" charset="2"/>
              </a:rPr>
              <a:t>  .., R</a:t>
            </a:r>
            <a:r>
              <a:rPr lang="en-US" altLang="en-US" baseline="-25000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  be a decomposition of </a:t>
            </a:r>
            <a:r>
              <a:rPr lang="en-US" altLang="en-US" i="1" dirty="0">
                <a:sym typeface="Symbol" panose="05050102010706020507" pitchFamily="18" charset="2"/>
              </a:rPr>
              <a:t>R.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The restriction of 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/>
              <a:t>i 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is the set </a:t>
            </a:r>
            <a:r>
              <a:rPr lang="en-US" altLang="en-US" i="1" dirty="0"/>
              <a:t>F</a:t>
            </a:r>
            <a:r>
              <a:rPr lang="en-US" altLang="en-US" baseline="-25000" dirty="0"/>
              <a:t>i  </a:t>
            </a:r>
            <a:r>
              <a:rPr lang="en-US" altLang="en-US" dirty="0">
                <a:sym typeface="Symbol" panose="05050102010706020507" pitchFamily="18" charset="2"/>
              </a:rPr>
              <a:t>of all  functional dependencies in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i="1" baseline="30000" dirty="0">
                <a:sym typeface="Symbol" panose="05050102010706020507" pitchFamily="18" charset="2"/>
              </a:rPr>
              <a:t>+ </a:t>
            </a:r>
            <a:r>
              <a:rPr lang="en-US" altLang="en-US" dirty="0">
                <a:sym typeface="Symbol" panose="05050102010706020507" pitchFamily="18" charset="2"/>
              </a:rPr>
              <a:t>that include </a:t>
            </a:r>
            <a:r>
              <a:rPr lang="en-US" altLang="en-US" b="1" dirty="0">
                <a:sym typeface="Symbol" panose="05050102010706020507" pitchFamily="18" charset="2"/>
              </a:rPr>
              <a:t>only</a:t>
            </a:r>
            <a:r>
              <a:rPr lang="en-US" altLang="en-US" dirty="0">
                <a:sym typeface="Symbol" panose="05050102010706020507" pitchFamily="18" charset="2"/>
              </a:rPr>
              <a:t> attributes 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/>
              <a:t>i 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Since all functional dependencies in a restriction involve attributes of only one relation schema, it is possible to test such a dependency for satisfaction by checking only one relation.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Note that the definition of restriction uses all dependencies in in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i="1" baseline="30000" dirty="0">
                <a:sym typeface="Symbol" panose="05050102010706020507" pitchFamily="18" charset="2"/>
              </a:rPr>
              <a:t>+</a:t>
            </a:r>
            <a:r>
              <a:rPr lang="en-US" altLang="en-US" i="1" dirty="0">
                <a:sym typeface="Symbol" panose="05050102010706020507" pitchFamily="18" charset="2"/>
              </a:rPr>
              <a:t>, </a:t>
            </a:r>
            <a:r>
              <a:rPr lang="en-US" altLang="en-US" dirty="0">
                <a:sym typeface="Symbol" panose="05050102010706020507" pitchFamily="18" charset="2"/>
              </a:rPr>
              <a:t>not just those in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r>
              <a:rPr lang="en-US" altLang="en-US" dirty="0"/>
              <a:t>The set of restrictions </a:t>
            </a:r>
            <a:r>
              <a:rPr lang="en-US" altLang="en-US" i="1" dirty="0"/>
              <a:t>F</a:t>
            </a:r>
            <a:r>
              <a:rPr lang="en-US" altLang="en-US" baseline="-25000" dirty="0"/>
              <a:t>1</a:t>
            </a:r>
            <a:r>
              <a:rPr lang="en-US" altLang="en-US" i="1" dirty="0"/>
              <a:t>,</a:t>
            </a:r>
            <a:r>
              <a:rPr lang="en-US" altLang="en-US" i="1" dirty="0">
                <a:sym typeface="Symbol" panose="05050102010706020507" pitchFamily="18" charset="2"/>
              </a:rPr>
              <a:t> F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, .. ,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F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  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is the set of functional  dependencies that can be checked efficiently.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6763" y="1000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for Dependency Preservation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5641" y="1088474"/>
            <a:ext cx="7739564" cy="4590106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To check if a dependency    is preserved in a decomposition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into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…,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, we apply the following test (with attribute closure done with respect to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i="1" dirty="0"/>
              <a:t>result </a:t>
            </a:r>
            <a:r>
              <a:rPr lang="en-US" altLang="en-US" dirty="0"/>
              <a:t>=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repeat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for each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in the decomposition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 = (</a:t>
            </a:r>
            <a:r>
              <a:rPr lang="en-US" altLang="en-US" i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aseline="30000" dirty="0">
                <a:sym typeface="Symbol" panose="05050102010706020507" pitchFamily="18" charset="2"/>
              </a:rPr>
              <a:t>+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br>
              <a:rPr lang="en-US" altLang="en-US" i="1" baseline="-25000" dirty="0">
                <a:sym typeface="Symbol" panose="05050102010706020507" pitchFamily="18" charset="2"/>
              </a:rPr>
            </a:br>
            <a:r>
              <a:rPr lang="en-US" altLang="en-US" i="1" baseline="-25000" dirty="0">
                <a:sym typeface="Symbol" panose="05050102010706020507" pitchFamily="18" charset="2"/>
              </a:rPr>
              <a:t>		</a:t>
            </a:r>
            <a:r>
              <a:rPr lang="en-US" altLang="en-US" i="1" dirty="0">
                <a:sym typeface="Symbol" panose="05050102010706020507" pitchFamily="18" charset="2"/>
              </a:rPr>
              <a:t>result  =  result 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</a:p>
          <a:p>
            <a:pPr marL="457200" lvl="1" indent="0">
              <a:buSzPct val="110000"/>
              <a:buNone/>
            </a:pPr>
            <a:r>
              <a:rPr lang="en-US" altLang="en-US" i="1" dirty="0">
                <a:sym typeface="Symbol" panose="05050102010706020507" pitchFamily="18" charset="2"/>
              </a:rPr>
              <a:t>          </a:t>
            </a:r>
            <a:r>
              <a:rPr lang="en-US" altLang="en-US" b="1" dirty="0">
                <a:sym typeface="Symbol" panose="05050102010706020507" pitchFamily="18" charset="2"/>
              </a:rPr>
              <a:t>until 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does not change)</a:t>
            </a:r>
            <a:endParaRPr lang="en-US" altLang="en-US" i="1" dirty="0"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result</a:t>
            </a:r>
            <a:r>
              <a:rPr lang="en-US" altLang="en-US" dirty="0">
                <a:sym typeface="Symbol" panose="05050102010706020507" pitchFamily="18" charset="2"/>
              </a:rPr>
              <a:t> contains all attributes in , then the functional dependency     is preserved.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We apply the test on all dependencies in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 to check if a decomposition is dependency preserving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This procedure takes polynomial time, instead of the exponential time required to compute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i="1" baseline="30000" dirty="0">
                <a:sym typeface="Symbol" panose="05050102010706020507" pitchFamily="18" charset="2"/>
              </a:rPr>
              <a:t>+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and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(</a:t>
            </a:r>
            <a:r>
              <a:rPr lang="en-US" altLang="en-US" i="1" dirty="0"/>
              <a:t>F</a:t>
            </a:r>
            <a:r>
              <a:rPr lang="en-US" altLang="en-US" baseline="-25000" dirty="0"/>
              <a:t>1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F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</a:t>
            </a:r>
            <a:r>
              <a:rPr lang="en-US" altLang="en-US" i="1" dirty="0">
                <a:sym typeface="Symbol" panose="05050102010706020507" pitchFamily="18" charset="2"/>
              </a:rPr>
              <a:t> …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F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9575"/>
            <a:ext cx="7585537" cy="2951162"/>
          </a:xfrm>
        </p:spPr>
        <p:txBody>
          <a:bodyPr/>
          <a:lstStyle/>
          <a:p>
            <a:pPr>
              <a:tabLst>
                <a:tab pos="744538" algn="l"/>
              </a:tabLst>
            </a:pPr>
            <a:r>
              <a:rPr lang="en-US" altLang="en-US" i="1" dirty="0"/>
              <a:t>R = </a:t>
            </a:r>
            <a:r>
              <a:rPr lang="en-US" altLang="en-US" dirty="0"/>
              <a:t>(</a:t>
            </a:r>
            <a:r>
              <a:rPr lang="en-US" altLang="en-US" i="1" dirty="0"/>
              <a:t>A, B, C </a:t>
            </a:r>
            <a:r>
              <a:rPr lang="en-US" altLang="en-US" dirty="0"/>
              <a:t>)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i="1" dirty="0"/>
              <a:t>F = </a:t>
            </a:r>
            <a:r>
              <a:rPr lang="en-US" altLang="en-US" dirty="0"/>
              <a:t>{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	 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>
                <a:sym typeface="Monotype Sorts" pitchFamily="-84" charset="2"/>
              </a:rPr>
              <a:t> C</a:t>
            </a:r>
            <a:r>
              <a:rPr lang="en-US" altLang="en-US" dirty="0">
                <a:sym typeface="Monotype Sorts" pitchFamily="-84" charset="2"/>
              </a:rPr>
              <a:t>}</a:t>
            </a:r>
            <a:br>
              <a:rPr lang="en-US" altLang="en-US" dirty="0">
                <a:sym typeface="Monotype Sorts" pitchFamily="-84" charset="2"/>
              </a:rPr>
            </a:br>
            <a:r>
              <a:rPr lang="en-US" altLang="en-US" dirty="0">
                <a:sym typeface="Monotype Sorts" pitchFamily="-84" charset="2"/>
              </a:rPr>
              <a:t>Key = {</a:t>
            </a:r>
            <a:r>
              <a:rPr lang="en-US" altLang="en-US" i="1" dirty="0">
                <a:sym typeface="Monotype Sorts" pitchFamily="-84" charset="2"/>
              </a:rPr>
              <a:t>A</a:t>
            </a:r>
            <a:r>
              <a:rPr lang="en-US" altLang="en-US" dirty="0">
                <a:sym typeface="Monotype Sorts" pitchFamily="-84" charset="2"/>
              </a:rPr>
              <a:t>}</a:t>
            </a:r>
          </a:p>
          <a:p>
            <a:pPr>
              <a:tabLst>
                <a:tab pos="744538" algn="l"/>
              </a:tabLst>
            </a:pPr>
            <a:r>
              <a:rPr lang="en-US" altLang="en-US" i="1" dirty="0">
                <a:sym typeface="Monotype Sorts" pitchFamily="-84" charset="2"/>
              </a:rPr>
              <a:t>R</a:t>
            </a:r>
            <a:r>
              <a:rPr lang="en-US" altLang="en-US" dirty="0">
                <a:sym typeface="Monotype Sorts" pitchFamily="-84" charset="2"/>
              </a:rPr>
              <a:t> is not in BCNF</a:t>
            </a:r>
          </a:p>
          <a:p>
            <a:pPr>
              <a:tabLst>
                <a:tab pos="744538" algn="l"/>
              </a:tabLst>
            </a:pPr>
            <a:r>
              <a:rPr lang="en-US" altLang="en-US" dirty="0">
                <a:sym typeface="Monotype Sorts" pitchFamily="-84" charset="2"/>
              </a:rPr>
              <a:t>Decomposition </a:t>
            </a:r>
            <a:r>
              <a:rPr lang="en-US" altLang="en-US" i="1" dirty="0">
                <a:sym typeface="Monotype Sorts" pitchFamily="-84" charset="2"/>
              </a:rPr>
              <a:t>R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 = (</a:t>
            </a:r>
            <a:r>
              <a:rPr lang="en-US" altLang="en-US" i="1" dirty="0">
                <a:sym typeface="Monotype Sorts" pitchFamily="-84" charset="2"/>
              </a:rPr>
              <a:t>A, B),  R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dirty="0">
                <a:sym typeface="Monotype Sorts" pitchFamily="-84" charset="2"/>
              </a:rPr>
              <a:t> = </a:t>
            </a:r>
            <a:r>
              <a:rPr lang="en-US" altLang="en-US" i="1" dirty="0">
                <a:sym typeface="Monotype Sorts" pitchFamily="-84" charset="2"/>
              </a:rPr>
              <a:t>(B, C)</a:t>
            </a:r>
          </a:p>
          <a:p>
            <a:pPr lvl="1">
              <a:tabLst>
                <a:tab pos="744538" algn="l"/>
              </a:tabLst>
            </a:pPr>
            <a:r>
              <a:rPr lang="en-US" altLang="en-US" i="1" dirty="0">
                <a:sym typeface="Monotype Sorts" pitchFamily="-84" charset="2"/>
              </a:rPr>
              <a:t>R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i="1" baseline="-25000" dirty="0">
                <a:sym typeface="Monotype Sorts" pitchFamily="-84" charset="2"/>
              </a:rPr>
              <a:t> </a:t>
            </a:r>
            <a:r>
              <a:rPr lang="en-US" altLang="en-US" dirty="0">
                <a:sym typeface="Monotype Sorts" pitchFamily="-84" charset="2"/>
              </a:rPr>
              <a:t>and </a:t>
            </a:r>
            <a:r>
              <a:rPr lang="en-US" altLang="en-US" i="1" dirty="0">
                <a:sym typeface="Monotype Sorts" pitchFamily="-84" charset="2"/>
              </a:rPr>
              <a:t>R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dirty="0">
                <a:sym typeface="Monotype Sorts" pitchFamily="-84" charset="2"/>
              </a:rPr>
              <a:t> in BCNF</a:t>
            </a:r>
          </a:p>
          <a:p>
            <a:pPr lvl="1">
              <a:tabLst>
                <a:tab pos="744538" algn="l"/>
              </a:tabLst>
            </a:pPr>
            <a:r>
              <a:rPr lang="en-US" altLang="en-US" dirty="0">
                <a:sym typeface="Monotype Sorts" pitchFamily="-84" charset="2"/>
              </a:rPr>
              <a:t>Lossless-join decomposition</a:t>
            </a:r>
          </a:p>
          <a:p>
            <a:pPr lvl="1">
              <a:tabLst>
                <a:tab pos="744538" algn="l"/>
              </a:tabLst>
            </a:pPr>
            <a:r>
              <a:rPr lang="en-US" altLang="en-US" dirty="0">
                <a:sym typeface="Monotype Sorts" pitchFamily="-84" charset="2"/>
              </a:rPr>
              <a:t>Dependency preserving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953" y="2255838"/>
            <a:ext cx="7378947" cy="163830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Algorithm for Decomposition Using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        Functional Dependencies 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for BCNF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2201"/>
            <a:ext cx="7665436" cy="49476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To check if a non-trivial dependency </a:t>
            </a:r>
            <a:r>
              <a:rPr lang="en-US" altLang="en-US" sz="1600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kumimoji="0"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sz="1600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 </a:t>
            </a:r>
            <a:r>
              <a:rPr lang="en-US" altLang="en-US" dirty="0"/>
              <a:t>causes a violation of BCNF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  compute </a:t>
            </a:r>
            <a:r>
              <a:rPr lang="en-US" altLang="en-US" sz="1600" dirty="0">
                <a:sym typeface="Symbol" panose="05050102010706020507" pitchFamily="18" charset="2"/>
              </a:rPr>
              <a:t></a:t>
            </a:r>
            <a:r>
              <a:rPr lang="en-US" altLang="en-US" baseline="30000" dirty="0"/>
              <a:t>+</a:t>
            </a:r>
            <a:r>
              <a:rPr lang="en-US" altLang="en-US" dirty="0"/>
              <a:t> (the attribute closure of </a:t>
            </a:r>
            <a:r>
              <a:rPr lang="en-US" altLang="en-US" sz="1600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), and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  verify that it includes all attributes of </a:t>
            </a:r>
            <a:r>
              <a:rPr lang="en-US" altLang="en-US" i="1" dirty="0"/>
              <a:t>R</a:t>
            </a:r>
            <a:r>
              <a:rPr lang="en-US" altLang="en-US" dirty="0"/>
              <a:t>, that is, it is a </a:t>
            </a:r>
            <a:r>
              <a:rPr lang="en-US" altLang="en-US" dirty="0" err="1"/>
              <a:t>superkey</a:t>
            </a:r>
            <a:r>
              <a:rPr lang="en-US" altLang="en-US" dirty="0"/>
              <a:t> of </a:t>
            </a:r>
            <a:r>
              <a:rPr lang="en-US" altLang="en-US" i="1" dirty="0"/>
              <a:t>R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Simplified test</a:t>
            </a:r>
            <a:r>
              <a:rPr lang="en-US" altLang="en-US" dirty="0"/>
              <a:t>: To check if a relation schema </a:t>
            </a:r>
            <a:r>
              <a:rPr lang="en-US" altLang="en-US" i="1" dirty="0"/>
              <a:t>R</a:t>
            </a:r>
            <a:r>
              <a:rPr lang="en-US" altLang="en-US" dirty="0"/>
              <a:t> is in BCNF, it suffices to check only the dependencies in the given set </a:t>
            </a:r>
            <a:r>
              <a:rPr lang="en-US" altLang="en-US" i="1" dirty="0"/>
              <a:t>F</a:t>
            </a:r>
            <a:r>
              <a:rPr lang="en-US" altLang="en-US" dirty="0"/>
              <a:t> for violation of BCNF, rather than checking all dependencies in </a:t>
            </a:r>
            <a:r>
              <a:rPr lang="en-US" altLang="en-US" i="1" dirty="0"/>
              <a:t>F</a:t>
            </a:r>
            <a:r>
              <a:rPr lang="en-US" altLang="en-US" baseline="30000" dirty="0"/>
              <a:t>+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If none of the dependencies in </a:t>
            </a:r>
            <a:r>
              <a:rPr lang="en-US" altLang="en-US" i="1" dirty="0"/>
              <a:t>F</a:t>
            </a:r>
            <a:r>
              <a:rPr lang="en-US" altLang="en-US" dirty="0"/>
              <a:t> causes a violation of BCNF, then none of the dependencies in </a:t>
            </a:r>
            <a:r>
              <a:rPr lang="en-US" altLang="en-US" i="1" dirty="0"/>
              <a:t>F</a:t>
            </a:r>
            <a:r>
              <a:rPr lang="en-US" altLang="en-US" baseline="30000" dirty="0"/>
              <a:t>+</a:t>
            </a:r>
            <a:r>
              <a:rPr lang="en-US" altLang="en-US" dirty="0"/>
              <a:t> will cause a violation of BCNF either.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However, </a:t>
            </a:r>
            <a:r>
              <a:rPr lang="en-US" altLang="en-US" b="1" dirty="0">
                <a:solidFill>
                  <a:srgbClr val="002060"/>
                </a:solidFill>
              </a:rPr>
              <a:t>simplified test </a:t>
            </a:r>
            <a:r>
              <a:rPr lang="en-US" altLang="en-US" dirty="0"/>
              <a:t>using only F is incorrect when testing a relation in a decomposition of 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Consider </a:t>
            </a:r>
            <a:r>
              <a:rPr lang="en-US" altLang="en-US" i="1" dirty="0"/>
              <a:t>R =</a:t>
            </a:r>
            <a:r>
              <a:rPr lang="en-US" altLang="en-US" dirty="0"/>
              <a:t> (</a:t>
            </a:r>
            <a:r>
              <a:rPr lang="en-US" altLang="en-US" i="1" dirty="0"/>
              <a:t>A, B, C, D, E</a:t>
            </a:r>
            <a:r>
              <a:rPr lang="en-US" altLang="en-US" dirty="0"/>
              <a:t>), with </a:t>
            </a:r>
            <a:r>
              <a:rPr lang="en-US" altLang="en-US" i="1" dirty="0"/>
              <a:t>F</a:t>
            </a:r>
            <a:r>
              <a:rPr lang="en-US" altLang="en-US" dirty="0"/>
              <a:t> = { </a:t>
            </a:r>
            <a:r>
              <a:rPr lang="en-US" altLang="en-US" i="1" dirty="0"/>
              <a:t>A </a:t>
            </a:r>
            <a:r>
              <a:rPr lang="en-US" altLang="en-US" i="1" dirty="0">
                <a:sym typeface="Symbol" panose="05050102010706020507" pitchFamily="18" charset="2"/>
              </a:rPr>
              <a:t> </a:t>
            </a:r>
            <a:r>
              <a:rPr lang="en-US" altLang="en-US" i="1" dirty="0"/>
              <a:t>B, BC </a:t>
            </a:r>
            <a:r>
              <a:rPr lang="en-US" altLang="en-US" i="1" dirty="0">
                <a:sym typeface="Symbol" panose="05050102010706020507" pitchFamily="18" charset="2"/>
              </a:rPr>
              <a:t> D</a:t>
            </a:r>
            <a:r>
              <a:rPr lang="en-US" altLang="en-US" dirty="0"/>
              <a:t>}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Decompose </a:t>
            </a:r>
            <a:r>
              <a:rPr lang="en-US" altLang="en-US" i="1" dirty="0"/>
              <a:t>R</a:t>
            </a:r>
            <a:r>
              <a:rPr lang="en-US" altLang="en-US" dirty="0"/>
              <a:t> into </a:t>
            </a:r>
            <a:r>
              <a:rPr lang="en-US" altLang="en-US" i="1" dirty="0"/>
              <a:t>R</a:t>
            </a:r>
            <a:r>
              <a:rPr lang="en-US" altLang="en-US" baseline="-25000" dirty="0"/>
              <a:t>1 </a:t>
            </a:r>
            <a:r>
              <a:rPr lang="en-US" altLang="en-US" dirty="0"/>
              <a:t>=</a:t>
            </a:r>
            <a:r>
              <a:rPr lang="en-US" altLang="en-US" baseline="-25000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A,B</a:t>
            </a:r>
            <a:r>
              <a:rPr lang="en-US" altLang="en-US" dirty="0"/>
              <a:t>)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2 </a:t>
            </a:r>
            <a:r>
              <a:rPr lang="en-US" altLang="en-US" dirty="0"/>
              <a:t>=</a:t>
            </a:r>
            <a:r>
              <a:rPr lang="en-US" altLang="en-US" baseline="-25000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A,C,D, E</a:t>
            </a:r>
            <a:r>
              <a:rPr lang="en-US" altLang="en-US" dirty="0"/>
              <a:t>)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Neither of the dependencies in </a:t>
            </a:r>
            <a:r>
              <a:rPr lang="en-US" altLang="en-US" i="1" dirty="0"/>
              <a:t>F</a:t>
            </a:r>
            <a:r>
              <a:rPr lang="en-US" altLang="en-US" dirty="0"/>
              <a:t> contain only attributes from</a:t>
            </a:r>
            <a:br>
              <a:rPr lang="en-US" altLang="en-US" dirty="0"/>
            </a:br>
            <a:r>
              <a:rPr lang="en-US" altLang="en-US" dirty="0"/>
              <a:t> (</a:t>
            </a:r>
            <a:r>
              <a:rPr lang="en-US" altLang="en-US" i="1" dirty="0"/>
              <a:t>A,C,D,E</a:t>
            </a:r>
            <a:r>
              <a:rPr lang="en-US" altLang="en-US" dirty="0"/>
              <a:t>) so we might be mislead into thinking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satisfies BCNF. 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 fact, dependency </a:t>
            </a:r>
            <a:r>
              <a:rPr lang="en-US" altLang="en-US" i="1" dirty="0"/>
              <a:t>AC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</a:t>
            </a:r>
            <a:r>
              <a:rPr lang="en-US" altLang="en-US" i="1" dirty="0"/>
              <a:t>D</a:t>
            </a:r>
            <a:r>
              <a:rPr lang="en-US" altLang="en-US" dirty="0"/>
              <a:t> in </a:t>
            </a:r>
            <a:r>
              <a:rPr lang="en-US" altLang="en-US" i="1" dirty="0"/>
              <a:t>F</a:t>
            </a:r>
            <a:r>
              <a:rPr lang="en-US" altLang="en-US" baseline="30000" dirty="0"/>
              <a:t>+</a:t>
            </a:r>
            <a:r>
              <a:rPr lang="en-US" altLang="en-US" dirty="0"/>
              <a:t> shows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is not in BCNF.</a:t>
            </a:r>
            <a:r>
              <a:rPr lang="en-US" altLang="en-US" sz="16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Decomposition for BCNF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811" y="1636297"/>
            <a:ext cx="7306322" cy="3585408"/>
          </a:xfrm>
        </p:spPr>
        <p:txBody>
          <a:bodyPr/>
          <a:lstStyle/>
          <a:p>
            <a:r>
              <a:rPr lang="en-US" altLang="en-US" dirty="0"/>
              <a:t>Either test R</a:t>
            </a:r>
            <a:r>
              <a:rPr lang="en-US" altLang="en-US" baseline="-25000" dirty="0"/>
              <a:t>i </a:t>
            </a:r>
            <a:r>
              <a:rPr lang="en-US" altLang="en-US" dirty="0"/>
              <a:t>for BCNF with respect to the </a:t>
            </a:r>
            <a:r>
              <a:rPr lang="en-US" altLang="en-US" b="1" dirty="0">
                <a:solidFill>
                  <a:srgbClr val="002060"/>
                </a:solidFill>
              </a:rPr>
              <a:t>restriction</a:t>
            </a:r>
            <a:r>
              <a:rPr lang="en-US" altLang="en-US" dirty="0"/>
              <a:t> of F</a:t>
            </a:r>
            <a:r>
              <a:rPr lang="en-US" altLang="en-US" sz="2000" baseline="30000" dirty="0"/>
              <a:t>+</a:t>
            </a:r>
            <a:r>
              <a:rPr lang="en-US" altLang="en-US" dirty="0"/>
              <a:t> to R</a:t>
            </a:r>
            <a:r>
              <a:rPr lang="en-US" altLang="en-US" baseline="-25000" dirty="0"/>
              <a:t>i</a:t>
            </a:r>
            <a:r>
              <a:rPr lang="en-US" altLang="en-US" dirty="0"/>
              <a:t>  (that is, all FDs in F</a:t>
            </a:r>
            <a:r>
              <a:rPr lang="en-US" altLang="en-US" baseline="30000" dirty="0"/>
              <a:t>+</a:t>
            </a:r>
            <a:r>
              <a:rPr lang="en-US" altLang="en-US" dirty="0"/>
              <a:t> that contain only attributes from R</a:t>
            </a:r>
            <a:r>
              <a:rPr lang="en-US" altLang="en-US" baseline="-25000" dirty="0"/>
              <a:t>i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Or use the original set of dependencies </a:t>
            </a:r>
            <a:r>
              <a:rPr lang="en-US" altLang="en-US" i="1" dirty="0"/>
              <a:t>F</a:t>
            </a:r>
            <a:r>
              <a:rPr lang="en-US" altLang="en-US" dirty="0"/>
              <a:t> that hold on </a:t>
            </a:r>
            <a:r>
              <a:rPr lang="en-US" altLang="en-US" i="1" dirty="0"/>
              <a:t>R</a:t>
            </a:r>
            <a:r>
              <a:rPr lang="en-US" altLang="en-US" dirty="0"/>
              <a:t>, but with the following test:</a:t>
            </a:r>
          </a:p>
          <a:p>
            <a:pPr lvl="2"/>
            <a:r>
              <a:rPr lang="en-US" altLang="en-US" dirty="0"/>
              <a:t>for every set of attributes </a:t>
            </a:r>
            <a:r>
              <a:rPr lang="en-US" altLang="en-US" dirty="0">
                <a:sym typeface="Symbol" panose="05050102010706020507" pitchFamily="18" charset="2"/>
              </a:rPr>
              <a:t> 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, check that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baseline="30000" dirty="0"/>
              <a:t>+</a:t>
            </a:r>
            <a:r>
              <a:rPr lang="en-US" altLang="en-US" dirty="0"/>
              <a:t> (the attribute closure of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) either includes no attribute of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-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, or includes all attributes of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If the condition is violated by some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dirty="0"/>
              <a:t>  in F</a:t>
            </a:r>
            <a:r>
              <a:rPr lang="en-US" altLang="en-US" sz="2000" baseline="30000" dirty="0"/>
              <a:t>+</a:t>
            </a:r>
            <a:r>
              <a:rPr lang="en-US" altLang="en-US" dirty="0"/>
              <a:t>, the dependency</a:t>
            </a:r>
            <a:br>
              <a:rPr lang="en-US" altLang="en-US" dirty="0"/>
            </a:br>
            <a:r>
              <a:rPr lang="en-US" altLang="en-US" dirty="0"/>
              <a:t>     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 (</a:t>
            </a:r>
            <a:r>
              <a:rPr lang="en-US" altLang="en-US" baseline="30000" dirty="0">
                <a:sym typeface="Symbol" panose="05050102010706020507" pitchFamily="18" charset="2"/>
              </a:rPr>
              <a:t>+ </a:t>
            </a:r>
            <a:r>
              <a:rPr lang="en-US" altLang="en-US" dirty="0">
                <a:sym typeface="Symbol" panose="05050102010706020507" pitchFamily="18" charset="2"/>
              </a:rPr>
              <a:t>- ) 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baseline="30000" dirty="0"/>
              <a:t/>
            </a:r>
            <a:br>
              <a:rPr lang="en-US" altLang="en-US" baseline="30000" dirty="0"/>
            </a:br>
            <a:r>
              <a:rPr lang="en-US" altLang="en-US" dirty="0"/>
              <a:t>can be shown to hold on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, and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 violates BCNF.</a:t>
            </a:r>
          </a:p>
          <a:p>
            <a:pPr lvl="1"/>
            <a:r>
              <a:rPr lang="en-US" altLang="en-US" dirty="0"/>
              <a:t>We use above dependency to decompose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endParaRPr lang="en-US" altLang="en-US" i="1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43000"/>
            <a:ext cx="707706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To check if a relation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dirty="0"/>
              <a:t> in a decomposition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BCNF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BCNF Decomposition Algorithm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9350"/>
            <a:ext cx="7763091" cy="4291013"/>
          </a:xfrm>
        </p:spPr>
        <p:txBody>
          <a:bodyPr/>
          <a:lstStyle/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en-US" i="1" dirty="0"/>
              <a:t>	result </a:t>
            </a:r>
            <a:r>
              <a:rPr lang="en-US" altLang="en-US" dirty="0"/>
              <a:t>:= {</a:t>
            </a:r>
            <a:r>
              <a:rPr lang="en-US" altLang="en-US" i="1" dirty="0"/>
              <a:t>R </a:t>
            </a:r>
            <a:r>
              <a:rPr lang="en-US" altLang="en-US" dirty="0"/>
              <a:t>};</a:t>
            </a:r>
            <a:br>
              <a:rPr lang="en-US" altLang="en-US" dirty="0"/>
            </a:br>
            <a:r>
              <a:rPr lang="en-US" altLang="en-US" i="1" dirty="0"/>
              <a:t>done </a:t>
            </a:r>
            <a:r>
              <a:rPr lang="en-US" altLang="en-US" dirty="0"/>
              <a:t>:= false;</a:t>
            </a:r>
            <a:br>
              <a:rPr lang="en-US" altLang="en-US" dirty="0"/>
            </a:br>
            <a:r>
              <a:rPr lang="en-US" altLang="en-US" dirty="0"/>
              <a:t>compute </a:t>
            </a:r>
            <a:r>
              <a:rPr lang="en-US" altLang="en-US" i="1" dirty="0"/>
              <a:t>F </a:t>
            </a:r>
            <a:r>
              <a:rPr lang="en-US" altLang="en-US" baseline="30000" dirty="0"/>
              <a:t>+</a:t>
            </a:r>
            <a:r>
              <a:rPr lang="en-US" altLang="en-US" dirty="0"/>
              <a:t>;</a:t>
            </a:r>
            <a:br>
              <a:rPr lang="en-US" altLang="en-US" dirty="0"/>
            </a:br>
            <a:r>
              <a:rPr lang="en-US" altLang="en-US" b="1" dirty="0"/>
              <a:t>while (not </a:t>
            </a:r>
            <a:r>
              <a:rPr lang="en-US" altLang="en-US" i="1" dirty="0"/>
              <a:t>done) </a:t>
            </a:r>
            <a:r>
              <a:rPr lang="en-US" altLang="en-US" b="1" dirty="0"/>
              <a:t>do</a:t>
            </a:r>
            <a:br>
              <a:rPr lang="en-US" altLang="en-US" b="1" dirty="0"/>
            </a:br>
            <a:r>
              <a:rPr lang="en-US" altLang="en-US" b="1" dirty="0"/>
              <a:t>	if </a:t>
            </a:r>
            <a:r>
              <a:rPr lang="en-US" altLang="en-US" dirty="0"/>
              <a:t>(there is a schema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in </a:t>
            </a:r>
            <a:r>
              <a:rPr lang="en-US" altLang="en-US" i="1" dirty="0"/>
              <a:t>result </a:t>
            </a:r>
            <a:r>
              <a:rPr lang="en-US" altLang="en-US" dirty="0"/>
              <a:t> that is not in BCNF)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then begin</a:t>
            </a:r>
            <a:br>
              <a:rPr lang="en-US" altLang="en-US" b="1" dirty="0"/>
            </a:br>
            <a:r>
              <a:rPr lang="en-US" altLang="en-US" b="1" dirty="0"/>
              <a:t>			</a:t>
            </a:r>
            <a:r>
              <a:rPr lang="en-US" altLang="en-US" dirty="0"/>
              <a:t>let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 be a nontrivial functional dependency that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                       holds on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 </a:t>
            </a:r>
            <a:r>
              <a:rPr lang="en-US" altLang="en-US" dirty="0">
                <a:sym typeface="Greek Symbols"/>
              </a:rPr>
              <a:t>such that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is not in </a:t>
            </a:r>
            <a:r>
              <a:rPr lang="en-US" altLang="en-US" i="1" dirty="0">
                <a:sym typeface="Greek Symbols"/>
              </a:rPr>
              <a:t>F </a:t>
            </a:r>
            <a:r>
              <a:rPr lang="en-US" altLang="en-US" baseline="30000" dirty="0">
                <a:sym typeface="Greek Symbols"/>
              </a:rPr>
              <a:t>+</a:t>
            </a:r>
            <a:r>
              <a:rPr lang="en-US" altLang="en-US" dirty="0">
                <a:sym typeface="Greek Symbols"/>
              </a:rPr>
              <a:t>,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			   and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 = </a:t>
            </a:r>
            <a:r>
              <a:rPr lang="en-US" altLang="en-US" dirty="0">
                <a:sym typeface="Symbol" panose="05050102010706020507" pitchFamily="18" charset="2"/>
              </a:rPr>
              <a:t>;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	   </a:t>
            </a:r>
            <a:r>
              <a:rPr lang="en-US" altLang="en-US" i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:= (</a:t>
            </a:r>
            <a:r>
              <a:rPr lang="en-US" altLang="en-US" i="1" dirty="0">
                <a:sym typeface="Symbol" panose="05050102010706020507" pitchFamily="18" charset="2"/>
              </a:rPr>
              <a:t>result – R</a:t>
            </a:r>
            <a:r>
              <a:rPr lang="en-US" altLang="en-US" i="1" baseline="-25000" dirty="0">
                <a:sym typeface="Symbol" panose="05050102010706020507" pitchFamily="18" charset="2"/>
              </a:rPr>
              <a:t>i </a:t>
            </a:r>
            <a:r>
              <a:rPr lang="en-US" altLang="en-US" i="1" dirty="0">
                <a:sym typeface="Symbol" panose="05050102010706020507" pitchFamily="18" charset="2"/>
              </a:rPr>
              <a:t>) </a:t>
            </a:r>
            <a:r>
              <a:rPr lang="en-US" altLang="en-US" dirty="0">
                <a:sym typeface="Symbol" panose="05050102010706020507" pitchFamily="18" charset="2"/>
              </a:rPr>
              <a:t> 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– </a:t>
            </a:r>
            <a:r>
              <a:rPr lang="en-US" altLang="en-US" dirty="0">
                <a:sym typeface="Greek Symbols"/>
              </a:rPr>
              <a:t>) </a:t>
            </a:r>
            <a:r>
              <a:rPr lang="en-US" altLang="en-US" dirty="0">
                <a:sym typeface="Symbol" panose="05050102010706020507" pitchFamily="18" charset="2"/>
              </a:rPr>
              <a:t> (</a:t>
            </a:r>
            <a:r>
              <a:rPr lang="en-US" altLang="en-US" dirty="0">
                <a:sym typeface="Greek Symbols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);</a:t>
            </a:r>
            <a:br>
              <a:rPr lang="en-US" altLang="en-US" i="1" dirty="0">
                <a:sym typeface="Greek Symbols"/>
              </a:rPr>
            </a:br>
            <a:r>
              <a:rPr lang="en-US" altLang="en-US" i="1" dirty="0">
                <a:sym typeface="Greek Symbols"/>
              </a:rPr>
              <a:t>	    	</a:t>
            </a:r>
            <a:r>
              <a:rPr lang="en-US" altLang="en-US" b="1" dirty="0">
                <a:sym typeface="Greek Symbols"/>
              </a:rPr>
              <a:t>end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	else</a:t>
            </a:r>
            <a:r>
              <a:rPr lang="en-US" altLang="en-US" i="1" dirty="0">
                <a:sym typeface="Greek Symbols"/>
              </a:rPr>
              <a:t> done </a:t>
            </a:r>
            <a:r>
              <a:rPr lang="en-US" altLang="en-US" dirty="0">
                <a:sym typeface="Greek Symbols"/>
              </a:rPr>
              <a:t>:= </a:t>
            </a:r>
            <a:r>
              <a:rPr lang="en-US" altLang="en-US" b="1" dirty="0">
                <a:sym typeface="Greek Symbols"/>
              </a:rPr>
              <a:t>true; </a:t>
            </a:r>
          </a:p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endParaRPr lang="en-US" altLang="en-US" b="1" dirty="0">
              <a:sym typeface="Greek Symbols"/>
            </a:endParaRPr>
          </a:p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en-US" dirty="0">
                <a:sym typeface="Greek Symbols"/>
              </a:rPr>
              <a:t>     Note:  each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is in BCNF, and decomposition is lossless-join.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of BCNF Decomposition</a:t>
            </a: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94415" cy="4633244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class 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, 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/>
              <a:t>capacity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r>
              <a:rPr lang="en-US" altLang="en-US" dirty="0"/>
              <a:t>)</a:t>
            </a:r>
          </a:p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Functional dependencies: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 err="1"/>
              <a:t>course_id</a:t>
            </a:r>
            <a:r>
              <a:rPr lang="en-US" altLang="en-US" dirty="0"/>
              <a:t>→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 err="1"/>
              <a:t>→</a:t>
            </a:r>
            <a:r>
              <a:rPr lang="en-US" altLang="en-US" i="1" dirty="0" err="1"/>
              <a:t>capacity</a:t>
            </a:r>
            <a:endParaRPr lang="en-US" altLang="en-US" i="1" dirty="0"/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 err="1"/>
              <a:t>year</a:t>
            </a:r>
            <a:r>
              <a:rPr lang="en-US" altLang="en-US" dirty="0" err="1"/>
              <a:t>→</a:t>
            </a:r>
            <a:r>
              <a:rPr lang="en-US" altLang="en-US" i="1" dirty="0" err="1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endParaRPr lang="en-US" altLang="en-US" i="1" dirty="0"/>
          </a:p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A candidate key {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}.</a:t>
            </a:r>
          </a:p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BCNF Decomposition: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 err="1"/>
              <a:t>course_id</a:t>
            </a:r>
            <a:r>
              <a:rPr lang="en-US" altLang="en-US" dirty="0"/>
              <a:t>→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  </a:t>
            </a:r>
            <a:r>
              <a:rPr lang="en-US" altLang="en-US" dirty="0"/>
              <a:t>holds</a:t>
            </a:r>
          </a:p>
          <a:p>
            <a:pPr lvl="2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but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/>
              <a:t>is not a </a:t>
            </a:r>
            <a:r>
              <a:rPr lang="en-US" altLang="en-US" dirty="0" err="1"/>
              <a:t>superkey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 We replace </a:t>
            </a:r>
            <a:r>
              <a:rPr lang="en-US" altLang="en-US" i="1" dirty="0"/>
              <a:t>class </a:t>
            </a:r>
            <a:r>
              <a:rPr lang="en-US" altLang="en-US" dirty="0"/>
              <a:t>by:</a:t>
            </a:r>
          </a:p>
          <a:p>
            <a:pPr lvl="2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course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class-1 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, </a:t>
            </a:r>
            <a:r>
              <a:rPr lang="en-US" altLang="en-US" i="1" dirty="0"/>
              <a:t>building</a:t>
            </a:r>
            <a:r>
              <a:rPr lang="en-US" altLang="en-US" dirty="0"/>
              <a:t>,           </a:t>
            </a:r>
            <a:br>
              <a:rPr lang="en-US" altLang="en-US" dirty="0"/>
            </a:br>
            <a:r>
              <a:rPr lang="en-US" altLang="en-US" dirty="0"/>
              <a:t>             </a:t>
            </a:r>
            <a:r>
              <a:rPr lang="en-US" altLang="en-US" i="1" dirty="0" err="1"/>
              <a:t>room_number</a:t>
            </a:r>
            <a:r>
              <a:rPr lang="en-US" altLang="en-US" i="1" dirty="0"/>
              <a:t>, capacity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BCNF Decomposition (Cont.)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7"/>
            <a:ext cx="7505638" cy="4083693"/>
          </a:xfrm>
        </p:spPr>
        <p:txBody>
          <a:bodyPr/>
          <a:lstStyle/>
          <a:p>
            <a:r>
              <a:rPr lang="en-US" altLang="en-US" i="1" dirty="0"/>
              <a:t>course </a:t>
            </a:r>
            <a:r>
              <a:rPr lang="en-US" altLang="en-US" dirty="0"/>
              <a:t>is in BCNF</a:t>
            </a:r>
          </a:p>
          <a:p>
            <a:pPr lvl="1"/>
            <a:r>
              <a:rPr lang="en-US" altLang="en-US" dirty="0"/>
              <a:t>How do we know this</a:t>
            </a:r>
            <a:r>
              <a:rPr lang="en-US" altLang="en-US" dirty="0" smtClean="0"/>
              <a:t>?</a:t>
            </a:r>
          </a:p>
          <a:p>
            <a:pPr lvl="1"/>
            <a:endParaRPr lang="en-US" altLang="en-US" dirty="0"/>
          </a:p>
          <a:p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 err="1"/>
              <a:t>→</a:t>
            </a:r>
            <a:r>
              <a:rPr lang="en-US" altLang="en-US" i="1" dirty="0" err="1"/>
              <a:t>capacity</a:t>
            </a:r>
            <a:r>
              <a:rPr lang="en-US" altLang="en-US" i="1" dirty="0"/>
              <a:t>  </a:t>
            </a:r>
            <a:r>
              <a:rPr lang="en-US" altLang="en-US" dirty="0"/>
              <a:t>holds on </a:t>
            </a:r>
            <a:r>
              <a:rPr lang="en-US" altLang="en-US" i="1" dirty="0"/>
              <a:t>class-1</a:t>
            </a:r>
            <a:endParaRPr lang="en-US" altLang="en-US" dirty="0"/>
          </a:p>
          <a:p>
            <a:pPr lvl="1"/>
            <a:r>
              <a:rPr lang="en-US" altLang="en-US" dirty="0"/>
              <a:t> but {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} is not a </a:t>
            </a:r>
            <a:r>
              <a:rPr lang="en-US" altLang="en-US" dirty="0" err="1"/>
              <a:t>superkey</a:t>
            </a:r>
            <a:r>
              <a:rPr lang="en-US" altLang="en-US" dirty="0"/>
              <a:t> for </a:t>
            </a:r>
            <a:r>
              <a:rPr lang="en-US" altLang="en-US" i="1" dirty="0"/>
              <a:t>class-1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We replace </a:t>
            </a:r>
            <a:r>
              <a:rPr lang="en-US" altLang="en-US" i="1" dirty="0"/>
              <a:t>class-1 </a:t>
            </a:r>
            <a:r>
              <a:rPr lang="en-US" altLang="en-US" dirty="0"/>
              <a:t>by:</a:t>
            </a:r>
          </a:p>
          <a:p>
            <a:pPr lvl="2"/>
            <a:r>
              <a:rPr lang="en-US" altLang="en-US" i="1" dirty="0"/>
              <a:t>classroom </a:t>
            </a:r>
            <a:r>
              <a:rPr lang="en-US" altLang="en-US" dirty="0"/>
              <a:t>(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/>
              <a:t>capacity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i="1" dirty="0"/>
              <a:t>section 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, 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r>
              <a:rPr lang="en-US" altLang="en-US" dirty="0" smtClean="0"/>
              <a:t>)</a:t>
            </a:r>
          </a:p>
          <a:p>
            <a:pPr lvl="2"/>
            <a:endParaRPr lang="en-US" altLang="en-US" dirty="0"/>
          </a:p>
          <a:p>
            <a:r>
              <a:rPr lang="en-US" altLang="en-US" i="1" dirty="0"/>
              <a:t>classroom </a:t>
            </a:r>
            <a:r>
              <a:rPr lang="en-US" altLang="en-US" dirty="0"/>
              <a:t>and </a:t>
            </a:r>
            <a:r>
              <a:rPr lang="en-US" altLang="en-US" i="1" dirty="0"/>
              <a:t>section </a:t>
            </a:r>
            <a:r>
              <a:rPr lang="en-US" altLang="en-US" dirty="0"/>
              <a:t>are in BCNF.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Third Normal Form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38803" cy="4058980"/>
          </a:xfrm>
        </p:spPr>
        <p:txBody>
          <a:bodyPr/>
          <a:lstStyle/>
          <a:p>
            <a:r>
              <a:rPr lang="en-US" altLang="en-US" dirty="0"/>
              <a:t>There are some situations where </a:t>
            </a:r>
          </a:p>
          <a:p>
            <a:pPr lvl="1"/>
            <a:r>
              <a:rPr lang="en-US" altLang="en-US" dirty="0"/>
              <a:t>BCNF is not dependency preserving, and </a:t>
            </a:r>
          </a:p>
          <a:p>
            <a:pPr lvl="1"/>
            <a:r>
              <a:rPr lang="en-US" altLang="en-US" dirty="0"/>
              <a:t>efficient checking for FD violation on updates is </a:t>
            </a:r>
            <a:r>
              <a:rPr lang="en-US" altLang="en-US" dirty="0" smtClean="0"/>
              <a:t>important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Solution: define a weaker normal form, called Third Normal Form (3NF)</a:t>
            </a:r>
          </a:p>
          <a:p>
            <a:pPr lvl="1" algn="just"/>
            <a:r>
              <a:rPr lang="en-US" altLang="en-US" dirty="0"/>
              <a:t>Allows some redundancy (with resultant problems; we </a:t>
            </a:r>
            <a:r>
              <a:rPr lang="en-US" altLang="en-US" dirty="0">
                <a:sym typeface="Greek Symbols"/>
              </a:rPr>
              <a:t>will see examples later)</a:t>
            </a:r>
            <a:endParaRPr lang="en-US" altLang="en-US" dirty="0"/>
          </a:p>
          <a:p>
            <a:pPr lvl="1" algn="just"/>
            <a:r>
              <a:rPr lang="en-US" altLang="en-US" dirty="0"/>
              <a:t>But functional dependencies can be checked on individual relations without computing a join.</a:t>
            </a:r>
          </a:p>
          <a:p>
            <a:pPr lvl="1" algn="just"/>
            <a:r>
              <a:rPr lang="en-US" altLang="en-US" dirty="0"/>
              <a:t>There is always a lossless-join, dependency-preserving decomposition into 3NF.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3NF Example -- </a:t>
            </a:r>
            <a:r>
              <a:rPr lang="en-US" altLang="en-US" dirty="0"/>
              <a:t>Relation </a:t>
            </a:r>
            <a:r>
              <a:rPr lang="en-US" altLang="en-US" i="1" dirty="0"/>
              <a:t>dept_advisor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3948"/>
            <a:ext cx="7558904" cy="3578690"/>
          </a:xfrm>
        </p:spPr>
        <p:txBody>
          <a:bodyPr/>
          <a:lstStyle/>
          <a:p>
            <a:pPr>
              <a:tabLst>
                <a:tab pos="1027113" algn="l"/>
                <a:tab pos="2455863" algn="l"/>
              </a:tabLst>
            </a:pPr>
            <a:r>
              <a:rPr lang="en-US" altLang="en-US" i="1" dirty="0"/>
              <a:t>dept_advisor </a:t>
            </a:r>
            <a:r>
              <a:rPr lang="en-US" altLang="en-US" dirty="0"/>
              <a:t>(</a:t>
            </a:r>
            <a:r>
              <a:rPr lang="en-US" altLang="en-US" i="1" dirty="0"/>
              <a:t>s_ID, i_ID, dept_name)</a:t>
            </a:r>
            <a:br>
              <a:rPr lang="en-US" altLang="en-US" i="1" dirty="0"/>
            </a:br>
            <a:r>
              <a:rPr lang="en-US" altLang="en-US" i="1" dirty="0"/>
              <a:t>F = </a:t>
            </a:r>
            <a:r>
              <a:rPr lang="en-US" altLang="en-US" dirty="0"/>
              <a:t>{</a:t>
            </a:r>
            <a:r>
              <a:rPr lang="en-US" altLang="en-US" i="1" dirty="0"/>
              <a:t>s_ID, dept_name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/>
              <a:t> i_ID,  i_ID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>
                <a:sym typeface="Wingdings" panose="05000000000000000000" pitchFamily="2" charset="2"/>
              </a:rPr>
              <a:t> </a:t>
            </a:r>
            <a:r>
              <a:rPr lang="en-US" altLang="en-US" i="1" dirty="0" err="1">
                <a:sym typeface="Wingdings" panose="05000000000000000000" pitchFamily="2" charset="2"/>
              </a:rPr>
              <a:t>dept_name</a:t>
            </a:r>
            <a:r>
              <a:rPr lang="en-US" altLang="en-US" dirty="0" smtClean="0">
                <a:sym typeface="Monotype Sorts" pitchFamily="-84" charset="2"/>
              </a:rPr>
              <a:t>}</a:t>
            </a:r>
          </a:p>
          <a:p>
            <a:pPr marL="0" indent="0">
              <a:buNone/>
              <a:tabLst>
                <a:tab pos="1027113" algn="l"/>
                <a:tab pos="2455863" algn="l"/>
              </a:tabLst>
            </a:pPr>
            <a:endParaRPr lang="en-US" altLang="en-US" dirty="0">
              <a:sym typeface="Monotype Sorts" pitchFamily="-84" charset="2"/>
            </a:endParaRPr>
          </a:p>
          <a:p>
            <a:pPr>
              <a:tabLst>
                <a:tab pos="1027113" algn="l"/>
                <a:tab pos="2455863" algn="l"/>
              </a:tabLst>
            </a:pPr>
            <a:r>
              <a:rPr lang="en-US" altLang="en-US" dirty="0">
                <a:sym typeface="Monotype Sorts" pitchFamily="-84" charset="2"/>
              </a:rPr>
              <a:t>Two candidate keys:  </a:t>
            </a:r>
            <a:r>
              <a:rPr lang="en-US" altLang="en-US" i="1" dirty="0" err="1">
                <a:sym typeface="Monotype Sorts" pitchFamily="-84" charset="2"/>
              </a:rPr>
              <a:t>s_ID</a:t>
            </a:r>
            <a:r>
              <a:rPr lang="en-US" altLang="en-US" i="1" dirty="0">
                <a:sym typeface="Monotype Sorts" pitchFamily="-84" charset="2"/>
              </a:rPr>
              <a:t>, </a:t>
            </a:r>
            <a:r>
              <a:rPr lang="en-US" altLang="en-US" i="1" dirty="0" err="1">
                <a:sym typeface="Monotype Sorts" pitchFamily="-84" charset="2"/>
              </a:rPr>
              <a:t>dept_name</a:t>
            </a:r>
            <a:r>
              <a:rPr lang="en-US" altLang="en-US" i="1" dirty="0">
                <a:sym typeface="Monotype Sorts" pitchFamily="-84" charset="2"/>
              </a:rPr>
              <a:t>, </a:t>
            </a:r>
            <a:r>
              <a:rPr lang="en-US" altLang="en-US" dirty="0">
                <a:sym typeface="Monotype Sorts" pitchFamily="-84" charset="2"/>
              </a:rPr>
              <a:t>and 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i="1" dirty="0" err="1">
                <a:sym typeface="Monotype Sorts" pitchFamily="-84" charset="2"/>
              </a:rPr>
              <a:t>i_ID</a:t>
            </a:r>
            <a:r>
              <a:rPr lang="en-US" altLang="en-US" i="1" dirty="0">
                <a:sym typeface="Monotype Sorts" pitchFamily="-84" charset="2"/>
              </a:rPr>
              <a:t>, </a:t>
            </a:r>
            <a:r>
              <a:rPr lang="en-US" altLang="en-US" i="1" dirty="0" err="1" smtClean="0">
                <a:sym typeface="Monotype Sorts" pitchFamily="-84" charset="2"/>
              </a:rPr>
              <a:t>s_ID</a:t>
            </a:r>
            <a:endParaRPr lang="en-US" altLang="en-US" i="1" dirty="0" smtClean="0">
              <a:sym typeface="Monotype Sorts" pitchFamily="-84" charset="2"/>
            </a:endParaRPr>
          </a:p>
          <a:p>
            <a:pPr marL="0" indent="0">
              <a:buNone/>
              <a:tabLst>
                <a:tab pos="1027113" algn="l"/>
                <a:tab pos="2455863" algn="l"/>
              </a:tabLst>
            </a:pPr>
            <a:endParaRPr lang="en-US" altLang="en-US" i="1" dirty="0">
              <a:sym typeface="Monotype Sorts" pitchFamily="-84" charset="2"/>
            </a:endParaRPr>
          </a:p>
          <a:p>
            <a:pPr>
              <a:tabLst>
                <a:tab pos="1027113" algn="l"/>
                <a:tab pos="2455863" algn="l"/>
              </a:tabLst>
            </a:pPr>
            <a:r>
              <a:rPr lang="en-US" altLang="en-US" i="1" dirty="0">
                <a:sym typeface="Monotype Sorts" pitchFamily="-84" charset="2"/>
              </a:rPr>
              <a:t>R</a:t>
            </a:r>
            <a:r>
              <a:rPr lang="en-US" altLang="en-US" dirty="0">
                <a:sym typeface="Monotype Sorts" pitchFamily="-84" charset="2"/>
              </a:rPr>
              <a:t> is in 3NF</a:t>
            </a:r>
          </a:p>
          <a:p>
            <a:pPr lvl="1">
              <a:tabLst>
                <a:tab pos="1027113" algn="l"/>
                <a:tab pos="2455863" algn="l"/>
              </a:tabLst>
            </a:pPr>
            <a:r>
              <a:rPr lang="en-US" altLang="en-US" i="1" dirty="0" err="1"/>
              <a:t>s_ID</a:t>
            </a:r>
            <a:r>
              <a:rPr lang="en-US" altLang="en-US" i="1" dirty="0"/>
              <a:t>,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/>
              <a:t> </a:t>
            </a:r>
            <a:r>
              <a:rPr lang="en-US" altLang="en-US" i="1" dirty="0" err="1"/>
              <a:t>i_ID</a:t>
            </a:r>
            <a:r>
              <a:rPr lang="en-US" altLang="en-US" i="1" dirty="0">
                <a:sym typeface="Monotype Sorts" pitchFamily="-84" charset="2"/>
              </a:rPr>
              <a:t>   </a:t>
            </a:r>
            <a:r>
              <a:rPr lang="en-US" altLang="en-US" i="1" dirty="0" err="1"/>
              <a:t>s_ID</a:t>
            </a:r>
            <a:endParaRPr lang="en-US" altLang="en-US" i="1" dirty="0"/>
          </a:p>
          <a:p>
            <a:pPr lvl="2">
              <a:tabLst>
                <a:tab pos="1027113" algn="l"/>
                <a:tab pos="2455863" algn="l"/>
              </a:tabLst>
            </a:pPr>
            <a:r>
              <a:rPr lang="en-US" altLang="en-US" i="1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>
                <a:sym typeface="Monotype Sorts" pitchFamily="-84" charset="2"/>
              </a:rPr>
              <a:t>is a </a:t>
            </a:r>
            <a:r>
              <a:rPr lang="en-US" altLang="en-US" dirty="0" err="1">
                <a:sym typeface="Monotype Sorts" pitchFamily="-84" charset="2"/>
              </a:rPr>
              <a:t>superkey</a:t>
            </a:r>
            <a:endParaRPr lang="en-US" altLang="en-US" dirty="0">
              <a:sym typeface="Monotype Sorts" pitchFamily="-84" charset="2"/>
            </a:endParaRPr>
          </a:p>
          <a:p>
            <a:pPr lvl="1">
              <a:tabLst>
                <a:tab pos="1027113" algn="l"/>
                <a:tab pos="2455863" algn="l"/>
              </a:tabLst>
            </a:pP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 err="1"/>
              <a:t>i_ID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>
                <a:sym typeface="Wingdings" panose="05000000000000000000" pitchFamily="2" charset="2"/>
              </a:rPr>
              <a:t> </a:t>
            </a:r>
            <a:r>
              <a:rPr lang="en-US" altLang="en-US" i="1" dirty="0" err="1">
                <a:sym typeface="Wingdings" panose="05000000000000000000" pitchFamily="2" charset="2"/>
              </a:rPr>
              <a:t>dept_name</a:t>
            </a:r>
            <a:r>
              <a:rPr lang="en-US" altLang="en-US" i="1" dirty="0">
                <a:sym typeface="Monotype Sorts" pitchFamily="-84" charset="2"/>
              </a:rPr>
              <a:t> 	</a:t>
            </a:r>
          </a:p>
          <a:p>
            <a:pPr lvl="2">
              <a:tabLst>
                <a:tab pos="1027113" algn="l"/>
                <a:tab pos="2455863" algn="l"/>
              </a:tabLst>
            </a:pPr>
            <a:r>
              <a:rPr lang="en-US" altLang="en-US" i="1" dirty="0" err="1">
                <a:sym typeface="Monotype Sorts" pitchFamily="-84" charset="2"/>
              </a:rPr>
              <a:t>dept_name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Monotype Sorts" pitchFamily="-84" charset="2"/>
              </a:rPr>
              <a:t>is contained in a candidate key</a:t>
            </a:r>
          </a:p>
          <a:p>
            <a:pPr>
              <a:buFont typeface="Monotype Sorts" pitchFamily="-84" charset="2"/>
              <a:buNone/>
              <a:tabLst>
                <a:tab pos="1027113" algn="l"/>
                <a:tab pos="245586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1027113" algn="l"/>
                <a:tab pos="2455863" algn="l"/>
              </a:tabLst>
            </a:pPr>
            <a:endParaRPr lang="en-US" altLang="en-US" dirty="0">
              <a:sym typeface="Monotype Sorts" pitchFamily="-84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for 3NF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559" cy="4466752"/>
          </a:xfrm>
        </p:spPr>
        <p:txBody>
          <a:bodyPr/>
          <a:lstStyle/>
          <a:p>
            <a:r>
              <a:rPr lang="en-US" altLang="en-US" dirty="0"/>
              <a:t>Need to check only FDs in </a:t>
            </a:r>
            <a:r>
              <a:rPr lang="en-US" altLang="en-US" i="1" dirty="0"/>
              <a:t>F</a:t>
            </a:r>
            <a:r>
              <a:rPr lang="en-US" altLang="en-US" dirty="0"/>
              <a:t>, need not check all FDs in </a:t>
            </a:r>
            <a:r>
              <a:rPr lang="en-US" altLang="en-US" i="1" dirty="0"/>
              <a:t>F</a:t>
            </a:r>
            <a:r>
              <a:rPr lang="en-US" altLang="en-US" i="1" baseline="30000" dirty="0" smtClean="0"/>
              <a:t>+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Use attribute closure to check for each dependency </a:t>
            </a:r>
            <a:r>
              <a:rPr lang="en-US" altLang="en-US" dirty="0">
                <a:sym typeface="Symbol" panose="05050102010706020507" pitchFamily="18" charset="2"/>
              </a:rPr>
              <a:t>  , if  </a:t>
            </a:r>
            <a:r>
              <a:rPr lang="en-US" altLang="en-US" dirty="0"/>
              <a:t>is a </a:t>
            </a:r>
            <a:r>
              <a:rPr lang="en-US" altLang="en-US" dirty="0" err="1"/>
              <a:t>superkey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If 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dirty="0"/>
              <a:t>is not a </a:t>
            </a:r>
            <a:r>
              <a:rPr lang="en-US" altLang="en-US" dirty="0" err="1"/>
              <a:t>superkey</a:t>
            </a:r>
            <a:r>
              <a:rPr lang="en-US" altLang="en-US" dirty="0"/>
              <a:t>, we have to verify if each attribute in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/>
              <a:t> is contained in a candidate key of </a:t>
            </a:r>
            <a:r>
              <a:rPr lang="en-US" altLang="en-US" i="1" dirty="0"/>
              <a:t>R</a:t>
            </a:r>
          </a:p>
          <a:p>
            <a:pPr lvl="1"/>
            <a:r>
              <a:rPr lang="en-US" altLang="en-US" dirty="0"/>
              <a:t>This test is rather more expensive, since it involve finding candidate keys</a:t>
            </a:r>
          </a:p>
          <a:p>
            <a:pPr lvl="1"/>
            <a:r>
              <a:rPr lang="en-US" altLang="en-US" dirty="0"/>
              <a:t>Testing for 3NF has been shown to be NP-hard</a:t>
            </a:r>
          </a:p>
          <a:p>
            <a:pPr lvl="1"/>
            <a:r>
              <a:rPr lang="en-US" altLang="en-US" dirty="0"/>
              <a:t>Interestingly, decomposition into third normal form (described shortly) can be done in polynomial time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3NF Decomposition Algorithm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681791" cy="4924341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461963" algn="l"/>
                <a:tab pos="1027113" algn="l"/>
                <a:tab pos="1309688" algn="l"/>
                <a:tab pos="1711325" algn="l"/>
              </a:tabLst>
            </a:pPr>
            <a:r>
              <a:rPr lang="en-US" altLang="en-US" dirty="0"/>
              <a:t>	Let </a:t>
            </a:r>
            <a:r>
              <a:rPr lang="en-US" altLang="en-US" i="1" dirty="0"/>
              <a:t>F</a:t>
            </a:r>
            <a:r>
              <a:rPr lang="en-US" altLang="en-US" sz="2000" i="1" baseline="-25000" dirty="0"/>
              <a:t>c</a:t>
            </a:r>
            <a:r>
              <a:rPr lang="en-US" altLang="en-US" i="1" dirty="0"/>
              <a:t> </a:t>
            </a:r>
            <a:r>
              <a:rPr lang="en-US" altLang="en-US" dirty="0"/>
              <a:t>be a canonical cover for </a:t>
            </a:r>
            <a:r>
              <a:rPr lang="en-US" altLang="en-US" i="1" dirty="0"/>
              <a:t>F;</a:t>
            </a:r>
            <a:br>
              <a:rPr lang="en-US" altLang="en-US" i="1" dirty="0"/>
            </a:b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:= 0;</a:t>
            </a:r>
            <a:br>
              <a:rPr lang="en-US" altLang="en-US" dirty="0"/>
            </a:br>
            <a:r>
              <a:rPr lang="en-US" altLang="en-US" b="1" dirty="0"/>
              <a:t>for each </a:t>
            </a:r>
            <a:r>
              <a:rPr lang="en-US" altLang="en-US" dirty="0"/>
              <a:t> functional dependency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in </a:t>
            </a:r>
            <a:r>
              <a:rPr lang="en-US" altLang="en-US" i="1" dirty="0">
                <a:sym typeface="Greek Symbols"/>
              </a:rPr>
              <a:t>F</a:t>
            </a:r>
            <a:r>
              <a:rPr lang="en-US" altLang="en-US" sz="2000" i="1" baseline="-25000" dirty="0">
                <a:sym typeface="Greek Symbols"/>
              </a:rPr>
              <a:t>c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b="1" dirty="0">
                <a:sym typeface="Greek Symbols"/>
              </a:rPr>
              <a:t>do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if </a:t>
            </a:r>
            <a:r>
              <a:rPr lang="en-US" altLang="en-US" dirty="0">
                <a:sym typeface="Greek Symbols"/>
              </a:rPr>
              <a:t>none of the schemas </a:t>
            </a:r>
            <a:r>
              <a:rPr lang="en-US" altLang="en-US" i="1" dirty="0" err="1">
                <a:sym typeface="Greek Symbols"/>
              </a:rPr>
              <a:t>R</a:t>
            </a:r>
            <a:r>
              <a:rPr lang="en-US" altLang="en-US" i="1" baseline="-25000" dirty="0" err="1">
                <a:sym typeface="Greek Symbols"/>
              </a:rPr>
              <a:t>j</a:t>
            </a:r>
            <a:r>
              <a:rPr lang="en-US" altLang="en-US" i="1" dirty="0">
                <a:sym typeface="Greek Symbols"/>
              </a:rPr>
              <a:t>, </a:t>
            </a:r>
            <a:r>
              <a:rPr lang="en-US" altLang="en-US" dirty="0">
                <a:sym typeface="Greek Symbols"/>
              </a:rPr>
              <a:t>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j 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contains  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/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	</a:t>
            </a:r>
            <a:r>
              <a:rPr lang="en-US" altLang="en-US" b="1" dirty="0">
                <a:sym typeface="Greek Symbols"/>
              </a:rPr>
              <a:t>then begin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			</a:t>
            </a:r>
            <a:r>
              <a:rPr lang="en-US" altLang="en-US" i="1" dirty="0" err="1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:= </a:t>
            </a:r>
            <a:r>
              <a:rPr lang="en-US" altLang="en-US" i="1" dirty="0" err="1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 + </a:t>
            </a:r>
            <a:r>
              <a:rPr lang="en-US" altLang="en-US" dirty="0">
                <a:sym typeface="Greek Symbols"/>
              </a:rPr>
              <a:t>1;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			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 </a:t>
            </a:r>
            <a:r>
              <a:rPr lang="en-US" altLang="en-US" dirty="0">
                <a:sym typeface="Greek Symbols"/>
              </a:rPr>
              <a:t> :=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br>
              <a:rPr lang="en-US" altLang="en-US" i="1" dirty="0">
                <a:sym typeface="Greek Symbols"/>
              </a:rPr>
            </a:br>
            <a:r>
              <a:rPr lang="en-US" altLang="en-US" i="1" dirty="0">
                <a:sym typeface="Greek Symbols"/>
              </a:rPr>
              <a:t>			</a:t>
            </a:r>
            <a:r>
              <a:rPr lang="en-US" altLang="en-US" b="1" dirty="0">
                <a:sym typeface="Greek Symbols"/>
              </a:rPr>
              <a:t>end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if</a:t>
            </a:r>
            <a:r>
              <a:rPr lang="en-US" altLang="en-US" dirty="0">
                <a:sym typeface="Greek Symbols"/>
              </a:rPr>
              <a:t> none of the schemas </a:t>
            </a:r>
            <a:r>
              <a:rPr lang="en-US" altLang="en-US" i="1" dirty="0" err="1">
                <a:sym typeface="Greek Symbols"/>
              </a:rPr>
              <a:t>R</a:t>
            </a:r>
            <a:r>
              <a:rPr lang="en-US" altLang="en-US" sz="2400" i="1" baseline="-25000" dirty="0" err="1">
                <a:sym typeface="Greek Symbols"/>
              </a:rPr>
              <a:t>j</a:t>
            </a:r>
            <a:r>
              <a:rPr lang="en-US" altLang="en-US" i="1" dirty="0">
                <a:sym typeface="Greek Symbols"/>
              </a:rPr>
              <a:t>, </a:t>
            </a:r>
            <a:r>
              <a:rPr lang="en-US" altLang="en-US" dirty="0">
                <a:sym typeface="Greek Symbols"/>
              </a:rPr>
              <a:t>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j 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contains a candidate key for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then begin</a:t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			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:=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+ 1;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:= any candidate key for </a:t>
            </a:r>
            <a:r>
              <a:rPr lang="en-US" altLang="en-US" i="1" dirty="0">
                <a:sym typeface="Symbol" panose="05050102010706020507" pitchFamily="18" charset="2"/>
              </a:rPr>
              <a:t>R;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		</a:t>
            </a:r>
            <a:r>
              <a:rPr lang="en-US" altLang="en-US" b="1" dirty="0">
                <a:sym typeface="Symbol" panose="05050102010706020507" pitchFamily="18" charset="2"/>
              </a:rPr>
              <a:t>end </a:t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/* Optionally, remove redundant relations */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461963" algn="l"/>
                <a:tab pos="1027113" algn="l"/>
                <a:tab pos="1309688" algn="l"/>
                <a:tab pos="1711325" algn="l"/>
              </a:tabLst>
            </a:pPr>
            <a:r>
              <a:rPr lang="en-US" altLang="en-US" b="1" dirty="0">
                <a:sym typeface="Symbol" panose="05050102010706020507" pitchFamily="18" charset="2"/>
              </a:rPr>
              <a:t>      repeat</a:t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if </a:t>
            </a:r>
            <a:r>
              <a:rPr lang="en-US" altLang="en-US" dirty="0">
                <a:sym typeface="Symbol" panose="05050102010706020507" pitchFamily="18" charset="2"/>
              </a:rPr>
              <a:t>any schema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is contained in another schema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k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/>
            </a:r>
            <a:br>
              <a:rPr lang="en-US" altLang="en-US" sz="2400" i="1" baseline="-25000" dirty="0">
                <a:sym typeface="Symbol" panose="05050102010706020507" pitchFamily="18" charset="2"/>
              </a:rPr>
            </a:br>
            <a:r>
              <a:rPr lang="en-US" altLang="en-US" sz="2400" i="1" baseline="-25000" dirty="0">
                <a:sym typeface="Symbol" panose="05050102010706020507" pitchFamily="18" charset="2"/>
              </a:rPr>
              <a:t>        </a:t>
            </a:r>
            <a:r>
              <a:rPr lang="en-US" altLang="en-US" b="1" dirty="0">
                <a:sym typeface="Greek Symbols"/>
              </a:rPr>
              <a:t>then /* </a:t>
            </a:r>
            <a:r>
              <a:rPr lang="en-US" altLang="en-US" dirty="0">
                <a:sym typeface="Greek Symbols"/>
              </a:rPr>
              <a:t>delete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  </a:t>
            </a:r>
            <a:r>
              <a:rPr lang="en-US" altLang="en-US" b="1" dirty="0">
                <a:sym typeface="Greek Symbols"/>
              </a:rPr>
              <a:t>*/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          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= R;;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=i-1;</a:t>
            </a:r>
            <a:r>
              <a:rPr lang="en-US" altLang="en-US" dirty="0">
                <a:sym typeface="Greek Symbols"/>
              </a:rPr>
              <a:t/>
            </a:r>
            <a:br>
              <a:rPr lang="en-US" altLang="en-US" dirty="0">
                <a:sym typeface="Greek Symbols"/>
              </a:rPr>
            </a:br>
            <a:r>
              <a:rPr lang="en-US" altLang="en-US" b="1" dirty="0">
                <a:sym typeface="Symbol" panose="05050102010706020507" pitchFamily="18" charset="2"/>
              </a:rPr>
              <a:t>return </a:t>
            </a:r>
            <a:r>
              <a:rPr lang="en-US" altLang="en-US" i="1" dirty="0">
                <a:sym typeface="Symbol" panose="05050102010706020507" pitchFamily="18" charset="2"/>
              </a:rPr>
              <a:t>(R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...,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i="1" dirty="0">
                <a:sym typeface="Greek Symbols"/>
              </a:rPr>
              <a:t>	</a:t>
            </a:r>
            <a:r>
              <a:rPr lang="en-US" altLang="en-US" sz="1600" i="1" dirty="0">
                <a:sym typeface="Greek Symbols"/>
              </a:rPr>
              <a:t>	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66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3NF Decomposition Algorithm (Cont.)</a:t>
            </a:r>
          </a:p>
        </p:txBody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6444" y="1612221"/>
            <a:ext cx="7315199" cy="1335516"/>
          </a:xfrm>
          <a:extLst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dirty="0">
                <a:ea typeface="+mn-ea"/>
                <a:sym typeface="Monotype Sorts" charset="0"/>
              </a:rPr>
              <a:t>Each relation schema </a:t>
            </a:r>
            <a:r>
              <a:rPr lang="en-US" i="1" dirty="0">
                <a:ea typeface="+mn-ea"/>
                <a:sym typeface="Monotype Sorts" charset="0"/>
              </a:rPr>
              <a:t>R</a:t>
            </a:r>
            <a:r>
              <a:rPr lang="en-US" i="1" baseline="-25000" dirty="0">
                <a:ea typeface="+mn-ea"/>
                <a:sym typeface="Monotype Sorts" charset="0"/>
              </a:rPr>
              <a:t>i</a:t>
            </a:r>
            <a:r>
              <a:rPr lang="en-US" i="1" dirty="0">
                <a:ea typeface="+mn-ea"/>
                <a:sym typeface="Monotype Sorts" charset="0"/>
              </a:rPr>
              <a:t> </a:t>
            </a:r>
            <a:r>
              <a:rPr lang="en-US" dirty="0">
                <a:ea typeface="+mn-ea"/>
                <a:sym typeface="Monotype Sorts" charset="0"/>
              </a:rPr>
              <a:t>is in 3NF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dirty="0">
                <a:ea typeface="+mn-ea"/>
                <a:sym typeface="Monotype Sorts" charset="0"/>
              </a:rPr>
              <a:t>Decomposition is dependency preserving and lossless-join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dirty="0">
                <a:ea typeface="+mn-ea"/>
                <a:sym typeface="Monotype Sorts" charset="0"/>
              </a:rPr>
              <a:t>Proof of correctness is at end of this presentation (click here)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72357" y="1191121"/>
            <a:ext cx="49426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ym typeface="Monotype Sorts" charset="0"/>
              </a:rPr>
              <a:t>Above algorithm ensures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3NF Decomposition: An Example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5510"/>
            <a:ext cx="7567782" cy="4202446"/>
          </a:xfrm>
        </p:spPr>
        <p:txBody>
          <a:bodyPr/>
          <a:lstStyle/>
          <a:p>
            <a:pPr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dirty="0"/>
              <a:t>Relation schema:</a:t>
            </a:r>
          </a:p>
          <a:p>
            <a:pPr marL="800100" lvl="1" indent="-342900">
              <a:buFont typeface="Monotype Sorts" pitchFamily="-84" charset="2"/>
              <a:buNone/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i="1" dirty="0" err="1"/>
              <a:t>cust_banker_branch</a:t>
            </a:r>
            <a:r>
              <a:rPr lang="en-US" altLang="en-US" i="1" dirty="0"/>
              <a:t> = </a:t>
            </a:r>
            <a:r>
              <a:rPr lang="en-US" altLang="en-US" dirty="0"/>
              <a:t>(</a:t>
            </a:r>
            <a:r>
              <a:rPr lang="en-US" altLang="en-US" i="1" u="sng" dirty="0" err="1"/>
              <a:t>customer_id</a:t>
            </a:r>
            <a:r>
              <a:rPr lang="en-US" altLang="en-US" i="1" u="sng" dirty="0"/>
              <a:t>, </a:t>
            </a:r>
            <a:r>
              <a:rPr lang="en-US" altLang="en-US" i="1" u="sng" dirty="0" err="1"/>
              <a:t>employee_id</a:t>
            </a:r>
            <a:r>
              <a:rPr lang="en-US" altLang="en-US" i="1" dirty="0"/>
              <a:t>, </a:t>
            </a:r>
            <a:r>
              <a:rPr lang="en-US" altLang="en-US" i="1" dirty="0" err="1"/>
              <a:t>branch_name</a:t>
            </a:r>
            <a:r>
              <a:rPr lang="en-US" altLang="en-US" i="1" dirty="0"/>
              <a:t>, type </a:t>
            </a:r>
            <a:r>
              <a:rPr lang="en-US" altLang="en-US" dirty="0" smtClean="0"/>
              <a:t>)</a:t>
            </a:r>
          </a:p>
          <a:p>
            <a:pPr marL="800100" lvl="1" indent="-342900">
              <a:buFont typeface="Monotype Sorts" pitchFamily="-84" charset="2"/>
              <a:buNone/>
              <a:tabLst>
                <a:tab pos="1027113" algn="l"/>
                <a:tab pos="2857500" algn="ctr"/>
                <a:tab pos="3036888" algn="l"/>
              </a:tabLst>
            </a:pPr>
            <a:endParaRPr lang="en-US" altLang="en-US" i="1" dirty="0"/>
          </a:p>
          <a:p>
            <a:pPr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dirty="0"/>
              <a:t>The functional dependencies for this relation schema are:</a:t>
            </a:r>
          </a:p>
          <a:p>
            <a:pPr marL="800100" lvl="1" indent="-342900"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 err="1">
                <a:sym typeface="Monotype Sorts" pitchFamily="-84" charset="2"/>
              </a:rPr>
              <a:t>branch_name</a:t>
            </a:r>
            <a:r>
              <a:rPr lang="en-US" altLang="en-US" i="1" dirty="0">
                <a:sym typeface="Monotype Sorts" pitchFamily="-84" charset="2"/>
              </a:rPr>
              <a:t>, type</a:t>
            </a:r>
          </a:p>
          <a:p>
            <a:pPr marL="800100" lvl="1" indent="-342900"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i="1" dirty="0" err="1">
                <a:sym typeface="Monotype Sorts" pitchFamily="-84" charset="2"/>
              </a:rPr>
              <a:t>employee_id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i="1" dirty="0" err="1">
                <a:sym typeface="Monotype Sorts" pitchFamily="-84" charset="2"/>
              </a:rPr>
              <a:t>branch_name</a:t>
            </a:r>
            <a:endParaRPr lang="en-US" altLang="en-US" i="1" dirty="0">
              <a:sym typeface="Monotype Sorts" pitchFamily="-84" charset="2"/>
            </a:endParaRPr>
          </a:p>
          <a:p>
            <a:pPr marL="800100" lvl="1" indent="-342900"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i="1" dirty="0" err="1">
                <a:sym typeface="Monotype Sorts" pitchFamily="-84" charset="2"/>
              </a:rPr>
              <a:t>customer_id</a:t>
            </a:r>
            <a:r>
              <a:rPr lang="en-US" altLang="en-US" i="1" dirty="0">
                <a:sym typeface="Monotype Sorts" pitchFamily="-84" charset="2"/>
              </a:rPr>
              <a:t>, </a:t>
            </a:r>
            <a:r>
              <a:rPr lang="en-US" altLang="en-US" i="1" dirty="0" err="1">
                <a:sym typeface="Monotype Sorts" pitchFamily="-84" charset="2"/>
              </a:rPr>
              <a:t>branch_name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 err="1" smtClean="0">
                <a:sym typeface="Wingdings" panose="05000000000000000000" pitchFamily="2" charset="2"/>
              </a:rPr>
              <a:t>employee_id</a:t>
            </a:r>
            <a:endParaRPr lang="en-US" altLang="en-US" i="1" dirty="0" smtClean="0">
              <a:sym typeface="Wingdings" panose="05000000000000000000" pitchFamily="2" charset="2"/>
            </a:endParaRPr>
          </a:p>
          <a:p>
            <a:pPr marL="800100" lvl="1" indent="-342900">
              <a:tabLst>
                <a:tab pos="1027113" algn="l"/>
                <a:tab pos="2857500" algn="ctr"/>
                <a:tab pos="3036888" algn="l"/>
              </a:tabLst>
            </a:pPr>
            <a:endParaRPr lang="en-US" altLang="en-US" i="1" dirty="0">
              <a:sym typeface="Wingdings" panose="05000000000000000000" pitchFamily="2" charset="2"/>
            </a:endParaRPr>
          </a:p>
          <a:p>
            <a:pPr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We first compute a canonical cover</a:t>
            </a:r>
          </a:p>
          <a:p>
            <a:pPr marL="800100" lvl="1" indent="-342900"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i="1" dirty="0" err="1">
                <a:sym typeface="Wingdings" panose="05000000000000000000" pitchFamily="2" charset="2"/>
              </a:rPr>
              <a:t>branch_name</a:t>
            </a:r>
            <a:r>
              <a:rPr lang="en-US" altLang="en-US" i="1" dirty="0"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Wingdings" panose="05000000000000000000" pitchFamily="2" charset="2"/>
              </a:rPr>
              <a:t>is extraneous in the </a:t>
            </a:r>
            <a:r>
              <a:rPr lang="en-US" altLang="en-US" dirty="0" err="1">
                <a:sym typeface="Wingdings" panose="05000000000000000000" pitchFamily="2" charset="2"/>
              </a:rPr>
              <a:t>r.h.s</a:t>
            </a:r>
            <a:r>
              <a:rPr lang="en-US" altLang="en-US" dirty="0">
                <a:sym typeface="Wingdings" panose="05000000000000000000" pitchFamily="2" charset="2"/>
              </a:rPr>
              <a:t>. of the 1</a:t>
            </a:r>
            <a:r>
              <a:rPr lang="en-US" altLang="en-US" baseline="30000" dirty="0">
                <a:sym typeface="Wingdings" panose="05000000000000000000" pitchFamily="2" charset="2"/>
              </a:rPr>
              <a:t>st</a:t>
            </a:r>
            <a:r>
              <a:rPr lang="en-US" altLang="en-US" dirty="0">
                <a:sym typeface="Wingdings" panose="05000000000000000000" pitchFamily="2" charset="2"/>
              </a:rPr>
              <a:t> dependency</a:t>
            </a:r>
          </a:p>
          <a:p>
            <a:pPr marL="800100" lvl="1" indent="-342900"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No other attribute is extraneous, so we get F</a:t>
            </a:r>
            <a:r>
              <a:rPr lang="en-US" altLang="en-US" baseline="-25000" dirty="0">
                <a:sym typeface="Wingdings" panose="05000000000000000000" pitchFamily="2" charset="2"/>
              </a:rPr>
              <a:t>C </a:t>
            </a:r>
            <a:r>
              <a:rPr lang="en-US" altLang="en-US" dirty="0">
                <a:sym typeface="Wingdings" panose="05000000000000000000" pitchFamily="2" charset="2"/>
              </a:rPr>
              <a:t>=</a:t>
            </a:r>
          </a:p>
          <a:p>
            <a:pPr marL="800100" lvl="1" indent="-342900">
              <a:buFont typeface="Monotype Sorts" pitchFamily="-84" charset="2"/>
              <a:buNone/>
              <a:tabLst>
                <a:tab pos="1027113" algn="l"/>
                <a:tab pos="2857500" algn="ctr"/>
                <a:tab pos="3036888" algn="l"/>
              </a:tabLst>
            </a:pPr>
            <a:r>
              <a:rPr lang="en-US" altLang="en-US" i="1" dirty="0"/>
              <a:t>             </a:t>
            </a: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>
                <a:sym typeface="Monotype Sorts" pitchFamily="-84" charset="2"/>
              </a:rPr>
              <a:t> type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	    </a:t>
            </a:r>
            <a:r>
              <a:rPr lang="en-US" altLang="en-US" i="1" dirty="0" err="1">
                <a:sym typeface="Monotype Sorts" pitchFamily="-84" charset="2"/>
              </a:rPr>
              <a:t>employee_id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i="1" dirty="0" err="1">
                <a:sym typeface="Monotype Sorts" pitchFamily="-84" charset="2"/>
              </a:rPr>
              <a:t>branch_name</a:t>
            </a:r>
            <a:r>
              <a:rPr lang="en-US" altLang="en-US" i="1" dirty="0">
                <a:sym typeface="Monotype Sorts" pitchFamily="-84" charset="2"/>
              </a:rPr>
              <a:t/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        </a:t>
            </a:r>
            <a:r>
              <a:rPr lang="en-US" altLang="en-US" i="1" dirty="0" err="1">
                <a:sym typeface="Monotype Sorts" pitchFamily="-84" charset="2"/>
              </a:rPr>
              <a:t>customer_id</a:t>
            </a:r>
            <a:r>
              <a:rPr lang="en-US" altLang="en-US" i="1" dirty="0">
                <a:sym typeface="Monotype Sorts" pitchFamily="-84" charset="2"/>
              </a:rPr>
              <a:t>, </a:t>
            </a:r>
            <a:r>
              <a:rPr lang="en-US" altLang="en-US" i="1" dirty="0" err="1">
                <a:sym typeface="Monotype Sorts" pitchFamily="-84" charset="2"/>
              </a:rPr>
              <a:t>branch_name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 err="1">
                <a:sym typeface="Wingdings" panose="05000000000000000000" pitchFamily="2" charset="2"/>
              </a:rPr>
              <a:t>employee_id</a:t>
            </a:r>
            <a:endParaRPr lang="en-US" altLang="en-US" i="1" dirty="0">
              <a:sym typeface="Wingdings" panose="05000000000000000000" pitchFamily="2" charset="2"/>
            </a:endParaRPr>
          </a:p>
          <a:p>
            <a:pPr marL="800100" lvl="1" indent="-342900">
              <a:buFont typeface="Monotype Sorts" pitchFamily="-84" charset="2"/>
              <a:buNone/>
              <a:tabLst>
                <a:tab pos="1027113" algn="l"/>
                <a:tab pos="2857500" algn="ctr"/>
                <a:tab pos="3036888" algn="l"/>
              </a:tabLst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3NF </a:t>
            </a:r>
            <a:r>
              <a:rPr lang="en-US" altLang="en-US" dirty="0" err="1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Decompsition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Example (Cont.)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1852"/>
            <a:ext cx="7617661" cy="4434864"/>
          </a:xfrm>
        </p:spPr>
        <p:txBody>
          <a:bodyPr/>
          <a:lstStyle/>
          <a:p>
            <a:r>
              <a:rPr lang="en-US" altLang="en-US" dirty="0">
                <a:sym typeface="Monotype Sorts" pitchFamily="-84" charset="2"/>
              </a:rPr>
              <a:t>The </a:t>
            </a:r>
            <a:r>
              <a:rPr lang="en-US" altLang="en-US" b="1" dirty="0">
                <a:sym typeface="Monotype Sorts" pitchFamily="-84" charset="2"/>
              </a:rPr>
              <a:t>for</a:t>
            </a:r>
            <a:r>
              <a:rPr lang="en-US" altLang="en-US" dirty="0">
                <a:sym typeface="Monotype Sorts" pitchFamily="-84" charset="2"/>
              </a:rPr>
              <a:t> loop generates following 3NF schema: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ym typeface="Monotype Sorts" pitchFamily="-84" charset="2"/>
              </a:rPr>
              <a:t>	            (</a:t>
            </a: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, type </a:t>
            </a:r>
            <a:r>
              <a:rPr lang="en-US" altLang="en-US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                </a:t>
            </a:r>
            <a:r>
              <a:rPr lang="en-US" altLang="en-US" dirty="0">
                <a:sym typeface="Monotype Sorts" pitchFamily="-84" charset="2"/>
              </a:rPr>
              <a:t>(</a:t>
            </a:r>
            <a:r>
              <a:rPr lang="en-US" altLang="en-US" i="1" u="sng" dirty="0" err="1"/>
              <a:t>employee_id</a:t>
            </a:r>
            <a:r>
              <a:rPr lang="en-US" altLang="en-US" i="1" dirty="0"/>
              <a:t>, </a:t>
            </a:r>
            <a:r>
              <a:rPr lang="en-US" altLang="en-US" i="1" dirty="0" err="1"/>
              <a:t>branch_name</a:t>
            </a:r>
            <a:r>
              <a:rPr lang="en-US" altLang="en-US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                (</a:t>
            </a: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branch_name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Observe that</a:t>
            </a:r>
            <a:r>
              <a:rPr lang="en-US" altLang="en-US" dirty="0">
                <a:sym typeface="Monotype Sorts" pitchFamily="-84" charset="2"/>
              </a:rPr>
              <a:t> (</a:t>
            </a: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, type </a:t>
            </a:r>
            <a:r>
              <a:rPr lang="en-US" altLang="en-US" dirty="0"/>
              <a:t>) contains a candidate key of the original schema, so no further relation schema needs be </a:t>
            </a:r>
            <a:r>
              <a:rPr lang="en-US" altLang="en-US" dirty="0" smtClean="0"/>
              <a:t>added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en-US" dirty="0"/>
          </a:p>
          <a:p>
            <a:r>
              <a:rPr lang="en-US" altLang="en-US" dirty="0"/>
              <a:t>At end of for loop, detect and delete schemas, such as  </a:t>
            </a:r>
            <a:r>
              <a:rPr lang="en-US" altLang="en-US" dirty="0">
                <a:sym typeface="Monotype Sorts" pitchFamily="-84" charset="2"/>
              </a:rPr>
              <a:t>(</a:t>
            </a:r>
            <a:r>
              <a:rPr lang="en-US" altLang="en-US" i="1" u="sng" dirty="0" err="1"/>
              <a:t>employee_id</a:t>
            </a:r>
            <a:r>
              <a:rPr lang="en-US" altLang="en-US" i="1" dirty="0"/>
              <a:t>, </a:t>
            </a:r>
            <a:r>
              <a:rPr lang="en-US" altLang="en-US" i="1" dirty="0" err="1"/>
              <a:t>branch_name</a:t>
            </a:r>
            <a:r>
              <a:rPr lang="en-US" altLang="en-US" dirty="0"/>
              <a:t>), which are subsets of other schemas</a:t>
            </a:r>
          </a:p>
          <a:p>
            <a:pPr lvl="1"/>
            <a:r>
              <a:rPr lang="en-US" altLang="en-US" dirty="0"/>
              <a:t>result will not depend on the order in which FDs are considered</a:t>
            </a:r>
          </a:p>
          <a:p>
            <a:r>
              <a:rPr lang="en-US" altLang="en-US" dirty="0"/>
              <a:t>The resultant simplified 3NF schema is: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ym typeface="Monotype Sorts" pitchFamily="-84" charset="2"/>
              </a:rPr>
              <a:t> 		   (</a:t>
            </a: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, type</a:t>
            </a:r>
            <a:r>
              <a:rPr lang="en-US" altLang="en-US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              (</a:t>
            </a:r>
            <a:r>
              <a:rPr lang="en-US" altLang="en-US" i="1" dirty="0" err="1"/>
              <a:t>customer_id</a:t>
            </a:r>
            <a:r>
              <a:rPr lang="en-US" altLang="en-US" i="1" dirty="0"/>
              <a:t>, </a:t>
            </a:r>
            <a:r>
              <a:rPr lang="en-US" altLang="en-US" i="1" dirty="0" err="1"/>
              <a:t>branch_name</a:t>
            </a:r>
            <a:r>
              <a:rPr lang="en-US" altLang="en-US" i="1" dirty="0"/>
              <a:t>, </a:t>
            </a:r>
            <a:r>
              <a:rPr lang="en-US" altLang="en-US" i="1" dirty="0" err="1"/>
              <a:t>employee_id</a:t>
            </a:r>
            <a:r>
              <a:rPr lang="en-US" altLang="en-US" i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Comparison of BCNF and 3NF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692" cy="2970211"/>
          </a:xfrm>
        </p:spPr>
        <p:txBody>
          <a:bodyPr/>
          <a:lstStyle/>
          <a:p>
            <a:pPr algn="just"/>
            <a:r>
              <a:rPr lang="en-US" altLang="en-US" dirty="0"/>
              <a:t>It is always possible to decompose a relation into a set of  relations that are in 3NF such that:</a:t>
            </a:r>
          </a:p>
          <a:p>
            <a:pPr lvl="1" algn="just"/>
            <a:r>
              <a:rPr lang="en-US" altLang="en-US" dirty="0"/>
              <a:t>The decomposition is lossless</a:t>
            </a:r>
          </a:p>
          <a:p>
            <a:pPr lvl="1" algn="just"/>
            <a:r>
              <a:rPr lang="en-US" altLang="en-US" dirty="0"/>
              <a:t>The dependencies are </a:t>
            </a:r>
            <a:r>
              <a:rPr lang="en-US" altLang="en-US" dirty="0" smtClean="0"/>
              <a:t>preserved</a:t>
            </a:r>
          </a:p>
          <a:p>
            <a:pPr marL="457200" lvl="1" indent="0" algn="just">
              <a:buNone/>
            </a:pPr>
            <a:endParaRPr lang="en-US" altLang="en-US" dirty="0"/>
          </a:p>
          <a:p>
            <a:pPr algn="just"/>
            <a:r>
              <a:rPr lang="en-US" altLang="en-US" dirty="0"/>
              <a:t>It is always possible to decompose a relation into a set of relations that are in BCNF such that:</a:t>
            </a:r>
          </a:p>
          <a:p>
            <a:pPr lvl="1" algn="just"/>
            <a:r>
              <a:rPr lang="en-US" altLang="en-US" dirty="0"/>
              <a:t>The decomposition is lossless</a:t>
            </a:r>
          </a:p>
          <a:p>
            <a:pPr lvl="1" algn="just"/>
            <a:r>
              <a:rPr lang="en-US" altLang="en-US" dirty="0"/>
              <a:t>It may not be possible to preserve dependencies.</a:t>
            </a:r>
          </a:p>
          <a:p>
            <a:pPr lvl="1"/>
            <a:endParaRPr lang="en-US" altLang="en-US" dirty="0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596900" y="4064000"/>
            <a:ext cx="72834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84" charset="2"/>
              <a:buChar char="n"/>
            </a:pPr>
            <a:endParaRPr kumimoji="1" lang="en-US" altLang="en-US" sz="1800" i="1">
              <a:sym typeface="Monotype Sorts" pitchFamily="-84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Design Goals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693"/>
            <a:ext cx="7509376" cy="5634052"/>
          </a:xfrm>
        </p:spPr>
        <p:txBody>
          <a:bodyPr/>
          <a:lstStyle/>
          <a:p>
            <a:r>
              <a:rPr lang="en-US" altLang="en-US" dirty="0"/>
              <a:t>Goal for a relational database design is:</a:t>
            </a:r>
          </a:p>
          <a:p>
            <a:pPr lvl="1"/>
            <a:r>
              <a:rPr lang="en-US" altLang="en-US" dirty="0"/>
              <a:t>BCNF.</a:t>
            </a:r>
          </a:p>
          <a:p>
            <a:pPr lvl="1"/>
            <a:r>
              <a:rPr lang="en-US" altLang="en-US" dirty="0"/>
              <a:t>Lossless join.</a:t>
            </a:r>
          </a:p>
          <a:p>
            <a:pPr lvl="1"/>
            <a:r>
              <a:rPr lang="en-US" altLang="en-US" dirty="0"/>
              <a:t>Dependency preservation</a:t>
            </a:r>
            <a:r>
              <a:rPr lang="en-US" altLang="en-US" dirty="0" smtClean="0"/>
              <a:t>.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If we cannot achieve this, we accept one of</a:t>
            </a:r>
          </a:p>
          <a:p>
            <a:pPr lvl="1"/>
            <a:r>
              <a:rPr lang="en-US" altLang="en-US" dirty="0"/>
              <a:t>Lack of dependency preservation </a:t>
            </a:r>
          </a:p>
          <a:p>
            <a:pPr lvl="1"/>
            <a:r>
              <a:rPr lang="en-US" altLang="en-US" dirty="0"/>
              <a:t>Redundancy due to use of </a:t>
            </a:r>
            <a:r>
              <a:rPr lang="en-US" altLang="en-US" dirty="0" smtClean="0"/>
              <a:t>3NF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Interestingly, SQL does not provide a direct way of specifying functional dependencies other than </a:t>
            </a:r>
            <a:r>
              <a:rPr lang="en-US" altLang="en-US" dirty="0" err="1"/>
              <a:t>superkeys</a:t>
            </a:r>
            <a:r>
              <a:rPr lang="en-US" altLang="en-US" dirty="0"/>
              <a:t>.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Can specify FDs using assertions, but they are expensive to test, (and currently not supported by any of the widely used databases!)</a:t>
            </a:r>
          </a:p>
          <a:p>
            <a:r>
              <a:rPr lang="en-US" altLang="en-US" dirty="0"/>
              <a:t>Even if we had a dependency preserving decomposition, using SQL we would not be able to efficiently test a functional dependency whose left hand side is not a key.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8963" y="2400300"/>
            <a:ext cx="5773737" cy="125730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Multivalued Dependencies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Multivalued Dependencies (MVDs)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585536" cy="4689173"/>
          </a:xfrm>
        </p:spPr>
        <p:txBody>
          <a:bodyPr/>
          <a:lstStyle/>
          <a:p>
            <a:r>
              <a:rPr lang="en-US" altLang="en-US" dirty="0"/>
              <a:t>Suppose we </a:t>
            </a:r>
            <a:r>
              <a:rPr lang="en-US" altLang="en-US" dirty="0">
                <a:solidFill>
                  <a:srgbClr val="0070C0"/>
                </a:solidFill>
              </a:rPr>
              <a:t>record names of children, and phone numbers for instructors:</a:t>
            </a:r>
          </a:p>
          <a:p>
            <a:pPr lvl="1"/>
            <a:r>
              <a:rPr lang="en-US" altLang="en-US" i="1" dirty="0" err="1"/>
              <a:t>inst_child</a:t>
            </a:r>
            <a:r>
              <a:rPr lang="en-US" altLang="en-US" dirty="0"/>
              <a:t>(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i="1" dirty="0" err="1"/>
              <a:t>child_name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i="1" dirty="0" err="1"/>
              <a:t>inst_phone</a:t>
            </a:r>
            <a:r>
              <a:rPr lang="en-US" altLang="en-US" dirty="0"/>
              <a:t>(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i="1" dirty="0" err="1"/>
              <a:t>phone_number</a:t>
            </a:r>
            <a:r>
              <a:rPr lang="en-US" altLang="en-US" dirty="0" smtClean="0"/>
              <a:t>)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If we were to combine these schemas to get</a:t>
            </a:r>
          </a:p>
          <a:p>
            <a:pPr lvl="1"/>
            <a:r>
              <a:rPr lang="en-US" altLang="en-US" i="1" dirty="0" err="1"/>
              <a:t>inst_info</a:t>
            </a:r>
            <a:r>
              <a:rPr lang="en-US" altLang="en-US" dirty="0"/>
              <a:t>(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i="1" dirty="0" err="1"/>
              <a:t>child_name</a:t>
            </a:r>
            <a:r>
              <a:rPr lang="en-US" altLang="en-US" dirty="0"/>
              <a:t>, </a:t>
            </a:r>
            <a:r>
              <a:rPr lang="en-US" altLang="en-US" i="1" dirty="0" err="1"/>
              <a:t>phone_number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Example data:</a:t>
            </a:r>
            <a:br>
              <a:rPr lang="en-US" altLang="en-US" dirty="0"/>
            </a:br>
            <a:r>
              <a:rPr lang="en-US" altLang="en-US" dirty="0"/>
              <a:t>(99999, David, 512-555-1234)</a:t>
            </a:r>
            <a:br>
              <a:rPr lang="en-US" altLang="en-US" dirty="0"/>
            </a:br>
            <a:r>
              <a:rPr lang="en-US" altLang="en-US" dirty="0"/>
              <a:t>(99999, David, 512-555-4321)</a:t>
            </a:r>
            <a:br>
              <a:rPr lang="en-US" altLang="en-US" dirty="0"/>
            </a:br>
            <a:r>
              <a:rPr lang="en-US" altLang="en-US" dirty="0"/>
              <a:t>(99999, William, 512-555-1234)</a:t>
            </a:r>
            <a:br>
              <a:rPr lang="en-US" altLang="en-US" dirty="0"/>
            </a:br>
            <a:r>
              <a:rPr lang="en-US" altLang="en-US" dirty="0"/>
              <a:t>(99999, William, 512-555-4321</a:t>
            </a:r>
            <a:r>
              <a:rPr lang="en-US" altLang="en-US" dirty="0" smtClean="0"/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Multivalued Dependencies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2688"/>
            <a:ext cx="7603293" cy="3184775"/>
          </a:xfrm>
        </p:spPr>
        <p:txBody>
          <a:bodyPr/>
          <a:lstStyle/>
          <a:p>
            <a:pPr>
              <a:tabLst>
                <a:tab pos="1890713" algn="l"/>
                <a:tab pos="2798763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R</a:t>
            </a:r>
            <a:r>
              <a:rPr lang="en-US" altLang="en-US" dirty="0"/>
              <a:t> be a relation schema and let </a:t>
            </a:r>
            <a:r>
              <a:rPr lang="en-US" altLang="en-US" dirty="0">
                <a:sym typeface="Symbol" panose="05050102010706020507" pitchFamily="18" charset="2"/>
              </a:rPr>
              <a:t> 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and 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 </a:t>
            </a:r>
            <a:r>
              <a:rPr lang="en-US" altLang="en-US" i="1" dirty="0">
                <a:sym typeface="Symbol" panose="05050102010706020507" pitchFamily="18" charset="2"/>
              </a:rPr>
              <a:t>R. </a:t>
            </a:r>
            <a:r>
              <a:rPr lang="en-US" altLang="en-US" dirty="0">
                <a:sym typeface="Symbol" panose="05050102010706020507" pitchFamily="18" charset="2"/>
              </a:rPr>
              <a:t>  The </a:t>
            </a:r>
            <a:r>
              <a:rPr lang="en-US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multivalued dependency</a:t>
            </a:r>
            <a:r>
              <a:rPr lang="en-US" altLang="en-US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endParaRPr lang="en-US" altLang="en-US" dirty="0">
              <a:solidFill>
                <a:srgbClr val="002060"/>
              </a:solidFill>
            </a:endParaRPr>
          </a:p>
          <a:p>
            <a:pPr>
              <a:buFont typeface="Monotype Sorts" pitchFamily="-84" charset="2"/>
              <a:buNone/>
              <a:tabLst>
                <a:tab pos="1890713" algn="l"/>
                <a:tab pos="2798763" algn="l"/>
              </a:tabLst>
            </a:pPr>
            <a:r>
              <a:rPr lang="en-US" altLang="en-US" dirty="0">
                <a:sym typeface="Greek Symbols"/>
              </a:rPr>
              <a:t>			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endParaRPr lang="en-US" altLang="en-US" i="1" dirty="0">
              <a:sym typeface="Greek Symbols"/>
            </a:endParaRPr>
          </a:p>
          <a:p>
            <a:pPr>
              <a:buFont typeface="Monotype Sorts" pitchFamily="-84" charset="2"/>
              <a:buNone/>
              <a:tabLst>
                <a:tab pos="1890713" algn="l"/>
                <a:tab pos="2798763" algn="l"/>
              </a:tabLst>
            </a:pPr>
            <a:r>
              <a:rPr lang="en-US" altLang="en-US" i="1" dirty="0">
                <a:sym typeface="Greek Symbols"/>
              </a:rPr>
              <a:t>	</a:t>
            </a:r>
            <a:r>
              <a:rPr lang="en-US" altLang="en-US" dirty="0">
                <a:sym typeface="Greek Symbols"/>
              </a:rPr>
              <a:t>holds on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dirty="0">
                <a:sym typeface="Greek Symbols"/>
              </a:rPr>
              <a:t> if in any legal relation </a:t>
            </a:r>
            <a:r>
              <a:rPr lang="en-US" altLang="en-US" i="1" dirty="0">
                <a:sym typeface="Greek Symbols"/>
              </a:rPr>
              <a:t>r(R),</a:t>
            </a:r>
            <a:r>
              <a:rPr lang="en-US" altLang="en-US" dirty="0">
                <a:sym typeface="Greek Symbols"/>
              </a:rPr>
              <a:t> for all pairs for tuples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1 </a:t>
            </a:r>
            <a:r>
              <a:rPr lang="en-US" altLang="en-US" dirty="0">
                <a:sym typeface="Greek Symbols"/>
              </a:rPr>
              <a:t>and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i="1" baseline="-25000" dirty="0">
                <a:sym typeface="Greek Symbols"/>
              </a:rPr>
              <a:t>2</a:t>
            </a:r>
            <a:r>
              <a:rPr lang="en-US" altLang="en-US" dirty="0">
                <a:sym typeface="Greek Symbols"/>
              </a:rPr>
              <a:t> in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dirty="0">
                <a:sym typeface="Greek Symbols"/>
              </a:rPr>
              <a:t> such that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1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] =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i="1" baseline="-25000" dirty="0">
                <a:sym typeface="Greek Symbols"/>
              </a:rPr>
              <a:t>2 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], there exist tuples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i="1" baseline="-25000" dirty="0">
                <a:sym typeface="Greek Symbols"/>
              </a:rPr>
              <a:t>3</a:t>
            </a:r>
            <a:r>
              <a:rPr lang="en-US" altLang="en-US" dirty="0">
                <a:sym typeface="Greek Symbols"/>
              </a:rPr>
              <a:t> and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4</a:t>
            </a:r>
            <a:r>
              <a:rPr lang="en-US" altLang="en-US" dirty="0">
                <a:sym typeface="Greek Symbols"/>
              </a:rPr>
              <a:t> in </a:t>
            </a:r>
            <a:r>
              <a:rPr lang="en-US" altLang="en-US" i="1" dirty="0">
                <a:sym typeface="Greek Symbols"/>
              </a:rPr>
              <a:t>r </a:t>
            </a:r>
            <a:r>
              <a:rPr lang="en-US" altLang="en-US" dirty="0">
                <a:sym typeface="Greek Symbols"/>
              </a:rPr>
              <a:t>such that: </a:t>
            </a:r>
          </a:p>
          <a:p>
            <a:pPr>
              <a:buFont typeface="Monotype Sorts" pitchFamily="-84" charset="2"/>
              <a:buNone/>
              <a:tabLst>
                <a:tab pos="1890713" algn="l"/>
                <a:tab pos="2798763" algn="l"/>
              </a:tabLst>
            </a:pPr>
            <a:r>
              <a:rPr lang="en-US" altLang="en-US" dirty="0">
                <a:sym typeface="Greek Symbols"/>
              </a:rPr>
              <a:t>		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1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] =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i="1" baseline="-25000" dirty="0">
                <a:sym typeface="Greek Symbols"/>
              </a:rPr>
              <a:t>2 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] =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3</a:t>
            </a:r>
            <a:r>
              <a:rPr lang="en-US" altLang="en-US" dirty="0">
                <a:sym typeface="Greek Symbols"/>
              </a:rPr>
              <a:t> [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] =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4</a:t>
            </a:r>
            <a:r>
              <a:rPr lang="en-US" altLang="en-US" i="1" baseline="-25000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]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3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        = 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1 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3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i="1" dirty="0">
                <a:sym typeface="Greek Symbols"/>
              </a:rPr>
              <a:t>R  –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= 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2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i="1" dirty="0">
                <a:sym typeface="Greek Symbols"/>
              </a:rPr>
              <a:t>R  –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4 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        = 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2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4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i="1" dirty="0">
                <a:sym typeface="Greek Symbols"/>
              </a:rPr>
              <a:t>R  –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=  </a:t>
            </a:r>
            <a:r>
              <a:rPr lang="en-US" altLang="en-US" i="1" dirty="0">
                <a:sym typeface="Greek Symbols"/>
              </a:rPr>
              <a:t>t</a:t>
            </a:r>
            <a:r>
              <a:rPr lang="en-US" altLang="en-US" baseline="-25000" dirty="0">
                <a:sym typeface="Greek Symbols"/>
              </a:rPr>
              <a:t>1</a:t>
            </a:r>
            <a:r>
              <a:rPr lang="en-US" altLang="en-US" dirty="0">
                <a:sym typeface="Greek Symbols"/>
              </a:rPr>
              <a:t>[</a:t>
            </a:r>
            <a:r>
              <a:rPr lang="en-US" altLang="en-US" i="1" dirty="0">
                <a:sym typeface="Greek Symbols"/>
              </a:rPr>
              <a:t>R  –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] </a:t>
            </a:r>
            <a:br>
              <a:rPr lang="en-US" altLang="en-US" dirty="0">
                <a:sym typeface="Greek Symbols"/>
              </a:rPr>
            </a:br>
            <a:endParaRPr lang="en-US" altLang="en-US" dirty="0">
              <a:sym typeface="Greek Symbol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MVD --</a:t>
            </a:r>
            <a:r>
              <a:rPr lang="en-US" altLang="en-US" dirty="0"/>
              <a:t> Tabular representation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6703267" cy="506412"/>
          </a:xfrm>
        </p:spPr>
        <p:txBody>
          <a:bodyPr/>
          <a:lstStyle/>
          <a:p>
            <a:r>
              <a:rPr lang="en-US" altLang="en-US" dirty="0"/>
              <a:t>Tabular representation of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</a:p>
        </p:txBody>
      </p:sp>
      <p:pic>
        <p:nvPicPr>
          <p:cNvPr id="82948" name="Picture 5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432" y="1847206"/>
            <a:ext cx="4532730" cy="15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MVD (Cont.)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188"/>
            <a:ext cx="7593596" cy="4008865"/>
          </a:xfrm>
        </p:spPr>
        <p:txBody>
          <a:bodyPr/>
          <a:lstStyle/>
          <a:p>
            <a:pPr>
              <a:tabLst>
                <a:tab pos="1149350" algn="l"/>
                <a:tab pos="3311525" algn="ctr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R</a:t>
            </a:r>
            <a:r>
              <a:rPr lang="en-US" altLang="en-US" dirty="0"/>
              <a:t> be a relation schema with a set of attributes that are partitioned into 3 nonempty subsets.</a:t>
            </a: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Y, Z, </a:t>
            </a:r>
            <a:r>
              <a:rPr lang="en-US" altLang="en-US" i="1" dirty="0" smtClean="0"/>
              <a:t>W</a:t>
            </a: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endParaRPr lang="en-US" altLang="en-US" i="1" dirty="0"/>
          </a:p>
          <a:p>
            <a:pPr>
              <a:tabLst>
                <a:tab pos="1149350" algn="l"/>
                <a:tab pos="3311525" algn="ctr"/>
              </a:tabLst>
            </a:pPr>
            <a:r>
              <a:rPr lang="en-US" altLang="en-US" dirty="0"/>
              <a:t>We say that </a:t>
            </a:r>
            <a:r>
              <a:rPr lang="en-US" altLang="en-US" i="1" dirty="0"/>
              <a:t>Y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Z </a:t>
            </a:r>
            <a:r>
              <a:rPr lang="en-US" altLang="en-US" dirty="0">
                <a:sym typeface="Monotype Sorts" pitchFamily="-84" charset="2"/>
              </a:rPr>
              <a:t>(</a:t>
            </a:r>
            <a:r>
              <a:rPr lang="en-US" altLang="en-US" i="1" dirty="0">
                <a:sym typeface="Monotype Sorts" pitchFamily="-84" charset="2"/>
              </a:rPr>
              <a:t>Y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b="1" dirty="0" err="1">
                <a:solidFill>
                  <a:srgbClr val="002060"/>
                </a:solidFill>
                <a:sym typeface="Monotype Sorts" pitchFamily="-84" charset="2"/>
              </a:rPr>
              <a:t>multidetermines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Z </a:t>
            </a:r>
            <a:r>
              <a:rPr lang="en-US" altLang="en-US" dirty="0">
                <a:sym typeface="Monotype Sorts" pitchFamily="-84" charset="2"/>
              </a:rPr>
              <a:t>)</a:t>
            </a:r>
            <a:r>
              <a:rPr lang="en-US" altLang="en-US" i="1" dirty="0">
                <a:sym typeface="Monotype Sorts" pitchFamily="-84" charset="2"/>
              </a:rPr>
              <a:t/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dirty="0">
                <a:sym typeface="Monotype Sorts" pitchFamily="-84" charset="2"/>
              </a:rPr>
              <a:t>if and only if for all possible relations </a:t>
            </a:r>
            <a:r>
              <a:rPr lang="en-US" altLang="en-US" i="1" dirty="0">
                <a:sym typeface="Monotype Sorts" pitchFamily="-84" charset="2"/>
              </a:rPr>
              <a:t>r </a:t>
            </a:r>
            <a:r>
              <a:rPr lang="en-US" altLang="en-US" dirty="0">
                <a:sym typeface="Monotype Sorts" pitchFamily="-84" charset="2"/>
              </a:rPr>
              <a:t>(</a:t>
            </a:r>
            <a:r>
              <a:rPr lang="en-US" altLang="en-US" i="1" dirty="0">
                <a:sym typeface="Monotype Sorts" pitchFamily="-84" charset="2"/>
              </a:rPr>
              <a:t>R </a:t>
            </a:r>
            <a:r>
              <a:rPr lang="en-US" altLang="en-US" dirty="0">
                <a:sym typeface="Monotype Sorts" pitchFamily="-84" charset="2"/>
              </a:rPr>
              <a:t>)</a:t>
            </a:r>
            <a:endParaRPr lang="en-US" altLang="en-US" i="1" dirty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dirty="0">
                <a:sym typeface="Monotype Sorts" pitchFamily="-84" charset="2"/>
              </a:rPr>
              <a:t>		&lt; </a:t>
            </a:r>
            <a:r>
              <a:rPr lang="en-US" altLang="en-US" i="1" dirty="0">
                <a:sym typeface="Monotype Sorts" pitchFamily="-84" charset="2"/>
              </a:rPr>
              <a:t>y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z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w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 &gt;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and &lt; </a:t>
            </a:r>
            <a:r>
              <a:rPr lang="en-US" altLang="en-US" i="1" dirty="0">
                <a:sym typeface="Monotype Sorts" pitchFamily="-84" charset="2"/>
              </a:rPr>
              <a:t>y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z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w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dirty="0">
                <a:sym typeface="Monotype Sorts" pitchFamily="-84" charset="2"/>
              </a:rPr>
              <a:t> &gt;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	then</a:t>
            </a: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dirty="0">
                <a:sym typeface="Monotype Sorts" pitchFamily="-84" charset="2"/>
              </a:rPr>
              <a:t>&lt; </a:t>
            </a:r>
            <a:r>
              <a:rPr lang="en-US" altLang="en-US" i="1" dirty="0">
                <a:sym typeface="Monotype Sorts" pitchFamily="-84" charset="2"/>
              </a:rPr>
              <a:t>y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z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w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dirty="0">
                <a:sym typeface="Monotype Sorts" pitchFamily="-84" charset="2"/>
              </a:rPr>
              <a:t> &gt;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and &lt; </a:t>
            </a:r>
            <a:r>
              <a:rPr lang="en-US" altLang="en-US" i="1" dirty="0">
                <a:sym typeface="Monotype Sorts" pitchFamily="-84" charset="2"/>
              </a:rPr>
              <a:t>y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z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dirty="0">
                <a:sym typeface="Monotype Sorts" pitchFamily="-84" charset="2"/>
              </a:rPr>
              <a:t>, </a:t>
            </a:r>
            <a:r>
              <a:rPr lang="en-US" altLang="en-US" i="1" dirty="0">
                <a:sym typeface="Monotype Sorts" pitchFamily="-84" charset="2"/>
              </a:rPr>
              <a:t>w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dirty="0">
                <a:sym typeface="Monotype Sorts" pitchFamily="-84" charset="2"/>
              </a:rPr>
              <a:t> &gt;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 smtClean="0">
                <a:sym typeface="Symbol" panose="05050102010706020507" pitchFamily="18" charset="2"/>
              </a:rPr>
              <a:t>r</a:t>
            </a: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endParaRPr lang="en-US" altLang="en-US" i="1" dirty="0">
              <a:sym typeface="Symbol" panose="05050102010706020507" pitchFamily="18" charset="2"/>
            </a:endParaRPr>
          </a:p>
          <a:p>
            <a:pPr>
              <a:tabLst>
                <a:tab pos="1149350" algn="l"/>
                <a:tab pos="3311525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Note that since the behavior of </a:t>
            </a:r>
            <a:r>
              <a:rPr lang="en-US" altLang="en-US" i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W</a:t>
            </a:r>
            <a:r>
              <a:rPr lang="en-US" altLang="en-US" dirty="0">
                <a:sym typeface="Symbol" panose="05050102010706020507" pitchFamily="18" charset="2"/>
              </a:rPr>
              <a:t> are identical it follows that </a:t>
            </a: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i="1" dirty="0">
                <a:sym typeface="Symbol" panose="05050102010706020507" pitchFamily="18" charset="2"/>
              </a:rPr>
              <a:t>	Y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Z </a:t>
            </a:r>
            <a:r>
              <a:rPr lang="en-US" altLang="en-US" dirty="0">
                <a:sym typeface="Monotype Sorts" pitchFamily="-84" charset="2"/>
              </a:rPr>
              <a:t>if </a:t>
            </a:r>
            <a:r>
              <a:rPr lang="en-US" altLang="en-US" i="1" dirty="0">
                <a:sym typeface="Monotype Sorts" pitchFamily="-84" charset="2"/>
              </a:rPr>
              <a:t>Y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W </a:t>
            </a: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149350" algn="l"/>
                <a:tab pos="3311525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93789"/>
            <a:ext cx="7594415" cy="4293757"/>
          </a:xfrm>
        </p:spPr>
        <p:txBody>
          <a:bodyPr/>
          <a:lstStyle/>
          <a:p>
            <a:pPr>
              <a:tabLst>
                <a:tab pos="2463800" algn="l"/>
              </a:tabLst>
            </a:pPr>
            <a:r>
              <a:rPr lang="en-US" altLang="en-US" dirty="0"/>
              <a:t>In our example:</a:t>
            </a:r>
          </a:p>
          <a:p>
            <a:pPr>
              <a:buFont typeface="Monotype Sorts" pitchFamily="-84" charset="2"/>
              <a:buNone/>
              <a:tabLst>
                <a:tab pos="2463800" algn="l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ID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 err="1">
                <a:sym typeface="Monotype Sorts" pitchFamily="-84" charset="2"/>
              </a:rPr>
              <a:t>child_name</a:t>
            </a:r>
            <a:r>
              <a:rPr lang="en-US" altLang="en-US" dirty="0">
                <a:sym typeface="Monotype Sorts" pitchFamily="-84" charset="2"/>
              </a:rPr>
              <a:t>	</a:t>
            </a:r>
            <a:br>
              <a:rPr lang="en-US" altLang="en-US" dirty="0">
                <a:sym typeface="Monotype Sorts" pitchFamily="-84" charset="2"/>
              </a:rPr>
            </a:br>
            <a:r>
              <a:rPr lang="en-US" altLang="en-US" dirty="0">
                <a:sym typeface="Monotype Sorts" pitchFamily="-84" charset="2"/>
              </a:rPr>
              <a:t>	</a:t>
            </a:r>
            <a:r>
              <a:rPr lang="en-US" altLang="en-US" i="1" dirty="0">
                <a:sym typeface="Monotype Sorts" pitchFamily="-84" charset="2"/>
              </a:rPr>
              <a:t>ID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i="1" dirty="0" err="1" smtClean="0">
                <a:sym typeface="Monotype Sorts" pitchFamily="-84" charset="2"/>
              </a:rPr>
              <a:t>phone_number</a:t>
            </a:r>
            <a:endParaRPr lang="en-US" altLang="en-US" i="1" dirty="0" smtClean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  <a:tabLst>
                <a:tab pos="2463800" algn="l"/>
              </a:tabLst>
            </a:pPr>
            <a:endParaRPr lang="en-US" altLang="en-US" i="1" dirty="0">
              <a:sym typeface="Monotype Sorts" pitchFamily="-84" charset="2"/>
            </a:endParaRPr>
          </a:p>
          <a:p>
            <a:pPr algn="just">
              <a:tabLst>
                <a:tab pos="2463800" algn="l"/>
              </a:tabLst>
            </a:pPr>
            <a:r>
              <a:rPr lang="en-US" altLang="en-US" dirty="0">
                <a:sym typeface="Monotype Sorts" pitchFamily="-84" charset="2"/>
              </a:rPr>
              <a:t>The above formal definition is supposed to formalize the notion that given a particular value of </a:t>
            </a:r>
            <a:r>
              <a:rPr lang="en-US" altLang="en-US" i="1" dirty="0">
                <a:sym typeface="Monotype Sorts" pitchFamily="-84" charset="2"/>
              </a:rPr>
              <a:t>Y </a:t>
            </a:r>
            <a:r>
              <a:rPr lang="en-US" altLang="en-US" dirty="0">
                <a:sym typeface="Monotype Sorts" pitchFamily="-84" charset="2"/>
              </a:rPr>
              <a:t>(</a:t>
            </a:r>
            <a:r>
              <a:rPr lang="en-US" altLang="en-US" i="1" dirty="0">
                <a:sym typeface="Monotype Sorts" pitchFamily="-84" charset="2"/>
              </a:rPr>
              <a:t>ID</a:t>
            </a:r>
            <a:r>
              <a:rPr lang="en-US" altLang="en-US" dirty="0">
                <a:sym typeface="Monotype Sorts" pitchFamily="-84" charset="2"/>
              </a:rPr>
              <a:t>) it has associated with it a set of values of </a:t>
            </a:r>
            <a:r>
              <a:rPr lang="en-US" altLang="en-US" i="1" dirty="0">
                <a:sym typeface="Monotype Sorts" pitchFamily="-84" charset="2"/>
              </a:rPr>
              <a:t>Z (</a:t>
            </a:r>
            <a:r>
              <a:rPr lang="en-US" altLang="en-US" i="1" dirty="0" err="1">
                <a:sym typeface="Monotype Sorts" pitchFamily="-84" charset="2"/>
              </a:rPr>
              <a:t>child_name</a:t>
            </a:r>
            <a:r>
              <a:rPr lang="en-US" altLang="en-US" i="1" dirty="0">
                <a:sym typeface="Monotype Sorts" pitchFamily="-84" charset="2"/>
              </a:rPr>
              <a:t>) </a:t>
            </a:r>
            <a:r>
              <a:rPr lang="en-US" altLang="en-US" dirty="0">
                <a:sym typeface="Monotype Sorts" pitchFamily="-84" charset="2"/>
              </a:rPr>
              <a:t>and a set of values of </a:t>
            </a:r>
            <a:r>
              <a:rPr lang="en-US" altLang="en-US" i="1" dirty="0">
                <a:sym typeface="Monotype Sorts" pitchFamily="-84" charset="2"/>
              </a:rPr>
              <a:t>W (</a:t>
            </a:r>
            <a:r>
              <a:rPr lang="en-US" altLang="en-US" i="1" dirty="0" err="1">
                <a:sym typeface="Monotype Sorts" pitchFamily="-84" charset="2"/>
              </a:rPr>
              <a:t>phone_number</a:t>
            </a:r>
            <a:r>
              <a:rPr lang="en-US" altLang="en-US" i="1" dirty="0">
                <a:sym typeface="Monotype Sorts" pitchFamily="-84" charset="2"/>
              </a:rPr>
              <a:t>)</a:t>
            </a:r>
            <a:r>
              <a:rPr lang="en-US" altLang="en-US" dirty="0">
                <a:sym typeface="Monotype Sorts" pitchFamily="-84" charset="2"/>
              </a:rPr>
              <a:t>, and these two sets are in some sense independent of each other</a:t>
            </a:r>
            <a:r>
              <a:rPr lang="en-US" altLang="en-US" dirty="0" smtClean="0">
                <a:sym typeface="Monotype Sorts" pitchFamily="-84" charset="2"/>
              </a:rPr>
              <a:t>.</a:t>
            </a:r>
          </a:p>
          <a:p>
            <a:pPr marL="0" indent="0" algn="just">
              <a:buNone/>
              <a:tabLst>
                <a:tab pos="2463800" algn="l"/>
              </a:tabLst>
            </a:pPr>
            <a:endParaRPr lang="en-US" altLang="en-US" dirty="0">
              <a:sym typeface="Monotype Sorts" pitchFamily="-84" charset="2"/>
            </a:endParaRPr>
          </a:p>
          <a:p>
            <a:pPr>
              <a:tabLst>
                <a:tab pos="2463800" algn="l"/>
              </a:tabLst>
            </a:pPr>
            <a:r>
              <a:rPr lang="en-US" altLang="en-US" dirty="0">
                <a:sym typeface="Monotype Sorts" pitchFamily="-84" charset="2"/>
              </a:rPr>
              <a:t>Note: </a:t>
            </a:r>
          </a:p>
          <a:p>
            <a:pPr lvl="1">
              <a:tabLst>
                <a:tab pos="2463800" algn="l"/>
              </a:tabLst>
            </a:pPr>
            <a:r>
              <a:rPr lang="en-US" altLang="en-US" dirty="0">
                <a:sym typeface="Monotype Sorts" pitchFamily="-84" charset="2"/>
              </a:rPr>
              <a:t>If </a:t>
            </a:r>
            <a:r>
              <a:rPr lang="en-US" altLang="en-US" i="1" dirty="0">
                <a:sym typeface="Monotype Sorts" pitchFamily="-84" charset="2"/>
              </a:rPr>
              <a:t>Y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Z </a:t>
            </a:r>
            <a:r>
              <a:rPr lang="en-US" altLang="en-US" dirty="0">
                <a:sym typeface="Monotype Sorts" pitchFamily="-84" charset="2"/>
              </a:rPr>
              <a:t> then  </a:t>
            </a:r>
            <a:r>
              <a:rPr lang="en-US" altLang="en-US" i="1" dirty="0">
                <a:sym typeface="Monotype Sorts" pitchFamily="-84" charset="2"/>
              </a:rPr>
              <a:t>Y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Z</a:t>
            </a:r>
            <a:endParaRPr lang="en-US" altLang="en-US" dirty="0">
              <a:sym typeface="Monotype Sorts" pitchFamily="-84" charset="2"/>
            </a:endParaRPr>
          </a:p>
          <a:p>
            <a:pPr lvl="1">
              <a:tabLst>
                <a:tab pos="2463800" algn="l"/>
              </a:tabLst>
            </a:pPr>
            <a:r>
              <a:rPr lang="en-US" altLang="en-US" dirty="0">
                <a:sym typeface="Monotype Sorts" pitchFamily="-84" charset="2"/>
              </a:rPr>
              <a:t>Indeed we have (in above notation) </a:t>
            </a:r>
            <a:r>
              <a:rPr lang="en-US" altLang="en-US" i="1" dirty="0">
                <a:sym typeface="Monotype Sorts" pitchFamily="-84" charset="2"/>
              </a:rPr>
              <a:t>Z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i="1" dirty="0">
                <a:sym typeface="Monotype Sorts" pitchFamily="-84" charset="2"/>
              </a:rPr>
              <a:t> = Z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br>
              <a:rPr lang="en-US" altLang="en-US" baseline="-25000" dirty="0">
                <a:sym typeface="Monotype Sorts" pitchFamily="-84" charset="2"/>
              </a:rPr>
            </a:br>
            <a:r>
              <a:rPr lang="en-US" altLang="en-US" dirty="0">
                <a:sym typeface="Monotype Sorts" pitchFamily="-84" charset="2"/>
              </a:rPr>
              <a:t>The claim follows.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Use of Multivalued Dependencies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638802" cy="2900696"/>
          </a:xfrm>
        </p:spPr>
        <p:txBody>
          <a:bodyPr/>
          <a:lstStyle/>
          <a:p>
            <a:r>
              <a:rPr lang="en-US" altLang="en-US" dirty="0"/>
              <a:t>We use multivalued dependencies in two ways: </a:t>
            </a:r>
          </a:p>
          <a:p>
            <a:pPr marL="800100" lvl="1" indent="-342900">
              <a:buFont typeface="Monotype Sorts" pitchFamily="-84" charset="2"/>
              <a:buAutoNum type="arabicPeriod"/>
            </a:pPr>
            <a:r>
              <a:rPr lang="en-US" altLang="en-US" dirty="0" smtClean="0"/>
              <a:t>To </a:t>
            </a:r>
            <a:r>
              <a:rPr lang="en-US" altLang="en-US" dirty="0"/>
              <a:t>test relations to </a:t>
            </a:r>
            <a:r>
              <a:rPr lang="en-US" altLang="en-US" b="1" dirty="0">
                <a:solidFill>
                  <a:srgbClr val="002060"/>
                </a:solidFill>
              </a:rPr>
              <a:t>determine</a:t>
            </a:r>
            <a:r>
              <a:rPr lang="en-US" altLang="en-US" dirty="0"/>
              <a:t> whether they are legal under a given set of functional and multivalued </a:t>
            </a:r>
            <a:r>
              <a:rPr lang="en-US" altLang="en-US" dirty="0" smtClean="0"/>
              <a:t>dependencies</a:t>
            </a:r>
          </a:p>
          <a:p>
            <a:pPr marL="457200" lvl="1" indent="0"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r>
              <a:rPr lang="en-US" altLang="en-US" dirty="0"/>
              <a:t>2.	To specify </a:t>
            </a:r>
            <a:r>
              <a:rPr lang="en-US" altLang="en-US" b="1" dirty="0">
                <a:solidFill>
                  <a:srgbClr val="002060"/>
                </a:solidFill>
              </a:rPr>
              <a:t>constraints</a:t>
            </a:r>
            <a:r>
              <a:rPr lang="en-US" altLang="en-US" dirty="0"/>
              <a:t> on the set of legal relations.  We shall concern ourselves </a:t>
            </a:r>
            <a:r>
              <a:rPr lang="en-US" altLang="en-US" i="1" dirty="0"/>
              <a:t>only</a:t>
            </a:r>
            <a:r>
              <a:rPr lang="en-US" altLang="en-US" dirty="0"/>
              <a:t> with relations that satisfy a given set of functional and multivalued dependencies.</a:t>
            </a:r>
          </a:p>
          <a:p>
            <a:r>
              <a:rPr lang="en-US" altLang="en-US" dirty="0"/>
              <a:t>If a relation </a:t>
            </a:r>
            <a:r>
              <a:rPr lang="en-US" altLang="en-US" i="1" dirty="0"/>
              <a:t>r</a:t>
            </a:r>
            <a:r>
              <a:rPr lang="en-US" altLang="en-US" dirty="0"/>
              <a:t> fails to satisfy a given multivalued dependency, we can construct a relations </a:t>
            </a:r>
            <a:r>
              <a:rPr lang="en-US" altLang="en-US" i="1" dirty="0"/>
              <a:t>r</a:t>
            </a:r>
            <a:r>
              <a:rPr lang="en-US" altLang="en-US" i="1" dirty="0">
                <a:sym typeface="Symbol" panose="05050102010706020507" pitchFamily="18" charset="2"/>
              </a:rPr>
              <a:t></a:t>
            </a:r>
            <a:r>
              <a:rPr lang="en-US" altLang="en-US" dirty="0">
                <a:sym typeface="Symbol" panose="05050102010706020507" pitchFamily="18" charset="2"/>
              </a:rPr>
              <a:t>  that does satisfy the multivalued dependency by adding tuples to </a:t>
            </a:r>
            <a:r>
              <a:rPr lang="en-US" altLang="en-US" i="1" dirty="0">
                <a:sym typeface="Symbol" panose="05050102010706020507" pitchFamily="18" charset="2"/>
              </a:rPr>
              <a:t>r. 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	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Theory of MVDs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49"/>
            <a:ext cx="7621048" cy="3956398"/>
          </a:xfrm>
        </p:spPr>
        <p:txBody>
          <a:bodyPr/>
          <a:lstStyle/>
          <a:p>
            <a:r>
              <a:rPr lang="en-US" altLang="en-US" dirty="0"/>
              <a:t>From the definition of multivalued dependency, we can derive the following rule: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dirty="0">
                <a:sym typeface="Symbol" panose="05050102010706020507" pitchFamily="18" charset="2"/>
              </a:rPr>
              <a:t>  </a:t>
            </a:r>
            <a:r>
              <a:rPr lang="en-US" altLang="en-US" dirty="0"/>
              <a:t>, then 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Symbol" panose="05050102010706020507" pitchFamily="18" charset="2"/>
              </a:rPr>
              <a:t> 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That is, every functional dependency is also a multivalued </a:t>
            </a:r>
            <a:r>
              <a:rPr lang="en-US" altLang="en-US" dirty="0" smtClean="0"/>
              <a:t>dependency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closure</a:t>
            </a:r>
            <a:r>
              <a:rPr lang="en-US" altLang="en-US" dirty="0"/>
              <a:t> D</a:t>
            </a:r>
            <a:r>
              <a:rPr lang="en-US" altLang="en-US" baseline="30000" dirty="0"/>
              <a:t>+</a:t>
            </a:r>
            <a:r>
              <a:rPr lang="en-US" altLang="en-US" dirty="0"/>
              <a:t> of </a:t>
            </a:r>
            <a:r>
              <a:rPr lang="en-US" altLang="en-US" i="1" dirty="0"/>
              <a:t>D</a:t>
            </a:r>
            <a:r>
              <a:rPr lang="en-US" altLang="en-US" dirty="0"/>
              <a:t> is the set of all functional and multivalued dependencies logically implied by </a:t>
            </a:r>
            <a:r>
              <a:rPr lang="en-US" altLang="en-US" i="1" dirty="0"/>
              <a:t>D</a:t>
            </a:r>
            <a:r>
              <a:rPr lang="en-US" altLang="en-US" dirty="0"/>
              <a:t>. </a:t>
            </a:r>
          </a:p>
          <a:p>
            <a:pPr lvl="1" algn="just"/>
            <a:r>
              <a:rPr lang="en-US" altLang="en-US" dirty="0"/>
              <a:t>We can compute D</a:t>
            </a:r>
            <a:r>
              <a:rPr lang="en-US" altLang="en-US" baseline="30000" dirty="0"/>
              <a:t>+</a:t>
            </a:r>
            <a:r>
              <a:rPr lang="en-US" altLang="en-US" dirty="0"/>
              <a:t> from </a:t>
            </a:r>
            <a:r>
              <a:rPr lang="en-US" altLang="en-US" i="1" dirty="0"/>
              <a:t>D</a:t>
            </a:r>
            <a:r>
              <a:rPr lang="en-US" altLang="en-US" dirty="0"/>
              <a:t>, using the formal definitions of functional dependencies and multivalued dependencies.</a:t>
            </a:r>
          </a:p>
          <a:p>
            <a:pPr lvl="1" algn="just"/>
            <a:r>
              <a:rPr lang="en-US" altLang="en-US" dirty="0"/>
              <a:t>We can manage with such reasoning for very simple multivalued dependencies, which seem to be most common in practice</a:t>
            </a:r>
          </a:p>
          <a:p>
            <a:pPr lvl="1" algn="just"/>
            <a:r>
              <a:rPr lang="en-US" altLang="en-US" dirty="0"/>
              <a:t>For complex dependencies, it is better to reason about sets of dependencies using a system of inference rules (Appendix C).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Fourth Normal Form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2614"/>
            <a:ext cx="7594415" cy="2241299"/>
          </a:xfrm>
        </p:spPr>
        <p:txBody>
          <a:bodyPr/>
          <a:lstStyle/>
          <a:p>
            <a:pPr algn="just"/>
            <a:r>
              <a:rPr lang="en-US" altLang="en-US" dirty="0"/>
              <a:t>A relation schema </a:t>
            </a:r>
            <a:r>
              <a:rPr lang="en-US" altLang="en-US" i="1" dirty="0"/>
              <a:t>R</a:t>
            </a:r>
            <a:r>
              <a:rPr lang="en-US" altLang="en-US" dirty="0"/>
              <a:t> is in </a:t>
            </a:r>
            <a:r>
              <a:rPr lang="en-US" altLang="en-US" b="1" dirty="0">
                <a:solidFill>
                  <a:srgbClr val="002060"/>
                </a:solidFill>
              </a:rPr>
              <a:t>4NF</a:t>
            </a:r>
            <a:r>
              <a:rPr lang="en-US" altLang="en-US" dirty="0"/>
              <a:t> with respect to a set </a:t>
            </a:r>
            <a:r>
              <a:rPr lang="en-US" altLang="en-US" i="1" dirty="0"/>
              <a:t>D</a:t>
            </a:r>
            <a:r>
              <a:rPr lang="en-US" altLang="en-US" dirty="0"/>
              <a:t> of functional and multivalued dependencies if for all multivalued dependencies in </a:t>
            </a:r>
            <a:r>
              <a:rPr lang="en-US" altLang="en-US" i="1" dirty="0"/>
              <a:t>D</a:t>
            </a:r>
            <a:r>
              <a:rPr lang="en-US" altLang="en-US" baseline="30000" dirty="0"/>
              <a:t>+</a:t>
            </a:r>
            <a:r>
              <a:rPr lang="en-US" altLang="en-US" dirty="0"/>
              <a:t> of the form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, where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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and 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 </a:t>
            </a:r>
            <a:r>
              <a:rPr lang="en-US" altLang="en-US" i="1" dirty="0">
                <a:sym typeface="Symbol" panose="05050102010706020507" pitchFamily="18" charset="2"/>
              </a:rPr>
              <a:t>R, </a:t>
            </a:r>
            <a:r>
              <a:rPr lang="en-US" altLang="en-US" dirty="0">
                <a:sym typeface="Symbol" panose="05050102010706020507" pitchFamily="18" charset="2"/>
              </a:rPr>
              <a:t>at least one of the following hold: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Greek Symbols"/>
              </a:rPr>
              <a:t> is trivial (i.e.,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 </a:t>
            </a:r>
            <a:r>
              <a:rPr lang="en-US" altLang="en-US" dirty="0">
                <a:sym typeface="Greek Symbols"/>
              </a:rPr>
              <a:t> or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 </a:t>
            </a:r>
            <a:r>
              <a:rPr lang="en-US" altLang="en-US" i="1" dirty="0">
                <a:sym typeface="Greek Symbols"/>
              </a:rPr>
              <a:t> = R)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is a </a:t>
            </a:r>
            <a:r>
              <a:rPr lang="en-US" altLang="en-US" dirty="0" err="1">
                <a:sym typeface="Greek Symbols"/>
              </a:rPr>
              <a:t>superkey</a:t>
            </a:r>
            <a:r>
              <a:rPr lang="en-US" altLang="en-US" dirty="0">
                <a:sym typeface="Greek Symbols"/>
              </a:rPr>
              <a:t> for schema </a:t>
            </a:r>
            <a:r>
              <a:rPr lang="en-US" altLang="en-US" i="1" dirty="0" smtClean="0">
                <a:sym typeface="Greek Symbols"/>
              </a:rPr>
              <a:t>R</a:t>
            </a:r>
          </a:p>
          <a:p>
            <a:pPr marL="457200" lvl="1" indent="0">
              <a:buNone/>
            </a:pPr>
            <a:endParaRPr lang="en-US" altLang="en-US" i="1" dirty="0">
              <a:sym typeface="Greek Symbols"/>
            </a:endParaRPr>
          </a:p>
          <a:p>
            <a:r>
              <a:rPr lang="en-US" altLang="en-US" dirty="0">
                <a:sym typeface="Greek Symbols"/>
              </a:rPr>
              <a:t>If a relation is in 4NF it is in BCNF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ctrTitle"/>
          </p:nvPr>
        </p:nvSpPr>
        <p:spPr>
          <a:extLst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End of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the Unit-3,Part-2</a:t>
            </a:r>
            <a:b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</a:br>
            <a:r>
              <a:rPr lang="en-US" alt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Normalization (Part-2)</a:t>
            </a:r>
            <a:endParaRPr lang="en-US" altLang="en-US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94479</TotalTime>
  <Words>2506</Words>
  <Application>Microsoft Office PowerPoint</Application>
  <PresentationFormat>On-screen Show (4:3)</PresentationFormat>
  <Paragraphs>406</Paragraphs>
  <Slides>46</Slides>
  <Notes>45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  <vt:variant>
        <vt:lpstr>Custom Shows</vt:lpstr>
      </vt:variant>
      <vt:variant>
        <vt:i4>1</vt:i4>
      </vt:variant>
    </vt:vector>
  </HeadingPairs>
  <TitlesOfParts>
    <vt:vector size="48" baseType="lpstr">
      <vt:lpstr>2_db-5-grey</vt:lpstr>
      <vt:lpstr>  Unit-3,Part-2 Normalization- (Part-2) A.Sirisha</vt:lpstr>
      <vt:lpstr>First Normal Form</vt:lpstr>
      <vt:lpstr>First Normal Form (Cont.)</vt:lpstr>
      <vt:lpstr>Boyce-Codd Normal Form</vt:lpstr>
      <vt:lpstr>Boyce-Codd Normal Form (Cont.)</vt:lpstr>
      <vt:lpstr>Decomposing a Schema into BCNF</vt:lpstr>
      <vt:lpstr>Example</vt:lpstr>
      <vt:lpstr>BCNF and Dependency Preservation</vt:lpstr>
      <vt:lpstr>Third Normal Form</vt:lpstr>
      <vt:lpstr>3NF Example</vt:lpstr>
      <vt:lpstr>Redundancy in 3NF</vt:lpstr>
      <vt:lpstr>Comparison of BCNF and 3NF</vt:lpstr>
      <vt:lpstr>Goals of Normalization</vt:lpstr>
      <vt:lpstr>How good is BCNF?</vt:lpstr>
      <vt:lpstr>How good is BCNF? (Cont.)</vt:lpstr>
      <vt:lpstr>Higher Normal Forms </vt:lpstr>
      <vt:lpstr>Functional-Dependency Theory Roadmap</vt:lpstr>
      <vt:lpstr>Dependency Preservation</vt:lpstr>
      <vt:lpstr>Dependency Preservation (Cont.)</vt:lpstr>
      <vt:lpstr>Testing for Dependency Preservation</vt:lpstr>
      <vt:lpstr>Example</vt:lpstr>
      <vt:lpstr>PowerPoint Presentation</vt:lpstr>
      <vt:lpstr>Testing for BCNF</vt:lpstr>
      <vt:lpstr>Testing Decomposition for BCNF</vt:lpstr>
      <vt:lpstr>BCNF Decomposition Algorithm</vt:lpstr>
      <vt:lpstr>Example of BCNF Decomposition</vt:lpstr>
      <vt:lpstr>BCNF Decomposition (Cont.)</vt:lpstr>
      <vt:lpstr>Third Normal Form</vt:lpstr>
      <vt:lpstr>3NF Example -- Relation dept_advisor</vt:lpstr>
      <vt:lpstr>Testing for 3NF</vt:lpstr>
      <vt:lpstr>3NF Decomposition Algorithm</vt:lpstr>
      <vt:lpstr>3NF Decomposition Algorithm (Cont.)</vt:lpstr>
      <vt:lpstr>3NF Decomposition: An Example</vt:lpstr>
      <vt:lpstr>3NF Decompsition Example (Cont.)</vt:lpstr>
      <vt:lpstr>Comparison of BCNF and 3NF</vt:lpstr>
      <vt:lpstr>Design Goals</vt:lpstr>
      <vt:lpstr>PowerPoint Presentation</vt:lpstr>
      <vt:lpstr>Multivalued Dependencies (MVDs)</vt:lpstr>
      <vt:lpstr>Multivalued Dependencies</vt:lpstr>
      <vt:lpstr>MVD -- Tabular representation </vt:lpstr>
      <vt:lpstr>MVD (Cont.)</vt:lpstr>
      <vt:lpstr>Example</vt:lpstr>
      <vt:lpstr>Use of Multivalued Dependencies</vt:lpstr>
      <vt:lpstr>Theory of MVDs</vt:lpstr>
      <vt:lpstr>Fourth Normal Form</vt:lpstr>
      <vt:lpstr>End of the Unit-3,Part-2 Normalization (Part-2)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ADMIN</cp:lastModifiedBy>
  <cp:revision>528</cp:revision>
  <cp:lastPrinted>1999-06-28T19:27:31Z</cp:lastPrinted>
  <dcterms:created xsi:type="dcterms:W3CDTF">2009-12-21T15:40:22Z</dcterms:created>
  <dcterms:modified xsi:type="dcterms:W3CDTF">2022-02-18T07:02:49Z</dcterms:modified>
</cp:coreProperties>
</file>