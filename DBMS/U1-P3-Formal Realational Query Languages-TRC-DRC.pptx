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handoutMasterIdLst>
    <p:handoutMasterId r:id="rId20"/>
  </p:handoutMasterIdLst>
  <p:sldIdLst>
    <p:sldId id="335" r:id="rId2"/>
    <p:sldId id="364" r:id="rId3"/>
    <p:sldId id="374" r:id="rId4"/>
    <p:sldId id="375" r:id="rId5"/>
    <p:sldId id="391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88" r:id="rId18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65" d="100"/>
          <a:sy n="65" d="100"/>
        </p:scale>
        <p:origin x="1168" y="36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5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xmlns="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xmlns="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xmlns="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xmlns="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xmlns="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xmlns="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xmlns="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xmlns="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xmlns="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49398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xmlns="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xmlns="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xmlns="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885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7A651D27-9A72-46DB-B0A6-D0974EEAE235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232206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F56DFA0-F134-498B-8C0D-BC534A847538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09422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284E01E-BD55-4043-932D-0AEEFE596267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96692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4B2F9AC-7BAA-48C5-8254-FCAFE75F4CA1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64915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4925163-8043-48D4-AF80-84CA67F459C4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29992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59DE83E-29DE-423A-B172-9AB788D4FE46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32835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9E32774-8C5B-4D7C-971A-8392A5BB9D73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320445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B654660-8A51-463C-AF6D-1D793023B69A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388154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7E804D5-5C74-4A9F-8A68-5DF6CBE5A8A4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90774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7917306D-C9BB-4AF2-9ABF-F0D4238FAF29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25228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A767A34-2071-4CEB-BCFE-CEFF4689DF7A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15015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57A05BF-A62B-400C-AE95-AB1EFA77D779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852693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119C2B1B-6536-4983-93FB-4EBD4D016F99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929698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6458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3875520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xmlns="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xmlns="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xmlns="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44718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27.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xmlns="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xmlns="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xmlns="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9030494" y="546798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xmlns="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UNIT-1,PART-3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Formal-Relational Query Languages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0" y="42863"/>
            <a:ext cx="8382000" cy="609600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65225"/>
            <a:ext cx="7947780" cy="4876800"/>
          </a:xfrm>
        </p:spPr>
        <p:txBody>
          <a:bodyPr/>
          <a:lstStyle/>
          <a:p>
            <a:r>
              <a:rPr lang="en-US" altLang="en-US" dirty="0"/>
              <a:t>Tuple Relational Calculus</a:t>
            </a:r>
          </a:p>
          <a:p>
            <a:r>
              <a:rPr lang="en-US" altLang="en-US" dirty="0"/>
              <a:t>Domain Relational Calculus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0433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415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Tuple Relational Calculus</a:t>
            </a:r>
          </a:p>
        </p:txBody>
      </p:sp>
    </p:spTree>
    <p:extLst>
      <p:ext uri="{BB962C8B-B14F-4D97-AF65-F5344CB8AC3E}">
        <p14:creationId xmlns:p14="http://schemas.microsoft.com/office/powerpoint/2010/main" val="26385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Tuple Relational Calculus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65225"/>
            <a:ext cx="7416863" cy="3162300"/>
          </a:xfrm>
        </p:spPr>
        <p:txBody>
          <a:bodyPr/>
          <a:lstStyle/>
          <a:p>
            <a:pPr>
              <a:tabLst>
                <a:tab pos="3195638" algn="ctr"/>
              </a:tabLst>
            </a:pPr>
            <a:r>
              <a:rPr lang="en-US" altLang="en-US" dirty="0"/>
              <a:t>A nonprocedural query language, where each query is of the form</a:t>
            </a:r>
          </a:p>
          <a:p>
            <a:pPr>
              <a:buFont typeface="Monotype Sorts" pitchFamily="2" charset="2"/>
              <a:buNone/>
              <a:tabLst>
                <a:tab pos="3195638" algn="ctr"/>
              </a:tabLst>
            </a:pPr>
            <a:r>
              <a:rPr lang="en-US" altLang="en-US" dirty="0"/>
              <a:t>		{</a:t>
            </a:r>
            <a:r>
              <a:rPr lang="en-US" altLang="en-US" i="1" dirty="0"/>
              <a:t>t</a:t>
            </a:r>
            <a:r>
              <a:rPr lang="en-US" altLang="en-US" dirty="0"/>
              <a:t> | </a:t>
            </a:r>
            <a:r>
              <a:rPr lang="en-US" altLang="en-US" i="1" dirty="0"/>
              <a:t>P</a:t>
            </a:r>
            <a:r>
              <a:rPr lang="en-US" altLang="en-US" dirty="0"/>
              <a:t> (</a:t>
            </a:r>
            <a:r>
              <a:rPr lang="en-US" altLang="en-US" i="1" dirty="0"/>
              <a:t>t </a:t>
            </a:r>
            <a:r>
              <a:rPr lang="en-US" altLang="en-US" dirty="0"/>
              <a:t>) }</a:t>
            </a:r>
          </a:p>
          <a:p>
            <a:pPr>
              <a:tabLst>
                <a:tab pos="3195638" algn="ctr"/>
              </a:tabLst>
            </a:pPr>
            <a:r>
              <a:rPr lang="en-US" altLang="en-US" dirty="0"/>
              <a:t>It is the set of all tuples </a:t>
            </a:r>
            <a:r>
              <a:rPr lang="en-US" altLang="en-US" i="1" dirty="0"/>
              <a:t>t</a:t>
            </a:r>
            <a:r>
              <a:rPr lang="en-US" altLang="en-US" dirty="0"/>
              <a:t> such that predicate </a:t>
            </a:r>
            <a:r>
              <a:rPr lang="en-US" altLang="en-US" i="1" dirty="0"/>
              <a:t>P</a:t>
            </a:r>
            <a:r>
              <a:rPr lang="en-US" altLang="en-US" dirty="0"/>
              <a:t> is true for </a:t>
            </a:r>
            <a:r>
              <a:rPr lang="en-US" altLang="en-US" i="1" dirty="0"/>
              <a:t>t</a:t>
            </a:r>
          </a:p>
          <a:p>
            <a:pPr>
              <a:tabLst>
                <a:tab pos="3195638" algn="ctr"/>
              </a:tabLst>
            </a:pPr>
            <a:r>
              <a:rPr lang="en-US" altLang="en-US" i="1" dirty="0"/>
              <a:t>t</a:t>
            </a:r>
            <a:r>
              <a:rPr lang="en-US" altLang="en-US" dirty="0"/>
              <a:t> is a </a:t>
            </a:r>
            <a:r>
              <a:rPr lang="en-US" altLang="en-US" i="1" dirty="0"/>
              <a:t>tuple variable</a:t>
            </a:r>
            <a:endParaRPr lang="en-US" altLang="en-US" dirty="0"/>
          </a:p>
          <a:p>
            <a:pPr>
              <a:tabLst>
                <a:tab pos="3195638" algn="ctr"/>
              </a:tabLst>
            </a:pPr>
            <a:r>
              <a:rPr lang="en-US" altLang="en-US" i="1" dirty="0"/>
              <a:t>t </a:t>
            </a:r>
            <a:r>
              <a:rPr lang="en-US" altLang="en-US" dirty="0"/>
              <a:t>[</a:t>
            </a:r>
            <a:r>
              <a:rPr lang="en-US" altLang="en-US" i="1" dirty="0"/>
              <a:t>A </a:t>
            </a:r>
            <a:r>
              <a:rPr lang="en-US" altLang="en-US" dirty="0"/>
              <a:t>] denotes the value of tuple </a:t>
            </a:r>
            <a:r>
              <a:rPr lang="en-US" altLang="en-US" i="1" dirty="0"/>
              <a:t>t</a:t>
            </a:r>
            <a:r>
              <a:rPr lang="en-US" altLang="en-US" dirty="0"/>
              <a:t> on attribute </a:t>
            </a:r>
            <a:r>
              <a:rPr lang="en-US" altLang="en-US" i="1" dirty="0"/>
              <a:t>A</a:t>
            </a:r>
            <a:endParaRPr lang="en-US" altLang="en-US" dirty="0"/>
          </a:p>
          <a:p>
            <a:pPr>
              <a:tabLst>
                <a:tab pos="3195638" algn="ctr"/>
              </a:tabLst>
            </a:pPr>
            <a:r>
              <a:rPr lang="en-US" altLang="en-US" i="1" dirty="0"/>
              <a:t>t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denotes that tuple </a:t>
            </a:r>
            <a:r>
              <a:rPr lang="en-US" altLang="en-US" i="1" dirty="0">
                <a:sym typeface="Symbol" panose="05050102010706020507" pitchFamily="18" charset="2"/>
              </a:rPr>
              <a:t>t</a:t>
            </a:r>
            <a:r>
              <a:rPr lang="en-US" altLang="en-US" dirty="0">
                <a:sym typeface="Symbol" panose="05050102010706020507" pitchFamily="18" charset="2"/>
              </a:rPr>
              <a:t> is in relation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tabLst>
                <a:tab pos="3195638" algn="ctr"/>
              </a:tabLst>
            </a:pP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 is a </a:t>
            </a:r>
            <a:r>
              <a:rPr lang="en-US" altLang="en-US" i="1" dirty="0">
                <a:sym typeface="Symbol" panose="05050102010706020507" pitchFamily="18" charset="2"/>
              </a:rPr>
              <a:t>formula </a:t>
            </a:r>
            <a:r>
              <a:rPr lang="en-US" altLang="en-US" dirty="0">
                <a:sym typeface="Symbol" panose="05050102010706020507" pitchFamily="18" charset="2"/>
              </a:rPr>
              <a:t>similar to that of the predicate calculus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2259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Predicate Calculus Formula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5225"/>
            <a:ext cx="7951788" cy="4876800"/>
          </a:xfrm>
        </p:spPr>
        <p:txBody>
          <a:bodyPr/>
          <a:lstStyle/>
          <a:p>
            <a:r>
              <a:rPr lang="en-US" altLang="en-US" dirty="0"/>
              <a:t>Set of attributes and constants</a:t>
            </a:r>
          </a:p>
          <a:p>
            <a:r>
              <a:rPr lang="en-US" altLang="en-US" dirty="0"/>
              <a:t>Set of comparison operators:  (e.g., </a:t>
            </a:r>
            <a:r>
              <a:rPr lang="en-US" altLang="en-US" dirty="0">
                <a:sym typeface="Symbol" panose="05050102010706020507" pitchFamily="18" charset="2"/>
              </a:rPr>
              <a:t></a:t>
            </a:r>
            <a:r>
              <a:rPr lang="en-US" altLang="en-US" dirty="0"/>
              <a:t>, </a:t>
            </a:r>
            <a:r>
              <a:rPr lang="en-US" altLang="en-US" dirty="0">
                <a:sym typeface="Symbol" panose="05050102010706020507" pitchFamily="18" charset="2"/>
              </a:rPr>
              <a:t>, , , , )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Set of connectives:  and (), or (v)‚ not ()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Implication (): x  y, if x if true, then y is true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		x</a:t>
            </a:r>
            <a:r>
              <a:rPr lang="en-US" altLang="en-US" dirty="0">
                <a:sym typeface="Symbol" panose="05050102010706020507" pitchFamily="18" charset="2"/>
              </a:rPr>
              <a:t> 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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v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Set of quantifiers: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t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Q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))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</a:t>
            </a:r>
            <a:r>
              <a:rPr lang="en-US" altLang="en-US" i="1" dirty="0">
                <a:sym typeface="Symbol" panose="05050102010706020507" pitchFamily="18" charset="2"/>
              </a:rPr>
              <a:t></a:t>
            </a:r>
            <a:r>
              <a:rPr lang="en-US" altLang="en-US" dirty="0">
                <a:sym typeface="Symbol" panose="05050102010706020507" pitchFamily="18" charset="2"/>
              </a:rPr>
              <a:t>”there exists” a tuple in </a:t>
            </a:r>
            <a:r>
              <a:rPr lang="en-US" altLang="en-US" i="1" dirty="0">
                <a:sym typeface="Symbol" panose="05050102010706020507" pitchFamily="18" charset="2"/>
              </a:rPr>
              <a:t>t</a:t>
            </a:r>
            <a:r>
              <a:rPr lang="en-US" altLang="en-US" dirty="0">
                <a:sym typeface="Symbol" panose="05050102010706020507" pitchFamily="18" charset="2"/>
              </a:rPr>
              <a:t> in relation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            such that predicate </a:t>
            </a:r>
            <a:r>
              <a:rPr lang="en-US" altLang="en-US" i="1" dirty="0">
                <a:sym typeface="Symbol" panose="05050102010706020507" pitchFamily="18" charset="2"/>
              </a:rPr>
              <a:t>Q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) is true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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Q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))  </a:t>
            </a:r>
            <a:r>
              <a:rPr lang="en-US" altLang="en-US" i="1" dirty="0">
                <a:sym typeface="Symbol" panose="05050102010706020507" pitchFamily="18" charset="2"/>
              </a:rPr>
              <a:t>Q</a:t>
            </a:r>
            <a:r>
              <a:rPr lang="en-US" altLang="en-US" dirty="0">
                <a:sym typeface="Symbol" panose="05050102010706020507" pitchFamily="18" charset="2"/>
              </a:rPr>
              <a:t> is true “for all” tuples </a:t>
            </a:r>
            <a:r>
              <a:rPr lang="en-US" altLang="en-US" i="1" dirty="0">
                <a:sym typeface="Symbol" panose="05050102010706020507" pitchFamily="18" charset="2"/>
              </a:rPr>
              <a:t>t</a:t>
            </a:r>
            <a:r>
              <a:rPr lang="en-US" altLang="en-US" dirty="0">
                <a:sym typeface="Symbol" panose="05050102010706020507" pitchFamily="18" charset="2"/>
              </a:rPr>
              <a:t> in relation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66498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Queries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2" y="1165225"/>
            <a:ext cx="7419974" cy="800100"/>
          </a:xfrm>
        </p:spPr>
        <p:txBody>
          <a:bodyPr/>
          <a:lstStyle/>
          <a:p>
            <a:pPr>
              <a:tabLst>
                <a:tab pos="3195638" algn="ctr"/>
              </a:tabLst>
            </a:pPr>
            <a:r>
              <a:rPr lang="en-US" altLang="en-US" dirty="0">
                <a:solidFill>
                  <a:srgbClr val="000099"/>
                </a:solidFill>
              </a:rPr>
              <a:t>Find the </a:t>
            </a:r>
            <a:r>
              <a:rPr lang="en-US" altLang="en-US" i="1" dirty="0">
                <a:solidFill>
                  <a:srgbClr val="000099"/>
                </a:solidFill>
              </a:rPr>
              <a:t>ID, name, dept_name, salary  </a:t>
            </a:r>
            <a:r>
              <a:rPr lang="en-US" altLang="en-US" dirty="0">
                <a:solidFill>
                  <a:srgbClr val="000099"/>
                </a:solidFill>
              </a:rPr>
              <a:t>for instructors whose salary is greater than $80,000</a:t>
            </a:r>
            <a:endParaRPr lang="en-US" altLang="en-US" dirty="0">
              <a:solidFill>
                <a:srgbClr val="000099"/>
              </a:solidFill>
              <a:sym typeface="Symbol" panose="05050102010706020507" pitchFamily="18" charset="2"/>
            </a:endParaRPr>
          </a:p>
        </p:txBody>
      </p:sp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768350" y="2708275"/>
            <a:ext cx="7515225" cy="2852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r>
              <a:rPr kumimoji="1" lang="en-US" altLang="en-US" dirty="0"/>
              <a:t> </a:t>
            </a:r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</a:pPr>
            <a:r>
              <a:rPr kumimoji="1" lang="en-US" altLang="en-US" dirty="0"/>
              <a:t> </a:t>
            </a:r>
          </a:p>
          <a:p>
            <a:pPr marL="285750" indent="-28575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/>
              <a:t> As in the previous query, but </a:t>
            </a:r>
            <a:r>
              <a:rPr kumimoji="1" lang="en-US" altLang="en-US" dirty="0">
                <a:solidFill>
                  <a:srgbClr val="000099"/>
                </a:solidFill>
              </a:rPr>
              <a:t>output only the </a:t>
            </a:r>
            <a:r>
              <a:rPr kumimoji="1" lang="en-US" altLang="en-US" i="1" dirty="0">
                <a:solidFill>
                  <a:srgbClr val="000099"/>
                </a:solidFill>
              </a:rPr>
              <a:t>ID</a:t>
            </a:r>
            <a:r>
              <a:rPr kumimoji="1" lang="en-US" altLang="en-US" dirty="0">
                <a:solidFill>
                  <a:srgbClr val="000099"/>
                </a:solidFill>
              </a:rPr>
              <a:t> attribute value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endParaRPr kumimoji="1" lang="en-US" altLang="en-US" sz="900" i="1" dirty="0">
              <a:solidFill>
                <a:srgbClr val="000099"/>
              </a:solidFill>
              <a:sym typeface="Symbol" panose="05050102010706020507" pitchFamily="18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dirty="0"/>
              <a:t>                 {</a:t>
            </a:r>
            <a:r>
              <a:rPr kumimoji="1" lang="en-US" altLang="en-US" i="1" dirty="0"/>
              <a:t>t </a:t>
            </a:r>
            <a:r>
              <a:rPr kumimoji="1" lang="en-US" altLang="en-US" dirty="0"/>
              <a:t>|</a:t>
            </a:r>
            <a:r>
              <a:rPr kumimoji="1" lang="en-US" altLang="en-US" i="1" dirty="0"/>
              <a:t> </a:t>
            </a:r>
            <a:r>
              <a:rPr kumimoji="1" lang="en-US" altLang="en-US" dirty="0">
                <a:sym typeface="Symbol" panose="05050102010706020507" pitchFamily="18" charset="2"/>
              </a:rPr>
              <a:t></a:t>
            </a:r>
            <a:r>
              <a:rPr kumimoji="1" lang="en-US" altLang="en-US" i="1" dirty="0">
                <a:sym typeface="Symbol" panose="05050102010706020507" pitchFamily="18" charset="2"/>
              </a:rPr>
              <a:t> </a:t>
            </a:r>
            <a:r>
              <a:rPr kumimoji="1" lang="en-US" altLang="en-US" i="1" dirty="0" err="1">
                <a:sym typeface="Symbol" panose="05050102010706020507" pitchFamily="18" charset="2"/>
              </a:rPr>
              <a:t>i</a:t>
            </a:r>
            <a:r>
              <a:rPr kumimoji="1" lang="en-US" altLang="en-US" i="1" dirty="0" smtClean="0">
                <a:sym typeface="Symbol" panose="05050102010706020507" pitchFamily="18" charset="2"/>
              </a:rPr>
              <a:t></a:t>
            </a:r>
            <a:r>
              <a:rPr kumimoji="1" lang="en-US" altLang="en-US" dirty="0">
                <a:sym typeface="Symbol" panose="05050102010706020507" pitchFamily="18" charset="2"/>
              </a:rPr>
              <a:t>instructor (</a:t>
            </a:r>
            <a:r>
              <a:rPr kumimoji="1" lang="en-US" altLang="en-US" i="1" dirty="0">
                <a:sym typeface="Symbol" panose="05050102010706020507" pitchFamily="18" charset="2"/>
              </a:rPr>
              <a:t>t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ID </a:t>
            </a:r>
            <a:r>
              <a:rPr kumimoji="1" lang="en-US" altLang="en-US" dirty="0">
                <a:sym typeface="Symbol" panose="05050102010706020507" pitchFamily="18" charset="2"/>
              </a:rPr>
              <a:t>] = </a:t>
            </a:r>
            <a:r>
              <a:rPr kumimoji="1" lang="en-US" altLang="en-US" i="1" dirty="0">
                <a:sym typeface="Symbol" panose="05050102010706020507" pitchFamily="18" charset="2"/>
              </a:rPr>
              <a:t>i</a:t>
            </a:r>
            <a:r>
              <a:rPr kumimoji="1" lang="en-US" altLang="en-US" i="1" dirty="0" smtClean="0">
                <a:sym typeface="Symbol" panose="05050102010706020507" pitchFamily="18" charset="2"/>
              </a:rPr>
              <a:t>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ID </a:t>
            </a:r>
            <a:r>
              <a:rPr kumimoji="1" lang="en-US" altLang="en-US" dirty="0">
                <a:sym typeface="Symbol" panose="05050102010706020507" pitchFamily="18" charset="2"/>
              </a:rPr>
              <a:t>]  </a:t>
            </a:r>
            <a:r>
              <a:rPr kumimoji="1" lang="en-US" altLang="en-US" i="1" dirty="0">
                <a:sym typeface="Symbol" panose="05050102010706020507" pitchFamily="18" charset="2"/>
              </a:rPr>
              <a:t>i</a:t>
            </a:r>
            <a:r>
              <a:rPr kumimoji="1" lang="en-US" altLang="en-US" dirty="0" smtClean="0">
                <a:sym typeface="Symbol" panose="05050102010706020507" pitchFamily="18" charset="2"/>
              </a:rPr>
              <a:t>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salary </a:t>
            </a:r>
            <a:r>
              <a:rPr kumimoji="1" lang="en-US" altLang="en-US" dirty="0">
                <a:sym typeface="Symbol" panose="05050102010706020507" pitchFamily="18" charset="2"/>
              </a:rPr>
              <a:t>]  80000)}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kumimoji="1" lang="en-US" altLang="en-US" dirty="0">
              <a:sym typeface="Symbol" panose="05050102010706020507" pitchFamily="18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dirty="0">
                <a:sym typeface="Symbol" panose="05050102010706020507" pitchFamily="18" charset="2"/>
              </a:rPr>
              <a:t>     </a:t>
            </a:r>
            <a:endParaRPr kumimoji="1" lang="en-US" altLang="en-US" i="1" dirty="0">
              <a:sym typeface="Symbol" panose="05050102010706020507" pitchFamily="18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kumimoji="1" lang="en-US" altLang="en-US" i="1" dirty="0">
              <a:sym typeface="Symbol" panose="05050102010706020507" pitchFamily="18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kumimoji="1" lang="en-US" altLang="en-US" i="1" dirty="0">
              <a:sym typeface="Symbol" panose="05050102010706020507" pitchFamily="18" charset="2"/>
            </a:endParaRPr>
          </a:p>
        </p:txBody>
      </p:sp>
      <p:sp>
        <p:nvSpPr>
          <p:cNvPr id="186373" name="Text Box 5"/>
          <p:cNvSpPr txBox="1">
            <a:spLocks noChangeArrowheads="1"/>
          </p:cNvSpPr>
          <p:nvPr/>
        </p:nvSpPr>
        <p:spPr bwMode="auto">
          <a:xfrm>
            <a:off x="2714625" y="1925638"/>
            <a:ext cx="379462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sz="1700" dirty="0"/>
              <a:t>{</a:t>
            </a:r>
            <a:r>
              <a:rPr kumimoji="1" lang="en-US" altLang="en-US" sz="1700" i="1" dirty="0"/>
              <a:t>t</a:t>
            </a:r>
            <a:r>
              <a:rPr kumimoji="1" lang="en-US" altLang="en-US" sz="1700" dirty="0"/>
              <a:t> | </a:t>
            </a:r>
            <a:r>
              <a:rPr kumimoji="1" lang="en-US" altLang="en-US" sz="1700" i="1" dirty="0"/>
              <a:t>t</a:t>
            </a:r>
            <a:r>
              <a:rPr kumimoji="1" lang="en-US" altLang="en-US" sz="1700" dirty="0"/>
              <a:t> </a:t>
            </a:r>
            <a:r>
              <a:rPr kumimoji="1" lang="en-US" altLang="en-US" sz="1700" dirty="0">
                <a:sym typeface="Symbol" panose="05050102010706020507" pitchFamily="18" charset="2"/>
              </a:rPr>
              <a:t> </a:t>
            </a:r>
            <a:r>
              <a:rPr kumimoji="1" lang="en-US" altLang="en-US" sz="1700" i="1" dirty="0">
                <a:sym typeface="Symbol" panose="05050102010706020507" pitchFamily="18" charset="2"/>
              </a:rPr>
              <a:t>instructor</a:t>
            </a:r>
            <a:r>
              <a:rPr kumimoji="1" lang="en-US" altLang="en-US" sz="1700" dirty="0">
                <a:sym typeface="Symbol" panose="05050102010706020507" pitchFamily="18" charset="2"/>
              </a:rPr>
              <a:t>  </a:t>
            </a:r>
            <a:r>
              <a:rPr kumimoji="1" lang="en-US" altLang="en-US" sz="1700" i="1" dirty="0">
                <a:sym typeface="Symbol" panose="05050102010706020507" pitchFamily="18" charset="2"/>
              </a:rPr>
              <a:t>t</a:t>
            </a:r>
            <a:r>
              <a:rPr kumimoji="1" lang="en-US" altLang="en-US" sz="1700" dirty="0">
                <a:sym typeface="Symbol" panose="05050102010706020507" pitchFamily="18" charset="2"/>
              </a:rPr>
              <a:t> [</a:t>
            </a:r>
            <a:r>
              <a:rPr kumimoji="1" lang="en-US" altLang="en-US" sz="1700" i="1" dirty="0">
                <a:sym typeface="Symbol" panose="05050102010706020507" pitchFamily="18" charset="2"/>
              </a:rPr>
              <a:t>salary </a:t>
            </a:r>
            <a:r>
              <a:rPr kumimoji="1" lang="en-US" altLang="en-US" sz="1700" dirty="0">
                <a:sym typeface="Symbol" panose="05050102010706020507" pitchFamily="18" charset="2"/>
              </a:rPr>
              <a:t>]  80000}</a:t>
            </a:r>
            <a:endParaRPr kumimoji="1" lang="en-US" altLang="en-US" sz="1700" i="1" dirty="0">
              <a:sym typeface="Symbol" panose="05050102010706020507" pitchFamily="18" charset="2"/>
            </a:endParaRP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1184274" y="4045250"/>
            <a:ext cx="699770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kumimoji="1" lang="en-US" altLang="en-US" dirty="0">
              <a:sym typeface="Symbol" panose="05050102010706020507" pitchFamily="18" charset="2"/>
            </a:endParaRPr>
          </a:p>
          <a:p>
            <a:r>
              <a:rPr kumimoji="1"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Notice that a relation on schema (</a:t>
            </a:r>
            <a:r>
              <a:rPr kumimoji="1" lang="en-US" altLang="en-US" b="1" i="1" dirty="0">
                <a:solidFill>
                  <a:srgbClr val="FF0000"/>
                </a:solidFill>
                <a:sym typeface="Symbol" panose="05050102010706020507" pitchFamily="18" charset="2"/>
              </a:rPr>
              <a:t>ID</a:t>
            </a:r>
            <a:r>
              <a:rPr kumimoji="1"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) is implicitly defined by the query  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1184275" y="2449513"/>
            <a:ext cx="73850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kumimoji="1" lang="en-US" altLang="en-US" dirty="0">
                <a:sym typeface="Symbol" panose="05050102010706020507" pitchFamily="18" charset="2"/>
              </a:rPr>
              <a:t>Notice that a relation on schema (</a:t>
            </a:r>
            <a:r>
              <a:rPr kumimoji="1" lang="en-US" altLang="en-US" i="1" dirty="0">
                <a:sym typeface="Symbol" panose="05050102010706020507" pitchFamily="18" charset="2"/>
              </a:rPr>
              <a:t>ID, name, dept_name, salary</a:t>
            </a:r>
            <a:r>
              <a:rPr kumimoji="1" lang="en-US" altLang="en-US" dirty="0">
                <a:sym typeface="Symbol" panose="05050102010706020507" pitchFamily="18" charset="2"/>
              </a:rPr>
              <a:t>) is   implicitly defined by the query 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689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build="p" autoUpdateAnimBg="0"/>
      <p:bldP spid="186372" grpId="0" autoUpdateAnimBg="0"/>
      <p:bldP spid="18637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Queries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5225"/>
            <a:ext cx="7700947" cy="825500"/>
          </a:xfrm>
        </p:spPr>
        <p:txBody>
          <a:bodyPr/>
          <a:lstStyle/>
          <a:p>
            <a:pPr algn="just"/>
            <a:r>
              <a:rPr lang="en-US" altLang="en-US" dirty="0">
                <a:solidFill>
                  <a:srgbClr val="000099"/>
                </a:solidFill>
              </a:rPr>
              <a:t>Find the names of all instructors whose department is in the Watson building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algn="just"/>
            <a:endParaRPr lang="en-US" altLang="en-US" dirty="0">
              <a:solidFill>
                <a:srgbClr val="000099"/>
              </a:solidFill>
              <a:sym typeface="Symbol" panose="05050102010706020507" pitchFamily="18" charset="2"/>
            </a:endParaRPr>
          </a:p>
          <a:p>
            <a:pPr algn="just"/>
            <a:r>
              <a:rPr lang="en-US" altLang="en-US" dirty="0">
                <a:solidFill>
                  <a:srgbClr val="000099"/>
                </a:solidFill>
                <a:sym typeface="Symbol" panose="05050102010706020507" pitchFamily="18" charset="2"/>
              </a:rPr>
              <a:t>Find the set of all courses taught in the Fall 2009 semester, or in the Spring 2010 semester, or both</a:t>
            </a:r>
          </a:p>
        </p:txBody>
      </p:sp>
      <p:sp>
        <p:nvSpPr>
          <p:cNvPr id="188420" name="Text Box 4"/>
          <p:cNvSpPr txBox="1">
            <a:spLocks noChangeArrowheads="1"/>
          </p:cNvSpPr>
          <p:nvPr/>
        </p:nvSpPr>
        <p:spPr bwMode="auto">
          <a:xfrm>
            <a:off x="1554164" y="4139602"/>
            <a:ext cx="6915134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sz="1700" dirty="0"/>
              <a:t>{</a:t>
            </a:r>
            <a:r>
              <a:rPr kumimoji="1" lang="en-US" altLang="en-US" sz="1700" i="1" dirty="0"/>
              <a:t>t </a:t>
            </a:r>
            <a:r>
              <a:rPr kumimoji="1" lang="en-US" altLang="en-US" sz="1700" dirty="0"/>
              <a:t>|</a:t>
            </a:r>
            <a:r>
              <a:rPr kumimoji="1" lang="en-US" altLang="en-US" sz="1700" i="1" dirty="0"/>
              <a:t> </a:t>
            </a:r>
            <a:r>
              <a:rPr kumimoji="1" lang="en-US" altLang="en-US" sz="1700" dirty="0">
                <a:sym typeface="Symbol" panose="05050102010706020507" pitchFamily="18" charset="2"/>
              </a:rPr>
              <a:t></a:t>
            </a:r>
            <a:r>
              <a:rPr kumimoji="1" lang="en-US" altLang="en-US" sz="1700" i="1" dirty="0">
                <a:sym typeface="Symbol" panose="05050102010706020507" pitchFamily="18" charset="2"/>
              </a:rPr>
              <a:t>s </a:t>
            </a:r>
            <a:r>
              <a:rPr kumimoji="1" lang="en-US" altLang="en-US" sz="1700" dirty="0">
                <a:sym typeface="Symbol" panose="05050102010706020507" pitchFamily="18" charset="2"/>
              </a:rPr>
              <a:t> </a:t>
            </a:r>
            <a:r>
              <a:rPr kumimoji="1" lang="en-US" altLang="en-US" sz="1700" i="1" dirty="0">
                <a:sym typeface="Symbol" panose="05050102010706020507" pitchFamily="18" charset="2"/>
              </a:rPr>
              <a:t>section </a:t>
            </a:r>
            <a:r>
              <a:rPr kumimoji="1" lang="en-US" altLang="en-US" sz="1700" dirty="0">
                <a:sym typeface="Symbol" panose="05050102010706020507" pitchFamily="18" charset="2"/>
              </a:rPr>
              <a:t>(</a:t>
            </a:r>
            <a:r>
              <a:rPr kumimoji="1" lang="en-US" altLang="en-US" sz="1700" i="1" dirty="0">
                <a:sym typeface="Symbol" panose="05050102010706020507" pitchFamily="18" charset="2"/>
              </a:rPr>
              <a:t>t </a:t>
            </a:r>
            <a:r>
              <a:rPr kumimoji="1" lang="en-US" altLang="en-US" sz="1700" dirty="0">
                <a:sym typeface="Symbol" panose="05050102010706020507" pitchFamily="18" charset="2"/>
              </a:rPr>
              <a:t>[</a:t>
            </a:r>
            <a:r>
              <a:rPr kumimoji="1" lang="en-US" altLang="en-US" sz="1700" i="1" dirty="0">
                <a:sym typeface="Symbol" panose="05050102010706020507" pitchFamily="18" charset="2"/>
              </a:rPr>
              <a:t>course_id </a:t>
            </a:r>
            <a:r>
              <a:rPr kumimoji="1" lang="en-US" altLang="en-US" sz="1700" dirty="0">
                <a:sym typeface="Symbol" panose="05050102010706020507" pitchFamily="18" charset="2"/>
              </a:rPr>
              <a:t>] = </a:t>
            </a:r>
            <a:r>
              <a:rPr kumimoji="1" lang="en-US" altLang="en-US" sz="1700" i="1" dirty="0">
                <a:sym typeface="Symbol" panose="05050102010706020507" pitchFamily="18" charset="2"/>
              </a:rPr>
              <a:t>s </a:t>
            </a:r>
            <a:r>
              <a:rPr kumimoji="1" lang="en-US" altLang="en-US" sz="1700" dirty="0">
                <a:sym typeface="Symbol" panose="05050102010706020507" pitchFamily="18" charset="2"/>
              </a:rPr>
              <a:t>[</a:t>
            </a:r>
            <a:r>
              <a:rPr kumimoji="1" lang="en-US" altLang="en-US" sz="1700" i="1" dirty="0">
                <a:sym typeface="Symbol" panose="05050102010706020507" pitchFamily="18" charset="2"/>
              </a:rPr>
              <a:t>course_id</a:t>
            </a:r>
            <a:r>
              <a:rPr kumimoji="1" lang="en-US" altLang="en-US" sz="1700" dirty="0">
                <a:sym typeface="Symbol" panose="05050102010706020507" pitchFamily="18" charset="2"/>
              </a:rPr>
              <a:t> ]   </a:t>
            </a:r>
            <a:br>
              <a:rPr kumimoji="1" lang="en-US" altLang="en-US" sz="1700" dirty="0">
                <a:sym typeface="Symbol" panose="05050102010706020507" pitchFamily="18" charset="2"/>
              </a:rPr>
            </a:br>
            <a:r>
              <a:rPr kumimoji="1" lang="en-US" altLang="en-US" sz="1700" dirty="0">
                <a:sym typeface="Symbol" panose="05050102010706020507" pitchFamily="18" charset="2"/>
              </a:rPr>
              <a:t>                           </a:t>
            </a:r>
            <a:r>
              <a:rPr kumimoji="1" lang="en-US" altLang="en-US" sz="1700" i="1" dirty="0">
                <a:sym typeface="Symbol" panose="05050102010706020507" pitchFamily="18" charset="2"/>
              </a:rPr>
              <a:t>s </a:t>
            </a:r>
            <a:r>
              <a:rPr kumimoji="1" lang="en-US" altLang="en-US" sz="1700" dirty="0">
                <a:sym typeface="Symbol" panose="05050102010706020507" pitchFamily="18" charset="2"/>
              </a:rPr>
              <a:t>[</a:t>
            </a:r>
            <a:r>
              <a:rPr kumimoji="1" lang="en-US" altLang="en-US" sz="1700" i="1" dirty="0">
                <a:sym typeface="Symbol" panose="05050102010706020507" pitchFamily="18" charset="2"/>
              </a:rPr>
              <a:t>semester</a:t>
            </a:r>
            <a:r>
              <a:rPr kumimoji="1" lang="en-US" altLang="en-US" sz="1700" dirty="0">
                <a:sym typeface="Symbol" panose="05050102010706020507" pitchFamily="18" charset="2"/>
              </a:rPr>
              <a:t>] = “Fall”  </a:t>
            </a:r>
            <a:r>
              <a:rPr kumimoji="1" lang="en-US" altLang="en-US" sz="1700" i="1" dirty="0">
                <a:sym typeface="Symbol" panose="05050102010706020507" pitchFamily="18" charset="2"/>
              </a:rPr>
              <a:t>s </a:t>
            </a:r>
            <a:r>
              <a:rPr kumimoji="1" lang="en-US" altLang="en-US" sz="1700" dirty="0">
                <a:sym typeface="Symbol" panose="05050102010706020507" pitchFamily="18" charset="2"/>
              </a:rPr>
              <a:t>[year] </a:t>
            </a:r>
            <a:r>
              <a:rPr kumimoji="1" lang="en-US" altLang="en-US" sz="1700" i="1" dirty="0">
                <a:sym typeface="Symbol" panose="05050102010706020507" pitchFamily="18" charset="2"/>
              </a:rPr>
              <a:t>= </a:t>
            </a:r>
            <a:r>
              <a:rPr kumimoji="1" lang="en-US" altLang="en-US" sz="1700" dirty="0">
                <a:sym typeface="Symbol" panose="05050102010706020507" pitchFamily="18" charset="2"/>
              </a:rPr>
              <a:t>2009 </a:t>
            </a:r>
            <a:br>
              <a:rPr kumimoji="1" lang="en-US" altLang="en-US" sz="1700" dirty="0">
                <a:sym typeface="Symbol" panose="05050102010706020507" pitchFamily="18" charset="2"/>
              </a:rPr>
            </a:br>
            <a:r>
              <a:rPr kumimoji="1" lang="en-US" altLang="en-US" sz="1700" dirty="0">
                <a:sym typeface="Symbol" panose="05050102010706020507" pitchFamily="18" charset="2"/>
              </a:rPr>
              <a:t>   v </a:t>
            </a:r>
            <a:r>
              <a:rPr kumimoji="1" lang="en-US" altLang="en-US" sz="1700" i="1" dirty="0">
                <a:sym typeface="Symbol" panose="05050102010706020507" pitchFamily="18" charset="2"/>
              </a:rPr>
              <a:t>u </a:t>
            </a:r>
            <a:r>
              <a:rPr kumimoji="1" lang="en-US" altLang="en-US" sz="1700" dirty="0">
                <a:sym typeface="Symbol" panose="05050102010706020507" pitchFamily="18" charset="2"/>
              </a:rPr>
              <a:t> </a:t>
            </a:r>
            <a:r>
              <a:rPr kumimoji="1" lang="en-US" altLang="en-US" sz="1700" i="1" dirty="0">
                <a:sym typeface="Symbol" panose="05050102010706020507" pitchFamily="18" charset="2"/>
              </a:rPr>
              <a:t>section </a:t>
            </a:r>
            <a:r>
              <a:rPr kumimoji="1" lang="en-US" altLang="en-US" sz="1700" dirty="0">
                <a:sym typeface="Symbol" panose="05050102010706020507" pitchFamily="18" charset="2"/>
              </a:rPr>
              <a:t>(</a:t>
            </a:r>
            <a:r>
              <a:rPr kumimoji="1" lang="en-US" altLang="en-US" sz="1700" i="1" dirty="0">
                <a:sym typeface="Symbol" panose="05050102010706020507" pitchFamily="18" charset="2"/>
              </a:rPr>
              <a:t>t  </a:t>
            </a:r>
            <a:r>
              <a:rPr kumimoji="1" lang="en-US" altLang="en-US" sz="1700" dirty="0">
                <a:sym typeface="Symbol" panose="05050102010706020507" pitchFamily="18" charset="2"/>
              </a:rPr>
              <a:t>[</a:t>
            </a:r>
            <a:r>
              <a:rPr kumimoji="1" lang="en-US" altLang="en-US" sz="1700" i="1" dirty="0">
                <a:sym typeface="Symbol" panose="05050102010706020507" pitchFamily="18" charset="2"/>
              </a:rPr>
              <a:t>course_id </a:t>
            </a:r>
            <a:r>
              <a:rPr kumimoji="1" lang="en-US" altLang="en-US" sz="1700" dirty="0">
                <a:sym typeface="Symbol" panose="05050102010706020507" pitchFamily="18" charset="2"/>
              </a:rPr>
              <a:t>] = </a:t>
            </a:r>
            <a:r>
              <a:rPr kumimoji="1" lang="en-US" altLang="en-US" sz="1700" i="1" dirty="0">
                <a:sym typeface="Symbol" panose="05050102010706020507" pitchFamily="18" charset="2"/>
              </a:rPr>
              <a:t>u </a:t>
            </a:r>
            <a:r>
              <a:rPr kumimoji="1" lang="en-US" altLang="en-US" sz="1700" dirty="0">
                <a:sym typeface="Symbol" panose="05050102010706020507" pitchFamily="18" charset="2"/>
              </a:rPr>
              <a:t>[</a:t>
            </a:r>
            <a:r>
              <a:rPr kumimoji="1" lang="en-US" altLang="en-US" sz="1700" i="1" dirty="0">
                <a:sym typeface="Symbol" panose="05050102010706020507" pitchFamily="18" charset="2"/>
              </a:rPr>
              <a:t>course_id</a:t>
            </a:r>
            <a:r>
              <a:rPr kumimoji="1" lang="en-US" altLang="en-US" sz="1700" dirty="0">
                <a:sym typeface="Symbol" panose="05050102010706020507" pitchFamily="18" charset="2"/>
              </a:rPr>
              <a:t> ]   </a:t>
            </a:r>
            <a:br>
              <a:rPr kumimoji="1" lang="en-US" altLang="en-US" sz="1700" dirty="0">
                <a:sym typeface="Symbol" panose="05050102010706020507" pitchFamily="18" charset="2"/>
              </a:rPr>
            </a:br>
            <a:r>
              <a:rPr kumimoji="1" lang="en-US" altLang="en-US" sz="1700" dirty="0">
                <a:sym typeface="Symbol" panose="05050102010706020507" pitchFamily="18" charset="2"/>
              </a:rPr>
              <a:t>                           </a:t>
            </a:r>
            <a:r>
              <a:rPr kumimoji="1" lang="en-US" altLang="en-US" sz="1700" i="1" dirty="0">
                <a:sym typeface="Symbol" panose="05050102010706020507" pitchFamily="18" charset="2"/>
              </a:rPr>
              <a:t>u </a:t>
            </a:r>
            <a:r>
              <a:rPr kumimoji="1" lang="en-US" altLang="en-US" sz="1700" dirty="0">
                <a:sym typeface="Symbol" panose="05050102010706020507" pitchFamily="18" charset="2"/>
              </a:rPr>
              <a:t>[</a:t>
            </a:r>
            <a:r>
              <a:rPr kumimoji="1" lang="en-US" altLang="en-US" sz="1700" i="1" dirty="0">
                <a:sym typeface="Symbol" panose="05050102010706020507" pitchFamily="18" charset="2"/>
              </a:rPr>
              <a:t>semester</a:t>
            </a:r>
            <a:r>
              <a:rPr kumimoji="1" lang="en-US" altLang="en-US" sz="1700" dirty="0">
                <a:sym typeface="Symbol" panose="05050102010706020507" pitchFamily="18" charset="2"/>
              </a:rPr>
              <a:t>] = “Spring”  </a:t>
            </a:r>
            <a:r>
              <a:rPr kumimoji="1" lang="en-US" altLang="en-US" sz="1700" i="1" dirty="0">
                <a:sym typeface="Symbol" panose="05050102010706020507" pitchFamily="18" charset="2"/>
              </a:rPr>
              <a:t>u </a:t>
            </a:r>
            <a:r>
              <a:rPr kumimoji="1" lang="en-US" altLang="en-US" sz="1700" dirty="0">
                <a:sym typeface="Symbol" panose="05050102010706020507" pitchFamily="18" charset="2"/>
              </a:rPr>
              <a:t>[year] </a:t>
            </a:r>
            <a:r>
              <a:rPr kumimoji="1" lang="en-US" altLang="en-US" sz="1700" i="1" dirty="0">
                <a:sym typeface="Symbol" panose="05050102010706020507" pitchFamily="18" charset="2"/>
              </a:rPr>
              <a:t>= </a:t>
            </a:r>
            <a:r>
              <a:rPr kumimoji="1" lang="en-US" altLang="en-US" sz="1700" dirty="0">
                <a:sym typeface="Symbol" panose="05050102010706020507" pitchFamily="18" charset="2"/>
              </a:rPr>
              <a:t>2010</a:t>
            </a:r>
            <a:r>
              <a:rPr kumimoji="1" lang="en-US" altLang="en-US" sz="1700" i="1" dirty="0">
                <a:sym typeface="Symbol" panose="05050102010706020507" pitchFamily="18" charset="2"/>
              </a:rPr>
              <a:t> </a:t>
            </a:r>
            <a:r>
              <a:rPr kumimoji="1" lang="en-US" altLang="en-US" sz="1700" dirty="0">
                <a:sym typeface="Symbol" panose="05050102010706020507" pitchFamily="18" charset="2"/>
              </a:rPr>
              <a:t>)}</a:t>
            </a:r>
          </a:p>
        </p:txBody>
      </p:sp>
      <p:sp>
        <p:nvSpPr>
          <p:cNvPr id="188422" name="Text Box 6"/>
          <p:cNvSpPr txBox="1">
            <a:spLocks noChangeArrowheads="1"/>
          </p:cNvSpPr>
          <p:nvPr/>
        </p:nvSpPr>
        <p:spPr bwMode="auto">
          <a:xfrm>
            <a:off x="1077508" y="1868796"/>
            <a:ext cx="6811624" cy="1583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sz="1700" dirty="0"/>
              <a:t>{</a:t>
            </a:r>
            <a:r>
              <a:rPr kumimoji="1" lang="en-US" altLang="en-US" sz="1700" i="1" dirty="0"/>
              <a:t>t </a:t>
            </a:r>
            <a:r>
              <a:rPr kumimoji="1" lang="en-US" altLang="en-US" sz="1700" dirty="0"/>
              <a:t>|</a:t>
            </a:r>
            <a:r>
              <a:rPr kumimoji="1" lang="en-US" altLang="en-US" sz="1700" i="1" dirty="0"/>
              <a:t> </a:t>
            </a:r>
            <a:r>
              <a:rPr kumimoji="1" lang="en-US" altLang="en-US" sz="1700" dirty="0" smtClean="0">
                <a:sym typeface="Symbol" panose="05050102010706020507" pitchFamily="18" charset="2"/>
              </a:rPr>
              <a:t></a:t>
            </a:r>
            <a:r>
              <a:rPr kumimoji="1" lang="en-US" altLang="en-US" sz="1700" i="1" dirty="0">
                <a:sym typeface="Symbol" panose="05050102010706020507" pitchFamily="18" charset="2"/>
              </a:rPr>
              <a:t>i</a:t>
            </a:r>
            <a:r>
              <a:rPr kumimoji="1" lang="en-US" altLang="en-US" sz="1700" i="1" dirty="0" smtClean="0">
                <a:sym typeface="Symbol" panose="05050102010706020507" pitchFamily="18" charset="2"/>
              </a:rPr>
              <a:t> </a:t>
            </a:r>
            <a:r>
              <a:rPr kumimoji="1" lang="en-US" altLang="en-US" sz="1700" dirty="0">
                <a:sym typeface="Symbol" panose="05050102010706020507" pitchFamily="18" charset="2"/>
              </a:rPr>
              <a:t> </a:t>
            </a:r>
            <a:r>
              <a:rPr kumimoji="1" lang="en-US" altLang="en-US" sz="1700" i="1" dirty="0">
                <a:sym typeface="Symbol" panose="05050102010706020507" pitchFamily="18" charset="2"/>
              </a:rPr>
              <a:t>instructor </a:t>
            </a:r>
            <a:r>
              <a:rPr kumimoji="1" lang="en-US" altLang="en-US" sz="1700" dirty="0">
                <a:sym typeface="Symbol" panose="05050102010706020507" pitchFamily="18" charset="2"/>
              </a:rPr>
              <a:t>(</a:t>
            </a:r>
            <a:r>
              <a:rPr kumimoji="1" lang="en-US" altLang="en-US" sz="1700" i="1" dirty="0">
                <a:sym typeface="Symbol" panose="05050102010706020507" pitchFamily="18" charset="2"/>
              </a:rPr>
              <a:t>t </a:t>
            </a:r>
            <a:r>
              <a:rPr kumimoji="1" lang="en-US" altLang="en-US" sz="1700" dirty="0">
                <a:sym typeface="Symbol" panose="05050102010706020507" pitchFamily="18" charset="2"/>
              </a:rPr>
              <a:t>[</a:t>
            </a:r>
            <a:r>
              <a:rPr kumimoji="1" lang="en-US" altLang="en-US" sz="1700" i="1" dirty="0">
                <a:sym typeface="Symbol" panose="05050102010706020507" pitchFamily="18" charset="2"/>
              </a:rPr>
              <a:t>name </a:t>
            </a:r>
            <a:r>
              <a:rPr kumimoji="1" lang="en-US" altLang="en-US" sz="1700" dirty="0">
                <a:sym typeface="Symbol" panose="05050102010706020507" pitchFamily="18" charset="2"/>
              </a:rPr>
              <a:t>] = </a:t>
            </a:r>
            <a:r>
              <a:rPr kumimoji="1" lang="en-US" altLang="en-US" sz="1700" i="1" dirty="0" err="1">
                <a:sym typeface="Symbol" panose="05050102010706020507" pitchFamily="18" charset="2"/>
              </a:rPr>
              <a:t>i</a:t>
            </a:r>
            <a:r>
              <a:rPr kumimoji="1" lang="en-US" altLang="en-US" sz="1700" dirty="0" smtClean="0">
                <a:sym typeface="Symbol" panose="05050102010706020507" pitchFamily="18" charset="2"/>
              </a:rPr>
              <a:t>[</a:t>
            </a:r>
            <a:r>
              <a:rPr kumimoji="1" lang="en-US" altLang="en-US" sz="1700" i="1" dirty="0" smtClean="0">
                <a:sym typeface="Symbol" panose="05050102010706020507" pitchFamily="18" charset="2"/>
              </a:rPr>
              <a:t>name </a:t>
            </a:r>
            <a:r>
              <a:rPr kumimoji="1" lang="en-US" altLang="en-US" sz="1700" dirty="0">
                <a:sym typeface="Symbol" panose="05050102010706020507" pitchFamily="18" charset="2"/>
              </a:rPr>
              <a:t>] </a:t>
            </a:r>
            <a:br>
              <a:rPr kumimoji="1" lang="en-US" altLang="en-US" sz="1700" dirty="0">
                <a:sym typeface="Symbol" panose="05050102010706020507" pitchFamily="18" charset="2"/>
              </a:rPr>
            </a:br>
            <a:r>
              <a:rPr kumimoji="1" lang="en-US" altLang="en-US" sz="1700" dirty="0">
                <a:sym typeface="Symbol" panose="05050102010706020507" pitchFamily="18" charset="2"/>
              </a:rPr>
              <a:t>     </a:t>
            </a:r>
            <a:r>
              <a:rPr kumimoji="1" lang="en-US" altLang="en-US" sz="1700" dirty="0" smtClean="0">
                <a:sym typeface="Symbol" panose="05050102010706020507" pitchFamily="18" charset="2"/>
              </a:rPr>
              <a:t>                    </a:t>
            </a:r>
            <a:r>
              <a:rPr kumimoji="1" lang="en-US" altLang="en-US" sz="1700" dirty="0">
                <a:sym typeface="Symbol" panose="05050102010706020507" pitchFamily="18" charset="2"/>
              </a:rPr>
              <a:t></a:t>
            </a:r>
            <a:r>
              <a:rPr kumimoji="1" lang="en-US" altLang="en-US" sz="1700" i="1" dirty="0">
                <a:sym typeface="Symbol" panose="05050102010706020507" pitchFamily="18" charset="2"/>
              </a:rPr>
              <a:t>u </a:t>
            </a:r>
            <a:r>
              <a:rPr kumimoji="1" lang="en-US" altLang="en-US" sz="1700" dirty="0">
                <a:sym typeface="Symbol" panose="05050102010706020507" pitchFamily="18" charset="2"/>
              </a:rPr>
              <a:t> </a:t>
            </a:r>
            <a:r>
              <a:rPr kumimoji="1" lang="en-US" altLang="en-US" sz="1700" i="1" dirty="0">
                <a:sym typeface="Symbol" panose="05050102010706020507" pitchFamily="18" charset="2"/>
              </a:rPr>
              <a:t>department </a:t>
            </a:r>
            <a:r>
              <a:rPr kumimoji="1" lang="en-US" altLang="en-US" sz="1700" dirty="0">
                <a:sym typeface="Symbol" panose="05050102010706020507" pitchFamily="18" charset="2"/>
              </a:rPr>
              <a:t>(</a:t>
            </a:r>
            <a:r>
              <a:rPr kumimoji="1" lang="en-US" altLang="en-US" sz="1700" i="1" dirty="0">
                <a:sym typeface="Symbol" panose="05050102010706020507" pitchFamily="18" charset="2"/>
              </a:rPr>
              <a:t>u </a:t>
            </a:r>
            <a:r>
              <a:rPr kumimoji="1" lang="en-US" altLang="en-US" sz="1700" dirty="0">
                <a:sym typeface="Symbol" panose="05050102010706020507" pitchFamily="18" charset="2"/>
              </a:rPr>
              <a:t>[</a:t>
            </a:r>
            <a:r>
              <a:rPr kumimoji="1" lang="en-US" altLang="en-US" sz="1700" i="1" dirty="0">
                <a:sym typeface="Symbol" panose="05050102010706020507" pitchFamily="18" charset="2"/>
              </a:rPr>
              <a:t>dept_name </a:t>
            </a:r>
            <a:r>
              <a:rPr kumimoji="1" lang="en-US" altLang="en-US" sz="1700" dirty="0">
                <a:sym typeface="Symbol" panose="05050102010706020507" pitchFamily="18" charset="2"/>
              </a:rPr>
              <a:t>] = </a:t>
            </a:r>
            <a:r>
              <a:rPr kumimoji="1" lang="en-US" altLang="en-US" sz="1700" i="1" dirty="0" err="1">
                <a:sym typeface="Symbol" panose="05050102010706020507" pitchFamily="18" charset="2"/>
              </a:rPr>
              <a:t>i</a:t>
            </a:r>
            <a:r>
              <a:rPr kumimoji="1" lang="en-US" altLang="en-US" sz="1700" dirty="0" smtClean="0">
                <a:sym typeface="Symbol" panose="05050102010706020507" pitchFamily="18" charset="2"/>
              </a:rPr>
              <a:t>[</a:t>
            </a:r>
            <a:r>
              <a:rPr kumimoji="1" lang="en-US" altLang="en-US" sz="1700" i="1" dirty="0" err="1" smtClean="0">
                <a:sym typeface="Symbol" panose="05050102010706020507" pitchFamily="18" charset="2"/>
              </a:rPr>
              <a:t>dept_name</a:t>
            </a:r>
            <a:r>
              <a:rPr kumimoji="1" lang="en-US" altLang="en-US" sz="1700" dirty="0">
                <a:sym typeface="Symbol" panose="05050102010706020507" pitchFamily="18" charset="2"/>
              </a:rPr>
              <a:t>] </a:t>
            </a:r>
            <a:br>
              <a:rPr kumimoji="1" lang="en-US" altLang="en-US" sz="1700" dirty="0">
                <a:sym typeface="Symbol" panose="05050102010706020507" pitchFamily="18" charset="2"/>
              </a:rPr>
            </a:br>
            <a:r>
              <a:rPr kumimoji="1" lang="en-US" altLang="en-US" sz="1700" dirty="0">
                <a:sym typeface="Symbol" panose="05050102010706020507" pitchFamily="18" charset="2"/>
              </a:rPr>
              <a:t>                        </a:t>
            </a:r>
            <a:r>
              <a:rPr kumimoji="1" lang="en-US" altLang="en-US" sz="1700" dirty="0" smtClean="0">
                <a:sym typeface="Symbol" panose="05050102010706020507" pitchFamily="18" charset="2"/>
              </a:rPr>
              <a:t>                                </a:t>
            </a:r>
            <a:r>
              <a:rPr kumimoji="1" lang="en-US" altLang="en-US" sz="1700" dirty="0">
                <a:sym typeface="Symbol" panose="05050102010706020507" pitchFamily="18" charset="2"/>
              </a:rPr>
              <a:t>  </a:t>
            </a:r>
            <a:r>
              <a:rPr kumimoji="1" lang="en-US" altLang="en-US" sz="1700" i="1" dirty="0">
                <a:sym typeface="Symbol" panose="05050102010706020507" pitchFamily="18" charset="2"/>
              </a:rPr>
              <a:t>u </a:t>
            </a:r>
            <a:r>
              <a:rPr kumimoji="1" lang="en-US" altLang="en-US" sz="1700" dirty="0">
                <a:sym typeface="Symbol" panose="05050102010706020507" pitchFamily="18" charset="2"/>
              </a:rPr>
              <a:t>[</a:t>
            </a:r>
            <a:r>
              <a:rPr kumimoji="1" lang="en-US" altLang="en-US" sz="1700" i="1" dirty="0">
                <a:sym typeface="Symbol" panose="05050102010706020507" pitchFamily="18" charset="2"/>
              </a:rPr>
              <a:t>building</a:t>
            </a:r>
            <a:r>
              <a:rPr kumimoji="1" lang="en-US" altLang="en-US" sz="1700" dirty="0">
                <a:sym typeface="Symbol" panose="05050102010706020507" pitchFamily="18" charset="2"/>
              </a:rPr>
              <a:t>] = “Watson” </a:t>
            </a:r>
            <a:r>
              <a:rPr kumimoji="1" lang="en-US" altLang="en-US" sz="1700" dirty="0" smtClean="0">
                <a:sym typeface="Symbol" panose="05050102010706020507" pitchFamily="18" charset="2"/>
              </a:rPr>
              <a:t>)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sz="1700" dirty="0">
                <a:sym typeface="Symbol" panose="05050102010706020507" pitchFamily="18" charset="2"/>
              </a:rPr>
              <a:t>	</a:t>
            </a:r>
            <a:r>
              <a:rPr kumimoji="1" lang="en-US" altLang="en-US" sz="1700" dirty="0" smtClean="0">
                <a:sym typeface="Symbol" panose="05050102010706020507" pitchFamily="18" charset="2"/>
              </a:rPr>
              <a:t>	</a:t>
            </a:r>
            <a:r>
              <a:rPr kumimoji="1" lang="en-US" altLang="en-US" sz="1700" dirty="0" smtClean="0">
                <a:sym typeface="Symbol" panose="05050102010706020507" pitchFamily="18" charset="2"/>
              </a:rPr>
              <a:t>) }</a:t>
            </a:r>
            <a:endParaRPr kumimoji="1" lang="en-US" altLang="en-US" sz="1700" dirty="0">
              <a:sym typeface="Symbol" panose="05050102010706020507" pitchFamily="18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kumimoji="1" lang="en-US" altLang="en-US" sz="1700" i="1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2672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build="p" autoUpdateAnimBg="0"/>
      <p:bldP spid="188420" grpId="0" autoUpdateAnimBg="0"/>
      <p:bldP spid="18842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Queries</a:t>
            </a:r>
          </a:p>
        </p:txBody>
      </p:sp>
      <p:sp>
        <p:nvSpPr>
          <p:cNvPr id="187400" name="Text Box 8"/>
          <p:cNvSpPr txBox="1">
            <a:spLocks noChangeArrowheads="1"/>
          </p:cNvSpPr>
          <p:nvPr/>
        </p:nvSpPr>
        <p:spPr bwMode="auto">
          <a:xfrm>
            <a:off x="1350963" y="2017713"/>
            <a:ext cx="71342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dirty="0"/>
              <a:t>{</a:t>
            </a:r>
            <a:r>
              <a:rPr kumimoji="1" lang="en-US" altLang="en-US" i="1" dirty="0"/>
              <a:t>t </a:t>
            </a:r>
            <a:r>
              <a:rPr kumimoji="1" lang="en-US" altLang="en-US" dirty="0"/>
              <a:t>|</a:t>
            </a:r>
            <a:r>
              <a:rPr kumimoji="1" lang="en-US" altLang="en-US" i="1" dirty="0"/>
              <a:t> </a:t>
            </a:r>
            <a:r>
              <a:rPr kumimoji="1" lang="en-US" altLang="en-US" dirty="0">
                <a:sym typeface="Symbol" panose="05050102010706020507" pitchFamily="18" charset="2"/>
              </a:rPr>
              <a:t>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 </a:t>
            </a:r>
            <a:r>
              <a:rPr kumimoji="1" lang="en-US" altLang="en-US" i="1" dirty="0">
                <a:sym typeface="Symbol" panose="05050102010706020507" pitchFamily="18" charset="2"/>
              </a:rPr>
              <a:t>section </a:t>
            </a:r>
            <a:r>
              <a:rPr kumimoji="1" lang="en-US" altLang="en-US" dirty="0">
                <a:sym typeface="Symbol" panose="05050102010706020507" pitchFamily="18" charset="2"/>
              </a:rPr>
              <a:t>(</a:t>
            </a:r>
            <a:r>
              <a:rPr kumimoji="1" lang="en-US" altLang="en-US" i="1" dirty="0">
                <a:sym typeface="Symbol" panose="05050102010706020507" pitchFamily="18" charset="2"/>
              </a:rPr>
              <a:t>t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course_id </a:t>
            </a:r>
            <a:r>
              <a:rPr kumimoji="1" lang="en-US" altLang="en-US" dirty="0">
                <a:sym typeface="Symbol" panose="05050102010706020507" pitchFamily="18" charset="2"/>
              </a:rPr>
              <a:t>] = 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course_id</a:t>
            </a:r>
            <a:r>
              <a:rPr kumimoji="1" lang="en-US" altLang="en-US" dirty="0">
                <a:sym typeface="Symbol" panose="05050102010706020507" pitchFamily="18" charset="2"/>
              </a:rPr>
              <a:t> ] </a:t>
            </a:r>
            <a:r>
              <a:rPr kumimoji="1" lang="en-US" altLang="en-US" sz="1600" dirty="0">
                <a:sym typeface="Symbol" panose="05050102010706020507" pitchFamily="18" charset="2"/>
              </a:rPr>
              <a:t> </a:t>
            </a:r>
            <a:r>
              <a:rPr kumimoji="1" lang="en-US" altLang="en-US" dirty="0">
                <a:sym typeface="Symbol" panose="05050102010706020507" pitchFamily="18" charset="2"/>
              </a:rPr>
              <a:t> 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                          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semester</a:t>
            </a:r>
            <a:r>
              <a:rPr kumimoji="1" lang="en-US" altLang="en-US" dirty="0">
                <a:sym typeface="Symbol" panose="05050102010706020507" pitchFamily="18" charset="2"/>
              </a:rPr>
              <a:t>] = “Fall”  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[year] </a:t>
            </a:r>
            <a:r>
              <a:rPr kumimoji="1" lang="en-US" altLang="en-US" i="1" dirty="0">
                <a:sym typeface="Symbol" panose="05050102010706020507" pitchFamily="18" charset="2"/>
              </a:rPr>
              <a:t>= </a:t>
            </a:r>
            <a:r>
              <a:rPr kumimoji="1" lang="en-US" altLang="en-US" dirty="0">
                <a:sym typeface="Symbol" panose="05050102010706020507" pitchFamily="18" charset="2"/>
              </a:rPr>
              <a:t>2009 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 </a:t>
            </a:r>
            <a:r>
              <a:rPr kumimoji="1" lang="en-US" altLang="en-US" i="1" dirty="0">
                <a:sym typeface="Symbol" panose="05050102010706020507" pitchFamily="18" charset="2"/>
              </a:rPr>
              <a:t>u </a:t>
            </a:r>
            <a:r>
              <a:rPr kumimoji="1" lang="en-US" altLang="en-US" dirty="0">
                <a:sym typeface="Symbol" panose="05050102010706020507" pitchFamily="18" charset="2"/>
              </a:rPr>
              <a:t> </a:t>
            </a:r>
            <a:r>
              <a:rPr kumimoji="1" lang="en-US" altLang="en-US" i="1" dirty="0">
                <a:sym typeface="Symbol" panose="05050102010706020507" pitchFamily="18" charset="2"/>
              </a:rPr>
              <a:t>section </a:t>
            </a:r>
            <a:r>
              <a:rPr kumimoji="1" lang="en-US" altLang="en-US" dirty="0">
                <a:sym typeface="Symbol" panose="05050102010706020507" pitchFamily="18" charset="2"/>
              </a:rPr>
              <a:t>(</a:t>
            </a:r>
            <a:r>
              <a:rPr kumimoji="1" lang="en-US" altLang="en-US" i="1" dirty="0">
                <a:sym typeface="Symbol" panose="05050102010706020507" pitchFamily="18" charset="2"/>
              </a:rPr>
              <a:t>t 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course_id </a:t>
            </a:r>
            <a:r>
              <a:rPr kumimoji="1" lang="en-US" altLang="en-US" dirty="0">
                <a:sym typeface="Symbol" panose="05050102010706020507" pitchFamily="18" charset="2"/>
              </a:rPr>
              <a:t>] = </a:t>
            </a:r>
            <a:r>
              <a:rPr kumimoji="1" lang="en-US" altLang="en-US" i="1" dirty="0">
                <a:sym typeface="Symbol" panose="05050102010706020507" pitchFamily="18" charset="2"/>
              </a:rPr>
              <a:t>u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course_id</a:t>
            </a:r>
            <a:r>
              <a:rPr kumimoji="1" lang="en-US" altLang="en-US" dirty="0">
                <a:sym typeface="Symbol" panose="05050102010706020507" pitchFamily="18" charset="2"/>
              </a:rPr>
              <a:t> ]   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                          </a:t>
            </a:r>
            <a:r>
              <a:rPr kumimoji="1" lang="en-US" altLang="en-US" i="1" dirty="0">
                <a:sym typeface="Symbol" panose="05050102010706020507" pitchFamily="18" charset="2"/>
              </a:rPr>
              <a:t>u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semester</a:t>
            </a:r>
            <a:r>
              <a:rPr kumimoji="1" lang="en-US" altLang="en-US" dirty="0">
                <a:sym typeface="Symbol" panose="05050102010706020507" pitchFamily="18" charset="2"/>
              </a:rPr>
              <a:t>] = “Spring”  </a:t>
            </a:r>
            <a:r>
              <a:rPr kumimoji="1" lang="en-US" altLang="en-US" i="1" dirty="0">
                <a:sym typeface="Symbol" panose="05050102010706020507" pitchFamily="18" charset="2"/>
              </a:rPr>
              <a:t>u </a:t>
            </a:r>
            <a:r>
              <a:rPr kumimoji="1" lang="en-US" altLang="en-US" dirty="0">
                <a:sym typeface="Symbol" panose="05050102010706020507" pitchFamily="18" charset="2"/>
              </a:rPr>
              <a:t>[year] </a:t>
            </a:r>
            <a:r>
              <a:rPr kumimoji="1" lang="en-US" altLang="en-US" i="1" dirty="0">
                <a:sym typeface="Symbol" panose="05050102010706020507" pitchFamily="18" charset="2"/>
              </a:rPr>
              <a:t>= </a:t>
            </a:r>
            <a:r>
              <a:rPr kumimoji="1" lang="en-US" altLang="en-US" dirty="0">
                <a:sym typeface="Symbol" panose="05050102010706020507" pitchFamily="18" charset="2"/>
              </a:rPr>
              <a:t>2010</a:t>
            </a:r>
            <a:r>
              <a:rPr kumimoji="1" lang="en-US" altLang="en-US" i="1" dirty="0">
                <a:sym typeface="Symbol" panose="05050102010706020507" pitchFamily="18" charset="2"/>
              </a:rPr>
              <a:t> </a:t>
            </a:r>
            <a:r>
              <a:rPr kumimoji="1" lang="en-US" altLang="en-US" dirty="0">
                <a:sym typeface="Symbol" panose="05050102010706020507" pitchFamily="18" charset="2"/>
              </a:rPr>
              <a:t>)}</a:t>
            </a:r>
          </a:p>
        </p:txBody>
      </p:sp>
      <p:sp>
        <p:nvSpPr>
          <p:cNvPr id="187401" name="Text Box 9"/>
          <p:cNvSpPr txBox="1">
            <a:spLocks noChangeArrowheads="1"/>
          </p:cNvSpPr>
          <p:nvPr/>
        </p:nvSpPr>
        <p:spPr bwMode="auto">
          <a:xfrm>
            <a:off x="768350" y="1095375"/>
            <a:ext cx="8139113" cy="2825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285750" indent="-285750" algn="just">
              <a:spcBef>
                <a:spcPct val="35000"/>
              </a:spcBef>
              <a:buClr>
                <a:srgbClr val="002060"/>
              </a:buClr>
              <a:buSzPct val="115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sym typeface="Symbol" panose="05050102010706020507" pitchFamily="18" charset="2"/>
              </a:rPr>
              <a:t>  </a:t>
            </a:r>
            <a:r>
              <a:rPr kumimoji="1" lang="en-US" altLang="en-US" dirty="0">
                <a:solidFill>
                  <a:srgbClr val="000099"/>
                </a:solidFill>
                <a:sym typeface="Symbol" panose="05050102010706020507" pitchFamily="18" charset="2"/>
              </a:rPr>
              <a:t>Find the set of all courses taught in the Fall 2009 semester, and in </a:t>
            </a:r>
            <a:br>
              <a:rPr kumimoji="1" lang="en-US" altLang="en-US" dirty="0">
                <a:solidFill>
                  <a:srgbClr val="000099"/>
                </a:solidFill>
                <a:sym typeface="Symbol" panose="05050102010706020507" pitchFamily="18" charset="2"/>
              </a:rPr>
            </a:br>
            <a:r>
              <a:rPr kumimoji="1" lang="en-US" altLang="en-US" dirty="0">
                <a:solidFill>
                  <a:srgbClr val="000099"/>
                </a:solidFill>
                <a:sym typeface="Symbol" panose="05050102010706020507" pitchFamily="18" charset="2"/>
              </a:rPr>
              <a:t>    the Spring 2010 semester</a:t>
            </a:r>
          </a:p>
          <a:p>
            <a:pPr marL="285750" indent="-285750">
              <a:spcBef>
                <a:spcPct val="35000"/>
              </a:spcBef>
              <a:buClr>
                <a:srgbClr val="002060"/>
              </a:buClr>
              <a:buSzPct val="115000"/>
              <a:buFont typeface="Wingdings" panose="05000000000000000000" pitchFamily="2" charset="2"/>
              <a:buChar char="§"/>
            </a:pPr>
            <a:endParaRPr kumimoji="1" lang="en-US" altLang="en-US" dirty="0">
              <a:sym typeface="Symbol" panose="05050102010706020507" pitchFamily="18" charset="2"/>
            </a:endParaRPr>
          </a:p>
          <a:p>
            <a:pPr marL="285750" indent="-285750">
              <a:spcBef>
                <a:spcPct val="35000"/>
              </a:spcBef>
              <a:buClr>
                <a:srgbClr val="002060"/>
              </a:buClr>
              <a:buSzPct val="115000"/>
              <a:buFont typeface="Wingdings" panose="05000000000000000000" pitchFamily="2" charset="2"/>
              <a:buChar char="§"/>
            </a:pPr>
            <a:endParaRPr kumimoji="1" lang="en-US" altLang="en-US" dirty="0">
              <a:sym typeface="Symbol" panose="05050102010706020507" pitchFamily="18" charset="2"/>
            </a:endParaRPr>
          </a:p>
          <a:p>
            <a:pPr marL="285750" indent="-285750">
              <a:spcBef>
                <a:spcPct val="35000"/>
              </a:spcBef>
              <a:buClr>
                <a:srgbClr val="002060"/>
              </a:buClr>
              <a:buSzPct val="115000"/>
              <a:buFont typeface="Wingdings" panose="05000000000000000000" pitchFamily="2" charset="2"/>
              <a:buChar char="§"/>
            </a:pPr>
            <a:endParaRPr kumimoji="1" lang="en-US" altLang="en-US" dirty="0">
              <a:sym typeface="Symbol" panose="05050102010706020507" pitchFamily="18" charset="2"/>
            </a:endParaRPr>
          </a:p>
          <a:p>
            <a:pPr marL="285750" indent="-285750">
              <a:spcBef>
                <a:spcPct val="35000"/>
              </a:spcBef>
              <a:buClr>
                <a:srgbClr val="002060"/>
              </a:buClr>
              <a:buSzPct val="115000"/>
              <a:buFont typeface="Wingdings" panose="05000000000000000000" pitchFamily="2" charset="2"/>
              <a:buChar char="§"/>
            </a:pPr>
            <a:endParaRPr kumimoji="1" lang="en-US" altLang="en-US" dirty="0">
              <a:sym typeface="Symbol" panose="05050102010706020507" pitchFamily="18" charset="2"/>
            </a:endParaRPr>
          </a:p>
          <a:p>
            <a:pPr marL="285750" indent="-285750">
              <a:spcBef>
                <a:spcPct val="35000"/>
              </a:spcBef>
              <a:buClr>
                <a:srgbClr val="002060"/>
              </a:buClr>
              <a:buSzPct val="115000"/>
              <a:buFont typeface="Wingdings" panose="05000000000000000000" pitchFamily="2" charset="2"/>
              <a:buChar char="§"/>
            </a:pPr>
            <a:endParaRPr kumimoji="1" lang="en-US" altLang="en-US" dirty="0">
              <a:sym typeface="Symbol" panose="05050102010706020507" pitchFamily="18" charset="2"/>
            </a:endParaRPr>
          </a:p>
          <a:p>
            <a:pPr marL="285750" indent="-285750">
              <a:spcBef>
                <a:spcPct val="35000"/>
              </a:spcBef>
              <a:buClr>
                <a:srgbClr val="002060"/>
              </a:buClr>
              <a:buSzPct val="115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solidFill>
                  <a:srgbClr val="000099"/>
                </a:solidFill>
                <a:sym typeface="Symbol" panose="05050102010706020507" pitchFamily="18" charset="2"/>
              </a:rPr>
              <a:t>Find the set of all courses taught in the Fall 2009 semester, but not in the Spring 2010 semester</a:t>
            </a:r>
          </a:p>
        </p:txBody>
      </p:sp>
      <p:sp>
        <p:nvSpPr>
          <p:cNvPr id="187402" name="Text Box 10"/>
          <p:cNvSpPr txBox="1">
            <a:spLocks noChangeArrowheads="1"/>
          </p:cNvSpPr>
          <p:nvPr/>
        </p:nvSpPr>
        <p:spPr bwMode="auto">
          <a:xfrm>
            <a:off x="1444148" y="4020062"/>
            <a:ext cx="71342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dirty="0"/>
              <a:t>{</a:t>
            </a:r>
            <a:r>
              <a:rPr kumimoji="1" lang="en-US" altLang="en-US" i="1" dirty="0"/>
              <a:t>t </a:t>
            </a:r>
            <a:r>
              <a:rPr kumimoji="1" lang="en-US" altLang="en-US" dirty="0"/>
              <a:t>|</a:t>
            </a:r>
            <a:r>
              <a:rPr kumimoji="1" lang="en-US" altLang="en-US" i="1" dirty="0"/>
              <a:t> </a:t>
            </a:r>
            <a:r>
              <a:rPr kumimoji="1" lang="en-US" altLang="en-US" dirty="0">
                <a:sym typeface="Symbol" panose="05050102010706020507" pitchFamily="18" charset="2"/>
              </a:rPr>
              <a:t>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 </a:t>
            </a:r>
            <a:r>
              <a:rPr kumimoji="1" lang="en-US" altLang="en-US" i="1" dirty="0">
                <a:sym typeface="Symbol" panose="05050102010706020507" pitchFamily="18" charset="2"/>
              </a:rPr>
              <a:t>section </a:t>
            </a:r>
            <a:r>
              <a:rPr kumimoji="1" lang="en-US" altLang="en-US" dirty="0">
                <a:sym typeface="Symbol" panose="05050102010706020507" pitchFamily="18" charset="2"/>
              </a:rPr>
              <a:t>(</a:t>
            </a:r>
            <a:r>
              <a:rPr kumimoji="1" lang="en-US" altLang="en-US" i="1" dirty="0">
                <a:sym typeface="Symbol" panose="05050102010706020507" pitchFamily="18" charset="2"/>
              </a:rPr>
              <a:t>t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course_id </a:t>
            </a:r>
            <a:r>
              <a:rPr kumimoji="1" lang="en-US" altLang="en-US" dirty="0">
                <a:sym typeface="Symbol" panose="05050102010706020507" pitchFamily="18" charset="2"/>
              </a:rPr>
              <a:t>] = 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course_id</a:t>
            </a:r>
            <a:r>
              <a:rPr kumimoji="1" lang="en-US" altLang="en-US" dirty="0">
                <a:sym typeface="Symbol" panose="05050102010706020507" pitchFamily="18" charset="2"/>
              </a:rPr>
              <a:t> ] </a:t>
            </a:r>
            <a:r>
              <a:rPr kumimoji="1" lang="en-US" altLang="en-US" sz="1600" dirty="0">
                <a:sym typeface="Symbol" panose="05050102010706020507" pitchFamily="18" charset="2"/>
              </a:rPr>
              <a:t> </a:t>
            </a:r>
            <a:r>
              <a:rPr kumimoji="1" lang="en-US" altLang="en-US" dirty="0">
                <a:sym typeface="Symbol" panose="05050102010706020507" pitchFamily="18" charset="2"/>
              </a:rPr>
              <a:t> 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                          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semester</a:t>
            </a:r>
            <a:r>
              <a:rPr kumimoji="1" lang="en-US" altLang="en-US" dirty="0">
                <a:sym typeface="Symbol" panose="05050102010706020507" pitchFamily="18" charset="2"/>
              </a:rPr>
              <a:t>] = “Fall”  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[year] </a:t>
            </a:r>
            <a:r>
              <a:rPr kumimoji="1" lang="en-US" altLang="en-US" i="1" dirty="0">
                <a:sym typeface="Symbol" panose="05050102010706020507" pitchFamily="18" charset="2"/>
              </a:rPr>
              <a:t>= </a:t>
            </a:r>
            <a:r>
              <a:rPr kumimoji="1" lang="en-US" altLang="en-US" dirty="0">
                <a:sym typeface="Symbol" panose="05050102010706020507" pitchFamily="18" charset="2"/>
              </a:rPr>
              <a:t>2009 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  </a:t>
            </a:r>
            <a:r>
              <a:rPr kumimoji="1" lang="en-US" altLang="en-US" i="1" dirty="0">
                <a:sym typeface="Symbol" panose="05050102010706020507" pitchFamily="18" charset="2"/>
              </a:rPr>
              <a:t>u </a:t>
            </a:r>
            <a:r>
              <a:rPr kumimoji="1" lang="en-US" altLang="en-US" dirty="0">
                <a:sym typeface="Symbol" panose="05050102010706020507" pitchFamily="18" charset="2"/>
              </a:rPr>
              <a:t> </a:t>
            </a:r>
            <a:r>
              <a:rPr kumimoji="1" lang="en-US" altLang="en-US" i="1" dirty="0">
                <a:sym typeface="Symbol" panose="05050102010706020507" pitchFamily="18" charset="2"/>
              </a:rPr>
              <a:t>section </a:t>
            </a:r>
            <a:r>
              <a:rPr kumimoji="1" lang="en-US" altLang="en-US" dirty="0">
                <a:sym typeface="Symbol" panose="05050102010706020507" pitchFamily="18" charset="2"/>
              </a:rPr>
              <a:t>(</a:t>
            </a:r>
            <a:r>
              <a:rPr kumimoji="1" lang="en-US" altLang="en-US" i="1" dirty="0">
                <a:sym typeface="Symbol" panose="05050102010706020507" pitchFamily="18" charset="2"/>
              </a:rPr>
              <a:t>t 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course_id </a:t>
            </a:r>
            <a:r>
              <a:rPr kumimoji="1" lang="en-US" altLang="en-US" dirty="0">
                <a:sym typeface="Symbol" panose="05050102010706020507" pitchFamily="18" charset="2"/>
              </a:rPr>
              <a:t>] = </a:t>
            </a:r>
            <a:r>
              <a:rPr kumimoji="1" lang="en-US" altLang="en-US" i="1" dirty="0">
                <a:sym typeface="Symbol" panose="05050102010706020507" pitchFamily="18" charset="2"/>
              </a:rPr>
              <a:t>u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course_id</a:t>
            </a:r>
            <a:r>
              <a:rPr kumimoji="1" lang="en-US" altLang="en-US" dirty="0">
                <a:sym typeface="Symbol" panose="05050102010706020507" pitchFamily="18" charset="2"/>
              </a:rPr>
              <a:t> ]   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                          </a:t>
            </a:r>
            <a:r>
              <a:rPr kumimoji="1" lang="en-US" altLang="en-US" i="1" dirty="0">
                <a:sym typeface="Symbol" panose="05050102010706020507" pitchFamily="18" charset="2"/>
              </a:rPr>
              <a:t>u </a:t>
            </a:r>
            <a:r>
              <a:rPr kumimoji="1" lang="en-US" altLang="en-US" dirty="0">
                <a:sym typeface="Symbol" panose="05050102010706020507" pitchFamily="18" charset="2"/>
              </a:rPr>
              <a:t>[</a:t>
            </a:r>
            <a:r>
              <a:rPr kumimoji="1" lang="en-US" altLang="en-US" i="1" dirty="0">
                <a:sym typeface="Symbol" panose="05050102010706020507" pitchFamily="18" charset="2"/>
              </a:rPr>
              <a:t>semester</a:t>
            </a:r>
            <a:r>
              <a:rPr kumimoji="1" lang="en-US" altLang="en-US" dirty="0">
                <a:sym typeface="Symbol" panose="05050102010706020507" pitchFamily="18" charset="2"/>
              </a:rPr>
              <a:t>] = “Spring”  </a:t>
            </a:r>
            <a:r>
              <a:rPr kumimoji="1" lang="en-US" altLang="en-US" i="1" dirty="0">
                <a:sym typeface="Symbol" panose="05050102010706020507" pitchFamily="18" charset="2"/>
              </a:rPr>
              <a:t>u </a:t>
            </a:r>
            <a:r>
              <a:rPr kumimoji="1" lang="en-US" altLang="en-US" dirty="0">
                <a:sym typeface="Symbol" panose="05050102010706020507" pitchFamily="18" charset="2"/>
              </a:rPr>
              <a:t>[year] </a:t>
            </a:r>
            <a:r>
              <a:rPr kumimoji="1" lang="en-US" altLang="en-US" i="1" dirty="0">
                <a:sym typeface="Symbol" panose="05050102010706020507" pitchFamily="18" charset="2"/>
              </a:rPr>
              <a:t>= </a:t>
            </a:r>
            <a:r>
              <a:rPr kumimoji="1" lang="en-US" altLang="en-US" dirty="0">
                <a:sym typeface="Symbol" panose="05050102010706020507" pitchFamily="18" charset="2"/>
              </a:rPr>
              <a:t>2010 )}</a:t>
            </a:r>
          </a:p>
        </p:txBody>
      </p:sp>
    </p:spTree>
    <p:extLst>
      <p:ext uri="{BB962C8B-B14F-4D97-AF65-F5344CB8AC3E}">
        <p14:creationId xmlns:p14="http://schemas.microsoft.com/office/powerpoint/2010/main" val="415513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0" grpId="0" autoUpdateAnimBg="0"/>
      <p:bldP spid="187401" grpId="0" autoUpdateAnimBg="0"/>
      <p:bldP spid="18740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Universal Quantification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en-US" dirty="0">
                <a:solidFill>
                  <a:srgbClr val="000099"/>
                </a:solidFill>
              </a:rPr>
              <a:t>Find all students who have taken all courses offered in the Biology department</a:t>
            </a:r>
          </a:p>
          <a:p>
            <a:pPr lvl="1"/>
            <a:r>
              <a:rPr lang="en-US" altLang="en-US" dirty="0"/>
              <a:t>    {</a:t>
            </a:r>
            <a:r>
              <a:rPr lang="en-US" altLang="en-US" i="1" dirty="0"/>
              <a:t>t </a:t>
            </a:r>
            <a:r>
              <a:rPr lang="en-US" altLang="en-US" dirty="0"/>
              <a:t>|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 </a:t>
            </a:r>
            <a:r>
              <a:rPr lang="en-US" altLang="en-US" i="1" dirty="0">
                <a:sym typeface="Symbol" panose="05050102010706020507" pitchFamily="18" charset="2"/>
              </a:rPr>
              <a:t>r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student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ID</a:t>
            </a:r>
            <a:r>
              <a:rPr lang="en-US" altLang="en-US" dirty="0">
                <a:sym typeface="Symbol" panose="05050102010706020507" pitchFamily="18" charset="2"/>
              </a:rPr>
              <a:t>] = </a:t>
            </a:r>
            <a:r>
              <a:rPr lang="en-US" altLang="en-US" i="1" dirty="0">
                <a:sym typeface="Symbol" panose="05050102010706020507" pitchFamily="18" charset="2"/>
              </a:rPr>
              <a:t>r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ID</a:t>
            </a:r>
            <a:r>
              <a:rPr lang="en-US" altLang="en-US" dirty="0">
                <a:sym typeface="Symbol" panose="05050102010706020507" pitchFamily="18" charset="2"/>
              </a:rPr>
              <a:t>]) 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( </a:t>
            </a:r>
            <a:r>
              <a:rPr lang="en-US" altLang="en-US" i="1" dirty="0">
                <a:sym typeface="Symbol" panose="05050102010706020507" pitchFamily="18" charset="2"/>
              </a:rPr>
              <a:t>u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course</a:t>
            </a: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u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dept_name</a:t>
            </a:r>
            <a:r>
              <a:rPr lang="en-US" altLang="en-US" dirty="0">
                <a:sym typeface="Symbol" panose="05050102010706020507" pitchFamily="18" charset="2"/>
              </a:rPr>
              <a:t>]=“Biology”  </a:t>
            </a:r>
            <a:r>
              <a:rPr lang="en-US" altLang="en-US" dirty="0">
                <a:sym typeface="Wingdings" panose="05000000000000000000" pitchFamily="2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            </a:t>
            </a:r>
            <a:r>
              <a:rPr lang="en-US" altLang="en-US" i="1" dirty="0">
                <a:sym typeface="Symbol" panose="05050102010706020507" pitchFamily="18" charset="2"/>
              </a:rPr>
              <a:t> s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takes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ID</a:t>
            </a:r>
            <a:r>
              <a:rPr lang="en-US" altLang="en-US" dirty="0">
                <a:sym typeface="Symbol" panose="05050102010706020507" pitchFamily="18" charset="2"/>
              </a:rPr>
              <a:t>] = </a:t>
            </a:r>
            <a:r>
              <a:rPr lang="en-US" altLang="en-US" i="1" dirty="0">
                <a:sym typeface="Symbol" panose="05050102010706020507" pitchFamily="18" charset="2"/>
              </a:rPr>
              <a:t>s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ID</a:t>
            </a:r>
            <a:r>
              <a:rPr lang="en-US" altLang="en-US" dirty="0">
                <a:sym typeface="Symbol" panose="05050102010706020507" pitchFamily="18" charset="2"/>
              </a:rPr>
              <a:t> ]  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                    </a:t>
            </a:r>
            <a:r>
              <a:rPr lang="en-US" altLang="en-US" i="1" dirty="0">
                <a:sym typeface="Symbol" panose="05050102010706020507" pitchFamily="18" charset="2"/>
              </a:rPr>
              <a:t>s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course_id</a:t>
            </a:r>
            <a:r>
              <a:rPr lang="en-US" altLang="en-US" dirty="0">
                <a:sym typeface="Symbol" panose="05050102010706020507" pitchFamily="18" charset="2"/>
              </a:rPr>
              <a:t>] = </a:t>
            </a:r>
            <a:r>
              <a:rPr lang="en-US" altLang="en-US" i="1" dirty="0">
                <a:sym typeface="Symbol" panose="05050102010706020507" pitchFamily="18" charset="2"/>
              </a:rPr>
              <a:t>u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course_id</a:t>
            </a:r>
            <a:r>
              <a:rPr lang="en-US" altLang="en-US" dirty="0">
                <a:sym typeface="Symbol" panose="05050102010706020507" pitchFamily="18" charset="2"/>
              </a:rPr>
              <a:t>]))}</a:t>
            </a:r>
          </a:p>
        </p:txBody>
      </p:sp>
    </p:spTree>
    <p:extLst>
      <p:ext uri="{BB962C8B-B14F-4D97-AF65-F5344CB8AC3E}">
        <p14:creationId xmlns:p14="http://schemas.microsoft.com/office/powerpoint/2010/main" val="3626817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Safety of Expressions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5225"/>
            <a:ext cx="7531100" cy="4876800"/>
          </a:xfrm>
        </p:spPr>
        <p:txBody>
          <a:bodyPr/>
          <a:lstStyle/>
          <a:p>
            <a:pPr algn="just"/>
            <a:r>
              <a:rPr lang="en-US" altLang="en-US" dirty="0"/>
              <a:t>It is possible to write tuple calculus expressions that generate infinite relations.</a:t>
            </a:r>
          </a:p>
          <a:p>
            <a:pPr algn="just"/>
            <a:r>
              <a:rPr lang="en-US" altLang="en-US" dirty="0"/>
              <a:t>For example, { t | </a:t>
            </a:r>
            <a:r>
              <a:rPr lang="en-US" altLang="en-US" dirty="0">
                <a:sym typeface="Symbol" panose="05050102010706020507" pitchFamily="18" charset="2"/>
              </a:rPr>
              <a:t> </a:t>
            </a:r>
            <a:r>
              <a:rPr lang="en-US" altLang="en-US" i="1" dirty="0">
                <a:sym typeface="Symbol" panose="05050102010706020507" pitchFamily="18" charset="2"/>
              </a:rPr>
              <a:t>t</a:t>
            </a:r>
            <a:r>
              <a:rPr lang="en-US" altLang="en-US" dirty="0">
                <a:sym typeface="Symbol" panose="05050102010706020507" pitchFamily="18" charset="2"/>
              </a:rPr>
              <a:t> </a:t>
            </a:r>
            <a:r>
              <a:rPr lang="en-US" altLang="en-US" i="1" dirty="0">
                <a:sym typeface="Symbol" panose="05050102010706020507" pitchFamily="18" charset="2"/>
              </a:rPr>
              <a:t>r </a:t>
            </a:r>
            <a:r>
              <a:rPr lang="en-US" altLang="en-US" dirty="0">
                <a:sym typeface="Symbol" panose="05050102010706020507" pitchFamily="18" charset="2"/>
              </a:rPr>
              <a:t>} results in an infinite relation if the domain of any attribute of relation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is infinite</a:t>
            </a:r>
          </a:p>
          <a:p>
            <a:pPr algn="just"/>
            <a:r>
              <a:rPr lang="en-US" altLang="en-US" dirty="0">
                <a:sym typeface="Symbol" panose="05050102010706020507" pitchFamily="18" charset="2"/>
              </a:rPr>
              <a:t>To guard against the problem, we restrict the set of allowable expressions to safe expressions.</a:t>
            </a:r>
          </a:p>
          <a:p>
            <a:pPr marL="0" indent="0" algn="just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algn="just"/>
            <a:r>
              <a:rPr lang="en-US" altLang="en-US" dirty="0">
                <a:sym typeface="Symbol" panose="05050102010706020507" pitchFamily="18" charset="2"/>
              </a:rPr>
              <a:t>An expression {</a:t>
            </a:r>
            <a:r>
              <a:rPr lang="en-US" altLang="en-US" i="1" dirty="0">
                <a:sym typeface="Symbol" panose="05050102010706020507" pitchFamily="18" charset="2"/>
              </a:rPr>
              <a:t>t</a:t>
            </a:r>
            <a:r>
              <a:rPr lang="en-US" altLang="en-US" dirty="0">
                <a:sym typeface="Symbol" panose="05050102010706020507" pitchFamily="18" charset="2"/>
              </a:rPr>
              <a:t> | </a:t>
            </a:r>
            <a:r>
              <a:rPr lang="en-US" altLang="en-US" i="1" dirty="0">
                <a:sym typeface="Symbol" panose="05050102010706020507" pitchFamily="18" charset="2"/>
              </a:rPr>
              <a:t>P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)}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in the tuple relational calculus is </a:t>
            </a:r>
            <a:r>
              <a:rPr lang="en-US" altLang="en-US" i="1" dirty="0">
                <a:sym typeface="Symbol" panose="05050102010706020507" pitchFamily="18" charset="2"/>
              </a:rPr>
              <a:t>safe</a:t>
            </a:r>
            <a:r>
              <a:rPr lang="en-US" altLang="en-US" dirty="0">
                <a:sym typeface="Symbol" panose="05050102010706020507" pitchFamily="18" charset="2"/>
              </a:rPr>
              <a:t> if every component of </a:t>
            </a:r>
            <a:r>
              <a:rPr lang="en-US" altLang="en-US" i="1" dirty="0">
                <a:sym typeface="Symbol" panose="05050102010706020507" pitchFamily="18" charset="2"/>
              </a:rPr>
              <a:t>t</a:t>
            </a:r>
            <a:r>
              <a:rPr lang="en-US" altLang="en-US" dirty="0">
                <a:sym typeface="Symbol" panose="05050102010706020507" pitchFamily="18" charset="2"/>
              </a:rPr>
              <a:t> appears in one of the relations, tuples, or constants that appear in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</a:p>
          <a:p>
            <a:pPr lvl="1" algn="just"/>
            <a:r>
              <a:rPr lang="en-US" altLang="en-US" dirty="0"/>
              <a:t>NOTE: this is more than just a syntax condition. </a:t>
            </a:r>
          </a:p>
          <a:p>
            <a:pPr lvl="2" algn="just"/>
            <a:r>
              <a:rPr lang="en-US" altLang="en-US" dirty="0"/>
              <a:t>E.g., { </a:t>
            </a:r>
            <a:r>
              <a:rPr lang="en-US" altLang="en-US" i="1" dirty="0"/>
              <a:t>t</a:t>
            </a:r>
            <a:r>
              <a:rPr lang="en-US" altLang="en-US" dirty="0"/>
              <a:t> | </a:t>
            </a:r>
            <a:r>
              <a:rPr lang="en-US" altLang="en-US" i="1" dirty="0"/>
              <a:t>t </a:t>
            </a:r>
            <a:r>
              <a:rPr lang="en-US" altLang="en-US" dirty="0"/>
              <a:t>[</a:t>
            </a:r>
            <a:r>
              <a:rPr lang="en-US" altLang="en-US" i="1" dirty="0"/>
              <a:t>A</a:t>
            </a:r>
            <a:r>
              <a:rPr lang="en-US" altLang="en-US" dirty="0"/>
              <a:t>] = 5 </a:t>
            </a:r>
            <a:r>
              <a:rPr lang="en-US" altLang="en-US" sz="2000" dirty="0">
                <a:sym typeface="Symbol" panose="05050102010706020507" pitchFamily="18" charset="2"/>
              </a:rPr>
              <a:t></a:t>
            </a:r>
            <a:r>
              <a:rPr lang="en-US" altLang="en-US" dirty="0"/>
              <a:t> </a:t>
            </a:r>
            <a:r>
              <a:rPr lang="en-US" altLang="en-US" b="1" dirty="0"/>
              <a:t>true</a:t>
            </a:r>
            <a:r>
              <a:rPr lang="en-US" altLang="en-US" dirty="0"/>
              <a:t> } is not safe --- it defines an infinite set with attribute values that do not appear in any relation or tuples or constants in </a:t>
            </a:r>
            <a:r>
              <a:rPr lang="en-US" altLang="en-US" i="1" dirty="0"/>
              <a:t>P</a:t>
            </a:r>
            <a:r>
              <a:rPr lang="en-US" alt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45064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Safety of Expressions (Cont.)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1093788"/>
            <a:ext cx="7712183" cy="4903787"/>
          </a:xfrm>
        </p:spPr>
        <p:txBody>
          <a:bodyPr/>
          <a:lstStyle/>
          <a:p>
            <a:r>
              <a:rPr lang="en-US" altLang="en-US" dirty="0"/>
              <a:t>Consider again that query to find all students who have taken all courses offered in the Biology department</a:t>
            </a:r>
          </a:p>
          <a:p>
            <a:pPr lvl="1"/>
            <a:r>
              <a:rPr lang="en-US" altLang="en-US" dirty="0"/>
              <a:t>    {</a:t>
            </a:r>
            <a:r>
              <a:rPr lang="en-US" altLang="en-US" i="1" dirty="0"/>
              <a:t>t </a:t>
            </a:r>
            <a:r>
              <a:rPr lang="en-US" altLang="en-US" dirty="0"/>
              <a:t>|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 </a:t>
            </a:r>
            <a:r>
              <a:rPr lang="en-US" altLang="en-US" i="1" dirty="0">
                <a:sym typeface="Symbol" panose="05050102010706020507" pitchFamily="18" charset="2"/>
              </a:rPr>
              <a:t>r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student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ID</a:t>
            </a:r>
            <a:r>
              <a:rPr lang="en-US" altLang="en-US" dirty="0">
                <a:sym typeface="Symbol" panose="05050102010706020507" pitchFamily="18" charset="2"/>
              </a:rPr>
              <a:t>] = </a:t>
            </a:r>
            <a:r>
              <a:rPr lang="en-US" altLang="en-US" i="1" dirty="0">
                <a:sym typeface="Symbol" panose="05050102010706020507" pitchFamily="18" charset="2"/>
              </a:rPr>
              <a:t>r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ID</a:t>
            </a:r>
            <a:r>
              <a:rPr lang="en-US" altLang="en-US" dirty="0">
                <a:sym typeface="Symbol" panose="05050102010706020507" pitchFamily="18" charset="2"/>
              </a:rPr>
              <a:t>]) 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( </a:t>
            </a:r>
            <a:r>
              <a:rPr lang="en-US" altLang="en-US" i="1" dirty="0">
                <a:sym typeface="Symbol" panose="05050102010706020507" pitchFamily="18" charset="2"/>
              </a:rPr>
              <a:t>u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course</a:t>
            </a: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u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dept_name</a:t>
            </a:r>
            <a:r>
              <a:rPr lang="en-US" altLang="en-US" dirty="0">
                <a:sym typeface="Symbol" panose="05050102010706020507" pitchFamily="18" charset="2"/>
              </a:rPr>
              <a:t>]=“Biology”  </a:t>
            </a:r>
            <a:r>
              <a:rPr lang="en-US" altLang="en-US" dirty="0">
                <a:sym typeface="Wingdings" panose="05000000000000000000" pitchFamily="2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            </a:t>
            </a:r>
            <a:r>
              <a:rPr lang="en-US" altLang="en-US" i="1" dirty="0">
                <a:sym typeface="Symbol" panose="05050102010706020507" pitchFamily="18" charset="2"/>
              </a:rPr>
              <a:t> s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takes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ID</a:t>
            </a:r>
            <a:r>
              <a:rPr lang="en-US" altLang="en-US" dirty="0">
                <a:sym typeface="Symbol" panose="05050102010706020507" pitchFamily="18" charset="2"/>
              </a:rPr>
              <a:t>] = </a:t>
            </a:r>
            <a:r>
              <a:rPr lang="en-US" altLang="en-US" i="1" dirty="0">
                <a:sym typeface="Symbol" panose="05050102010706020507" pitchFamily="18" charset="2"/>
              </a:rPr>
              <a:t>s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ID</a:t>
            </a:r>
            <a:r>
              <a:rPr lang="en-US" altLang="en-US" dirty="0">
                <a:sym typeface="Symbol" panose="05050102010706020507" pitchFamily="18" charset="2"/>
              </a:rPr>
              <a:t> ]  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                    </a:t>
            </a:r>
            <a:r>
              <a:rPr lang="en-US" altLang="en-US" i="1" dirty="0">
                <a:sym typeface="Symbol" panose="05050102010706020507" pitchFamily="18" charset="2"/>
              </a:rPr>
              <a:t>s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course_id</a:t>
            </a:r>
            <a:r>
              <a:rPr lang="en-US" altLang="en-US" dirty="0">
                <a:sym typeface="Symbol" panose="05050102010706020507" pitchFamily="18" charset="2"/>
              </a:rPr>
              <a:t>] = </a:t>
            </a:r>
            <a:r>
              <a:rPr lang="en-US" altLang="en-US" i="1" dirty="0">
                <a:sym typeface="Symbol" panose="05050102010706020507" pitchFamily="18" charset="2"/>
              </a:rPr>
              <a:t>u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 err="1">
                <a:sym typeface="Symbol" panose="05050102010706020507" pitchFamily="18" charset="2"/>
              </a:rPr>
              <a:t>course_id</a:t>
            </a:r>
            <a:r>
              <a:rPr lang="en-US" altLang="en-US" dirty="0">
                <a:sym typeface="Symbol" panose="05050102010706020507" pitchFamily="18" charset="2"/>
              </a:rPr>
              <a:t>]))}</a:t>
            </a:r>
          </a:p>
          <a:p>
            <a:pPr lvl="1"/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/>
              <a:t>Without the existential quantification on student, the above query would be unsafe if the Biology department has not offered any courses. </a:t>
            </a:r>
          </a:p>
        </p:txBody>
      </p:sp>
    </p:spTree>
    <p:extLst>
      <p:ext uri="{BB962C8B-B14F-4D97-AF65-F5344CB8AC3E}">
        <p14:creationId xmlns:p14="http://schemas.microsoft.com/office/powerpoint/2010/main" val="1695828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415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Domain Relational Calculus</a:t>
            </a:r>
          </a:p>
        </p:txBody>
      </p:sp>
    </p:spTree>
    <p:extLst>
      <p:ext uri="{BB962C8B-B14F-4D97-AF65-F5344CB8AC3E}">
        <p14:creationId xmlns:p14="http://schemas.microsoft.com/office/powerpoint/2010/main" val="3888085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Domain Relational Calculus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5225"/>
            <a:ext cx="7585537" cy="4876800"/>
          </a:xfrm>
        </p:spPr>
        <p:txBody>
          <a:bodyPr/>
          <a:lstStyle/>
          <a:p>
            <a:r>
              <a:rPr lang="en-US" altLang="en-US" dirty="0"/>
              <a:t>A nonprocedural query language equivalent in power to the tuple relational calculus</a:t>
            </a:r>
          </a:p>
          <a:p>
            <a:r>
              <a:rPr lang="en-US" altLang="en-US" dirty="0"/>
              <a:t>Each query is an expression of the form:</a:t>
            </a:r>
          </a:p>
          <a:p>
            <a:pPr>
              <a:buFont typeface="Monotype Sorts" pitchFamily="2" charset="2"/>
              <a:buNone/>
            </a:pPr>
            <a:endParaRPr lang="en-US" altLang="en-US" dirty="0"/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			{ </a:t>
            </a:r>
            <a:r>
              <a:rPr lang="en-US" altLang="en-US" dirty="0">
                <a:sym typeface="Symbol" panose="05050102010706020507" pitchFamily="18" charset="2"/>
              </a:rPr>
              <a:t>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sz="1900" baseline="-25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Symbol" panose="05050102010706020507" pitchFamily="18" charset="2"/>
              </a:rPr>
              <a:t>, x</a:t>
            </a:r>
            <a:r>
              <a:rPr lang="en-US" altLang="en-US" sz="1900" baseline="-25000" dirty="0">
                <a:sym typeface="Symbol" panose="05050102010706020507" pitchFamily="18" charset="2"/>
              </a:rPr>
              <a:t>2</a:t>
            </a:r>
            <a:r>
              <a:rPr lang="en-US" altLang="en-US" i="1" dirty="0">
                <a:sym typeface="Symbol" panose="05050102010706020507" pitchFamily="18" charset="2"/>
              </a:rPr>
              <a:t>, …, x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 | </a:t>
            </a:r>
            <a:r>
              <a:rPr lang="en-US" altLang="en-US" i="1" dirty="0">
                <a:sym typeface="Symbol" panose="05050102010706020507" pitchFamily="18" charset="2"/>
              </a:rPr>
              <a:t>P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sz="1900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sz="1900" baseline="-25000" dirty="0">
                <a:sym typeface="Symbol" panose="05050102010706020507" pitchFamily="18" charset="2"/>
              </a:rPr>
              <a:t>2</a:t>
            </a:r>
            <a:r>
              <a:rPr lang="en-US" altLang="en-US" i="1" dirty="0">
                <a:sym typeface="Symbol" panose="05050102010706020507" pitchFamily="18" charset="2"/>
              </a:rPr>
              <a:t>, …, x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)}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sz="2100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sz="2100" baseline="-25000" dirty="0">
                <a:sym typeface="Symbol" panose="05050102010706020507" pitchFamily="18" charset="2"/>
              </a:rPr>
              <a:t>2</a:t>
            </a:r>
            <a:r>
              <a:rPr lang="en-US" altLang="en-US" i="1" dirty="0">
                <a:sym typeface="Symbol" panose="05050102010706020507" pitchFamily="18" charset="2"/>
              </a:rPr>
              <a:t>, …, x</a:t>
            </a:r>
            <a:r>
              <a:rPr lang="en-US" altLang="en-US" sz="2100" i="1" baseline="-25000" dirty="0">
                <a:sym typeface="Symbol" panose="05050102010706020507" pitchFamily="18" charset="2"/>
              </a:rPr>
              <a:t>n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 represent domain variables</a:t>
            </a:r>
          </a:p>
          <a:p>
            <a:pPr lvl="1"/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represents a formula similar to that of the predicate calculus</a:t>
            </a:r>
          </a:p>
          <a:p>
            <a:pPr lvl="1">
              <a:buFont typeface="Monotype Sorts" pitchFamily="2" charset="2"/>
              <a:buNone/>
            </a:pPr>
            <a:endParaRPr lang="en-US" altLang="en-US" i="1" baseline="-250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24701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Queries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5225"/>
            <a:ext cx="7808913" cy="5109845"/>
          </a:xfrm>
        </p:spPr>
        <p:txBody>
          <a:bodyPr/>
          <a:lstStyle/>
          <a:p>
            <a:pPr algn="just">
              <a:tabLst>
                <a:tab pos="3195638" algn="ctr"/>
              </a:tabLst>
            </a:pPr>
            <a:r>
              <a:rPr lang="en-US" altLang="en-US" dirty="0">
                <a:solidFill>
                  <a:srgbClr val="000099"/>
                </a:solidFill>
              </a:rPr>
              <a:t>Find the </a:t>
            </a:r>
            <a:r>
              <a:rPr lang="en-US" altLang="en-US" i="1" dirty="0">
                <a:solidFill>
                  <a:srgbClr val="000099"/>
                </a:solidFill>
              </a:rPr>
              <a:t>ID, name, dept_name, salary  </a:t>
            </a:r>
            <a:r>
              <a:rPr lang="en-US" altLang="en-US" dirty="0">
                <a:solidFill>
                  <a:srgbClr val="000099"/>
                </a:solidFill>
              </a:rPr>
              <a:t>for instructors whose salary is greater than $80,000</a:t>
            </a:r>
          </a:p>
          <a:p>
            <a:pPr lvl="1">
              <a:tabLst>
                <a:tab pos="3195638" algn="ctr"/>
              </a:tabLst>
            </a:pPr>
            <a:r>
              <a:rPr lang="en-US" altLang="en-US" dirty="0"/>
              <a:t>{</a:t>
            </a:r>
            <a:r>
              <a:rPr lang="en-US" altLang="en-US" i="1" dirty="0"/>
              <a:t>&lt; i, n, d, s&gt; </a:t>
            </a:r>
            <a:r>
              <a:rPr lang="en-US" altLang="en-US" dirty="0"/>
              <a:t>| </a:t>
            </a:r>
            <a:r>
              <a:rPr lang="en-US" altLang="en-US" i="1" dirty="0"/>
              <a:t> &lt; i, n, d, s&gt;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instructor</a:t>
            </a:r>
            <a:r>
              <a:rPr lang="en-US" altLang="en-US" dirty="0">
                <a:sym typeface="Symbol" panose="05050102010706020507" pitchFamily="18" charset="2"/>
              </a:rPr>
              <a:t> 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 80000}</a:t>
            </a:r>
          </a:p>
          <a:p>
            <a:pPr lvl="1">
              <a:tabLst>
                <a:tab pos="3195638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tabLst>
                <a:tab pos="3195638" algn="ctr"/>
              </a:tabLst>
            </a:pPr>
            <a:r>
              <a:rPr lang="en-US" altLang="en-US" dirty="0"/>
              <a:t> As in the previous query, but output only the </a:t>
            </a:r>
            <a:r>
              <a:rPr lang="en-US" altLang="en-US" i="1" dirty="0"/>
              <a:t>ID</a:t>
            </a:r>
            <a:r>
              <a:rPr lang="en-US" altLang="en-US" dirty="0"/>
              <a:t> attribute value</a:t>
            </a:r>
          </a:p>
          <a:p>
            <a:pPr lvl="1">
              <a:tabLst>
                <a:tab pos="3195638" algn="ctr"/>
              </a:tabLst>
            </a:pPr>
            <a:r>
              <a:rPr lang="en-US" altLang="en-US" dirty="0"/>
              <a:t>{</a:t>
            </a:r>
            <a:r>
              <a:rPr lang="en-US" altLang="en-US" i="1" dirty="0"/>
              <a:t>&lt; i&gt; </a:t>
            </a:r>
            <a:r>
              <a:rPr lang="en-US" altLang="en-US" dirty="0"/>
              <a:t> |</a:t>
            </a:r>
            <a:r>
              <a:rPr lang="en-US" altLang="en-US" i="1" dirty="0"/>
              <a:t> &lt; i, n, d, s&gt;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instructor</a:t>
            </a:r>
            <a:r>
              <a:rPr lang="en-US" altLang="en-US" dirty="0">
                <a:sym typeface="Symbol" panose="05050102010706020507" pitchFamily="18" charset="2"/>
              </a:rPr>
              <a:t> 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 80000}</a:t>
            </a:r>
          </a:p>
          <a:p>
            <a:pPr marL="457200" lvl="1" indent="0">
              <a:buNone/>
              <a:tabLst>
                <a:tab pos="3195638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 algn="just">
              <a:tabLst>
                <a:tab pos="3195638" algn="ctr"/>
              </a:tabLst>
            </a:pPr>
            <a:r>
              <a:rPr lang="en-US" altLang="en-US" dirty="0">
                <a:solidFill>
                  <a:srgbClr val="000099"/>
                </a:solidFill>
              </a:rPr>
              <a:t>Find the names of all instructors whose department is in the Watson building</a:t>
            </a:r>
          </a:p>
          <a:p>
            <a:pPr>
              <a:tabLst>
                <a:tab pos="3195638" algn="ctr"/>
              </a:tabLst>
            </a:pPr>
            <a:endParaRPr lang="en-US" altLang="en-US" dirty="0"/>
          </a:p>
          <a:p>
            <a:pPr>
              <a:buFont typeface="Monotype Sorts" pitchFamily="2" charset="2"/>
              <a:buNone/>
              <a:tabLst>
                <a:tab pos="3195638" algn="ctr"/>
              </a:tabLst>
            </a:pPr>
            <a:r>
              <a:rPr lang="en-US" altLang="en-US" dirty="0"/>
              <a:t>         {</a:t>
            </a:r>
            <a:r>
              <a:rPr lang="en-US" altLang="en-US" i="1" dirty="0"/>
              <a:t>&lt; n &gt; </a:t>
            </a:r>
            <a:r>
              <a:rPr lang="en-US" altLang="en-US" dirty="0"/>
              <a:t>| 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 </a:t>
            </a:r>
            <a:r>
              <a:rPr lang="en-US" altLang="en-US" i="1" dirty="0">
                <a:sym typeface="Symbol" panose="05050102010706020507" pitchFamily="18" charset="2"/>
              </a:rPr>
              <a:t>i, d, s (&lt;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i, n, d, s</a:t>
            </a:r>
            <a:r>
              <a:rPr lang="en-US" altLang="en-US" dirty="0">
                <a:sym typeface="Symbol" panose="05050102010706020507" pitchFamily="18" charset="2"/>
              </a:rPr>
              <a:t> &gt;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instructor </a:t>
            </a: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     b, a (&lt;</a:t>
            </a:r>
            <a:r>
              <a:rPr lang="en-US" altLang="en-US" i="1" dirty="0">
                <a:sym typeface="Symbol" panose="05050102010706020507" pitchFamily="18" charset="2"/>
              </a:rPr>
              <a:t> d, b, a&gt;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sym typeface="Symbol" panose="05050102010706020507" pitchFamily="18" charset="2"/>
              </a:rPr>
              <a:t>department  </a:t>
            </a:r>
            <a:r>
              <a:rPr lang="en-US" altLang="en-US" dirty="0">
                <a:sym typeface="Symbol" panose="05050102010706020507" pitchFamily="18" charset="2"/>
              </a:rPr>
              <a:t> 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= “Watson” ))}</a:t>
            </a:r>
          </a:p>
          <a:p>
            <a:pPr lvl="1">
              <a:tabLst>
                <a:tab pos="3195638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tabLst>
                <a:tab pos="3195638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tabLst>
                <a:tab pos="3195638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 lvl="1">
              <a:tabLst>
                <a:tab pos="3195638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759812" name="Text Box 4"/>
          <p:cNvSpPr txBox="1">
            <a:spLocks noChangeArrowheads="1"/>
          </p:cNvSpPr>
          <p:nvPr/>
        </p:nvSpPr>
        <p:spPr bwMode="auto">
          <a:xfrm>
            <a:off x="871539" y="4354830"/>
            <a:ext cx="7060881" cy="139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kumimoji="1" lang="en-US" altLang="en-US" sz="200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kumimoji="1" lang="en-US" altLang="en-US" i="1">
              <a:sym typeface="Symbol" panose="05050102010706020507" pitchFamily="18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kumimoji="1" lang="en-US" altLang="en-US" i="1">
              <a:sym typeface="Symbol" panose="05050102010706020507" pitchFamily="18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kumimoji="1" lang="en-US" altLang="en-US" i="1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311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9811" grpId="0" build="p" autoUpdateAnimBg="0"/>
      <p:bldP spid="75981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Queries</a:t>
            </a:r>
          </a:p>
        </p:txBody>
      </p:sp>
      <p:sp>
        <p:nvSpPr>
          <p:cNvPr id="761860" name="Text Box 4"/>
          <p:cNvSpPr txBox="1">
            <a:spLocks noChangeArrowheads="1"/>
          </p:cNvSpPr>
          <p:nvPr/>
        </p:nvSpPr>
        <p:spPr bwMode="auto">
          <a:xfrm>
            <a:off x="1247775" y="1784350"/>
            <a:ext cx="7134225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dirty="0"/>
              <a:t>{</a:t>
            </a:r>
            <a:r>
              <a:rPr kumimoji="1" lang="en-US" altLang="en-US" i="1" dirty="0"/>
              <a:t>&lt;c&gt; </a:t>
            </a:r>
            <a:r>
              <a:rPr kumimoji="1" lang="en-US" altLang="en-US" dirty="0"/>
              <a:t>|</a:t>
            </a:r>
            <a:r>
              <a:rPr kumimoji="1" lang="en-US" altLang="en-US" i="1" dirty="0"/>
              <a:t>  </a:t>
            </a:r>
            <a:r>
              <a:rPr kumimoji="1" lang="en-US" altLang="en-US" dirty="0">
                <a:sym typeface="Symbol" panose="05050102010706020507" pitchFamily="18" charset="2"/>
              </a:rPr>
              <a:t></a:t>
            </a:r>
            <a:r>
              <a:rPr kumimoji="1" lang="en-US" altLang="en-US" i="1" dirty="0">
                <a:sym typeface="Symbol" panose="05050102010706020507" pitchFamily="18" charset="2"/>
              </a:rPr>
              <a:t>  s, y, b, r, t  </a:t>
            </a:r>
            <a:r>
              <a:rPr kumimoji="1" lang="en-US" altLang="en-US" dirty="0">
                <a:sym typeface="Symbol" panose="05050102010706020507" pitchFamily="18" charset="2"/>
              </a:rPr>
              <a:t>( &lt;</a:t>
            </a:r>
            <a:r>
              <a:rPr kumimoji="1" lang="en-US" altLang="en-US" i="1" dirty="0">
                <a:sym typeface="Symbol" panose="05050102010706020507" pitchFamily="18" charset="2"/>
              </a:rPr>
              <a:t>c,  s, y, b, r, t</a:t>
            </a:r>
            <a:r>
              <a:rPr kumimoji="1" lang="en-US" altLang="en-US" dirty="0">
                <a:sym typeface="Symbol" panose="05050102010706020507" pitchFamily="18" charset="2"/>
              </a:rPr>
              <a:t> &gt;</a:t>
            </a:r>
            <a:r>
              <a:rPr kumimoji="1" lang="en-US" altLang="en-US" i="1" dirty="0">
                <a:sym typeface="Symbol" panose="05050102010706020507" pitchFamily="18" charset="2"/>
              </a:rPr>
              <a:t> </a:t>
            </a:r>
            <a:r>
              <a:rPr kumimoji="1" lang="en-US" altLang="en-US" dirty="0">
                <a:sym typeface="Symbol" panose="05050102010706020507" pitchFamily="18" charset="2"/>
              </a:rPr>
              <a:t> </a:t>
            </a:r>
            <a:r>
              <a:rPr kumimoji="1" lang="en-US" altLang="en-US" i="1" dirty="0">
                <a:sym typeface="Symbol" panose="05050102010706020507" pitchFamily="18" charset="2"/>
              </a:rPr>
              <a:t>section  </a:t>
            </a:r>
            <a:r>
              <a:rPr kumimoji="1" lang="en-US" altLang="en-US" sz="1600" dirty="0">
                <a:sym typeface="Symbol" panose="05050102010706020507" pitchFamily="18" charset="2"/>
              </a:rPr>
              <a:t> </a:t>
            </a:r>
            <a:r>
              <a:rPr kumimoji="1" lang="en-US" altLang="en-US" dirty="0">
                <a:sym typeface="Symbol" panose="05050102010706020507" pitchFamily="18" charset="2"/>
              </a:rPr>
              <a:t> 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                          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= “Fall”  </a:t>
            </a:r>
            <a:r>
              <a:rPr kumimoji="1" lang="en-US" altLang="en-US" i="1" dirty="0">
                <a:sym typeface="Symbol" panose="05050102010706020507" pitchFamily="18" charset="2"/>
              </a:rPr>
              <a:t>y</a:t>
            </a:r>
            <a:r>
              <a:rPr kumimoji="1" lang="en-US" altLang="en-US" dirty="0">
                <a:sym typeface="Symbol" panose="05050102010706020507" pitchFamily="18" charset="2"/>
              </a:rPr>
              <a:t> </a:t>
            </a:r>
            <a:r>
              <a:rPr kumimoji="1" lang="en-US" altLang="en-US" i="1" dirty="0">
                <a:sym typeface="Symbol" panose="05050102010706020507" pitchFamily="18" charset="2"/>
              </a:rPr>
              <a:t>= 2009</a:t>
            </a:r>
            <a:r>
              <a:rPr kumimoji="1" lang="en-US" altLang="en-US" dirty="0">
                <a:sym typeface="Symbol" panose="05050102010706020507" pitchFamily="18" charset="2"/>
              </a:rPr>
              <a:t> )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        v  </a:t>
            </a:r>
            <a:r>
              <a:rPr kumimoji="1" lang="en-US" altLang="en-US" i="1" dirty="0">
                <a:sym typeface="Symbol" panose="05050102010706020507" pitchFamily="18" charset="2"/>
              </a:rPr>
              <a:t> s, y, b, r, t </a:t>
            </a:r>
            <a:r>
              <a:rPr kumimoji="1" lang="en-US" altLang="en-US" sz="1600" dirty="0">
                <a:sym typeface="Symbol" panose="05050102010706020507" pitchFamily="18" charset="2"/>
              </a:rPr>
              <a:t>( </a:t>
            </a:r>
            <a:r>
              <a:rPr kumimoji="1" lang="en-US" altLang="en-US" dirty="0">
                <a:sym typeface="Symbol" panose="05050102010706020507" pitchFamily="18" charset="2"/>
              </a:rPr>
              <a:t>&lt;</a:t>
            </a:r>
            <a:r>
              <a:rPr kumimoji="1" lang="en-US" altLang="en-US" i="1" dirty="0">
                <a:sym typeface="Symbol" panose="05050102010706020507" pitchFamily="18" charset="2"/>
              </a:rPr>
              <a:t>c,  s, y, b, r, t</a:t>
            </a:r>
            <a:r>
              <a:rPr kumimoji="1" lang="en-US" altLang="en-US" dirty="0">
                <a:sym typeface="Symbol" panose="05050102010706020507" pitchFamily="18" charset="2"/>
              </a:rPr>
              <a:t> &gt;</a:t>
            </a:r>
            <a:r>
              <a:rPr kumimoji="1" lang="en-US" altLang="en-US" i="1" dirty="0">
                <a:sym typeface="Symbol" panose="05050102010706020507" pitchFamily="18" charset="2"/>
              </a:rPr>
              <a:t> </a:t>
            </a:r>
            <a:r>
              <a:rPr kumimoji="1" lang="en-US" altLang="en-US" dirty="0">
                <a:sym typeface="Symbol" panose="05050102010706020507" pitchFamily="18" charset="2"/>
              </a:rPr>
              <a:t> </a:t>
            </a:r>
            <a:r>
              <a:rPr kumimoji="1" lang="en-US" altLang="en-US" i="1" dirty="0">
                <a:sym typeface="Symbol" panose="05050102010706020507" pitchFamily="18" charset="2"/>
              </a:rPr>
              <a:t>section</a:t>
            </a:r>
            <a:r>
              <a:rPr kumimoji="1" lang="en-US" altLang="en-US" dirty="0">
                <a:sym typeface="Symbol" panose="05050102010706020507" pitchFamily="18" charset="2"/>
              </a:rPr>
              <a:t> </a:t>
            </a:r>
            <a:r>
              <a:rPr kumimoji="1" lang="en-US" altLang="en-US" sz="2000" dirty="0">
                <a:sym typeface="Symbol" panose="05050102010706020507" pitchFamily="18" charset="2"/>
              </a:rPr>
              <a:t>]</a:t>
            </a:r>
            <a:r>
              <a:rPr kumimoji="1" lang="en-US" altLang="en-US" dirty="0">
                <a:sym typeface="Symbol" panose="05050102010706020507" pitchFamily="18" charset="2"/>
              </a:rPr>
              <a:t>   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                          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= “Spring”  </a:t>
            </a:r>
            <a:r>
              <a:rPr kumimoji="1" lang="en-US" altLang="en-US" i="1" dirty="0">
                <a:sym typeface="Symbol" panose="05050102010706020507" pitchFamily="18" charset="2"/>
              </a:rPr>
              <a:t>y</a:t>
            </a:r>
            <a:r>
              <a:rPr kumimoji="1" lang="en-US" altLang="en-US" dirty="0">
                <a:sym typeface="Symbol" panose="05050102010706020507" pitchFamily="18" charset="2"/>
              </a:rPr>
              <a:t> </a:t>
            </a:r>
            <a:r>
              <a:rPr kumimoji="1" lang="en-US" altLang="en-US" i="1" dirty="0">
                <a:sym typeface="Symbol" panose="05050102010706020507" pitchFamily="18" charset="2"/>
              </a:rPr>
              <a:t>= </a:t>
            </a:r>
            <a:r>
              <a:rPr kumimoji="1" lang="en-US" altLang="en-US" dirty="0">
                <a:sym typeface="Symbol" panose="05050102010706020507" pitchFamily="18" charset="2"/>
              </a:rPr>
              <a:t>2010)}</a:t>
            </a:r>
          </a:p>
        </p:txBody>
      </p:sp>
      <p:sp>
        <p:nvSpPr>
          <p:cNvPr id="761861" name="Text Box 5"/>
          <p:cNvSpPr txBox="1">
            <a:spLocks noChangeArrowheads="1"/>
          </p:cNvSpPr>
          <p:nvPr/>
        </p:nvSpPr>
        <p:spPr bwMode="auto">
          <a:xfrm>
            <a:off x="768350" y="1079500"/>
            <a:ext cx="82026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285750" indent="-285750" algn="just">
              <a:spcBef>
                <a:spcPct val="35000"/>
              </a:spcBef>
              <a:buClr>
                <a:srgbClr val="002060"/>
              </a:buClr>
              <a:buSzPct val="115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solidFill>
                  <a:srgbClr val="000099"/>
                </a:solidFill>
                <a:sym typeface="Symbol" panose="05050102010706020507" pitchFamily="18" charset="2"/>
              </a:rPr>
              <a:t>Find the set of all courses taught in the Fall 2009 semester, or in </a:t>
            </a:r>
            <a:br>
              <a:rPr kumimoji="1" lang="en-US" altLang="en-US" dirty="0">
                <a:solidFill>
                  <a:srgbClr val="000099"/>
                </a:solidFill>
                <a:sym typeface="Symbol" panose="05050102010706020507" pitchFamily="18" charset="2"/>
              </a:rPr>
            </a:br>
            <a:r>
              <a:rPr kumimoji="1" lang="en-US" altLang="en-US" dirty="0">
                <a:solidFill>
                  <a:srgbClr val="000099"/>
                </a:solidFill>
                <a:sym typeface="Symbol" panose="05050102010706020507" pitchFamily="18" charset="2"/>
              </a:rPr>
              <a:t>the Spring 2010 semester, or both</a:t>
            </a:r>
          </a:p>
        </p:txBody>
      </p:sp>
      <p:sp>
        <p:nvSpPr>
          <p:cNvPr id="761862" name="Text Box 6"/>
          <p:cNvSpPr txBox="1">
            <a:spLocks noChangeArrowheads="1"/>
          </p:cNvSpPr>
          <p:nvPr/>
        </p:nvSpPr>
        <p:spPr bwMode="auto">
          <a:xfrm>
            <a:off x="1554163" y="2090738"/>
            <a:ext cx="66627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kumimoji="1" lang="en-US" altLang="en-US">
              <a:sym typeface="Symbol" panose="05050102010706020507" pitchFamily="18" charset="2"/>
            </a:endParaRPr>
          </a:p>
        </p:txBody>
      </p:sp>
      <p:sp>
        <p:nvSpPr>
          <p:cNvPr id="761863" name="Text Box 7"/>
          <p:cNvSpPr txBox="1">
            <a:spLocks noChangeArrowheads="1"/>
          </p:cNvSpPr>
          <p:nvPr/>
        </p:nvSpPr>
        <p:spPr bwMode="auto">
          <a:xfrm>
            <a:off x="1338263" y="3055938"/>
            <a:ext cx="71342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dirty="0"/>
              <a:t>This case can also be written as</a:t>
            </a:r>
            <a:br>
              <a:rPr kumimoji="1" lang="en-US" altLang="en-US" dirty="0"/>
            </a:br>
            <a:r>
              <a:rPr kumimoji="1" lang="en-US" altLang="en-US" dirty="0"/>
              <a:t>{</a:t>
            </a:r>
            <a:r>
              <a:rPr kumimoji="1" lang="en-US" altLang="en-US" i="1" dirty="0"/>
              <a:t>&lt;c&gt; </a:t>
            </a:r>
            <a:r>
              <a:rPr kumimoji="1" lang="en-US" altLang="en-US" dirty="0"/>
              <a:t>|</a:t>
            </a:r>
            <a:r>
              <a:rPr kumimoji="1" lang="en-US" altLang="en-US" i="1" dirty="0"/>
              <a:t>  </a:t>
            </a:r>
            <a:r>
              <a:rPr kumimoji="1" lang="en-US" altLang="en-US" dirty="0">
                <a:sym typeface="Symbol" panose="05050102010706020507" pitchFamily="18" charset="2"/>
              </a:rPr>
              <a:t></a:t>
            </a:r>
            <a:r>
              <a:rPr kumimoji="1" lang="en-US" altLang="en-US" i="1" dirty="0">
                <a:sym typeface="Symbol" panose="05050102010706020507" pitchFamily="18" charset="2"/>
              </a:rPr>
              <a:t> s, y, b, r, t  </a:t>
            </a:r>
            <a:r>
              <a:rPr kumimoji="1" lang="en-US" altLang="en-US" dirty="0">
                <a:sym typeface="Symbol" panose="05050102010706020507" pitchFamily="18" charset="2"/>
              </a:rPr>
              <a:t>( &lt;</a:t>
            </a:r>
            <a:r>
              <a:rPr kumimoji="1" lang="en-US" altLang="en-US" i="1" dirty="0">
                <a:sym typeface="Symbol" panose="05050102010706020507" pitchFamily="18" charset="2"/>
              </a:rPr>
              <a:t>c,  s, y, b, r, t</a:t>
            </a:r>
            <a:r>
              <a:rPr kumimoji="1" lang="en-US" altLang="en-US" dirty="0">
                <a:sym typeface="Symbol" panose="05050102010706020507" pitchFamily="18" charset="2"/>
              </a:rPr>
              <a:t> &gt;</a:t>
            </a:r>
            <a:r>
              <a:rPr kumimoji="1" lang="en-US" altLang="en-US" i="1" dirty="0">
                <a:sym typeface="Symbol" panose="05050102010706020507" pitchFamily="18" charset="2"/>
              </a:rPr>
              <a:t> </a:t>
            </a:r>
            <a:r>
              <a:rPr kumimoji="1" lang="en-US" altLang="en-US" dirty="0">
                <a:sym typeface="Symbol" panose="05050102010706020507" pitchFamily="18" charset="2"/>
              </a:rPr>
              <a:t> </a:t>
            </a:r>
            <a:r>
              <a:rPr kumimoji="1" lang="en-US" altLang="en-US" i="1" dirty="0">
                <a:sym typeface="Symbol" panose="05050102010706020507" pitchFamily="18" charset="2"/>
              </a:rPr>
              <a:t>section  </a:t>
            </a:r>
            <a:r>
              <a:rPr kumimoji="1" lang="en-US" altLang="en-US" sz="1600" dirty="0">
                <a:sym typeface="Symbol" panose="05050102010706020507" pitchFamily="18" charset="2"/>
              </a:rPr>
              <a:t> </a:t>
            </a:r>
            <a:r>
              <a:rPr kumimoji="1" lang="en-US" altLang="en-US" dirty="0">
                <a:sym typeface="Symbol" panose="05050102010706020507" pitchFamily="18" charset="2"/>
              </a:rPr>
              <a:t> 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                   ( (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= “Fall”  </a:t>
            </a:r>
            <a:r>
              <a:rPr kumimoji="1" lang="en-US" altLang="en-US" i="1" dirty="0">
                <a:sym typeface="Symbol" panose="05050102010706020507" pitchFamily="18" charset="2"/>
              </a:rPr>
              <a:t>y</a:t>
            </a:r>
            <a:r>
              <a:rPr kumimoji="1" lang="en-US" altLang="en-US" dirty="0">
                <a:sym typeface="Symbol" panose="05050102010706020507" pitchFamily="18" charset="2"/>
              </a:rPr>
              <a:t> </a:t>
            </a:r>
            <a:r>
              <a:rPr kumimoji="1" lang="en-US" altLang="en-US" i="1" dirty="0">
                <a:sym typeface="Symbol" panose="05050102010706020507" pitchFamily="18" charset="2"/>
              </a:rPr>
              <a:t>= 2009</a:t>
            </a:r>
            <a:r>
              <a:rPr kumimoji="1" lang="en-US" altLang="en-US" dirty="0">
                <a:sym typeface="Symbol" panose="05050102010706020507" pitchFamily="18" charset="2"/>
              </a:rPr>
              <a:t> )  v (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= “Spring”  </a:t>
            </a:r>
            <a:r>
              <a:rPr kumimoji="1" lang="en-US" altLang="en-US" i="1" dirty="0">
                <a:sym typeface="Symbol" panose="05050102010706020507" pitchFamily="18" charset="2"/>
              </a:rPr>
              <a:t>y</a:t>
            </a:r>
            <a:r>
              <a:rPr kumimoji="1" lang="en-US" altLang="en-US" dirty="0">
                <a:sym typeface="Symbol" panose="05050102010706020507" pitchFamily="18" charset="2"/>
              </a:rPr>
              <a:t> </a:t>
            </a:r>
            <a:r>
              <a:rPr kumimoji="1" lang="en-US" altLang="en-US" i="1" dirty="0">
                <a:sym typeface="Symbol" panose="05050102010706020507" pitchFamily="18" charset="2"/>
              </a:rPr>
              <a:t>= </a:t>
            </a:r>
            <a:r>
              <a:rPr kumimoji="1" lang="en-US" altLang="en-US" dirty="0">
                <a:sym typeface="Symbol" panose="05050102010706020507" pitchFamily="18" charset="2"/>
              </a:rPr>
              <a:t>2010))}</a:t>
            </a:r>
          </a:p>
        </p:txBody>
      </p:sp>
      <p:sp>
        <p:nvSpPr>
          <p:cNvPr id="761864" name="Text Box 8"/>
          <p:cNvSpPr txBox="1">
            <a:spLocks noChangeArrowheads="1"/>
          </p:cNvSpPr>
          <p:nvPr/>
        </p:nvSpPr>
        <p:spPr bwMode="auto">
          <a:xfrm>
            <a:off x="768349" y="4044950"/>
            <a:ext cx="80930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285750" indent="-285750" algn="just">
              <a:spcBef>
                <a:spcPct val="35000"/>
              </a:spcBef>
              <a:buClr>
                <a:srgbClr val="002060"/>
              </a:buClr>
              <a:buSzPct val="115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sym typeface="Symbol" panose="05050102010706020507" pitchFamily="18" charset="2"/>
              </a:rPr>
              <a:t>  </a:t>
            </a:r>
            <a:r>
              <a:rPr kumimoji="1" lang="en-US" altLang="en-US" dirty="0">
                <a:solidFill>
                  <a:srgbClr val="000099"/>
                </a:solidFill>
                <a:sym typeface="Symbol" panose="05050102010706020507" pitchFamily="18" charset="2"/>
              </a:rPr>
              <a:t>Find the set of all courses taught in the Fall 2009 semester, and in </a:t>
            </a:r>
            <a:br>
              <a:rPr kumimoji="1" lang="en-US" altLang="en-US" dirty="0">
                <a:solidFill>
                  <a:srgbClr val="000099"/>
                </a:solidFill>
                <a:sym typeface="Symbol" panose="05050102010706020507" pitchFamily="18" charset="2"/>
              </a:rPr>
            </a:br>
            <a:r>
              <a:rPr kumimoji="1" lang="en-US" altLang="en-US" dirty="0">
                <a:solidFill>
                  <a:srgbClr val="000099"/>
                </a:solidFill>
                <a:sym typeface="Symbol" panose="05050102010706020507" pitchFamily="18" charset="2"/>
              </a:rPr>
              <a:t>  the Spring 2010 semester</a:t>
            </a:r>
          </a:p>
        </p:txBody>
      </p:sp>
      <p:sp>
        <p:nvSpPr>
          <p:cNvPr id="761865" name="Text Box 9"/>
          <p:cNvSpPr txBox="1">
            <a:spLocks noChangeArrowheads="1"/>
          </p:cNvSpPr>
          <p:nvPr/>
        </p:nvSpPr>
        <p:spPr bwMode="auto">
          <a:xfrm>
            <a:off x="1244600" y="4883150"/>
            <a:ext cx="71342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dirty="0"/>
              <a:t>{</a:t>
            </a:r>
            <a:r>
              <a:rPr kumimoji="1" lang="en-US" altLang="en-US" i="1" dirty="0"/>
              <a:t>&lt;c&gt; </a:t>
            </a:r>
            <a:r>
              <a:rPr kumimoji="1" lang="en-US" altLang="en-US" dirty="0"/>
              <a:t>|</a:t>
            </a:r>
            <a:r>
              <a:rPr kumimoji="1" lang="en-US" altLang="en-US" i="1" dirty="0"/>
              <a:t>  </a:t>
            </a:r>
            <a:r>
              <a:rPr kumimoji="1" lang="en-US" altLang="en-US" dirty="0">
                <a:sym typeface="Symbol" panose="05050102010706020507" pitchFamily="18" charset="2"/>
              </a:rPr>
              <a:t></a:t>
            </a:r>
            <a:r>
              <a:rPr kumimoji="1" lang="en-US" altLang="en-US" i="1" dirty="0">
                <a:sym typeface="Symbol" panose="05050102010706020507" pitchFamily="18" charset="2"/>
              </a:rPr>
              <a:t> s, y, b, r, t  </a:t>
            </a:r>
            <a:r>
              <a:rPr kumimoji="1" lang="en-US" altLang="en-US" dirty="0">
                <a:sym typeface="Symbol" panose="05050102010706020507" pitchFamily="18" charset="2"/>
              </a:rPr>
              <a:t>( &lt;</a:t>
            </a:r>
            <a:r>
              <a:rPr kumimoji="1" lang="en-US" altLang="en-US" i="1" dirty="0">
                <a:sym typeface="Symbol" panose="05050102010706020507" pitchFamily="18" charset="2"/>
              </a:rPr>
              <a:t>c,  s, y, b, r, t</a:t>
            </a:r>
            <a:r>
              <a:rPr kumimoji="1" lang="en-US" altLang="en-US" dirty="0">
                <a:sym typeface="Symbol" panose="05050102010706020507" pitchFamily="18" charset="2"/>
              </a:rPr>
              <a:t> &gt;</a:t>
            </a:r>
            <a:r>
              <a:rPr kumimoji="1" lang="en-US" altLang="en-US" i="1" dirty="0">
                <a:sym typeface="Symbol" panose="05050102010706020507" pitchFamily="18" charset="2"/>
              </a:rPr>
              <a:t> </a:t>
            </a:r>
            <a:r>
              <a:rPr kumimoji="1" lang="en-US" altLang="en-US" dirty="0">
                <a:sym typeface="Symbol" panose="05050102010706020507" pitchFamily="18" charset="2"/>
              </a:rPr>
              <a:t> </a:t>
            </a:r>
            <a:r>
              <a:rPr kumimoji="1" lang="en-US" altLang="en-US" i="1" dirty="0">
                <a:sym typeface="Symbol" panose="05050102010706020507" pitchFamily="18" charset="2"/>
              </a:rPr>
              <a:t>section  </a:t>
            </a:r>
            <a:r>
              <a:rPr kumimoji="1" lang="en-US" altLang="en-US" dirty="0">
                <a:sym typeface="Symbol" panose="05050102010706020507" pitchFamily="18" charset="2"/>
              </a:rPr>
              <a:t>  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                          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= “Fall”  </a:t>
            </a:r>
            <a:r>
              <a:rPr kumimoji="1" lang="en-US" altLang="en-US" i="1" dirty="0">
                <a:sym typeface="Symbol" panose="05050102010706020507" pitchFamily="18" charset="2"/>
              </a:rPr>
              <a:t>y</a:t>
            </a:r>
            <a:r>
              <a:rPr kumimoji="1" lang="en-US" altLang="en-US" dirty="0">
                <a:sym typeface="Symbol" panose="05050102010706020507" pitchFamily="18" charset="2"/>
              </a:rPr>
              <a:t> </a:t>
            </a:r>
            <a:r>
              <a:rPr kumimoji="1" lang="en-US" altLang="en-US" i="1" dirty="0">
                <a:sym typeface="Symbol" panose="05050102010706020507" pitchFamily="18" charset="2"/>
              </a:rPr>
              <a:t>= 2009</a:t>
            </a:r>
            <a:r>
              <a:rPr kumimoji="1" lang="en-US" altLang="en-US" dirty="0">
                <a:sym typeface="Symbol" panose="05050102010706020507" pitchFamily="18" charset="2"/>
              </a:rPr>
              <a:t> )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         </a:t>
            </a:r>
            <a:r>
              <a:rPr kumimoji="1" lang="en-US" altLang="en-US" i="1" dirty="0">
                <a:sym typeface="Symbol" panose="05050102010706020507" pitchFamily="18" charset="2"/>
              </a:rPr>
              <a:t> s, y, b, r, t </a:t>
            </a:r>
            <a:r>
              <a:rPr kumimoji="1" lang="en-US" altLang="en-US" dirty="0">
                <a:sym typeface="Symbol" panose="05050102010706020507" pitchFamily="18" charset="2"/>
              </a:rPr>
              <a:t>( &lt;</a:t>
            </a:r>
            <a:r>
              <a:rPr kumimoji="1" lang="en-US" altLang="en-US" i="1" dirty="0">
                <a:sym typeface="Symbol" panose="05050102010706020507" pitchFamily="18" charset="2"/>
              </a:rPr>
              <a:t>c,  s, y, b, r, t</a:t>
            </a:r>
            <a:r>
              <a:rPr kumimoji="1" lang="en-US" altLang="en-US" dirty="0">
                <a:sym typeface="Symbol" panose="05050102010706020507" pitchFamily="18" charset="2"/>
              </a:rPr>
              <a:t> &gt;</a:t>
            </a:r>
            <a:r>
              <a:rPr kumimoji="1" lang="en-US" altLang="en-US" i="1" dirty="0">
                <a:sym typeface="Symbol" panose="05050102010706020507" pitchFamily="18" charset="2"/>
              </a:rPr>
              <a:t> </a:t>
            </a:r>
            <a:r>
              <a:rPr kumimoji="1" lang="en-US" altLang="en-US" dirty="0">
                <a:sym typeface="Symbol" panose="05050102010706020507" pitchFamily="18" charset="2"/>
              </a:rPr>
              <a:t> </a:t>
            </a:r>
            <a:r>
              <a:rPr kumimoji="1" lang="en-US" altLang="en-US" i="1" dirty="0">
                <a:sym typeface="Symbol" panose="05050102010706020507" pitchFamily="18" charset="2"/>
              </a:rPr>
              <a:t>section</a:t>
            </a:r>
            <a:r>
              <a:rPr kumimoji="1" lang="en-US" altLang="en-US" dirty="0">
                <a:sym typeface="Symbol" panose="05050102010706020507" pitchFamily="18" charset="2"/>
              </a:rPr>
              <a:t> ]   </a:t>
            </a:r>
            <a:br>
              <a:rPr kumimoji="1" lang="en-US" altLang="en-US" dirty="0">
                <a:sym typeface="Symbol" panose="05050102010706020507" pitchFamily="18" charset="2"/>
              </a:rPr>
            </a:br>
            <a:r>
              <a:rPr kumimoji="1" lang="en-US" altLang="en-US" dirty="0">
                <a:sym typeface="Symbol" panose="05050102010706020507" pitchFamily="18" charset="2"/>
              </a:rPr>
              <a:t>                           </a:t>
            </a:r>
            <a:r>
              <a:rPr kumimoji="1" lang="en-US" altLang="en-US" i="1" dirty="0">
                <a:sym typeface="Symbol" panose="05050102010706020507" pitchFamily="18" charset="2"/>
              </a:rPr>
              <a:t>s </a:t>
            </a:r>
            <a:r>
              <a:rPr kumimoji="1" lang="en-US" altLang="en-US" dirty="0">
                <a:sym typeface="Symbol" panose="05050102010706020507" pitchFamily="18" charset="2"/>
              </a:rPr>
              <a:t>= “Spring”  </a:t>
            </a:r>
            <a:r>
              <a:rPr kumimoji="1" lang="en-US" altLang="en-US" i="1" dirty="0">
                <a:sym typeface="Symbol" panose="05050102010706020507" pitchFamily="18" charset="2"/>
              </a:rPr>
              <a:t>y</a:t>
            </a:r>
            <a:r>
              <a:rPr kumimoji="1" lang="en-US" altLang="en-US" dirty="0">
                <a:sym typeface="Symbol" panose="05050102010706020507" pitchFamily="18" charset="2"/>
              </a:rPr>
              <a:t> </a:t>
            </a:r>
            <a:r>
              <a:rPr kumimoji="1" lang="en-US" altLang="en-US" i="1" dirty="0">
                <a:sym typeface="Symbol" panose="05050102010706020507" pitchFamily="18" charset="2"/>
              </a:rPr>
              <a:t>= </a:t>
            </a:r>
            <a:r>
              <a:rPr kumimoji="1" lang="en-US" altLang="en-US" dirty="0">
                <a:sym typeface="Symbol" panose="05050102010706020507" pitchFamily="18" charset="2"/>
              </a:rPr>
              <a:t>2010)}</a:t>
            </a:r>
          </a:p>
        </p:txBody>
      </p:sp>
    </p:spTree>
    <p:extLst>
      <p:ext uri="{BB962C8B-B14F-4D97-AF65-F5344CB8AC3E}">
        <p14:creationId xmlns:p14="http://schemas.microsoft.com/office/powerpoint/2010/main" val="137841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860" grpId="0" autoUpdateAnimBg="0"/>
      <p:bldP spid="761861" grpId="0" autoUpdateAnimBg="0"/>
      <p:bldP spid="761862" grpId="0" autoUpdateAnimBg="0"/>
      <p:bldP spid="761863" grpId="0" autoUpdateAnimBg="0"/>
      <p:bldP spid="761864" grpId="0" autoUpdateAnimBg="0"/>
      <p:bldP spid="76186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Safety of Expressions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1538" y="1165225"/>
            <a:ext cx="7411328" cy="4876800"/>
          </a:xfrm>
        </p:spPr>
        <p:txBody>
          <a:bodyPr/>
          <a:lstStyle/>
          <a:p>
            <a:pPr>
              <a:buFont typeface="Monotype Sorts" pitchFamily="2" charset="2"/>
              <a:buNone/>
              <a:tabLst>
                <a:tab pos="635000" algn="l"/>
                <a:tab pos="3195638" algn="ctr"/>
              </a:tabLst>
            </a:pPr>
            <a:r>
              <a:rPr lang="en-US" altLang="en-US" dirty="0"/>
              <a:t>The expression:</a:t>
            </a:r>
          </a:p>
          <a:p>
            <a:pPr>
              <a:buFont typeface="Monotype Sorts" pitchFamily="2" charset="2"/>
              <a:buNone/>
              <a:tabLst>
                <a:tab pos="635000" algn="l"/>
                <a:tab pos="3195638" algn="ctr"/>
              </a:tabLst>
            </a:pPr>
            <a:r>
              <a:rPr lang="en-US" altLang="en-US" dirty="0"/>
              <a:t>			{ </a:t>
            </a:r>
            <a:r>
              <a:rPr lang="en-US" altLang="en-US" dirty="0">
                <a:sym typeface="Symbol" panose="05050102010706020507" pitchFamily="18" charset="2"/>
              </a:rPr>
              <a:t>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Symbol" panose="05050102010706020507" pitchFamily="18" charset="2"/>
              </a:rPr>
              <a:t>, 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i="1" dirty="0">
                <a:sym typeface="Symbol" panose="05050102010706020507" pitchFamily="18" charset="2"/>
              </a:rPr>
              <a:t>, …, x</a:t>
            </a:r>
            <a:r>
              <a:rPr lang="en-US" altLang="en-US" i="1" baseline="-25000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 | </a:t>
            </a:r>
            <a:r>
              <a:rPr lang="en-US" altLang="en-US" i="1" dirty="0">
                <a:sym typeface="Symbol" panose="05050102010706020507" pitchFamily="18" charset="2"/>
              </a:rPr>
              <a:t>P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i="1" dirty="0">
                <a:sym typeface="Symbol" panose="05050102010706020507" pitchFamily="18" charset="2"/>
              </a:rPr>
              <a:t>, …, x</a:t>
            </a:r>
            <a:r>
              <a:rPr lang="en-US" altLang="en-US" i="1" baseline="-25000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)}</a:t>
            </a:r>
          </a:p>
          <a:p>
            <a:pPr>
              <a:buFont typeface="Monotype Sorts" pitchFamily="2" charset="2"/>
              <a:buNone/>
              <a:tabLst>
                <a:tab pos="635000" algn="l"/>
                <a:tab pos="3195638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is safe if all of the following hold:</a:t>
            </a:r>
          </a:p>
          <a:p>
            <a:pPr marL="0" indent="0">
              <a:spcBef>
                <a:spcPts val="0"/>
              </a:spcBef>
              <a:buNone/>
              <a:tabLst>
                <a:tab pos="635000" algn="l"/>
                <a:tab pos="3195638" algn="ctr"/>
              </a:tabLst>
            </a:pPr>
            <a:r>
              <a:rPr lang="en-US" altLang="en-US" dirty="0">
                <a:solidFill>
                  <a:srgbClr val="002060"/>
                </a:solidFill>
                <a:sym typeface="Symbol" panose="05050102010706020507" pitchFamily="18" charset="2"/>
              </a:rPr>
              <a:t>1.   </a:t>
            </a:r>
            <a:r>
              <a:rPr lang="en-US" altLang="en-US" dirty="0">
                <a:sym typeface="Symbol" panose="05050102010706020507" pitchFamily="18" charset="2"/>
              </a:rPr>
              <a:t>All values that appear in tuples of the expression are values from </a:t>
            </a:r>
            <a:r>
              <a:rPr lang="en-US" altLang="en-US" i="1" dirty="0" err="1">
                <a:solidFill>
                  <a:srgbClr val="002060"/>
                </a:solidFill>
                <a:sym typeface="Symbol" panose="05050102010706020507" pitchFamily="18" charset="2"/>
              </a:rPr>
              <a:t>dom</a:t>
            </a:r>
            <a:r>
              <a:rPr lang="en-US" altLang="en-US" i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</a:p>
          <a:p>
            <a:pPr marL="0" indent="0">
              <a:spcBef>
                <a:spcPts val="0"/>
              </a:spcBef>
              <a:buNone/>
              <a:tabLst>
                <a:tab pos="635000" algn="l"/>
                <a:tab pos="3195638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(</a:t>
            </a:r>
            <a:r>
              <a:rPr lang="en-US" altLang="en-US" i="1" dirty="0">
                <a:sym typeface="Symbol" panose="05050102010706020507" pitchFamily="18" charset="2"/>
              </a:rPr>
              <a:t>P </a:t>
            </a:r>
            <a:r>
              <a:rPr lang="en-US" altLang="en-US" dirty="0">
                <a:sym typeface="Symbol" panose="05050102010706020507" pitchFamily="18" charset="2"/>
              </a:rPr>
              <a:t>) (that is, the values appear either in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or in a tuple of a relation </a:t>
            </a:r>
          </a:p>
          <a:p>
            <a:pPr marL="0" indent="0">
              <a:spcBef>
                <a:spcPts val="0"/>
              </a:spcBef>
              <a:buNone/>
              <a:tabLst>
                <a:tab pos="635000" algn="l"/>
                <a:tab pos="3195638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mentioned in </a:t>
            </a:r>
            <a:r>
              <a:rPr lang="en-US" altLang="en-US" i="1" dirty="0">
                <a:sym typeface="Symbol" panose="05050102010706020507" pitchFamily="18" charset="2"/>
              </a:rPr>
              <a:t>P </a:t>
            </a:r>
            <a:r>
              <a:rPr lang="en-US" altLang="en-US" dirty="0">
                <a:sym typeface="Symbol" panose="05050102010706020507" pitchFamily="18" charset="2"/>
              </a:rPr>
              <a:t>).</a:t>
            </a:r>
          </a:p>
          <a:p>
            <a:pPr marL="0" indent="0">
              <a:spcBef>
                <a:spcPts val="0"/>
              </a:spcBef>
              <a:buNone/>
              <a:tabLst>
                <a:tab pos="635000" algn="l"/>
                <a:tab pos="3195638" algn="ctr"/>
              </a:tabLst>
            </a:pPr>
            <a:r>
              <a:rPr lang="en-US" altLang="en-US" dirty="0">
                <a:solidFill>
                  <a:srgbClr val="002060"/>
                </a:solidFill>
                <a:sym typeface="Symbol" panose="05050102010706020507" pitchFamily="18" charset="2"/>
              </a:rPr>
              <a:t>2.   </a:t>
            </a:r>
            <a:r>
              <a:rPr lang="en-US" altLang="en-US" dirty="0">
                <a:sym typeface="Symbol" panose="05050102010706020507" pitchFamily="18" charset="2"/>
              </a:rPr>
              <a:t>For every “there exists” subformula of the form 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)), the 	subformula is true if and only if there is a value of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in </a:t>
            </a:r>
            <a:r>
              <a:rPr lang="en-US" altLang="en-US" i="1" dirty="0" err="1">
                <a:sym typeface="Symbol" panose="05050102010706020507" pitchFamily="18" charset="2"/>
              </a:rPr>
              <a:t>dom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)	such that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) is true.</a:t>
            </a:r>
          </a:p>
          <a:p>
            <a:pPr marL="0" indent="0">
              <a:spcBef>
                <a:spcPts val="0"/>
              </a:spcBef>
              <a:buNone/>
              <a:tabLst>
                <a:tab pos="635000" algn="l"/>
                <a:tab pos="3195638" algn="ctr"/>
              </a:tabLst>
            </a:pPr>
            <a:r>
              <a:rPr lang="en-US" altLang="en-US" dirty="0">
                <a:solidFill>
                  <a:srgbClr val="002060"/>
                </a:solidFill>
                <a:sym typeface="Symbol" panose="05050102010706020507" pitchFamily="18" charset="2"/>
              </a:rPr>
              <a:t>3.   </a:t>
            </a:r>
            <a:r>
              <a:rPr lang="en-US" altLang="en-US" dirty="0">
                <a:sym typeface="Symbol" panose="05050102010706020507" pitchFamily="18" charset="2"/>
              </a:rPr>
              <a:t>For every “for all” subformula of the form </a:t>
            </a:r>
            <a:r>
              <a:rPr lang="en-US" altLang="en-US" baseline="-25000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)), the subformula is </a:t>
            </a:r>
          </a:p>
          <a:p>
            <a:pPr marL="0" indent="0">
              <a:spcBef>
                <a:spcPts val="0"/>
              </a:spcBef>
              <a:buNone/>
              <a:tabLst>
                <a:tab pos="635000" algn="l"/>
                <a:tab pos="3195638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true if and only 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) is true for all values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 from </a:t>
            </a:r>
            <a:r>
              <a:rPr lang="en-US" altLang="en-US" i="1" dirty="0" err="1">
                <a:sym typeface="Symbol" panose="05050102010706020507" pitchFamily="18" charset="2"/>
              </a:rPr>
              <a:t>dom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35389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Universal Quantification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231900"/>
            <a:ext cx="7739063" cy="4903788"/>
          </a:xfrm>
        </p:spPr>
        <p:txBody>
          <a:bodyPr/>
          <a:lstStyle/>
          <a:p>
            <a:pPr algn="just"/>
            <a:r>
              <a:rPr lang="en-US" altLang="en-US" dirty="0">
                <a:solidFill>
                  <a:srgbClr val="000099"/>
                </a:solidFill>
              </a:rPr>
              <a:t>Find all students who have taken all courses offered in the Biology department</a:t>
            </a:r>
          </a:p>
          <a:p>
            <a:pPr lvl="1"/>
            <a:r>
              <a:rPr lang="en-US" altLang="en-US" dirty="0"/>
              <a:t> {&lt;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&gt; | </a:t>
            </a:r>
            <a:r>
              <a:rPr lang="en-US" altLang="en-US" dirty="0">
                <a:sym typeface="Symbol" panose="05050102010706020507" pitchFamily="18" charset="2"/>
              </a:rPr>
              <a:t> </a:t>
            </a:r>
            <a:r>
              <a:rPr lang="en-US" altLang="en-US" i="1" dirty="0">
                <a:sym typeface="Symbol" panose="05050102010706020507" pitchFamily="18" charset="2"/>
              </a:rPr>
              <a:t>n, d, </a:t>
            </a:r>
            <a:r>
              <a:rPr lang="en-US" altLang="en-US" i="1" dirty="0" err="1">
                <a:sym typeface="Symbol" panose="05050102010706020507" pitchFamily="18" charset="2"/>
              </a:rPr>
              <a:t>tc</a:t>
            </a:r>
            <a:r>
              <a:rPr lang="en-US" altLang="en-US" dirty="0">
                <a:sym typeface="Symbol" panose="05050102010706020507" pitchFamily="18" charset="2"/>
              </a:rPr>
              <a:t> ( &lt; 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, n, d, </a:t>
            </a:r>
            <a:r>
              <a:rPr lang="en-US" altLang="en-US" i="1" dirty="0" err="1">
                <a:sym typeface="Symbol" panose="05050102010706020507" pitchFamily="18" charset="2"/>
              </a:rPr>
              <a:t>tc</a:t>
            </a:r>
            <a:r>
              <a:rPr lang="en-US" altLang="en-US" dirty="0">
                <a:sym typeface="Symbol" panose="05050102010706020507" pitchFamily="18" charset="2"/>
              </a:rPr>
              <a:t> &gt;  </a:t>
            </a:r>
            <a:r>
              <a:rPr lang="en-US" altLang="en-US" i="1" dirty="0">
                <a:sym typeface="Symbol" panose="05050102010706020507" pitchFamily="18" charset="2"/>
              </a:rPr>
              <a:t>student 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( </a:t>
            </a:r>
            <a:r>
              <a:rPr lang="en-US" altLang="en-US" i="1" dirty="0">
                <a:sym typeface="Symbol" panose="05050102010706020507" pitchFamily="18" charset="2"/>
              </a:rPr>
              <a:t>ci, </a:t>
            </a:r>
            <a:r>
              <a:rPr lang="en-US" altLang="en-US" i="1" dirty="0" err="1">
                <a:sym typeface="Symbol" panose="05050102010706020507" pitchFamily="18" charset="2"/>
              </a:rPr>
              <a:t>ti</a:t>
            </a:r>
            <a:r>
              <a:rPr lang="en-US" altLang="en-US" i="1" dirty="0">
                <a:sym typeface="Symbol" panose="05050102010706020507" pitchFamily="18" charset="2"/>
              </a:rPr>
              <a:t>, </a:t>
            </a:r>
            <a:r>
              <a:rPr lang="en-US" altLang="en-US" i="1" dirty="0" err="1">
                <a:sym typeface="Symbol" panose="05050102010706020507" pitchFamily="18" charset="2"/>
              </a:rPr>
              <a:t>dn</a:t>
            </a:r>
            <a:r>
              <a:rPr lang="en-US" altLang="en-US" i="1" dirty="0">
                <a:sym typeface="Symbol" panose="05050102010706020507" pitchFamily="18" charset="2"/>
              </a:rPr>
              <a:t>, </a:t>
            </a:r>
            <a:r>
              <a:rPr lang="en-US" altLang="en-US" i="1" dirty="0" err="1">
                <a:sym typeface="Symbol" panose="05050102010706020507" pitchFamily="18" charset="2"/>
              </a:rPr>
              <a:t>cr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( &lt; </a:t>
            </a:r>
            <a:r>
              <a:rPr lang="en-US" altLang="en-US" i="1" dirty="0">
                <a:sym typeface="Symbol" panose="05050102010706020507" pitchFamily="18" charset="2"/>
              </a:rPr>
              <a:t>ci, </a:t>
            </a:r>
            <a:r>
              <a:rPr lang="en-US" altLang="en-US" i="1" dirty="0" err="1">
                <a:sym typeface="Symbol" panose="05050102010706020507" pitchFamily="18" charset="2"/>
              </a:rPr>
              <a:t>ti</a:t>
            </a:r>
            <a:r>
              <a:rPr lang="en-US" altLang="en-US" i="1" dirty="0">
                <a:sym typeface="Symbol" panose="05050102010706020507" pitchFamily="18" charset="2"/>
              </a:rPr>
              <a:t>, </a:t>
            </a:r>
            <a:r>
              <a:rPr lang="en-US" altLang="en-US" i="1" dirty="0" err="1">
                <a:sym typeface="Symbol" panose="05050102010706020507" pitchFamily="18" charset="2"/>
              </a:rPr>
              <a:t>dn</a:t>
            </a:r>
            <a:r>
              <a:rPr lang="en-US" altLang="en-US" i="1" dirty="0">
                <a:sym typeface="Symbol" panose="05050102010706020507" pitchFamily="18" charset="2"/>
              </a:rPr>
              <a:t>, </a:t>
            </a:r>
            <a:r>
              <a:rPr lang="en-US" altLang="en-US" i="1" dirty="0" err="1">
                <a:sym typeface="Symbol" panose="05050102010706020507" pitchFamily="18" charset="2"/>
              </a:rPr>
              <a:t>cr</a:t>
            </a:r>
            <a:r>
              <a:rPr lang="en-US" altLang="en-US" dirty="0">
                <a:sym typeface="Symbol" panose="05050102010706020507" pitchFamily="18" charset="2"/>
              </a:rPr>
              <a:t> &gt;  </a:t>
            </a:r>
            <a:r>
              <a:rPr lang="en-US" altLang="en-US" i="1" dirty="0">
                <a:sym typeface="Symbol" panose="05050102010706020507" pitchFamily="18" charset="2"/>
              </a:rPr>
              <a:t>course</a:t>
            </a:r>
            <a:r>
              <a:rPr lang="en-US" altLang="en-US" dirty="0">
                <a:sym typeface="Symbol" panose="05050102010706020507" pitchFamily="18" charset="2"/>
              </a:rPr>
              <a:t>  </a:t>
            </a:r>
            <a:r>
              <a:rPr lang="en-US" altLang="en-US" i="1" dirty="0" err="1">
                <a:sym typeface="Symbol" panose="05050102010706020507" pitchFamily="18" charset="2"/>
              </a:rPr>
              <a:t>dn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=“Biology”               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                </a:t>
            </a:r>
            <a:r>
              <a:rPr lang="en-US" altLang="en-US" dirty="0">
                <a:sym typeface="Wingdings" panose="05000000000000000000" pitchFamily="2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ym typeface="Symbol" panose="05050102010706020507" pitchFamily="18" charset="2"/>
              </a:rPr>
              <a:t>si</a:t>
            </a:r>
            <a:r>
              <a:rPr lang="en-US" altLang="en-US" i="1" dirty="0">
                <a:sym typeface="Symbol" panose="05050102010706020507" pitchFamily="18" charset="2"/>
              </a:rPr>
              <a:t>, se, y, g </a:t>
            </a:r>
            <a:r>
              <a:rPr lang="en-US" altLang="en-US" dirty="0">
                <a:sym typeface="Symbol" panose="05050102010706020507" pitchFamily="18" charset="2"/>
              </a:rPr>
              <a:t>( &lt;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, ci, </a:t>
            </a:r>
            <a:r>
              <a:rPr lang="en-US" altLang="en-US" i="1" dirty="0" err="1">
                <a:sym typeface="Symbol" panose="05050102010706020507" pitchFamily="18" charset="2"/>
              </a:rPr>
              <a:t>si</a:t>
            </a:r>
            <a:r>
              <a:rPr lang="en-US" altLang="en-US" i="1" dirty="0">
                <a:sym typeface="Symbol" panose="05050102010706020507" pitchFamily="18" charset="2"/>
              </a:rPr>
              <a:t>, se, y, g</a:t>
            </a:r>
            <a:r>
              <a:rPr lang="en-US" altLang="en-US" dirty="0">
                <a:sym typeface="Symbol" panose="05050102010706020507" pitchFamily="18" charset="2"/>
              </a:rPr>
              <a:t>&gt;  </a:t>
            </a:r>
            <a:r>
              <a:rPr lang="en-US" altLang="en-US" i="1" dirty="0">
                <a:sym typeface="Symbol" panose="05050102010706020507" pitchFamily="18" charset="2"/>
              </a:rPr>
              <a:t>takes </a:t>
            </a:r>
            <a:r>
              <a:rPr lang="en-US" altLang="en-US" dirty="0">
                <a:sym typeface="Symbol" panose="05050102010706020507" pitchFamily="18" charset="2"/>
              </a:rPr>
              <a:t>))}</a:t>
            </a:r>
          </a:p>
          <a:p>
            <a:pPr lvl="1"/>
            <a:r>
              <a:rPr lang="en-US" altLang="en-US" dirty="0"/>
              <a:t>Note that without the existential quantification on student, the above query would be unsafe if the Biology department has not offered any courses. </a:t>
            </a:r>
          </a:p>
        </p:txBody>
      </p:sp>
    </p:spTree>
    <p:extLst>
      <p:ext uri="{BB962C8B-B14F-4D97-AF65-F5344CB8AC3E}">
        <p14:creationId xmlns:p14="http://schemas.microsoft.com/office/powerpoint/2010/main" val="862488554"/>
      </p:ext>
    </p:extLst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92796</TotalTime>
  <Words>850</Words>
  <Application>Microsoft Office PowerPoint</Application>
  <PresentationFormat>On-screen Show (4:3)</PresentationFormat>
  <Paragraphs>127</Paragraphs>
  <Slides>17</Slides>
  <Notes>14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  <vt:variant>
        <vt:lpstr>Custom Shows</vt:lpstr>
      </vt:variant>
      <vt:variant>
        <vt:i4>1</vt:i4>
      </vt:variant>
    </vt:vector>
  </HeadingPairs>
  <TitlesOfParts>
    <vt:vector size="28" baseType="lpstr">
      <vt:lpstr>ＭＳ Ｐゴシック</vt:lpstr>
      <vt:lpstr>ＭＳ Ｐゴシック</vt:lpstr>
      <vt:lpstr>Arial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 UNIT-1,PART-3 Formal-Relational Query Languages</vt:lpstr>
      <vt:lpstr>Outline</vt:lpstr>
      <vt:lpstr>Tuple Relational Calculus</vt:lpstr>
      <vt:lpstr>Tuple Relational Calculus</vt:lpstr>
      <vt:lpstr>Predicate Calculus Formula</vt:lpstr>
      <vt:lpstr>Example Queries</vt:lpstr>
      <vt:lpstr>Example Queries</vt:lpstr>
      <vt:lpstr>Example Queries</vt:lpstr>
      <vt:lpstr>Universal Quantification</vt:lpstr>
      <vt:lpstr>Safety of Expressions</vt:lpstr>
      <vt:lpstr>Safety of Expressions (Cont.)</vt:lpstr>
      <vt:lpstr>Domain Relational Calculus</vt:lpstr>
      <vt:lpstr>Domain Relational Calculus</vt:lpstr>
      <vt:lpstr>Example Queries</vt:lpstr>
      <vt:lpstr>Example Queries</vt:lpstr>
      <vt:lpstr>Safety of Expressions</vt:lpstr>
      <vt:lpstr>Universal Quantification</vt:lpstr>
      <vt:lpstr>Custom Show 1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Sirisha Alamanda</cp:lastModifiedBy>
  <cp:revision>453</cp:revision>
  <cp:lastPrinted>1999-06-28T19:27:31Z</cp:lastPrinted>
  <dcterms:created xsi:type="dcterms:W3CDTF">2009-12-21T15:40:22Z</dcterms:created>
  <dcterms:modified xsi:type="dcterms:W3CDTF">2025-02-18T05:47:59Z</dcterms:modified>
</cp:coreProperties>
</file>