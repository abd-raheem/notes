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39"/>
  </p:notesMasterIdLst>
  <p:handoutMasterIdLst>
    <p:handoutMasterId r:id="rId40"/>
  </p:handoutMasterIdLst>
  <p:sldIdLst>
    <p:sldId id="445" r:id="rId2"/>
    <p:sldId id="446" r:id="rId3"/>
    <p:sldId id="338" r:id="rId4"/>
    <p:sldId id="473" r:id="rId5"/>
    <p:sldId id="474" r:id="rId6"/>
    <p:sldId id="475" r:id="rId7"/>
    <p:sldId id="471" r:id="rId8"/>
    <p:sldId id="339" r:id="rId9"/>
    <p:sldId id="440" r:id="rId10"/>
    <p:sldId id="447" r:id="rId11"/>
    <p:sldId id="448" r:id="rId12"/>
    <p:sldId id="450" r:id="rId13"/>
    <p:sldId id="347" r:id="rId14"/>
    <p:sldId id="453" r:id="rId15"/>
    <p:sldId id="454" r:id="rId16"/>
    <p:sldId id="455" r:id="rId17"/>
    <p:sldId id="352" r:id="rId18"/>
    <p:sldId id="458" r:id="rId19"/>
    <p:sldId id="460" r:id="rId20"/>
    <p:sldId id="356" r:id="rId21"/>
    <p:sldId id="357" r:id="rId22"/>
    <p:sldId id="358" r:id="rId23"/>
    <p:sldId id="359" r:id="rId24"/>
    <p:sldId id="360" r:id="rId25"/>
    <p:sldId id="470" r:id="rId26"/>
    <p:sldId id="369" r:id="rId27"/>
    <p:sldId id="370" r:id="rId28"/>
    <p:sldId id="371" r:id="rId29"/>
    <p:sldId id="372" r:id="rId30"/>
    <p:sldId id="373" r:id="rId31"/>
    <p:sldId id="374" r:id="rId32"/>
    <p:sldId id="375" r:id="rId33"/>
    <p:sldId id="376" r:id="rId34"/>
    <p:sldId id="377" r:id="rId35"/>
    <p:sldId id="384" r:id="rId36"/>
    <p:sldId id="385" r:id="rId37"/>
    <p:sldId id="395" r:id="rId38"/>
  </p:sldIdLst>
  <p:sldSz cx="9144000" cy="6858000" type="screen4x3"/>
  <p:notesSz cx="6997700" cy="9283700"/>
  <p:custShowLst>
    <p:custShow name="Custom Show 1" id="0">
      <p:sldLst/>
    </p:custShow>
  </p:custShow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07">
          <p15:clr>
            <a:srgbClr val="A4A3A4"/>
          </p15:clr>
        </p15:guide>
        <p15:guide id="2" pos="57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  <a:srgbClr val="FF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53" autoAdjust="0"/>
    <p:restoredTop sz="94789" autoAdjust="0"/>
  </p:normalViewPr>
  <p:slideViewPr>
    <p:cSldViewPr snapToGrid="0">
      <p:cViewPr varScale="1">
        <p:scale>
          <a:sx n="65" d="100"/>
          <a:sy n="65" d="100"/>
        </p:scale>
        <p:origin x="1168" y="36"/>
      </p:cViewPr>
      <p:guideLst>
        <p:guide orient="horz" pos="707"/>
        <p:guide pos="57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266" name="Rectangle 2">
            <a:extLst>
              <a:ext uri="{FF2B5EF4-FFF2-40B4-BE49-F238E27FC236}">
                <a16:creationId xmlns="" xmlns:a16="http://schemas.microsoft.com/office/drawing/2014/main" id="{C6EF5354-BFFB-44DF-8FA7-1A088153BD8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t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7267" name="Rectangle 3">
            <a:extLst>
              <a:ext uri="{FF2B5EF4-FFF2-40B4-BE49-F238E27FC236}">
                <a16:creationId xmlns="" xmlns:a16="http://schemas.microsoft.com/office/drawing/2014/main" id="{5BBF6CF9-ADFE-4F6E-89A0-8CB582D8FFC5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5575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t" anchorCtr="0" compatLnSpc="1">
            <a:prstTxWarp prst="textNoShape">
              <a:avLst/>
            </a:prstTxWarp>
          </a:bodyPr>
          <a:lstStyle>
            <a:lvl1pPr algn="r"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7268" name="Rectangle 4">
            <a:extLst>
              <a:ext uri="{FF2B5EF4-FFF2-40B4-BE49-F238E27FC236}">
                <a16:creationId xmlns="" xmlns:a16="http://schemas.microsoft.com/office/drawing/2014/main" id="{8C120FC7-7BCE-4696-BB5D-C087861E4B4E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b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7269" name="Rectangle 5">
            <a:extLst>
              <a:ext uri="{FF2B5EF4-FFF2-40B4-BE49-F238E27FC236}">
                <a16:creationId xmlns="" xmlns:a16="http://schemas.microsoft.com/office/drawing/2014/main" id="{6735A123-7D3E-455E-AB82-1C3749BB052A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b" anchorCtr="0" compatLnSpc="1">
            <a:prstTxWarp prst="textNoShape">
              <a:avLst/>
            </a:prstTxWarp>
          </a:bodyPr>
          <a:lstStyle>
            <a:lvl1pPr algn="r" defTabSz="930275">
              <a:defRPr sz="1300"/>
            </a:lvl1pPr>
          </a:lstStyle>
          <a:p>
            <a:pPr>
              <a:defRPr/>
            </a:pPr>
            <a:fld id="{A8B4C920-550B-4EA7-9CB5-2D8883A273B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0428311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642" name="Rectangle 2">
            <a:extLst>
              <a:ext uri="{FF2B5EF4-FFF2-40B4-BE49-F238E27FC236}">
                <a16:creationId xmlns="" xmlns:a16="http://schemas.microsoft.com/office/drawing/2014/main" id="{2E8AF117-EF14-4BF3-AB7D-D75C4F934CC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t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0643" name="Rectangle 3">
            <a:extLst>
              <a:ext uri="{FF2B5EF4-FFF2-40B4-BE49-F238E27FC236}">
                <a16:creationId xmlns="" xmlns:a16="http://schemas.microsoft.com/office/drawing/2014/main" id="{D7D2DA5C-BED3-45D1-AFD2-94AF29863ABC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65575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t" anchorCtr="0" compatLnSpc="1">
            <a:prstTxWarp prst="textNoShape">
              <a:avLst/>
            </a:prstTxWarp>
          </a:bodyPr>
          <a:lstStyle>
            <a:lvl1pPr algn="r"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>
            <a:extLst>
              <a:ext uri="{FF2B5EF4-FFF2-40B4-BE49-F238E27FC236}">
                <a16:creationId xmlns="" xmlns:a16="http://schemas.microsoft.com/office/drawing/2014/main" id="{A2936E5F-4C9B-4144-9261-C3F188AA67D9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77925" y="696913"/>
            <a:ext cx="4641850" cy="34813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0645" name="Rectangle 5">
            <a:extLst>
              <a:ext uri="{FF2B5EF4-FFF2-40B4-BE49-F238E27FC236}">
                <a16:creationId xmlns="" xmlns:a16="http://schemas.microsoft.com/office/drawing/2014/main" id="{D73F14C5-05F8-4300-9D01-F3633C854740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1863" y="4410075"/>
            <a:ext cx="5133975" cy="417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40646" name="Rectangle 6">
            <a:extLst>
              <a:ext uri="{FF2B5EF4-FFF2-40B4-BE49-F238E27FC236}">
                <a16:creationId xmlns="" xmlns:a16="http://schemas.microsoft.com/office/drawing/2014/main" id="{BCB6CAD9-A006-4455-8054-9CACB290288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b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0647" name="Rectangle 7">
            <a:extLst>
              <a:ext uri="{FF2B5EF4-FFF2-40B4-BE49-F238E27FC236}">
                <a16:creationId xmlns="" xmlns:a16="http://schemas.microsoft.com/office/drawing/2014/main" id="{63060AD7-0C3D-477B-BD60-55C8EBDB945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b" anchorCtr="0" compatLnSpc="1">
            <a:prstTxWarp prst="textNoShape">
              <a:avLst/>
            </a:prstTxWarp>
          </a:bodyPr>
          <a:lstStyle>
            <a:lvl1pPr algn="r" defTabSz="930275">
              <a:defRPr sz="1300"/>
            </a:lvl1pPr>
          </a:lstStyle>
          <a:p>
            <a:pPr>
              <a:defRPr/>
            </a:pPr>
            <a:fld id="{AE66C03C-4B0E-4149-8287-A3B340EB818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3088444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7351C3CC-85E9-4EB0-AE84-86EE2CEAA304}" type="slidenum">
              <a:rPr lang="en-US" altLang="en-US" sz="1200">
                <a:latin typeface="Times New Roman" panose="02020603050405020304" pitchFamily="18" charset="0"/>
              </a:rPr>
              <a:pPr/>
              <a:t>1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013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87541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1E56AE75-B906-4BBE-9F19-01C6ABDA8665}" type="slidenum">
              <a:rPr lang="en-US" altLang="en-US" sz="1200"/>
              <a:pPr/>
              <a:t>2</a:t>
            </a:fld>
            <a:endParaRPr lang="en-US" altLang="en-US" sz="1200"/>
          </a:p>
        </p:txBody>
      </p:sp>
      <p:sp>
        <p:nvSpPr>
          <p:cNvPr id="18435" name="Rectangle 2"/>
          <p:cNvSpPr>
            <a:spLocks noChangeArrowheads="1"/>
          </p:cNvSpPr>
          <p:nvPr/>
        </p:nvSpPr>
        <p:spPr bwMode="auto">
          <a:xfrm>
            <a:off x="3965576" y="0"/>
            <a:ext cx="3032125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18436" name="Rectangle 3"/>
          <p:cNvSpPr>
            <a:spLocks noChangeArrowheads="1"/>
          </p:cNvSpPr>
          <p:nvPr/>
        </p:nvSpPr>
        <p:spPr bwMode="auto">
          <a:xfrm>
            <a:off x="3965576" y="8820150"/>
            <a:ext cx="3032125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58" tIns="45221" rIns="92058" bIns="45221" anchor="b"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n-US" altLang="en-US" sz="13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18437" name="Rectangle 4"/>
          <p:cNvSpPr>
            <a:spLocks noChangeArrowheads="1"/>
          </p:cNvSpPr>
          <p:nvPr/>
        </p:nvSpPr>
        <p:spPr bwMode="auto">
          <a:xfrm>
            <a:off x="1" y="8820150"/>
            <a:ext cx="3032125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18438" name="Rectangle 5"/>
          <p:cNvSpPr>
            <a:spLocks noChangeArrowheads="1"/>
          </p:cNvSpPr>
          <p:nvPr/>
        </p:nvSpPr>
        <p:spPr bwMode="auto">
          <a:xfrm>
            <a:off x="1" y="0"/>
            <a:ext cx="3032125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18439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 w="12700" cap="flat"/>
        </p:spPr>
      </p:sp>
      <p:sp>
        <p:nvSpPr>
          <p:cNvPr id="18440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31864" y="4410076"/>
            <a:ext cx="5133975" cy="41767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58" tIns="45221" rIns="92058" bIns="45221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60809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3449113-501E-40AA-8204-F51F280D2CC8}" type="slidenum">
              <a:rPr lang="en-US" altLang="en-US" smtClean="0"/>
              <a:pPr/>
              <a:t>3</a:t>
            </a:fld>
            <a:endParaRPr lang="en-US" altLang="en-US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2400" y="4410466"/>
            <a:ext cx="5132902" cy="4175934"/>
          </a:xfrm>
          <a:noFill/>
          <a:ln/>
        </p:spPr>
        <p:txBody>
          <a:bodyPr/>
          <a:lstStyle/>
          <a:p>
            <a:endParaRPr lang="en-US" altLang="en-US">
              <a:latin typeface="Times New Roman" pitchFamily="18" charset="0"/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305337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85DDB2F-C4B9-42E9-A66C-BCA14058EE6E}" type="slidenum">
              <a:rPr lang="en-US" altLang="en-US" sz="1200"/>
              <a:pPr/>
              <a:t>4</a:t>
            </a:fld>
            <a:endParaRPr lang="en-US" altLang="en-US" sz="1200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4" y="4410076"/>
            <a:ext cx="5133975" cy="41767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76314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85DDB2F-C4B9-42E9-A66C-BCA14058EE6E}" type="slidenum">
              <a:rPr lang="en-US" altLang="en-US" sz="1200"/>
              <a:pPr/>
              <a:t>5</a:t>
            </a:fld>
            <a:endParaRPr lang="en-US" altLang="en-US" sz="1200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4" y="4410076"/>
            <a:ext cx="5133975" cy="41767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7778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85DDB2F-C4B9-42E9-A66C-BCA14058EE6E}" type="slidenum">
              <a:rPr lang="en-US" altLang="en-US" sz="1200"/>
              <a:pPr/>
              <a:t>6</a:t>
            </a:fld>
            <a:endParaRPr lang="en-US" altLang="en-US" sz="1200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4" y="4410076"/>
            <a:ext cx="5133975" cy="41767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77732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979B905-280D-44BD-8E31-AB90F5734834}" type="slidenum">
              <a:rPr lang="en-US" altLang="en-US" smtClean="0"/>
              <a:pPr/>
              <a:t>8</a:t>
            </a:fld>
            <a:endParaRPr lang="en-US" altLang="en-US"/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altLang="en-US">
              <a:latin typeface="Times New Roman" pitchFamily="18" charset="0"/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505892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979B905-280D-44BD-8E31-AB90F5734834}" type="slidenum">
              <a:rPr lang="en-US" altLang="en-US" smtClean="0"/>
              <a:pPr/>
              <a:t>9</a:t>
            </a:fld>
            <a:endParaRPr lang="en-US" altLang="en-US"/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altLang="en-US">
              <a:latin typeface="Times New Roman" pitchFamily="18" charset="0"/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226280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787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1761" indent="-285293" defTabSz="928787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1171" indent="-228234" defTabSz="928787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97640" indent="-228234" defTabSz="928787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4108" indent="-228234" defTabSz="928787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0577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67045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3514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79982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7174961-0CF3-42A6-8222-18520414FAD4}" type="slidenum">
              <a:rPr lang="en-US" altLang="en-US" sz="1200"/>
              <a:pPr/>
              <a:t>10</a:t>
            </a:fld>
            <a:endParaRPr lang="en-US" altLang="en-US" sz="1200" dirty="0"/>
          </a:p>
        </p:txBody>
      </p:sp>
      <p:sp>
        <p:nvSpPr>
          <p:cNvPr id="8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  <a:ln/>
        </p:spPr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759" y="4410392"/>
            <a:ext cx="5134182" cy="417734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15122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787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1761" indent="-285293" defTabSz="928787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1171" indent="-228234" defTabSz="928787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97640" indent="-228234" defTabSz="928787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4108" indent="-228234" defTabSz="928787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0577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67045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3514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79982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7174961-0CF3-42A6-8222-18520414FAD4}" type="slidenum">
              <a:rPr lang="en-US" altLang="en-US" sz="1200"/>
              <a:pPr/>
              <a:t>11</a:t>
            </a:fld>
            <a:endParaRPr lang="en-US" altLang="en-US" sz="1200" dirty="0"/>
          </a:p>
        </p:txBody>
      </p:sp>
      <p:sp>
        <p:nvSpPr>
          <p:cNvPr id="8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  <a:ln/>
        </p:spPr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759" y="4410392"/>
            <a:ext cx="5134182" cy="417734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15122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85DDB2F-C4B9-42E9-A66C-BCA14058EE6E}" type="slidenum">
              <a:rPr lang="en-US" altLang="en-US" sz="1200"/>
              <a:pPr/>
              <a:t>12</a:t>
            </a:fld>
            <a:endParaRPr lang="en-US" altLang="en-US" sz="1200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4" y="4410076"/>
            <a:ext cx="5133975" cy="41767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371291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85DDB2F-C4B9-42E9-A66C-BCA14058EE6E}" type="slidenum">
              <a:rPr lang="en-US" altLang="en-US" sz="1200"/>
              <a:pPr/>
              <a:t>13</a:t>
            </a:fld>
            <a:endParaRPr lang="en-US" altLang="en-US" sz="1200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4" y="4410076"/>
            <a:ext cx="5133975" cy="41767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068276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85DDB2F-C4B9-42E9-A66C-BCA14058EE6E}" type="slidenum">
              <a:rPr lang="en-US" altLang="en-US" sz="1200"/>
              <a:pPr/>
              <a:t>14</a:t>
            </a:fld>
            <a:endParaRPr lang="en-US" altLang="en-US" sz="1200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4" y="4410076"/>
            <a:ext cx="5133975" cy="41767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442419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85DDB2F-C4B9-42E9-A66C-BCA14058EE6E}" type="slidenum">
              <a:rPr lang="en-US" altLang="en-US" sz="1200"/>
              <a:pPr/>
              <a:t>15</a:t>
            </a:fld>
            <a:endParaRPr lang="en-US" altLang="en-US" sz="1200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4" y="4410076"/>
            <a:ext cx="5133975" cy="41767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659157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85DDB2F-C4B9-42E9-A66C-BCA14058EE6E}" type="slidenum">
              <a:rPr lang="en-US" altLang="en-US" sz="1200"/>
              <a:pPr/>
              <a:t>16</a:t>
            </a:fld>
            <a:endParaRPr lang="en-US" altLang="en-US" sz="1200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4" y="4410076"/>
            <a:ext cx="5133975" cy="41767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712808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4EE474B3-6199-4C51-85D8-10EAF40AA925}" type="slidenum">
              <a:rPr lang="en-US" altLang="en-US" sz="1200"/>
              <a:pPr/>
              <a:t>17</a:t>
            </a:fld>
            <a:endParaRPr lang="en-US" altLang="en-US" sz="1200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4" y="4410076"/>
            <a:ext cx="5133975" cy="41767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356235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85DDB2F-C4B9-42E9-A66C-BCA14058EE6E}" type="slidenum">
              <a:rPr lang="en-US" altLang="en-US" sz="1200"/>
              <a:pPr/>
              <a:t>18</a:t>
            </a:fld>
            <a:endParaRPr lang="en-US" altLang="en-US" sz="1200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4" y="4410076"/>
            <a:ext cx="5133975" cy="41767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211173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85DDB2F-C4B9-42E9-A66C-BCA14058EE6E}" type="slidenum">
              <a:rPr lang="en-US" altLang="en-US" sz="1200"/>
              <a:pPr/>
              <a:t>19</a:t>
            </a:fld>
            <a:endParaRPr lang="en-US" altLang="en-US" sz="1200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4" y="4410076"/>
            <a:ext cx="5133975" cy="41767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001972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97D0D930-A2D8-469D-B052-FB82FC88E015}" type="slidenum">
              <a:rPr lang="en-US" altLang="en-US" sz="1200"/>
              <a:pPr/>
              <a:t>20</a:t>
            </a:fld>
            <a:endParaRPr lang="en-US" altLang="en-US" sz="1200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4" y="4410075"/>
            <a:ext cx="5133975" cy="41783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422768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304C8304-CA7E-484A-A59E-D08422FFDCB2}" type="slidenum">
              <a:rPr lang="en-US" altLang="en-US" sz="1200"/>
              <a:pPr/>
              <a:t>21</a:t>
            </a:fld>
            <a:endParaRPr lang="en-US" altLang="en-US" sz="1200"/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4" y="4410075"/>
            <a:ext cx="5133975" cy="41783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360701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3E7261DA-54B3-4A93-9499-25636D977100}" type="slidenum">
              <a:rPr lang="en-US" altLang="en-US" sz="1200"/>
              <a:pPr/>
              <a:t>22</a:t>
            </a:fld>
            <a:endParaRPr lang="en-US" altLang="en-US" sz="1200"/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4" y="4410075"/>
            <a:ext cx="5133975" cy="41783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826892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359C4894-872D-48F9-9264-417C7C9B2EAD}" type="slidenum">
              <a:rPr lang="en-US" altLang="en-US" sz="1200"/>
              <a:pPr/>
              <a:t>23</a:t>
            </a:fld>
            <a:endParaRPr lang="en-US" altLang="en-US" sz="1200"/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4" y="4410075"/>
            <a:ext cx="5133975" cy="41783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27736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4830243F-8686-4433-9701-9F34E8AC8773}" type="slidenum">
              <a:rPr lang="en-US" altLang="en-US" sz="1200"/>
              <a:pPr/>
              <a:t>26</a:t>
            </a:fld>
            <a:endParaRPr lang="en-US" altLang="en-US" sz="1200"/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4" y="4410075"/>
            <a:ext cx="5133975" cy="41783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683249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445649CE-6E1F-4A66-818C-4E7F6898A7A7}" type="slidenum">
              <a:rPr lang="en-US" altLang="en-US" sz="1200"/>
              <a:pPr/>
              <a:t>27</a:t>
            </a:fld>
            <a:endParaRPr lang="en-US" altLang="en-US" sz="1200"/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4" y="4410075"/>
            <a:ext cx="5133975" cy="41783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293066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FA9640E-5C10-4629-8988-A9A2CA4B65CD}" type="slidenum">
              <a:rPr lang="en-US" altLang="en-US" sz="1200"/>
              <a:pPr/>
              <a:t>28</a:t>
            </a:fld>
            <a:endParaRPr lang="en-US" altLang="en-US" sz="1200"/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4" y="4410075"/>
            <a:ext cx="5133975" cy="41783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456368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FA9640E-5C10-4629-8988-A9A2CA4B65CD}" type="slidenum">
              <a:rPr lang="en-US" altLang="en-US" sz="1200"/>
              <a:pPr/>
              <a:t>29</a:t>
            </a:fld>
            <a:endParaRPr lang="en-US" altLang="en-US" sz="1200"/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4" y="4410075"/>
            <a:ext cx="5133975" cy="41783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210516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476C4670-485C-41B4-B6C8-2F72766EE515}" type="slidenum">
              <a:rPr lang="en-US" altLang="en-US" sz="1200"/>
              <a:pPr/>
              <a:t>30</a:t>
            </a:fld>
            <a:endParaRPr lang="en-US" altLang="en-US" sz="1200"/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4" y="4410075"/>
            <a:ext cx="5133975" cy="41783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650252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DEFD3E4-E538-49EF-A1BC-D85549A485CA}" type="slidenum">
              <a:rPr lang="en-US" altLang="en-US" sz="1200"/>
              <a:pPr/>
              <a:t>31</a:t>
            </a:fld>
            <a:endParaRPr lang="en-US" altLang="en-US" sz="1200"/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4" y="4410075"/>
            <a:ext cx="5133975" cy="41783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798260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DEFD3E4-E538-49EF-A1BC-D85549A485CA}" type="slidenum">
              <a:rPr lang="en-US" altLang="en-US" sz="1200"/>
              <a:pPr/>
              <a:t>32</a:t>
            </a:fld>
            <a:endParaRPr lang="en-US" altLang="en-US" sz="1200"/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4" y="4410075"/>
            <a:ext cx="5133975" cy="41783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610828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9819F5B-7A32-4D84-A65B-6246CABB1E02}" type="slidenum">
              <a:rPr lang="en-US" altLang="en-US" sz="1200"/>
              <a:pPr/>
              <a:t>33</a:t>
            </a:fld>
            <a:endParaRPr lang="en-US" altLang="en-US" sz="1200"/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  <a:ln/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4" y="4410075"/>
            <a:ext cx="5133975" cy="41783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611278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2ACED373-63CE-4F43-BE90-54DF58F8F5BB}" type="slidenum">
              <a:rPr lang="en-US" altLang="en-US" sz="1200"/>
              <a:pPr/>
              <a:t>37</a:t>
            </a:fld>
            <a:endParaRPr lang="en-US" altLang="en-US" sz="1200"/>
          </a:p>
        </p:txBody>
      </p:sp>
      <p:sp>
        <p:nvSpPr>
          <p:cNvPr id="911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  <a:ln/>
        </p:spPr>
      </p:sp>
      <p:sp>
        <p:nvSpPr>
          <p:cNvPr id="911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4" y="4410075"/>
            <a:ext cx="5133975" cy="41783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31030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://www.db-book.com/" TargetMode="Externa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7">
            <a:extLst>
              <a:ext uri="{FF2B5EF4-FFF2-40B4-BE49-F238E27FC236}">
                <a16:creationId xmlns="" xmlns:a16="http://schemas.microsoft.com/office/drawing/2014/main" id="{A25BB261-D773-4836-B381-7A051175F5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4938" y="5726113"/>
            <a:ext cx="3694112" cy="79375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b="1" dirty="0">
                <a:solidFill>
                  <a:srgbClr val="002060"/>
                </a:solidFill>
              </a:rPr>
              <a:t>Database System Concepts, 7</a:t>
            </a:r>
            <a:r>
              <a:rPr lang="en-US" altLang="en-US" b="1" baseline="30000" dirty="0">
                <a:solidFill>
                  <a:srgbClr val="002060"/>
                </a:solidFill>
              </a:rPr>
              <a:t>th</a:t>
            </a:r>
            <a:r>
              <a:rPr lang="en-US" altLang="en-US" b="1" dirty="0">
                <a:solidFill>
                  <a:srgbClr val="002060"/>
                </a:solidFill>
              </a:rPr>
              <a:t> Ed</a:t>
            </a:r>
            <a:r>
              <a:rPr lang="en-US" altLang="en-US" dirty="0">
                <a:solidFill>
                  <a:srgbClr val="002060"/>
                </a:solidFill>
              </a:rPr>
              <a:t>.</a:t>
            </a:r>
          </a:p>
          <a:p>
            <a:pPr algn="ctr">
              <a:spcBef>
                <a:spcPct val="50000"/>
              </a:spcBef>
              <a:defRPr/>
            </a:pPr>
            <a:r>
              <a:rPr lang="en-US" altLang="en-US" sz="1200" b="1" dirty="0">
                <a:solidFill>
                  <a:srgbClr val="002060"/>
                </a:solidFill>
              </a:rPr>
              <a:t>©Silberschatz, Korth and Sudarshan</a:t>
            </a:r>
            <a:br>
              <a:rPr lang="en-US" altLang="en-US" sz="1200" b="1" dirty="0">
                <a:solidFill>
                  <a:srgbClr val="002060"/>
                </a:solidFill>
              </a:rPr>
            </a:br>
            <a:r>
              <a:rPr lang="en-US" altLang="en-US" sz="1200" b="1" dirty="0">
                <a:solidFill>
                  <a:srgbClr val="002060"/>
                </a:solidFill>
              </a:rPr>
              <a:t>See </a:t>
            </a:r>
            <a:r>
              <a:rPr lang="en-US" altLang="en-US" sz="1200" b="1" dirty="0">
                <a:solidFill>
                  <a:srgbClr val="002060"/>
                </a:solidFill>
                <a:hlinkClick r:id="rId2"/>
              </a:rPr>
              <a:t>www.db-book.com</a:t>
            </a:r>
            <a:r>
              <a:rPr lang="en-US" altLang="en-US" sz="1200" b="1" dirty="0">
                <a:solidFill>
                  <a:srgbClr val="002060"/>
                </a:solidFill>
              </a:rPr>
              <a:t> for conditions on re-use </a:t>
            </a:r>
          </a:p>
        </p:txBody>
      </p:sp>
      <p:sp>
        <p:nvSpPr>
          <p:cNvPr id="51302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="" xmlns:a16="http://schemas.microsoft.com/office/drawing/2014/main" id="{B4760F52-45E1-4E1D-A744-2F2290DE90CC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96063" y="6218238"/>
            <a:ext cx="1905000" cy="457200"/>
          </a:xfrm>
        </p:spPr>
        <p:txBody>
          <a:bodyPr/>
          <a:lstStyle>
            <a:lvl1pPr>
              <a:defRPr>
                <a:solidFill>
                  <a:srgbClr val="578963"/>
                </a:solidFill>
              </a:defRPr>
            </a:lvl1pPr>
          </a:lstStyle>
          <a:p>
            <a:pPr>
              <a:defRPr/>
            </a:pPr>
            <a:fld id="{3B69BB99-A72A-4470-971F-83530C443C9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pic>
        <p:nvPicPr>
          <p:cNvPr id="9" name="Picture 8" descr="Cover-6Ed"/>
          <p:cNvPicPr>
            <a:picLocks noChangeAspect="1" noChangeArrowheads="1"/>
          </p:cNvPicPr>
          <p:nvPr userDrawn="1"/>
        </p:nvPicPr>
        <p:blipFill>
          <a:blip r:embed="rId3"/>
          <a:stretch>
            <a:fillRect/>
          </a:stretch>
        </p:blipFill>
        <p:spPr bwMode="auto">
          <a:xfrm>
            <a:off x="13858" y="0"/>
            <a:ext cx="1331269" cy="170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604871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8350" y="1093788"/>
            <a:ext cx="7707313" cy="4903787"/>
          </a:xfrm>
        </p:spPr>
        <p:txBody>
          <a:bodyPr/>
          <a:lstStyle>
            <a:lvl1pPr marL="342900" indent="-342900">
              <a:buSzPct val="110000"/>
              <a:buFont typeface="Wingdings" panose="05000000000000000000" pitchFamily="2" charset="2"/>
              <a:buChar char="§"/>
              <a:defRPr sz="1700"/>
            </a:lvl1pPr>
            <a:lvl2pPr marL="742950" indent="-285750">
              <a:buSzPct val="110000"/>
              <a:buFont typeface="Arial" panose="020B0604020202020204" pitchFamily="34" charset="0"/>
              <a:buChar char="•"/>
              <a:defRPr sz="1700"/>
            </a:lvl2pPr>
            <a:lvl3pPr marL="1085850" indent="-228600">
              <a:buFont typeface="Wingdings" panose="05000000000000000000" pitchFamily="2" charset="2"/>
              <a:buChar char="§"/>
              <a:defRPr sz="1700"/>
            </a:lvl3pPr>
            <a:lvl4pPr marL="1428750" indent="-228600">
              <a:buFont typeface="Arial" panose="020B0604020202020204" pitchFamily="34" charset="0"/>
              <a:buChar char="•"/>
              <a:defRPr sz="1700"/>
            </a:lvl4pPr>
            <a:lvl5pPr marL="1771650" indent="-228600">
              <a:buFont typeface="Wingdings" panose="05000000000000000000" pitchFamily="2" charset="2"/>
              <a:buChar char="§"/>
              <a:defRPr sz="17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24371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336F2EBE-FF5F-4F9D-A3C2-A59A92D7809D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7F3CAF-32BF-49A6-93F1-59C9E4B7C95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60709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4388" y="1093788"/>
            <a:ext cx="3754437" cy="4903787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1225" y="1093788"/>
            <a:ext cx="3754438" cy="4903787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="" xmlns:a16="http://schemas.microsoft.com/office/drawing/2014/main" id="{A6D4A7F0-1138-4608-80AA-D0A6F5D41187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852D5F-D37B-4E9D-98AD-511A1ABBD6A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108020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="" xmlns:a16="http://schemas.microsoft.com/office/drawing/2014/main" id="{56DFCFB3-6710-4DD2-8404-7E55A930F35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191CCC-CC48-429B-87C9-7123B48E52D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90424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="" xmlns:a16="http://schemas.microsoft.com/office/drawing/2014/main" id="{BB431453-8F56-47C4-89BA-3EDF3CD092BA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9D92F0-DB25-4E6B-A10D-A7937AC7A36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360057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="" xmlns:a16="http://schemas.microsoft.com/office/drawing/2014/main" id="{4BE8099E-18A5-481A-9697-216087BE067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555C8E-F740-4D28-8DA3-D7B8E0F6F57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32147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="" xmlns:a16="http://schemas.microsoft.com/office/drawing/2014/main" id="{97E2C57D-1205-411A-BA90-DF60A810F6D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BBE5B0-1186-4DAB-9E97-511F15F5C63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488098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="" xmlns:a16="http://schemas.microsoft.com/office/drawing/2014/main" id="{99EB6957-06EE-46F8-A450-3DB417A1F8A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91DB2E-7BC4-4C22-ACAE-0B8B3F0C514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8140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85C950AD-734E-45C7-8042-5795FFAD675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E5E31B-1343-4510-8DCD-65E7B654469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630467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26250" y="117475"/>
            <a:ext cx="2019300" cy="58801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8350" y="117475"/>
            <a:ext cx="5905500" cy="58801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C7A7A2CD-B5B0-4CF6-8038-339B0E99E36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3574B0-C055-4E38-82A9-667A1DF1F8D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946499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A9796C49-4A73-449B-A170-DFFCD45313D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0D9E99-A0D8-4F2F-B04A-331DF655FEA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228256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="" xmlns:a16="http://schemas.microsoft.com/office/drawing/2014/main" id="{56112478-D9B7-4D0D-ADE5-62D5EFAAFB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47558" y="1093788"/>
            <a:ext cx="7728105" cy="4903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512003" name="Rectangle 3">
            <a:extLst>
              <a:ext uri="{FF2B5EF4-FFF2-40B4-BE49-F238E27FC236}">
                <a16:creationId xmlns="" xmlns:a16="http://schemas.microsoft.com/office/drawing/2014/main" id="{D2EB5033-CF44-472B-B77D-FAA18581E63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50000"/>
              </a:spcBef>
              <a:defRPr sz="1400">
                <a:solidFill>
                  <a:srgbClr val="002060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8BECA7E0-09BC-41D3-BD93-B7E81A2ACCB7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  <p:sp>
        <p:nvSpPr>
          <p:cNvPr id="1028" name="Text Box 4">
            <a:extLst>
              <a:ext uri="{FF2B5EF4-FFF2-40B4-BE49-F238E27FC236}">
                <a16:creationId xmlns="" xmlns:a16="http://schemas.microsoft.com/office/drawing/2014/main" id="{D0CFC8B2-2C6C-4CA4-9AFC-14298F0DD4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2750" y="6613525"/>
            <a:ext cx="2381250" cy="2444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2060"/>
                </a:solidFill>
              </a:rPr>
              <a:t>©Silberschatz, Korth and Sudarshan</a:t>
            </a:r>
          </a:p>
        </p:txBody>
      </p:sp>
      <p:sp>
        <p:nvSpPr>
          <p:cNvPr id="512005" name="Text Box 5">
            <a:extLst>
              <a:ext uri="{FF2B5EF4-FFF2-40B4-BE49-F238E27FC236}">
                <a16:creationId xmlns="" xmlns:a16="http://schemas.microsoft.com/office/drawing/2014/main" id="{ED25C836-0663-424A-84A7-5AB80342286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479984" y="6613525"/>
            <a:ext cx="447559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2060"/>
                </a:solidFill>
              </a:rPr>
              <a:t>4.</a:t>
            </a:r>
            <a:fld id="{669DE52E-05EC-4487-BE79-3F9A6A9F8797}" type="slidenum">
              <a:rPr lang="en-US" altLang="en-US" sz="1000" b="1" smtClean="0">
                <a:solidFill>
                  <a:srgbClr val="002060"/>
                </a:solidFill>
              </a:rPr>
              <a:pPr algn="ctr">
                <a:spcBef>
                  <a:spcPct val="50000"/>
                </a:spcBef>
                <a:defRPr/>
              </a:pPr>
              <a:t>‹#›</a:t>
            </a:fld>
            <a:endParaRPr lang="en-US" altLang="en-US" sz="1000" b="1" dirty="0">
              <a:solidFill>
                <a:srgbClr val="002060"/>
              </a:solidFill>
            </a:endParaRPr>
          </a:p>
        </p:txBody>
      </p:sp>
      <p:sp>
        <p:nvSpPr>
          <p:cNvPr id="512006" name="Rectangle 6">
            <a:extLst>
              <a:ext uri="{FF2B5EF4-FFF2-40B4-BE49-F238E27FC236}">
                <a16:creationId xmlns="" xmlns:a16="http://schemas.microsoft.com/office/drawing/2014/main" id="{BFAC4B4C-D3C2-4A14-871E-CC7D45F076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68350" y="117475"/>
            <a:ext cx="80772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31" name="Text Box 7">
            <a:extLst>
              <a:ext uri="{FF2B5EF4-FFF2-40B4-BE49-F238E27FC236}">
                <a16:creationId xmlns="" xmlns:a16="http://schemas.microsoft.com/office/drawing/2014/main" id="{5472E9A1-C06F-4393-872E-7F8100F916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613525"/>
            <a:ext cx="2571750" cy="2444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000" b="1" dirty="0">
                <a:solidFill>
                  <a:srgbClr val="002060"/>
                </a:solidFill>
              </a:rPr>
              <a:t>Database System Concepts - 7</a:t>
            </a:r>
            <a:r>
              <a:rPr lang="en-US" sz="1000" b="1" baseline="30000" dirty="0">
                <a:solidFill>
                  <a:srgbClr val="002060"/>
                </a:solidFill>
              </a:rPr>
              <a:t>th</a:t>
            </a:r>
            <a:r>
              <a:rPr lang="en-US" sz="1000" b="1" dirty="0">
                <a:solidFill>
                  <a:srgbClr val="002060"/>
                </a:solidFill>
              </a:rPr>
              <a:t> Edition</a:t>
            </a:r>
          </a:p>
        </p:txBody>
      </p:sp>
      <p:sp>
        <p:nvSpPr>
          <p:cNvPr id="1032" name="Freeform 8">
            <a:extLst>
              <a:ext uri="{FF2B5EF4-FFF2-40B4-BE49-F238E27FC236}">
                <a16:creationId xmlns="" xmlns:a16="http://schemas.microsoft.com/office/drawing/2014/main" id="{0362D880-06BD-4D02-876C-3226AC8E6F10}"/>
              </a:ext>
            </a:extLst>
          </p:cNvPr>
          <p:cNvSpPr>
            <a:spLocks/>
          </p:cNvSpPr>
          <p:nvPr/>
        </p:nvSpPr>
        <p:spPr bwMode="auto">
          <a:xfrm>
            <a:off x="8916988" y="5445125"/>
            <a:ext cx="227012" cy="47625"/>
          </a:xfrm>
          <a:custGeom>
            <a:avLst/>
            <a:gdLst>
              <a:gd name="T0" fmla="*/ 0 w 285"/>
              <a:gd name="T1" fmla="*/ 2147483646 h 61"/>
              <a:gd name="T2" fmla="*/ 2147483646 w 285"/>
              <a:gd name="T3" fmla="*/ 2147483646 h 61"/>
              <a:gd name="T4" fmla="*/ 2147483646 w 285"/>
              <a:gd name="T5" fmla="*/ 2147483646 h 61"/>
              <a:gd name="T6" fmla="*/ 2147483646 w 285"/>
              <a:gd name="T7" fmla="*/ 2147483646 h 61"/>
              <a:gd name="T8" fmla="*/ 2147483646 w 285"/>
              <a:gd name="T9" fmla="*/ 2147483646 h 61"/>
              <a:gd name="T10" fmla="*/ 2147483646 w 285"/>
              <a:gd name="T11" fmla="*/ 2147483646 h 61"/>
              <a:gd name="T12" fmla="*/ 2147483646 w 285"/>
              <a:gd name="T13" fmla="*/ 2147483646 h 61"/>
              <a:gd name="T14" fmla="*/ 2147483646 w 285"/>
              <a:gd name="T15" fmla="*/ 2147483646 h 61"/>
              <a:gd name="T16" fmla="*/ 2147483646 w 285"/>
              <a:gd name="T17" fmla="*/ 0 h 61"/>
              <a:gd name="T18" fmla="*/ 2147483646 w 285"/>
              <a:gd name="T19" fmla="*/ 0 h 61"/>
              <a:gd name="T20" fmla="*/ 2147483646 w 285"/>
              <a:gd name="T21" fmla="*/ 0 h 61"/>
              <a:gd name="T22" fmla="*/ 2147483646 w 285"/>
              <a:gd name="T23" fmla="*/ 0 h 61"/>
              <a:gd name="T24" fmla="*/ 2147483646 w 285"/>
              <a:gd name="T25" fmla="*/ 2147483646 h 61"/>
              <a:gd name="T26" fmla="*/ 2147483646 w 285"/>
              <a:gd name="T27" fmla="*/ 2147483646 h 61"/>
              <a:gd name="T28" fmla="*/ 2147483646 w 285"/>
              <a:gd name="T29" fmla="*/ 2147483646 h 61"/>
              <a:gd name="T30" fmla="*/ 2147483646 w 285"/>
              <a:gd name="T31" fmla="*/ 2147483646 h 61"/>
              <a:gd name="T32" fmla="*/ 2147483646 w 285"/>
              <a:gd name="T33" fmla="*/ 2147483646 h 61"/>
              <a:gd name="T34" fmla="*/ 2147483646 w 285"/>
              <a:gd name="T35" fmla="*/ 2147483646 h 61"/>
              <a:gd name="T36" fmla="*/ 2147483646 w 285"/>
              <a:gd name="T37" fmla="*/ 2147483646 h 61"/>
              <a:gd name="T38" fmla="*/ 2147483646 w 285"/>
              <a:gd name="T39" fmla="*/ 2147483646 h 61"/>
              <a:gd name="T40" fmla="*/ 2147483646 w 285"/>
              <a:gd name="T41" fmla="*/ 2147483646 h 61"/>
              <a:gd name="T42" fmla="*/ 2147483646 w 285"/>
              <a:gd name="T43" fmla="*/ 2147483646 h 61"/>
              <a:gd name="T44" fmla="*/ 2147483646 w 285"/>
              <a:gd name="T45" fmla="*/ 2147483646 h 61"/>
              <a:gd name="T46" fmla="*/ 2147483646 w 285"/>
              <a:gd name="T47" fmla="*/ 2147483646 h 61"/>
              <a:gd name="T48" fmla="*/ 2147483646 w 285"/>
              <a:gd name="T49" fmla="*/ 2147483646 h 61"/>
              <a:gd name="T50" fmla="*/ 2147483646 w 285"/>
              <a:gd name="T51" fmla="*/ 2147483646 h 61"/>
              <a:gd name="T52" fmla="*/ 2147483646 w 285"/>
              <a:gd name="T53" fmla="*/ 2147483646 h 61"/>
              <a:gd name="T54" fmla="*/ 2147483646 w 285"/>
              <a:gd name="T55" fmla="*/ 2147483646 h 61"/>
              <a:gd name="T56" fmla="*/ 2147483646 w 285"/>
              <a:gd name="T57" fmla="*/ 2147483646 h 61"/>
              <a:gd name="T58" fmla="*/ 2147483646 w 285"/>
              <a:gd name="T59" fmla="*/ 2147483646 h 61"/>
              <a:gd name="T60" fmla="*/ 2147483646 w 285"/>
              <a:gd name="T61" fmla="*/ 2147483646 h 61"/>
              <a:gd name="T62" fmla="*/ 2147483646 w 285"/>
              <a:gd name="T63" fmla="*/ 2147483646 h 61"/>
              <a:gd name="T64" fmla="*/ 2147483646 w 285"/>
              <a:gd name="T65" fmla="*/ 2147483646 h 61"/>
              <a:gd name="T66" fmla="*/ 2147483646 w 285"/>
              <a:gd name="T67" fmla="*/ 2147483646 h 61"/>
              <a:gd name="T68" fmla="*/ 2147483646 w 285"/>
              <a:gd name="T69" fmla="*/ 2147483646 h 61"/>
              <a:gd name="T70" fmla="*/ 2147483646 w 285"/>
              <a:gd name="T71" fmla="*/ 2147483646 h 61"/>
              <a:gd name="T72" fmla="*/ 2147483646 w 285"/>
              <a:gd name="T73" fmla="*/ 2147483646 h 61"/>
              <a:gd name="T74" fmla="*/ 2147483646 w 285"/>
              <a:gd name="T75" fmla="*/ 2147483646 h 61"/>
              <a:gd name="T76" fmla="*/ 2147483646 w 285"/>
              <a:gd name="T77" fmla="*/ 2147483646 h 61"/>
              <a:gd name="T78" fmla="*/ 2147483646 w 285"/>
              <a:gd name="T79" fmla="*/ 2147483646 h 61"/>
              <a:gd name="T80" fmla="*/ 2147483646 w 285"/>
              <a:gd name="T81" fmla="*/ 2147483646 h 61"/>
              <a:gd name="T82" fmla="*/ 2147483646 w 285"/>
              <a:gd name="T83" fmla="*/ 2147483646 h 61"/>
              <a:gd name="T84" fmla="*/ 2147483646 w 285"/>
              <a:gd name="T85" fmla="*/ 2147483646 h 61"/>
              <a:gd name="T86" fmla="*/ 2147483646 w 285"/>
              <a:gd name="T87" fmla="*/ 2147483646 h 61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</a:gdLst>
            <a:ahLst/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0" t="0" r="r" b="b"/>
            <a:pathLst>
              <a:path w="285" h="61">
                <a:moveTo>
                  <a:pt x="2" y="61"/>
                </a:moveTo>
                <a:lnTo>
                  <a:pt x="0" y="59"/>
                </a:lnTo>
                <a:lnTo>
                  <a:pt x="0" y="55"/>
                </a:lnTo>
                <a:lnTo>
                  <a:pt x="2" y="48"/>
                </a:lnTo>
                <a:lnTo>
                  <a:pt x="5" y="40"/>
                </a:lnTo>
                <a:lnTo>
                  <a:pt x="9" y="34"/>
                </a:lnTo>
                <a:lnTo>
                  <a:pt x="13" y="31"/>
                </a:lnTo>
                <a:lnTo>
                  <a:pt x="17" y="25"/>
                </a:lnTo>
                <a:lnTo>
                  <a:pt x="24" y="21"/>
                </a:lnTo>
                <a:lnTo>
                  <a:pt x="30" y="17"/>
                </a:lnTo>
                <a:lnTo>
                  <a:pt x="40" y="13"/>
                </a:lnTo>
                <a:lnTo>
                  <a:pt x="45" y="10"/>
                </a:lnTo>
                <a:lnTo>
                  <a:pt x="51" y="8"/>
                </a:lnTo>
                <a:lnTo>
                  <a:pt x="57" y="6"/>
                </a:lnTo>
                <a:lnTo>
                  <a:pt x="64" y="6"/>
                </a:lnTo>
                <a:lnTo>
                  <a:pt x="70" y="2"/>
                </a:lnTo>
                <a:lnTo>
                  <a:pt x="78" y="2"/>
                </a:lnTo>
                <a:lnTo>
                  <a:pt x="85" y="0"/>
                </a:lnTo>
                <a:lnTo>
                  <a:pt x="93" y="0"/>
                </a:lnTo>
                <a:lnTo>
                  <a:pt x="100" y="0"/>
                </a:lnTo>
                <a:lnTo>
                  <a:pt x="110" y="0"/>
                </a:lnTo>
                <a:lnTo>
                  <a:pt x="118" y="0"/>
                </a:lnTo>
                <a:lnTo>
                  <a:pt x="129" y="0"/>
                </a:lnTo>
                <a:lnTo>
                  <a:pt x="137" y="0"/>
                </a:lnTo>
                <a:lnTo>
                  <a:pt x="146" y="2"/>
                </a:lnTo>
                <a:lnTo>
                  <a:pt x="154" y="2"/>
                </a:lnTo>
                <a:lnTo>
                  <a:pt x="163" y="4"/>
                </a:lnTo>
                <a:lnTo>
                  <a:pt x="173" y="6"/>
                </a:lnTo>
                <a:lnTo>
                  <a:pt x="182" y="8"/>
                </a:lnTo>
                <a:lnTo>
                  <a:pt x="192" y="8"/>
                </a:lnTo>
                <a:lnTo>
                  <a:pt x="201" y="12"/>
                </a:lnTo>
                <a:lnTo>
                  <a:pt x="209" y="12"/>
                </a:lnTo>
                <a:lnTo>
                  <a:pt x="216" y="13"/>
                </a:lnTo>
                <a:lnTo>
                  <a:pt x="224" y="15"/>
                </a:lnTo>
                <a:lnTo>
                  <a:pt x="234" y="17"/>
                </a:lnTo>
                <a:lnTo>
                  <a:pt x="239" y="19"/>
                </a:lnTo>
                <a:lnTo>
                  <a:pt x="247" y="21"/>
                </a:lnTo>
                <a:lnTo>
                  <a:pt x="254" y="23"/>
                </a:lnTo>
                <a:lnTo>
                  <a:pt x="260" y="25"/>
                </a:lnTo>
                <a:lnTo>
                  <a:pt x="266" y="25"/>
                </a:lnTo>
                <a:lnTo>
                  <a:pt x="270" y="27"/>
                </a:lnTo>
                <a:lnTo>
                  <a:pt x="273" y="27"/>
                </a:lnTo>
                <a:lnTo>
                  <a:pt x="279" y="29"/>
                </a:lnTo>
                <a:lnTo>
                  <a:pt x="283" y="31"/>
                </a:lnTo>
                <a:lnTo>
                  <a:pt x="285" y="32"/>
                </a:lnTo>
                <a:lnTo>
                  <a:pt x="279" y="44"/>
                </a:lnTo>
                <a:lnTo>
                  <a:pt x="277" y="44"/>
                </a:lnTo>
                <a:lnTo>
                  <a:pt x="273" y="42"/>
                </a:lnTo>
                <a:lnTo>
                  <a:pt x="268" y="42"/>
                </a:lnTo>
                <a:lnTo>
                  <a:pt x="260" y="40"/>
                </a:lnTo>
                <a:lnTo>
                  <a:pt x="251" y="38"/>
                </a:lnTo>
                <a:lnTo>
                  <a:pt x="241" y="36"/>
                </a:lnTo>
                <a:lnTo>
                  <a:pt x="235" y="34"/>
                </a:lnTo>
                <a:lnTo>
                  <a:pt x="230" y="34"/>
                </a:lnTo>
                <a:lnTo>
                  <a:pt x="224" y="32"/>
                </a:lnTo>
                <a:lnTo>
                  <a:pt x="218" y="32"/>
                </a:lnTo>
                <a:lnTo>
                  <a:pt x="213" y="31"/>
                </a:lnTo>
                <a:lnTo>
                  <a:pt x="207" y="31"/>
                </a:lnTo>
                <a:lnTo>
                  <a:pt x="201" y="29"/>
                </a:lnTo>
                <a:lnTo>
                  <a:pt x="196" y="29"/>
                </a:lnTo>
                <a:lnTo>
                  <a:pt x="190" y="27"/>
                </a:lnTo>
                <a:lnTo>
                  <a:pt x="182" y="27"/>
                </a:lnTo>
                <a:lnTo>
                  <a:pt x="178" y="25"/>
                </a:lnTo>
                <a:lnTo>
                  <a:pt x="173" y="25"/>
                </a:lnTo>
                <a:lnTo>
                  <a:pt x="167" y="23"/>
                </a:lnTo>
                <a:lnTo>
                  <a:pt x="163" y="23"/>
                </a:lnTo>
                <a:lnTo>
                  <a:pt x="158" y="21"/>
                </a:lnTo>
                <a:lnTo>
                  <a:pt x="154" y="21"/>
                </a:lnTo>
                <a:lnTo>
                  <a:pt x="148" y="19"/>
                </a:lnTo>
                <a:lnTo>
                  <a:pt x="142" y="19"/>
                </a:lnTo>
                <a:lnTo>
                  <a:pt x="144" y="48"/>
                </a:lnTo>
                <a:lnTo>
                  <a:pt x="110" y="15"/>
                </a:lnTo>
                <a:lnTo>
                  <a:pt x="118" y="48"/>
                </a:lnTo>
                <a:lnTo>
                  <a:pt x="83" y="21"/>
                </a:lnTo>
                <a:lnTo>
                  <a:pt x="91" y="48"/>
                </a:lnTo>
                <a:lnTo>
                  <a:pt x="59" y="29"/>
                </a:lnTo>
                <a:lnTo>
                  <a:pt x="57" y="29"/>
                </a:lnTo>
                <a:lnTo>
                  <a:pt x="53" y="31"/>
                </a:lnTo>
                <a:lnTo>
                  <a:pt x="49" y="31"/>
                </a:lnTo>
                <a:lnTo>
                  <a:pt x="43" y="34"/>
                </a:lnTo>
                <a:lnTo>
                  <a:pt x="38" y="36"/>
                </a:lnTo>
                <a:lnTo>
                  <a:pt x="32" y="38"/>
                </a:lnTo>
                <a:lnTo>
                  <a:pt x="26" y="42"/>
                </a:lnTo>
                <a:lnTo>
                  <a:pt x="23" y="44"/>
                </a:lnTo>
                <a:lnTo>
                  <a:pt x="15" y="50"/>
                </a:lnTo>
                <a:lnTo>
                  <a:pt x="7" y="55"/>
                </a:lnTo>
                <a:lnTo>
                  <a:pt x="4" y="59"/>
                </a:lnTo>
                <a:lnTo>
                  <a:pt x="2" y="6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IN"/>
          </a:p>
        </p:txBody>
      </p:sp>
      <p:pic>
        <p:nvPicPr>
          <p:cNvPr id="10" name="Picture 8" descr="Cover-6Ed"/>
          <p:cNvPicPr>
            <a:picLocks noChangeAspect="1" noChangeArrowheads="1"/>
          </p:cNvPicPr>
          <p:nvPr userDrawn="1"/>
        </p:nvPicPr>
        <p:blipFill>
          <a:blip r:embed="rId14"/>
          <a:stretch>
            <a:fillRect/>
          </a:stretch>
        </p:blipFill>
        <p:spPr bwMode="auto">
          <a:xfrm>
            <a:off x="5546" y="0"/>
            <a:ext cx="742012" cy="9476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61" r:id="rId1"/>
    <p:sldLayoutId id="2147483750" r:id="rId2"/>
    <p:sldLayoutId id="2147483751" r:id="rId3"/>
    <p:sldLayoutId id="2147483752" r:id="rId4"/>
    <p:sldLayoutId id="2147483753" r:id="rId5"/>
    <p:sldLayoutId id="2147483754" r:id="rId6"/>
    <p:sldLayoutId id="2147483755" r:id="rId7"/>
    <p:sldLayoutId id="2147483756" r:id="rId8"/>
    <p:sldLayoutId id="2147483757" r:id="rId9"/>
    <p:sldLayoutId id="2147483758" r:id="rId10"/>
    <p:sldLayoutId id="2147483759" r:id="rId11"/>
    <p:sldLayoutId id="21474837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2800" b="1">
          <a:solidFill>
            <a:srgbClr val="002060"/>
          </a:solidFill>
          <a:effectLst>
            <a:outerShdw blurRad="38100" dist="38100" dir="2700000" algn="tl">
              <a:srgbClr val="DDDDDD"/>
            </a:outerShdw>
          </a:effectLst>
          <a:latin typeface="+mj-lt"/>
          <a:ea typeface="MS PGothic" panose="020B0600070205080204" pitchFamily="34" charset="-128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anose="020B0600070205080204" pitchFamily="34" charset="-128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anose="020B0600070205080204" pitchFamily="34" charset="-128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anose="020B0600070205080204" pitchFamily="34" charset="-128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anose="020B0600070205080204" pitchFamily="34" charset="-128"/>
          <a:cs typeface="ＭＳ Ｐゴシック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rgbClr val="002060"/>
        </a:buClr>
        <a:buSzPct val="100000"/>
        <a:buFont typeface="Monotype Sorts" pitchFamily="-65" charset="2"/>
        <a:buChar char="n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  <a:cs typeface="ＭＳ Ｐゴシック" charset="0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chemeClr val="folHlink"/>
        </a:buClr>
        <a:buSzPct val="95000"/>
        <a:buFont typeface="Monotype Sorts" pitchFamily="-65" charset="2"/>
        <a:buChar char="l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33CC33"/>
        </a:buClr>
        <a:buSzPct val="85000"/>
        <a:buFont typeface="Webdings" panose="05030102010509060703" pitchFamily="18" charset="2"/>
        <a:buChar char="4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Font typeface="Times New Roman" panose="02020603050405020304" pitchFamily="18" charset="0"/>
        <a:buChar char="–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srgbClr val="000099"/>
                </a:solidFill>
              </a:rPr>
              <a:t>Intermediate SQL</a:t>
            </a:r>
            <a:br>
              <a:rPr lang="en-US" dirty="0">
                <a:solidFill>
                  <a:srgbClr val="000099"/>
                </a:solidFill>
              </a:rPr>
            </a:br>
            <a:r>
              <a:rPr lang="en-US" dirty="0">
                <a:solidFill>
                  <a:srgbClr val="C00000"/>
                </a:solidFill>
              </a:rPr>
              <a:t>Unit-2,Part-2</a:t>
            </a:r>
            <a:r>
              <a:rPr lang="en-US" dirty="0">
                <a:solidFill>
                  <a:srgbClr val="7030A0"/>
                </a:solidFill>
              </a:rPr>
              <a:t/>
            </a:r>
            <a:br>
              <a:rPr lang="en-US" dirty="0">
                <a:solidFill>
                  <a:srgbClr val="7030A0"/>
                </a:solidFill>
              </a:rPr>
            </a:br>
            <a:r>
              <a:rPr lang="en-US" dirty="0">
                <a:solidFill>
                  <a:srgbClr val="7030A0"/>
                </a:solidFill>
              </a:rPr>
              <a:t>Faculty: A.Sirisha</a:t>
            </a:r>
            <a:endParaRPr 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298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0488" tIns="44450" rIns="90488" bIns="44450" anchor="ctr"/>
          <a:lstStyle/>
          <a:p>
            <a:pPr>
              <a:defRPr/>
            </a:pPr>
            <a:r>
              <a:rPr lang="en-US" sz="2800" dirty="0">
                <a:ea typeface="+mj-ea"/>
              </a:rPr>
              <a:t>Outline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04900"/>
            <a:ext cx="6587800" cy="4135840"/>
          </a:xfrm>
          <a:noFill/>
        </p:spPr>
        <p:txBody>
          <a:bodyPr lIns="90488" tIns="44450" rIns="90488" bIns="44450"/>
          <a:lstStyle/>
          <a:p>
            <a:r>
              <a:rPr lang="en-US" altLang="en-US" sz="1700" dirty="0"/>
              <a:t>Join  Expressions</a:t>
            </a:r>
          </a:p>
          <a:p>
            <a:r>
              <a:rPr lang="en-US" altLang="en-US" sz="1700" dirty="0"/>
              <a:t>Views</a:t>
            </a:r>
          </a:p>
          <a:p>
            <a:r>
              <a:rPr lang="en-US" altLang="en-US" sz="1700" dirty="0" smtClean="0"/>
              <a:t>Integrity </a:t>
            </a:r>
            <a:r>
              <a:rPr lang="en-US" altLang="en-US" sz="1700" dirty="0"/>
              <a:t>Constraints</a:t>
            </a:r>
          </a:p>
          <a:p>
            <a:r>
              <a:rPr lang="en-US" altLang="en-US" sz="1700" dirty="0" smtClean="0"/>
              <a:t>Index </a:t>
            </a:r>
            <a:r>
              <a:rPr lang="en-US" altLang="en-US" sz="1700" dirty="0"/>
              <a:t>Definition in </a:t>
            </a:r>
            <a:r>
              <a:rPr lang="en-US" altLang="en-US" sz="1700" dirty="0" smtClean="0"/>
              <a:t>SQL</a:t>
            </a:r>
            <a:endParaRPr lang="en-US" altLang="en-US" sz="1700" dirty="0"/>
          </a:p>
        </p:txBody>
      </p:sp>
    </p:spTree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800" dirty="0">
                <a:ea typeface="+mj-ea"/>
              </a:rPr>
              <a:t>Joined Relations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49" y="1194843"/>
            <a:ext cx="7585537" cy="5002757"/>
          </a:xfrm>
        </p:spPr>
        <p:txBody>
          <a:bodyPr/>
          <a:lstStyle/>
          <a:p>
            <a:pPr algn="just"/>
            <a:r>
              <a:rPr lang="en-US" altLang="en-US" sz="1800" b="1" dirty="0">
                <a:solidFill>
                  <a:srgbClr val="000099"/>
                </a:solidFill>
              </a:rPr>
              <a:t>Join operations</a:t>
            </a:r>
            <a:r>
              <a:rPr lang="en-US" altLang="en-US" sz="1800" dirty="0"/>
              <a:t> take two relations and return as a result another relation.</a:t>
            </a:r>
          </a:p>
          <a:p>
            <a:pPr algn="just">
              <a:buFont typeface="Monotype Sorts" charset="2"/>
              <a:buNone/>
            </a:pPr>
            <a:endParaRPr lang="en-US" altLang="en-US" dirty="0"/>
          </a:p>
          <a:p>
            <a:pPr algn="just"/>
            <a:r>
              <a:rPr lang="en-US" altLang="en-US" sz="1800" dirty="0"/>
              <a:t>A join operation is a </a:t>
            </a:r>
            <a:r>
              <a:rPr lang="en-US" altLang="en-US" sz="1800" dirty="0">
                <a:solidFill>
                  <a:srgbClr val="FF0000"/>
                </a:solidFill>
              </a:rPr>
              <a:t>Cartesian product </a:t>
            </a:r>
            <a:r>
              <a:rPr lang="en-US" altLang="en-US" sz="1800" dirty="0"/>
              <a:t>which requires that tuples in the two relations match (under some condition).  It also specifies the attributes that are present in the result of the join</a:t>
            </a:r>
            <a:r>
              <a:rPr lang="en-US" altLang="en-US" dirty="0"/>
              <a:t> .</a:t>
            </a:r>
          </a:p>
          <a:p>
            <a:pPr algn="just">
              <a:buFont typeface="Monotype Sorts" charset="2"/>
              <a:buNone/>
            </a:pPr>
            <a:endParaRPr lang="en-US" altLang="en-US" dirty="0"/>
          </a:p>
          <a:p>
            <a:pPr algn="just"/>
            <a:r>
              <a:rPr lang="en-US" altLang="en-US" sz="1800" dirty="0"/>
              <a:t>The join operations are typically used as subquery expressions in the </a:t>
            </a:r>
            <a:r>
              <a:rPr lang="en-US" altLang="en-US" sz="1800" b="1" dirty="0"/>
              <a:t>from </a:t>
            </a:r>
            <a:r>
              <a:rPr lang="en-US" altLang="en-US" sz="1800" dirty="0"/>
              <a:t>clause</a:t>
            </a:r>
            <a:endParaRPr lang="en-US" altLang="en-US" dirty="0"/>
          </a:p>
          <a:p>
            <a:endParaRPr lang="en-US" altLang="en-US" sz="1700" dirty="0">
              <a:ea typeface="ＭＳ Ｐゴシック" pitchFamily="34" charset="-128"/>
            </a:endParaRPr>
          </a:p>
          <a:p>
            <a:r>
              <a:rPr lang="en-US" altLang="en-US" sz="1700" b="1" dirty="0">
                <a:solidFill>
                  <a:srgbClr val="000099"/>
                </a:solidFill>
                <a:ea typeface="ＭＳ Ｐゴシック" pitchFamily="34" charset="-128"/>
              </a:rPr>
              <a:t>Three types of joins</a:t>
            </a:r>
            <a:r>
              <a:rPr lang="en-US" altLang="en-US" sz="1700" dirty="0">
                <a:ea typeface="ＭＳ Ｐゴシック" pitchFamily="34" charset="-128"/>
              </a:rPr>
              <a:t>:</a:t>
            </a:r>
          </a:p>
          <a:p>
            <a:pPr lvl="1"/>
            <a:r>
              <a:rPr lang="en-US" altLang="en-US" sz="1700" dirty="0">
                <a:ea typeface="ＭＳ Ｐゴシック" pitchFamily="34" charset="-128"/>
              </a:rPr>
              <a:t>Natural join</a:t>
            </a:r>
          </a:p>
          <a:p>
            <a:pPr lvl="1"/>
            <a:r>
              <a:rPr lang="en-US" altLang="en-US" sz="1700" dirty="0">
                <a:ea typeface="ＭＳ Ｐゴシック" pitchFamily="34" charset="-128"/>
              </a:rPr>
              <a:t>Inner join</a:t>
            </a:r>
          </a:p>
          <a:p>
            <a:pPr lvl="1"/>
            <a:r>
              <a:rPr lang="en-US" altLang="en-US" sz="1700" dirty="0">
                <a:ea typeface="ＭＳ Ｐゴシック" pitchFamily="34" charset="-128"/>
              </a:rPr>
              <a:t>Outer join</a:t>
            </a:r>
          </a:p>
          <a:p>
            <a:pPr lvl="1">
              <a:buFont typeface="Monotype Sorts" charset="2"/>
              <a:buNone/>
            </a:pPr>
            <a:endParaRPr lang="en-US" altLang="en-US" sz="2000" dirty="0">
              <a:ea typeface="ＭＳ Ｐゴシック" pitchFamily="34" charset="-128"/>
            </a:endParaRPr>
          </a:p>
          <a:p>
            <a:endParaRPr lang="en-US" altLang="en-US" dirty="0">
              <a:ea typeface="ＭＳ Ｐゴシック" pitchFamily="34" charset="-12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800" dirty="0">
                <a:ea typeface="+mj-ea"/>
              </a:rPr>
              <a:t>Student Relation</a:t>
            </a:r>
          </a:p>
        </p:txBody>
      </p:sp>
      <p:pic>
        <p:nvPicPr>
          <p:cNvPr id="1029" name="Picture 5" descr="W:\db-book\db7\slide-dir\Tables-Figures\EPS-PDF-JPG-dir\tables\student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291020" y="1592317"/>
            <a:ext cx="4623768" cy="411480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774802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800" dirty="0">
                <a:ea typeface="+mj-ea"/>
              </a:rPr>
              <a:t>Takes Relation</a:t>
            </a:r>
          </a:p>
        </p:txBody>
      </p:sp>
      <p:pic>
        <p:nvPicPr>
          <p:cNvPr id="1026" name="Picture 2" descr="C:\Users\as668\Desktop\Judi-Done\4_02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062303" y="1182414"/>
            <a:ext cx="4259678" cy="51252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2211501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800" b="0" i="1" dirty="0">
                <a:ea typeface="+mj-ea"/>
              </a:rPr>
              <a:t>student</a:t>
            </a:r>
            <a:r>
              <a:rPr lang="en-US" sz="2800" dirty="0">
                <a:ea typeface="+mj-ea"/>
              </a:rPr>
              <a:t> natural join </a:t>
            </a:r>
            <a:r>
              <a:rPr lang="en-US" sz="2800" b="0" i="1" dirty="0">
                <a:ea typeface="+mj-ea"/>
              </a:rPr>
              <a:t>takes</a:t>
            </a:r>
          </a:p>
        </p:txBody>
      </p:sp>
      <p:pic>
        <p:nvPicPr>
          <p:cNvPr id="2" name="Picture 2" descr="C:\Users\as668\Desktop\Judi-Done\4_03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159865" y="1176594"/>
            <a:ext cx="5743521" cy="477176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6017729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Natural Join</a:t>
            </a:r>
          </a:p>
        </p:txBody>
      </p:sp>
      <p:sp>
        <p:nvSpPr>
          <p:cNvPr id="60419" name="Rectangle 3"/>
          <p:cNvSpPr>
            <a:spLocks noGrp="1" noChangeArrowheads="1"/>
          </p:cNvSpPr>
          <p:nvPr>
            <p:ph idx="1"/>
          </p:nvPr>
        </p:nvSpPr>
        <p:spPr>
          <a:xfrm>
            <a:off x="814388" y="1093788"/>
            <a:ext cx="7602537" cy="4956175"/>
          </a:xfrm>
        </p:spPr>
        <p:txBody>
          <a:bodyPr/>
          <a:lstStyle/>
          <a:p>
            <a:pPr algn="just"/>
            <a:r>
              <a:rPr lang="en-US" altLang="en-US" sz="2000"/>
              <a:t>Natural join </a:t>
            </a:r>
            <a:r>
              <a:rPr lang="en-US" altLang="en-US" sz="2000">
                <a:solidFill>
                  <a:srgbClr val="000099"/>
                </a:solidFill>
              </a:rPr>
              <a:t>matches tuples </a:t>
            </a:r>
            <a:r>
              <a:rPr lang="en-US" altLang="en-US" sz="2000">
                <a:solidFill>
                  <a:schemeClr val="tx2"/>
                </a:solidFill>
              </a:rPr>
              <a:t>with the same</a:t>
            </a:r>
            <a:r>
              <a:rPr lang="en-US" altLang="en-US" sz="2000">
                <a:solidFill>
                  <a:srgbClr val="FF0000"/>
                </a:solidFill>
              </a:rPr>
              <a:t> values </a:t>
            </a:r>
            <a:r>
              <a:rPr lang="en-US" altLang="en-US" sz="2000">
                <a:solidFill>
                  <a:srgbClr val="000099"/>
                </a:solidFill>
              </a:rPr>
              <a:t>for all common attributes</a:t>
            </a:r>
            <a:r>
              <a:rPr lang="en-US" altLang="en-US" sz="2000"/>
              <a:t>, and retains only one copy of each common column</a:t>
            </a:r>
            <a:endParaRPr lang="en-US" altLang="en-US" sz="1800"/>
          </a:p>
          <a:p>
            <a:r>
              <a:rPr lang="en-US" altLang="en-US" sz="2000" b="1">
                <a:solidFill>
                  <a:srgbClr val="FF0000"/>
                </a:solidFill>
              </a:rPr>
              <a:t>select </a:t>
            </a:r>
            <a:r>
              <a:rPr lang="en-US" altLang="en-US" sz="2000" i="1">
                <a:solidFill>
                  <a:srgbClr val="FF0000"/>
                </a:solidFill>
              </a:rPr>
              <a:t>*</a:t>
            </a:r>
            <a:br>
              <a:rPr lang="en-US" altLang="en-US" sz="2000" i="1">
                <a:solidFill>
                  <a:srgbClr val="FF0000"/>
                </a:solidFill>
              </a:rPr>
            </a:br>
            <a:r>
              <a:rPr lang="en-US" altLang="en-US" sz="2000" b="1">
                <a:solidFill>
                  <a:srgbClr val="FF0000"/>
                </a:solidFill>
              </a:rPr>
              <a:t>from </a:t>
            </a:r>
            <a:r>
              <a:rPr lang="en-US" altLang="en-US" sz="2000" i="1">
                <a:solidFill>
                  <a:srgbClr val="FF0000"/>
                </a:solidFill>
              </a:rPr>
              <a:t>instructor </a:t>
            </a:r>
            <a:r>
              <a:rPr lang="en-US" altLang="en-US" sz="2000" b="1">
                <a:solidFill>
                  <a:srgbClr val="FF0000"/>
                </a:solidFill>
              </a:rPr>
              <a:t>natural join </a:t>
            </a:r>
            <a:r>
              <a:rPr lang="en-US" altLang="en-US" sz="2000" i="1">
                <a:solidFill>
                  <a:srgbClr val="FF0000"/>
                </a:solidFill>
              </a:rPr>
              <a:t>teaches</a:t>
            </a:r>
            <a:r>
              <a:rPr lang="en-US" altLang="en-US" sz="2000">
                <a:solidFill>
                  <a:srgbClr val="FF0000"/>
                </a:solidFill>
              </a:rPr>
              <a:t>;</a:t>
            </a:r>
            <a:endParaRPr lang="en-US" altLang="en-US" sz="1800">
              <a:solidFill>
                <a:srgbClr val="FF0000"/>
              </a:solidFill>
            </a:endParaRPr>
          </a:p>
          <a:p>
            <a:endParaRPr lang="en-US" altLang="en-US" sz="1800"/>
          </a:p>
          <a:p>
            <a:endParaRPr lang="en-US" altLang="en-US" sz="1800"/>
          </a:p>
        </p:txBody>
      </p:sp>
      <p:pic>
        <p:nvPicPr>
          <p:cNvPr id="60420" name="Picture 4" descr="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6213"/>
          <a:stretch>
            <a:fillRect/>
          </a:stretch>
        </p:blipFill>
        <p:spPr bwMode="auto">
          <a:xfrm>
            <a:off x="1173163" y="2955925"/>
            <a:ext cx="6570662" cy="301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095322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800" dirty="0"/>
              <a:t>Natural Join in SQL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93506"/>
            <a:ext cx="7647681" cy="4983163"/>
          </a:xfrm>
        </p:spPr>
        <p:txBody>
          <a:bodyPr/>
          <a:lstStyle/>
          <a:p>
            <a:pPr algn="just"/>
            <a:r>
              <a:rPr lang="en-US" altLang="en-US" sz="1800" b="1" dirty="0">
                <a:solidFill>
                  <a:srgbClr val="FF0000"/>
                </a:solidFill>
                <a:ea typeface="ＭＳ Ｐゴシック" pitchFamily="34" charset="-128"/>
              </a:rPr>
              <a:t>List the names of instructors along with the course ID of the courses that they taught</a:t>
            </a:r>
          </a:p>
          <a:p>
            <a:pPr lvl="1"/>
            <a:r>
              <a:rPr lang="en-US" altLang="en-US" sz="1800" b="1" dirty="0">
                <a:ea typeface="ＭＳ Ｐゴシック" pitchFamily="34" charset="-128"/>
              </a:rPr>
              <a:t>select </a:t>
            </a:r>
            <a:r>
              <a:rPr lang="en-US" altLang="en-US" sz="1800" i="1" dirty="0">
                <a:ea typeface="ＭＳ Ｐゴシック" pitchFamily="34" charset="-128"/>
              </a:rPr>
              <a:t>name</a:t>
            </a:r>
            <a:r>
              <a:rPr lang="en-US" altLang="en-US" sz="1800" dirty="0">
                <a:ea typeface="ＭＳ Ｐゴシック" pitchFamily="34" charset="-128"/>
              </a:rPr>
              <a:t>, </a:t>
            </a:r>
            <a:r>
              <a:rPr lang="en-US" altLang="en-US" sz="1800" i="1" dirty="0" err="1">
                <a:ea typeface="ＭＳ Ｐゴシック" pitchFamily="34" charset="-128"/>
              </a:rPr>
              <a:t>course_id</a:t>
            </a:r>
            <a:r>
              <a:rPr lang="en-US" altLang="en-US" sz="1800" i="1" dirty="0">
                <a:ea typeface="ＭＳ Ｐゴシック" pitchFamily="34" charset="-128"/>
              </a:rPr>
              <a:t/>
            </a:r>
            <a:br>
              <a:rPr lang="en-US" altLang="en-US" sz="1800" i="1" dirty="0">
                <a:ea typeface="ＭＳ Ｐゴシック" pitchFamily="34" charset="-128"/>
              </a:rPr>
            </a:br>
            <a:r>
              <a:rPr lang="en-US" altLang="en-US" sz="1800" b="1" dirty="0">
                <a:ea typeface="ＭＳ Ｐゴシック" pitchFamily="34" charset="-128"/>
              </a:rPr>
              <a:t>from </a:t>
            </a:r>
            <a:r>
              <a:rPr lang="en-US" altLang="en-US" sz="1800" i="1" dirty="0">
                <a:ea typeface="ＭＳ Ｐゴシック" pitchFamily="34" charset="-128"/>
              </a:rPr>
              <a:t> instructor, teaches</a:t>
            </a:r>
            <a:br>
              <a:rPr lang="en-US" altLang="en-US" sz="1800" i="1" dirty="0">
                <a:ea typeface="ＭＳ Ｐゴシック" pitchFamily="34" charset="-128"/>
              </a:rPr>
            </a:br>
            <a:r>
              <a:rPr lang="en-US" altLang="en-US" sz="1800" b="1" dirty="0">
                <a:ea typeface="ＭＳ Ｐゴシック" pitchFamily="34" charset="-128"/>
              </a:rPr>
              <a:t>where </a:t>
            </a:r>
            <a:r>
              <a:rPr lang="en-US" altLang="en-US" sz="1800" i="1" dirty="0">
                <a:ea typeface="ＭＳ Ｐゴシック" pitchFamily="34" charset="-128"/>
              </a:rPr>
              <a:t>instructor.ID </a:t>
            </a:r>
            <a:r>
              <a:rPr lang="en-US" altLang="en-US" sz="1800" dirty="0">
                <a:ea typeface="ＭＳ Ｐゴシック" pitchFamily="34" charset="-128"/>
              </a:rPr>
              <a:t>= </a:t>
            </a:r>
            <a:r>
              <a:rPr lang="en-US" altLang="en-US" sz="1800" i="1" dirty="0">
                <a:ea typeface="ＭＳ Ｐゴシック" pitchFamily="34" charset="-128"/>
              </a:rPr>
              <a:t>teaches.ID</a:t>
            </a:r>
            <a:r>
              <a:rPr lang="en-US" altLang="en-US" sz="1800" dirty="0">
                <a:ea typeface="ＭＳ Ｐゴシック" pitchFamily="34" charset="-128"/>
              </a:rPr>
              <a:t>;</a:t>
            </a:r>
          </a:p>
          <a:p>
            <a:pPr lvl="1"/>
            <a:endParaRPr lang="en-US" altLang="en-US" sz="1800" dirty="0">
              <a:ea typeface="ＭＳ Ｐゴシック" pitchFamily="34" charset="-128"/>
            </a:endParaRPr>
          </a:p>
          <a:p>
            <a:r>
              <a:rPr lang="en-US" altLang="en-US" sz="1800" dirty="0">
                <a:ea typeface="ＭＳ Ｐゴシック" pitchFamily="34" charset="-128"/>
              </a:rPr>
              <a:t>Same query in SQL with “natural join” construct</a:t>
            </a:r>
          </a:p>
          <a:p>
            <a:pPr lvl="1"/>
            <a:r>
              <a:rPr lang="en-US" altLang="en-US" sz="1800" b="1" dirty="0">
                <a:ea typeface="ＭＳ Ｐゴシック" pitchFamily="34" charset="-128"/>
              </a:rPr>
              <a:t>select </a:t>
            </a:r>
            <a:r>
              <a:rPr lang="en-US" altLang="en-US" sz="1800" i="1" dirty="0">
                <a:ea typeface="ＭＳ Ｐゴシック" pitchFamily="34" charset="-128"/>
              </a:rPr>
              <a:t>name</a:t>
            </a:r>
            <a:r>
              <a:rPr lang="en-US" altLang="en-US" sz="1800" dirty="0">
                <a:ea typeface="ＭＳ Ｐゴシック" pitchFamily="34" charset="-128"/>
              </a:rPr>
              <a:t>,</a:t>
            </a:r>
            <a:r>
              <a:rPr lang="en-US" altLang="en-US" sz="1800" i="1" dirty="0">
                <a:ea typeface="ＭＳ Ｐゴシック" pitchFamily="34" charset="-128"/>
              </a:rPr>
              <a:t> </a:t>
            </a:r>
            <a:r>
              <a:rPr lang="en-US" altLang="en-US" sz="1800" i="1" dirty="0" err="1">
                <a:ea typeface="ＭＳ Ｐゴシック" pitchFamily="34" charset="-128"/>
              </a:rPr>
              <a:t>course_id</a:t>
            </a:r>
            <a:r>
              <a:rPr lang="en-US" altLang="en-US" sz="1800" i="1" dirty="0">
                <a:ea typeface="ＭＳ Ｐゴシック" pitchFamily="34" charset="-128"/>
              </a:rPr>
              <a:t/>
            </a:r>
            <a:br>
              <a:rPr lang="en-US" altLang="en-US" sz="1800" i="1" dirty="0">
                <a:ea typeface="ＭＳ Ｐゴシック" pitchFamily="34" charset="-128"/>
              </a:rPr>
            </a:br>
            <a:r>
              <a:rPr lang="en-US" altLang="en-US" sz="1800" b="1" dirty="0">
                <a:ea typeface="ＭＳ Ｐゴシック" pitchFamily="34" charset="-128"/>
              </a:rPr>
              <a:t>from </a:t>
            </a:r>
            <a:r>
              <a:rPr lang="en-US" altLang="en-US" sz="1800" i="1" dirty="0">
                <a:ea typeface="ＭＳ Ｐゴシック" pitchFamily="34" charset="-128"/>
              </a:rPr>
              <a:t>instructor </a:t>
            </a:r>
            <a:r>
              <a:rPr lang="en-US" altLang="en-US" sz="1800" b="1" dirty="0">
                <a:ea typeface="ＭＳ Ｐゴシック" pitchFamily="34" charset="-128"/>
              </a:rPr>
              <a:t>natural join </a:t>
            </a:r>
            <a:r>
              <a:rPr lang="en-US" altLang="en-US" sz="1800" i="1" dirty="0">
                <a:ea typeface="ＭＳ Ｐゴシック" pitchFamily="34" charset="-128"/>
              </a:rPr>
              <a:t>teaches</a:t>
            </a:r>
            <a:r>
              <a:rPr lang="en-US" altLang="en-US" sz="1800" dirty="0">
                <a:ea typeface="ＭＳ Ｐゴシック" pitchFamily="34" charset="-128"/>
              </a:rPr>
              <a:t>;</a:t>
            </a:r>
          </a:p>
          <a:p>
            <a:pPr lvl="1"/>
            <a:endParaRPr lang="en-US" altLang="en-US" sz="1800" dirty="0">
              <a:ea typeface="ＭＳ Ｐゴシック" pitchFamily="34" charset="-128"/>
            </a:endParaRPr>
          </a:p>
          <a:p>
            <a:r>
              <a:rPr lang="en-US" altLang="en-US" sz="1800" dirty="0">
                <a:ea typeface="ＭＳ Ｐゴシック" pitchFamily="34" charset="-128"/>
              </a:rPr>
              <a:t>The </a:t>
            </a:r>
            <a:r>
              <a:rPr lang="en-US" altLang="en-US" sz="1800" b="1" dirty="0">
                <a:ea typeface="ＭＳ Ｐゴシック" pitchFamily="34" charset="-128"/>
              </a:rPr>
              <a:t>from</a:t>
            </a:r>
            <a:r>
              <a:rPr lang="en-US" altLang="en-US" sz="1800" dirty="0">
                <a:ea typeface="ＭＳ Ｐゴシック" pitchFamily="34" charset="-128"/>
              </a:rPr>
              <a:t> clause can have multiple relations combined using natural join:</a:t>
            </a:r>
          </a:p>
          <a:p>
            <a:pPr lvl="1">
              <a:buNone/>
            </a:pPr>
            <a:r>
              <a:rPr lang="en-US" altLang="en-US" sz="1800" b="1" dirty="0">
                <a:ea typeface="ＭＳ Ｐゴシック" pitchFamily="34" charset="-128"/>
              </a:rPr>
              <a:t>     select </a:t>
            </a:r>
            <a:r>
              <a:rPr lang="en-US" altLang="en-US" sz="1800" i="1" dirty="0">
                <a:ea typeface="ＭＳ Ｐゴシック" pitchFamily="34" charset="-128"/>
              </a:rPr>
              <a:t> A</a:t>
            </a:r>
            <a:r>
              <a:rPr lang="en-US" altLang="en-US" sz="1800" i="1" baseline="-25000" dirty="0">
                <a:ea typeface="ＭＳ Ｐゴシック" pitchFamily="34" charset="-128"/>
              </a:rPr>
              <a:t>1</a:t>
            </a:r>
            <a:r>
              <a:rPr lang="en-US" altLang="en-US" sz="1800" i="1" dirty="0">
                <a:ea typeface="ＭＳ Ｐゴシック" pitchFamily="34" charset="-128"/>
              </a:rPr>
              <a:t>, A</a:t>
            </a:r>
            <a:r>
              <a:rPr lang="en-US" altLang="en-US" sz="1800" i="1" baseline="-25000" dirty="0">
                <a:ea typeface="ＭＳ Ｐゴシック" pitchFamily="34" charset="-128"/>
              </a:rPr>
              <a:t>2</a:t>
            </a:r>
            <a:r>
              <a:rPr lang="en-US" altLang="en-US" sz="1800" i="1" dirty="0">
                <a:ea typeface="ＭＳ Ｐゴシック" pitchFamily="34" charset="-128"/>
              </a:rPr>
              <a:t>, … A</a:t>
            </a:r>
            <a:r>
              <a:rPr lang="en-US" altLang="en-US" sz="1800" i="1" baseline="-25000" dirty="0">
                <a:ea typeface="ＭＳ Ｐゴシック" pitchFamily="34" charset="-128"/>
              </a:rPr>
              <a:t>n</a:t>
            </a:r>
            <a:r>
              <a:rPr lang="en-US" altLang="en-US" sz="1800" i="1" dirty="0">
                <a:ea typeface="ＭＳ Ｐゴシック" pitchFamily="34" charset="-128"/>
              </a:rPr>
              <a:t/>
            </a:r>
            <a:br>
              <a:rPr lang="en-US" altLang="en-US" sz="1800" i="1" dirty="0">
                <a:ea typeface="ＭＳ Ｐゴシック" pitchFamily="34" charset="-128"/>
              </a:rPr>
            </a:br>
            <a:r>
              <a:rPr lang="en-US" altLang="en-US" sz="1800" b="1" dirty="0">
                <a:ea typeface="ＭＳ Ｐゴシック" pitchFamily="34" charset="-128"/>
              </a:rPr>
              <a:t>from </a:t>
            </a:r>
            <a:r>
              <a:rPr lang="en-US" altLang="en-US" sz="1800" i="1" dirty="0">
                <a:ea typeface="ＭＳ Ｐゴシック" pitchFamily="34" charset="-128"/>
              </a:rPr>
              <a:t> r</a:t>
            </a:r>
            <a:r>
              <a:rPr lang="en-US" altLang="en-US" sz="1800" i="1" baseline="-25000" dirty="0">
                <a:ea typeface="ＭＳ Ｐゴシック" pitchFamily="34" charset="-128"/>
              </a:rPr>
              <a:t>1</a:t>
            </a:r>
            <a:r>
              <a:rPr lang="en-US" altLang="en-US" sz="1800" i="1" dirty="0">
                <a:ea typeface="ＭＳ Ｐゴシック" pitchFamily="34" charset="-128"/>
              </a:rPr>
              <a:t>  </a:t>
            </a:r>
            <a:r>
              <a:rPr lang="en-US" altLang="en-US" sz="1800" b="1" dirty="0">
                <a:ea typeface="ＭＳ Ｐゴシック" pitchFamily="34" charset="-128"/>
              </a:rPr>
              <a:t>natural join </a:t>
            </a:r>
            <a:r>
              <a:rPr lang="en-US" altLang="en-US" sz="1800" i="1" dirty="0">
                <a:ea typeface="ＭＳ Ｐゴシック" pitchFamily="34" charset="-128"/>
              </a:rPr>
              <a:t>r</a:t>
            </a:r>
            <a:r>
              <a:rPr lang="en-US" altLang="en-US" sz="1800" i="1" baseline="-25000" dirty="0">
                <a:ea typeface="ＭＳ Ｐゴシック" pitchFamily="34" charset="-128"/>
              </a:rPr>
              <a:t>2</a:t>
            </a:r>
            <a:r>
              <a:rPr lang="en-US" altLang="en-US" sz="1800" i="1" dirty="0">
                <a:ea typeface="ＭＳ Ｐゴシック" pitchFamily="34" charset="-128"/>
              </a:rPr>
              <a:t> </a:t>
            </a:r>
            <a:r>
              <a:rPr lang="en-US" altLang="en-US" sz="1800" b="1" dirty="0">
                <a:ea typeface="ＭＳ Ｐゴシック" pitchFamily="34" charset="-128"/>
              </a:rPr>
              <a:t>natural join </a:t>
            </a:r>
            <a:r>
              <a:rPr lang="en-US" altLang="en-US" sz="1800" b="1" i="1" dirty="0">
                <a:ea typeface="ＭＳ Ｐゴシック" pitchFamily="34" charset="-128"/>
              </a:rPr>
              <a:t>.. </a:t>
            </a:r>
            <a:r>
              <a:rPr lang="en-US" altLang="en-US" sz="1800" b="1" dirty="0">
                <a:ea typeface="ＭＳ Ｐゴシック" pitchFamily="34" charset="-128"/>
              </a:rPr>
              <a:t>natural join </a:t>
            </a:r>
            <a:r>
              <a:rPr lang="en-US" altLang="en-US" sz="1800" dirty="0" err="1">
                <a:ea typeface="ＭＳ Ｐゴシック" pitchFamily="34" charset="-128"/>
              </a:rPr>
              <a:t>r</a:t>
            </a:r>
            <a:r>
              <a:rPr lang="en-US" altLang="en-US" sz="1800" baseline="-25000" dirty="0" err="1">
                <a:ea typeface="ＭＳ Ｐゴシック" pitchFamily="34" charset="-128"/>
              </a:rPr>
              <a:t>n</a:t>
            </a:r>
            <a:r>
              <a:rPr lang="en-US" altLang="en-US" sz="1800" i="1" dirty="0">
                <a:ea typeface="ＭＳ Ｐゴシック" pitchFamily="34" charset="-128"/>
              </a:rPr>
              <a:t/>
            </a:r>
            <a:br>
              <a:rPr lang="en-US" altLang="en-US" sz="1800" i="1" dirty="0">
                <a:ea typeface="ＭＳ Ｐゴシック" pitchFamily="34" charset="-128"/>
              </a:rPr>
            </a:br>
            <a:r>
              <a:rPr lang="en-US" altLang="en-US" sz="1800" b="1" dirty="0">
                <a:ea typeface="ＭＳ Ｐゴシック" pitchFamily="34" charset="-128"/>
              </a:rPr>
              <a:t>where  </a:t>
            </a:r>
            <a:r>
              <a:rPr lang="en-US" altLang="en-US" sz="1800" i="1" dirty="0">
                <a:ea typeface="ＭＳ Ｐゴシック" pitchFamily="34" charset="-128"/>
              </a:rPr>
              <a:t>P </a:t>
            </a:r>
            <a:r>
              <a:rPr lang="en-US" altLang="en-US" sz="1800" dirty="0">
                <a:ea typeface="ＭＳ Ｐゴシック" pitchFamily="34" charset="-128"/>
              </a:rPr>
              <a:t>;</a:t>
            </a:r>
          </a:p>
          <a:p>
            <a:pPr lvl="1"/>
            <a:endParaRPr lang="en-US" altLang="en-US" sz="1700" dirty="0">
              <a:ea typeface="ＭＳ Ｐゴシック" pitchFamily="34" charset="-128"/>
            </a:endParaRPr>
          </a:p>
          <a:p>
            <a:pPr>
              <a:buFont typeface="Monotype Sorts" charset="2"/>
              <a:buNone/>
            </a:pPr>
            <a:endParaRPr lang="en-US" altLang="en-US" dirty="0">
              <a:ea typeface="ＭＳ Ｐゴシック" pitchFamily="34" charset="-12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800" dirty="0"/>
              <a:t>Dangerous in Natural Join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03201"/>
            <a:ext cx="7668514" cy="5341142"/>
          </a:xfrm>
        </p:spPr>
        <p:txBody>
          <a:bodyPr/>
          <a:lstStyle/>
          <a:p>
            <a:pPr algn="just"/>
            <a:r>
              <a:rPr lang="en-US" sz="1800" dirty="0"/>
              <a:t>Beware of unrelated attributes with same name which get equated incorrectly</a:t>
            </a:r>
          </a:p>
          <a:p>
            <a:pPr algn="just"/>
            <a:r>
              <a:rPr lang="en-US" altLang="en-US" sz="1800" dirty="0">
                <a:ea typeface="ＭＳ Ｐゴシック" pitchFamily="34" charset="-128"/>
              </a:rPr>
              <a:t> </a:t>
            </a:r>
            <a:r>
              <a:rPr lang="en-US" sz="1800" dirty="0"/>
              <a:t>Example -- </a:t>
            </a:r>
            <a:r>
              <a:rPr lang="en-US" sz="1800" b="1" dirty="0">
                <a:solidFill>
                  <a:srgbClr val="FF0000"/>
                </a:solidFill>
              </a:rPr>
              <a:t>List the names of students along with the titles of courses that they have taken</a:t>
            </a:r>
          </a:p>
          <a:p>
            <a:pPr lvl="1"/>
            <a:r>
              <a:rPr lang="en-US" sz="1800" dirty="0">
                <a:solidFill>
                  <a:srgbClr val="000099"/>
                </a:solidFill>
              </a:rPr>
              <a:t>Incorrect version</a:t>
            </a:r>
          </a:p>
          <a:p>
            <a:pPr lvl="2">
              <a:buFont typeface="Webdings" pitchFamily="18" charset="2"/>
              <a:buNone/>
              <a:defRPr/>
            </a:pPr>
            <a:r>
              <a:rPr lang="en-US" sz="1800" b="1" dirty="0"/>
              <a:t>       select </a:t>
            </a:r>
            <a:r>
              <a:rPr lang="en-US" sz="1800" i="1" dirty="0"/>
              <a:t>name</a:t>
            </a:r>
            <a:r>
              <a:rPr lang="en-US" sz="1800" dirty="0"/>
              <a:t>, </a:t>
            </a:r>
            <a:r>
              <a:rPr lang="en-US" sz="1800" i="1" dirty="0"/>
              <a:t>title</a:t>
            </a:r>
            <a:br>
              <a:rPr lang="en-US" sz="1800" i="1" dirty="0"/>
            </a:br>
            <a:r>
              <a:rPr lang="en-US" sz="1800" i="1" dirty="0"/>
              <a:t>   </a:t>
            </a:r>
            <a:r>
              <a:rPr lang="en-US" sz="1800" b="1" dirty="0"/>
              <a:t>from </a:t>
            </a:r>
            <a:r>
              <a:rPr lang="en-US" sz="1800" i="1" dirty="0"/>
              <a:t>student </a:t>
            </a:r>
            <a:r>
              <a:rPr lang="en-US" sz="1800" b="1" dirty="0"/>
              <a:t>natural join </a:t>
            </a:r>
            <a:r>
              <a:rPr lang="en-US" sz="1800" i="1" dirty="0"/>
              <a:t>takes </a:t>
            </a:r>
            <a:r>
              <a:rPr lang="en-US" sz="1800" b="1" dirty="0"/>
              <a:t>natural join </a:t>
            </a:r>
            <a:r>
              <a:rPr lang="en-US" sz="1800" i="1" dirty="0"/>
              <a:t>course</a:t>
            </a:r>
            <a:r>
              <a:rPr lang="en-US" sz="1800" dirty="0"/>
              <a:t>;</a:t>
            </a:r>
          </a:p>
          <a:p>
            <a:pPr marL="685800" lvl="3" indent="-342900" algn="just">
              <a:buClr>
                <a:srgbClr val="002060"/>
              </a:buClr>
              <a:buSzPct val="110000"/>
              <a:defRPr/>
            </a:pPr>
            <a:r>
              <a:rPr lang="en-US" sz="1800" dirty="0">
                <a:solidFill>
                  <a:srgbClr val="000099"/>
                </a:solidFill>
                <a:cs typeface="ＭＳ Ｐゴシック" charset="0"/>
              </a:rPr>
              <a:t>This query omits all </a:t>
            </a:r>
            <a:r>
              <a:rPr lang="en-US" sz="1800" dirty="0">
                <a:cs typeface="ＭＳ Ｐゴシック" charset="0"/>
              </a:rPr>
              <a:t>(student name, course title) </a:t>
            </a:r>
            <a:r>
              <a:rPr lang="en-US" sz="1800" dirty="0">
                <a:solidFill>
                  <a:srgbClr val="000099"/>
                </a:solidFill>
                <a:cs typeface="ＭＳ Ｐゴシック" charset="0"/>
              </a:rPr>
              <a:t>pairs where the student takes a course in a department other than the student's own department. </a:t>
            </a:r>
          </a:p>
          <a:p>
            <a:pPr marL="685800" lvl="3" indent="-342900" algn="just">
              <a:buClr>
                <a:srgbClr val="002060"/>
              </a:buClr>
              <a:buSzPct val="110000"/>
              <a:defRPr/>
            </a:pPr>
            <a:r>
              <a:rPr lang="en-US" sz="1800" dirty="0">
                <a:cs typeface="ＭＳ Ｐゴシック" charset="0"/>
              </a:rPr>
              <a:t>The  correct  version (below), correctly outputs such pairs.</a:t>
            </a:r>
          </a:p>
          <a:p>
            <a:pPr marL="857250" lvl="2" indent="0" algn="just">
              <a:buNone/>
              <a:defRPr/>
            </a:pPr>
            <a:endParaRPr lang="en-US" sz="1800" dirty="0"/>
          </a:p>
          <a:p>
            <a:pPr lvl="1"/>
            <a:r>
              <a:rPr lang="en-US" sz="1800" dirty="0">
                <a:solidFill>
                  <a:srgbClr val="000099"/>
                </a:solidFill>
              </a:rPr>
              <a:t>Correct version</a:t>
            </a:r>
          </a:p>
          <a:p>
            <a:pPr lvl="1">
              <a:buNone/>
            </a:pPr>
            <a:r>
              <a:rPr lang="en-US" sz="1800" b="1" dirty="0"/>
              <a:t>           select </a:t>
            </a:r>
            <a:r>
              <a:rPr lang="en-US" sz="1800" i="1" dirty="0"/>
              <a:t>name</a:t>
            </a:r>
            <a:r>
              <a:rPr lang="en-US" sz="1800" dirty="0"/>
              <a:t>, </a:t>
            </a:r>
            <a:r>
              <a:rPr lang="en-US" sz="1800" i="1" dirty="0"/>
              <a:t>title</a:t>
            </a:r>
            <a:br>
              <a:rPr lang="en-US" sz="1800" i="1" dirty="0"/>
            </a:br>
            <a:r>
              <a:rPr lang="en-US" sz="1800" i="1" dirty="0"/>
              <a:t>       </a:t>
            </a:r>
            <a:r>
              <a:rPr lang="en-US" sz="1800" b="1" dirty="0"/>
              <a:t>from </a:t>
            </a:r>
            <a:r>
              <a:rPr lang="en-US" sz="1800" i="1" dirty="0"/>
              <a:t>student </a:t>
            </a:r>
            <a:r>
              <a:rPr lang="en-US" sz="1800" b="1" dirty="0"/>
              <a:t>natural join </a:t>
            </a:r>
            <a:r>
              <a:rPr lang="en-US" sz="1800" i="1" dirty="0"/>
              <a:t>takes</a:t>
            </a:r>
            <a:r>
              <a:rPr lang="en-US" sz="1800" dirty="0"/>
              <a:t>, </a:t>
            </a:r>
            <a:r>
              <a:rPr lang="en-US" sz="1800" i="1" dirty="0"/>
              <a:t>course</a:t>
            </a:r>
            <a:br>
              <a:rPr lang="en-US" sz="1800" i="1" dirty="0"/>
            </a:br>
            <a:r>
              <a:rPr lang="en-US" sz="1800" i="1" dirty="0"/>
              <a:t>       </a:t>
            </a:r>
            <a:r>
              <a:rPr lang="en-US" sz="1800" b="1" dirty="0"/>
              <a:t>where </a:t>
            </a:r>
            <a:r>
              <a:rPr lang="en-US" sz="1800" i="1" dirty="0" err="1"/>
              <a:t>takes</a:t>
            </a:r>
            <a:r>
              <a:rPr lang="en-US" sz="1800" dirty="0" err="1"/>
              <a:t>.</a:t>
            </a:r>
            <a:r>
              <a:rPr lang="en-US" sz="1800" i="1" dirty="0" err="1"/>
              <a:t>course_id</a:t>
            </a:r>
            <a:r>
              <a:rPr lang="en-US" sz="1800" i="1" dirty="0"/>
              <a:t> </a:t>
            </a:r>
            <a:r>
              <a:rPr lang="en-US" sz="1800" dirty="0"/>
              <a:t>= </a:t>
            </a:r>
            <a:r>
              <a:rPr lang="en-US" sz="1800" i="1" dirty="0" err="1"/>
              <a:t>course</a:t>
            </a:r>
            <a:r>
              <a:rPr lang="en-US" sz="1800" dirty="0" err="1"/>
              <a:t>.</a:t>
            </a:r>
            <a:r>
              <a:rPr lang="en-US" sz="1800" i="1" dirty="0" err="1"/>
              <a:t>course_id</a:t>
            </a:r>
            <a:r>
              <a:rPr lang="en-US" sz="1800" dirty="0"/>
              <a:t>;</a:t>
            </a:r>
          </a:p>
          <a:p>
            <a:pPr lvl="2">
              <a:defRPr/>
            </a:pPr>
            <a:endParaRPr lang="en-US" sz="1700" dirty="0"/>
          </a:p>
          <a:p>
            <a:pPr lvl="1"/>
            <a:endParaRPr lang="en-US" sz="1600" dirty="0"/>
          </a:p>
          <a:p>
            <a:pPr lvl="1"/>
            <a:endParaRPr lang="en-US" altLang="en-US" dirty="0">
              <a:ea typeface="ＭＳ Ｐゴシック" pitchFamily="34" charset="-128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Natural Join with </a:t>
            </a:r>
            <a:r>
              <a:rPr lang="en-US" sz="2800" dirty="0">
                <a:solidFill>
                  <a:srgbClr val="C00000"/>
                </a:solidFill>
              </a:rPr>
              <a:t>Using</a:t>
            </a:r>
            <a:r>
              <a:rPr lang="en-US" sz="2800" dirty="0"/>
              <a:t> Clause</a:t>
            </a:r>
            <a:endParaRPr lang="en-US" altLang="en-US" sz="28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7170" name="Rectangle 3"/>
          <p:cNvSpPr>
            <a:spLocks noGrp="1" noChangeArrowheads="1"/>
          </p:cNvSpPr>
          <p:nvPr>
            <p:ph idx="1"/>
          </p:nvPr>
        </p:nvSpPr>
        <p:spPr>
          <a:xfrm>
            <a:off x="768351" y="1118175"/>
            <a:ext cx="7745334" cy="3014913"/>
          </a:xfrm>
        </p:spPr>
        <p:txBody>
          <a:bodyPr lIns="91440"/>
          <a:lstStyle/>
          <a:p>
            <a:pPr indent="-365760" algn="just"/>
            <a:r>
              <a:rPr lang="en-US" sz="1700" dirty="0">
                <a:solidFill>
                  <a:srgbClr val="000099"/>
                </a:solidFill>
              </a:rPr>
              <a:t>To avoid the danger of equating attributes erroneously</a:t>
            </a:r>
            <a:r>
              <a:rPr lang="en-US" sz="1700" dirty="0"/>
              <a:t>, we can use the </a:t>
            </a:r>
            <a:r>
              <a:rPr lang="en-US" sz="1700" dirty="0">
                <a:solidFill>
                  <a:srgbClr val="C00000"/>
                </a:solidFill>
              </a:rPr>
              <a:t>“</a:t>
            </a:r>
            <a:r>
              <a:rPr lang="en-US" sz="1700" b="1" dirty="0">
                <a:solidFill>
                  <a:srgbClr val="C00000"/>
                </a:solidFill>
              </a:rPr>
              <a:t>using</a:t>
            </a:r>
            <a:r>
              <a:rPr lang="en-US" sz="1700" dirty="0">
                <a:solidFill>
                  <a:srgbClr val="C00000"/>
                </a:solidFill>
              </a:rPr>
              <a:t>” construct </a:t>
            </a:r>
            <a:r>
              <a:rPr lang="en-US" sz="1700" dirty="0"/>
              <a:t>that allows us to specify exactly which columns should be equated.</a:t>
            </a:r>
          </a:p>
          <a:p>
            <a:pPr marL="0" indent="0" algn="just">
              <a:buNone/>
            </a:pPr>
            <a:endParaRPr lang="en-US" sz="1700" dirty="0"/>
          </a:p>
          <a:p>
            <a:pPr marL="342900" lvl="1" indent="-365760">
              <a:buClr>
                <a:srgbClr val="002060"/>
              </a:buClr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rgbClr val="000099"/>
                </a:solidFill>
              </a:rPr>
              <a:t>Another correct version of previous </a:t>
            </a:r>
            <a:r>
              <a:rPr lang="en-US" sz="1700" dirty="0"/>
              <a:t>Query example</a:t>
            </a:r>
            <a:endParaRPr lang="en-US" sz="1700" i="1" dirty="0"/>
          </a:p>
          <a:p>
            <a:pPr>
              <a:buNone/>
              <a:defRPr/>
            </a:pPr>
            <a:r>
              <a:rPr lang="en-US" sz="1700" i="1" dirty="0"/>
              <a:t>        </a:t>
            </a:r>
            <a:r>
              <a:rPr lang="en-US" sz="1700" b="1" dirty="0"/>
              <a:t>select </a:t>
            </a:r>
            <a:r>
              <a:rPr lang="en-US" sz="1700" i="1" dirty="0"/>
              <a:t>name</a:t>
            </a:r>
            <a:r>
              <a:rPr lang="en-US" sz="1700" dirty="0"/>
              <a:t>, </a:t>
            </a:r>
            <a:r>
              <a:rPr lang="en-US" sz="1700" i="1" dirty="0"/>
              <a:t>title</a:t>
            </a:r>
            <a:br>
              <a:rPr lang="en-US" sz="1700" i="1" dirty="0"/>
            </a:br>
            <a:r>
              <a:rPr lang="en-US" sz="1700" i="1" dirty="0"/>
              <a:t>   </a:t>
            </a:r>
            <a:r>
              <a:rPr lang="en-US" sz="1700" b="1" dirty="0"/>
              <a:t>from  </a:t>
            </a:r>
            <a:r>
              <a:rPr lang="en-US" sz="1700" dirty="0"/>
              <a:t>(</a:t>
            </a:r>
            <a:r>
              <a:rPr lang="en-US" sz="1700" i="1" dirty="0"/>
              <a:t>student </a:t>
            </a:r>
            <a:r>
              <a:rPr lang="en-US" sz="1700" b="1" dirty="0"/>
              <a:t>natural join </a:t>
            </a:r>
            <a:r>
              <a:rPr lang="en-US" sz="1700" i="1" dirty="0"/>
              <a:t>takes</a:t>
            </a:r>
            <a:r>
              <a:rPr lang="en-US" sz="1700" dirty="0"/>
              <a:t>) </a:t>
            </a:r>
            <a:r>
              <a:rPr lang="en-US" sz="1700" b="1" dirty="0"/>
              <a:t> </a:t>
            </a:r>
            <a:r>
              <a:rPr lang="en-US" sz="1700" b="1" dirty="0">
                <a:solidFill>
                  <a:srgbClr val="C00000"/>
                </a:solidFill>
              </a:rPr>
              <a:t>join</a:t>
            </a:r>
            <a:r>
              <a:rPr lang="en-US" sz="1700" b="1" dirty="0"/>
              <a:t> </a:t>
            </a:r>
            <a:r>
              <a:rPr lang="en-US" sz="1700" i="1" dirty="0"/>
              <a:t>course</a:t>
            </a:r>
            <a:r>
              <a:rPr lang="en-US" sz="1700" dirty="0">
                <a:solidFill>
                  <a:srgbClr val="C00000"/>
                </a:solidFill>
              </a:rPr>
              <a:t> </a:t>
            </a:r>
            <a:r>
              <a:rPr lang="en-US" sz="1700" b="1" dirty="0">
                <a:solidFill>
                  <a:srgbClr val="C00000"/>
                </a:solidFill>
              </a:rPr>
              <a:t>using </a:t>
            </a:r>
            <a:r>
              <a:rPr lang="en-US" sz="1700" dirty="0">
                <a:solidFill>
                  <a:srgbClr val="C00000"/>
                </a:solidFill>
              </a:rPr>
              <a:t>(</a:t>
            </a:r>
            <a:r>
              <a:rPr lang="en-US" sz="1700" i="1" dirty="0" err="1">
                <a:solidFill>
                  <a:srgbClr val="C00000"/>
                </a:solidFill>
              </a:rPr>
              <a:t>course_id</a:t>
            </a:r>
            <a:r>
              <a:rPr lang="en-US" sz="1700" dirty="0">
                <a:solidFill>
                  <a:srgbClr val="C00000"/>
                </a:solidFill>
              </a:rPr>
              <a:t>)</a:t>
            </a:r>
          </a:p>
          <a:p>
            <a:pPr indent="-365760"/>
            <a:endParaRPr lang="en-US" altLang="en-US" dirty="0"/>
          </a:p>
        </p:txBody>
      </p:sp>
    </p:spTree>
  </p:cSld>
  <p:clrMapOvr>
    <a:masterClrMapping/>
  </p:clrMapOvr>
  <p:transition spd="slow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Join Condition</a:t>
            </a:r>
            <a:endParaRPr lang="en-US" altLang="en-US" sz="28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7170" name="Rectangle 3"/>
          <p:cNvSpPr>
            <a:spLocks noGrp="1" noChangeArrowheads="1"/>
          </p:cNvSpPr>
          <p:nvPr>
            <p:ph idx="1"/>
          </p:nvPr>
        </p:nvSpPr>
        <p:spPr>
          <a:xfrm>
            <a:off x="768351" y="1093790"/>
            <a:ext cx="7621047" cy="4903787"/>
          </a:xfrm>
        </p:spPr>
        <p:txBody>
          <a:bodyPr lIns="91440"/>
          <a:lstStyle/>
          <a:p>
            <a:pPr indent="-365760" algn="just"/>
            <a:r>
              <a:rPr lang="en-US" sz="1700" dirty="0"/>
              <a:t>The  </a:t>
            </a:r>
            <a:r>
              <a:rPr lang="en-US" sz="1700" b="1" dirty="0">
                <a:solidFill>
                  <a:srgbClr val="C00000"/>
                </a:solidFill>
              </a:rPr>
              <a:t>on </a:t>
            </a:r>
            <a:r>
              <a:rPr lang="en-US" sz="1700" dirty="0">
                <a:solidFill>
                  <a:srgbClr val="C00000"/>
                </a:solidFill>
              </a:rPr>
              <a:t> condition allows a general predicate </a:t>
            </a:r>
            <a:r>
              <a:rPr lang="en-US" sz="1700" dirty="0"/>
              <a:t>over the relations being  joined</a:t>
            </a:r>
          </a:p>
          <a:p>
            <a:pPr indent="-365760" algn="just"/>
            <a:r>
              <a:rPr lang="en-US" sz="1700" dirty="0"/>
              <a:t>This predicate is written like a </a:t>
            </a:r>
            <a:r>
              <a:rPr lang="en-US" sz="1700" b="1" dirty="0"/>
              <a:t>where</a:t>
            </a:r>
            <a:r>
              <a:rPr lang="en-US" sz="1700" dirty="0"/>
              <a:t> clause predicate except for the use of the keyword </a:t>
            </a:r>
            <a:r>
              <a:rPr lang="en-US" sz="1700" b="1" dirty="0"/>
              <a:t>on</a:t>
            </a:r>
          </a:p>
          <a:p>
            <a:pPr marL="0" indent="0" algn="just">
              <a:buNone/>
            </a:pPr>
            <a:endParaRPr lang="en-US" sz="1700" b="1" dirty="0"/>
          </a:p>
          <a:p>
            <a:pPr indent="-365760"/>
            <a:r>
              <a:rPr lang="en-US" sz="1700" dirty="0">
                <a:solidFill>
                  <a:srgbClr val="000099"/>
                </a:solidFill>
              </a:rPr>
              <a:t>Query example</a:t>
            </a:r>
            <a:endParaRPr lang="en-US" sz="1700" i="1" dirty="0">
              <a:solidFill>
                <a:srgbClr val="000099"/>
              </a:solidFill>
            </a:endParaRPr>
          </a:p>
          <a:p>
            <a:pPr>
              <a:buNone/>
              <a:defRPr/>
            </a:pPr>
            <a:r>
              <a:rPr lang="en-US" sz="1700" b="1" dirty="0"/>
              <a:t>          select *</a:t>
            </a:r>
            <a:r>
              <a:rPr lang="en-US" sz="1700" i="1" dirty="0"/>
              <a:t/>
            </a:r>
            <a:br>
              <a:rPr lang="en-US" sz="1700" i="1" dirty="0"/>
            </a:br>
            <a:r>
              <a:rPr lang="en-US" sz="1700" i="1" dirty="0"/>
              <a:t>     </a:t>
            </a:r>
            <a:r>
              <a:rPr lang="en-US" sz="1700" b="1" dirty="0"/>
              <a:t>from  </a:t>
            </a:r>
            <a:r>
              <a:rPr lang="en-US" sz="1700" i="1" dirty="0"/>
              <a:t>student </a:t>
            </a:r>
            <a:r>
              <a:rPr lang="en-US" sz="1700" b="1" dirty="0"/>
              <a:t>join </a:t>
            </a:r>
            <a:r>
              <a:rPr lang="en-US" sz="1700" i="1" dirty="0"/>
              <a:t>takes</a:t>
            </a:r>
            <a:r>
              <a:rPr lang="en-US" sz="1700" dirty="0"/>
              <a:t> </a:t>
            </a:r>
            <a:r>
              <a:rPr lang="en-US" sz="1700" b="1" dirty="0"/>
              <a:t>on </a:t>
            </a:r>
            <a:r>
              <a:rPr lang="en-US" sz="1700" i="1" dirty="0" err="1"/>
              <a:t>student_ID</a:t>
            </a:r>
            <a:r>
              <a:rPr lang="en-US" sz="1700" b="1" dirty="0"/>
              <a:t>  </a:t>
            </a:r>
            <a:r>
              <a:rPr lang="en-US" sz="1700" dirty="0"/>
              <a:t>=</a:t>
            </a:r>
            <a:r>
              <a:rPr lang="en-US" sz="1700" b="1" dirty="0"/>
              <a:t> </a:t>
            </a:r>
            <a:r>
              <a:rPr lang="en-US" sz="1700" i="1" dirty="0" err="1"/>
              <a:t>takes_ID</a:t>
            </a:r>
            <a:endParaRPr lang="en-US" sz="1700" i="1" dirty="0"/>
          </a:p>
          <a:p>
            <a:pPr lvl="1">
              <a:defRPr/>
            </a:pPr>
            <a:r>
              <a:rPr lang="en-US" sz="1700" dirty="0"/>
              <a:t>The </a:t>
            </a:r>
            <a:r>
              <a:rPr lang="en-US" sz="1700" b="1" dirty="0"/>
              <a:t>on</a:t>
            </a:r>
            <a:r>
              <a:rPr lang="en-US" sz="1700" dirty="0"/>
              <a:t> condition above specifies that a tuple from </a:t>
            </a:r>
            <a:r>
              <a:rPr lang="en-US" sz="1700" i="1" dirty="0"/>
              <a:t>student</a:t>
            </a:r>
            <a:r>
              <a:rPr lang="en-US" sz="1700" dirty="0"/>
              <a:t> matches a tuple from </a:t>
            </a:r>
            <a:r>
              <a:rPr lang="en-US" sz="1700" i="1" dirty="0"/>
              <a:t>takes</a:t>
            </a:r>
            <a:r>
              <a:rPr lang="en-US" sz="1700" dirty="0"/>
              <a:t> if their </a:t>
            </a:r>
            <a:r>
              <a:rPr lang="en-US" sz="1700" i="1" dirty="0"/>
              <a:t>ID</a:t>
            </a:r>
            <a:r>
              <a:rPr lang="en-US" sz="1700" dirty="0"/>
              <a:t> values are equal.</a:t>
            </a:r>
          </a:p>
          <a:p>
            <a:pPr marL="457200" lvl="1" indent="0">
              <a:buNone/>
              <a:defRPr/>
            </a:pPr>
            <a:endParaRPr lang="en-US" sz="1700" dirty="0"/>
          </a:p>
          <a:p>
            <a:pPr>
              <a:defRPr/>
            </a:pPr>
            <a:r>
              <a:rPr lang="en-US" sz="1700" dirty="0"/>
              <a:t>Equivalent to:</a:t>
            </a:r>
          </a:p>
          <a:p>
            <a:pPr>
              <a:buNone/>
              <a:defRPr/>
            </a:pPr>
            <a:r>
              <a:rPr lang="en-US" sz="1700" b="1" dirty="0"/>
              <a:t>             select *</a:t>
            </a:r>
            <a:r>
              <a:rPr lang="en-US" sz="1700" i="1" dirty="0"/>
              <a:t/>
            </a:r>
            <a:br>
              <a:rPr lang="en-US" sz="1700" i="1" dirty="0"/>
            </a:br>
            <a:r>
              <a:rPr lang="en-US" sz="1700" i="1" dirty="0"/>
              <a:t>        </a:t>
            </a:r>
            <a:r>
              <a:rPr lang="en-US" sz="1700" b="1" dirty="0"/>
              <a:t>from  </a:t>
            </a:r>
            <a:r>
              <a:rPr lang="en-US" sz="1700" i="1" dirty="0"/>
              <a:t>student , takes</a:t>
            </a:r>
            <a:r>
              <a:rPr lang="en-US" sz="1700" dirty="0"/>
              <a:t> </a:t>
            </a:r>
            <a:r>
              <a:rPr lang="en-US" sz="1700" i="1" dirty="0"/>
              <a:t/>
            </a:r>
            <a:br>
              <a:rPr lang="en-US" sz="1700" i="1" dirty="0"/>
            </a:br>
            <a:r>
              <a:rPr lang="en-US" sz="1700" i="1" dirty="0"/>
              <a:t>        </a:t>
            </a:r>
            <a:r>
              <a:rPr lang="en-US" sz="1700" b="1" dirty="0"/>
              <a:t>where  </a:t>
            </a:r>
            <a:r>
              <a:rPr lang="en-US" sz="1700" i="1" dirty="0" err="1"/>
              <a:t>student_ID</a:t>
            </a:r>
            <a:r>
              <a:rPr lang="en-US" sz="1700" b="1" dirty="0"/>
              <a:t>  </a:t>
            </a:r>
            <a:r>
              <a:rPr lang="en-US" sz="1700" dirty="0"/>
              <a:t>=</a:t>
            </a:r>
            <a:r>
              <a:rPr lang="en-US" sz="1700" b="1" dirty="0"/>
              <a:t> </a:t>
            </a:r>
            <a:r>
              <a:rPr lang="en-US" sz="1700" i="1" dirty="0" err="1"/>
              <a:t>takes_ID</a:t>
            </a:r>
            <a:endParaRPr lang="en-US" sz="1700" dirty="0"/>
          </a:p>
          <a:p>
            <a:pPr>
              <a:defRPr/>
            </a:pPr>
            <a:endParaRPr lang="en-US" i="1" dirty="0"/>
          </a:p>
          <a:p>
            <a:pPr indent="-365760"/>
            <a:endParaRPr lang="en-US" altLang="en-US" dirty="0"/>
          </a:p>
        </p:txBody>
      </p:sp>
    </p:spTree>
  </p:cSld>
  <p:clrMapOvr>
    <a:masterClrMapping/>
  </p:clrMapOvr>
  <p:transition spd="slow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Join operations – Example</a:t>
            </a:r>
            <a:endParaRPr lang="en-US" sz="2800" dirty="0">
              <a:ea typeface="+mj-ea"/>
            </a:endParaRP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70533"/>
            <a:ext cx="7750843" cy="4876800"/>
          </a:xfrm>
        </p:spPr>
        <p:txBody>
          <a:bodyPr/>
          <a:lstStyle/>
          <a:p>
            <a:r>
              <a:rPr lang="en-US" altLang="en-US" sz="1700" b="1" dirty="0">
                <a:solidFill>
                  <a:srgbClr val="000099"/>
                </a:solidFill>
              </a:rPr>
              <a:t>Relation </a:t>
            </a:r>
            <a:r>
              <a:rPr lang="en-US" altLang="en-US" sz="1700" b="1" i="1" dirty="0">
                <a:solidFill>
                  <a:srgbClr val="000099"/>
                </a:solidFill>
              </a:rPr>
              <a:t>course</a:t>
            </a:r>
          </a:p>
          <a:p>
            <a:endParaRPr lang="en-US" altLang="en-US" sz="1700" i="1" dirty="0"/>
          </a:p>
          <a:p>
            <a:endParaRPr lang="en-US" altLang="en-US" sz="1700" i="1" dirty="0"/>
          </a:p>
          <a:p>
            <a:pPr>
              <a:buNone/>
            </a:pPr>
            <a:endParaRPr lang="en-US" altLang="en-US" sz="1700" i="1" dirty="0"/>
          </a:p>
          <a:p>
            <a:pPr>
              <a:buNone/>
            </a:pPr>
            <a:endParaRPr lang="en-US" altLang="en-US" sz="1700" i="1" dirty="0"/>
          </a:p>
          <a:p>
            <a:r>
              <a:rPr lang="en-US" altLang="en-US" sz="1700" b="1" dirty="0">
                <a:solidFill>
                  <a:srgbClr val="000099"/>
                </a:solidFill>
              </a:rPr>
              <a:t>Relation </a:t>
            </a:r>
            <a:r>
              <a:rPr lang="en-US" altLang="en-US" sz="1700" b="1" i="1" dirty="0" err="1">
                <a:solidFill>
                  <a:srgbClr val="000099"/>
                </a:solidFill>
              </a:rPr>
              <a:t>prereq</a:t>
            </a:r>
            <a:endParaRPr lang="en-US" altLang="en-US" sz="1700" b="1" dirty="0">
              <a:solidFill>
                <a:srgbClr val="000099"/>
              </a:solidFill>
            </a:endParaRPr>
          </a:p>
          <a:p>
            <a:endParaRPr lang="en-US" altLang="en-US" sz="1700" i="1" dirty="0"/>
          </a:p>
          <a:p>
            <a:endParaRPr lang="en-US" altLang="en-US" sz="1700" i="1" dirty="0"/>
          </a:p>
          <a:p>
            <a:endParaRPr lang="en-US" altLang="en-US" sz="1700" i="1" dirty="0"/>
          </a:p>
          <a:p>
            <a:endParaRPr lang="en-US" altLang="en-US" sz="1700" i="1" dirty="0"/>
          </a:p>
          <a:p>
            <a:r>
              <a:rPr lang="en-US" altLang="en-US" sz="1700" dirty="0"/>
              <a:t>Observe that </a:t>
            </a:r>
          </a:p>
          <a:p>
            <a:pPr>
              <a:buClr>
                <a:schemeClr val="tx2"/>
              </a:buClr>
              <a:buNone/>
            </a:pPr>
            <a:r>
              <a:rPr lang="en-US" altLang="en-US" sz="1700" i="1" dirty="0"/>
              <a:t>              course </a:t>
            </a:r>
            <a:r>
              <a:rPr lang="en-US" altLang="en-US" sz="1700" dirty="0"/>
              <a:t>information is missing CS-347</a:t>
            </a:r>
          </a:p>
          <a:p>
            <a:pPr>
              <a:buClr>
                <a:schemeClr val="tx2"/>
              </a:buClr>
              <a:buNone/>
            </a:pPr>
            <a:r>
              <a:rPr lang="en-US" altLang="en-US" sz="1700" i="1" dirty="0"/>
              <a:t>              </a:t>
            </a:r>
            <a:r>
              <a:rPr lang="en-US" altLang="en-US" sz="1700" i="1" dirty="0" err="1"/>
              <a:t>prereq</a:t>
            </a:r>
            <a:r>
              <a:rPr lang="en-US" altLang="en-US" sz="1700" i="1" dirty="0"/>
              <a:t> </a:t>
            </a:r>
            <a:r>
              <a:rPr lang="en-US" altLang="en-US" sz="1700" dirty="0"/>
              <a:t>information is missing CS-315</a:t>
            </a:r>
          </a:p>
          <a:p>
            <a:pPr>
              <a:buClr>
                <a:schemeClr val="tx2"/>
              </a:buClr>
              <a:buNone/>
            </a:pPr>
            <a:r>
              <a:rPr lang="en-US" altLang="en-US" sz="800" dirty="0"/>
              <a:t> </a:t>
            </a:r>
          </a:p>
          <a:p>
            <a:r>
              <a:rPr lang="en-US" altLang="en-US" i="1" dirty="0"/>
              <a:t>  </a:t>
            </a:r>
            <a:endParaRPr lang="en-US" altLang="en-US" sz="2000" dirty="0"/>
          </a:p>
          <a:p>
            <a:endParaRPr lang="en-US" altLang="en-US" sz="2000" dirty="0"/>
          </a:p>
        </p:txBody>
      </p:sp>
      <p:pic>
        <p:nvPicPr>
          <p:cNvPr id="4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3744" y="1658112"/>
            <a:ext cx="3745294" cy="10605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8816" y="3401568"/>
            <a:ext cx="1929043" cy="10693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800" dirty="0">
                <a:ea typeface="+mj-ea"/>
              </a:rPr>
              <a:t>Outer Join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70533"/>
            <a:ext cx="7570979" cy="3779419"/>
          </a:xfrm>
        </p:spPr>
        <p:txBody>
          <a:bodyPr/>
          <a:lstStyle/>
          <a:p>
            <a:pPr algn="just"/>
            <a:r>
              <a:rPr lang="en-US" altLang="en-US" sz="1700" dirty="0"/>
              <a:t>An extension of the join operation that avoids loss of information.</a:t>
            </a:r>
          </a:p>
          <a:p>
            <a:pPr marL="0" indent="0" algn="just">
              <a:buNone/>
            </a:pPr>
            <a:endParaRPr lang="en-US" altLang="en-US" sz="1700" dirty="0"/>
          </a:p>
          <a:p>
            <a:pPr algn="just"/>
            <a:r>
              <a:rPr lang="en-US" altLang="en-US" sz="1700" b="1" dirty="0">
                <a:solidFill>
                  <a:srgbClr val="C00000"/>
                </a:solidFill>
              </a:rPr>
              <a:t>Computes the join </a:t>
            </a:r>
            <a:r>
              <a:rPr lang="en-US" altLang="en-US" sz="1700" b="1" dirty="0"/>
              <a:t>and </a:t>
            </a:r>
            <a:r>
              <a:rPr lang="en-US" altLang="en-US" sz="1700" b="1" dirty="0">
                <a:solidFill>
                  <a:srgbClr val="C00000"/>
                </a:solidFill>
              </a:rPr>
              <a:t>then adds tuples form one relation</a:t>
            </a:r>
            <a:r>
              <a:rPr lang="en-US" altLang="en-US" sz="1700" b="1" dirty="0"/>
              <a:t> </a:t>
            </a:r>
            <a:r>
              <a:rPr lang="en-US" altLang="en-US" sz="1700" b="1" dirty="0">
                <a:solidFill>
                  <a:srgbClr val="000099"/>
                </a:solidFill>
              </a:rPr>
              <a:t>that does not match tuples in the other relation</a:t>
            </a:r>
            <a:r>
              <a:rPr lang="en-US" altLang="en-US" sz="1700" b="1" dirty="0"/>
              <a:t> </a:t>
            </a:r>
            <a:r>
              <a:rPr lang="en-US" altLang="en-US" sz="1700" b="1" dirty="0">
                <a:solidFill>
                  <a:srgbClr val="C00000"/>
                </a:solidFill>
              </a:rPr>
              <a:t>to the result of the join. </a:t>
            </a:r>
          </a:p>
          <a:p>
            <a:pPr marL="0" indent="0" algn="just">
              <a:buNone/>
            </a:pPr>
            <a:endParaRPr lang="en-US" altLang="en-US" sz="1700" dirty="0"/>
          </a:p>
          <a:p>
            <a:pPr algn="just"/>
            <a:r>
              <a:rPr lang="en-US" altLang="en-US" sz="1700" dirty="0"/>
              <a:t>Uses </a:t>
            </a:r>
            <a:r>
              <a:rPr lang="en-US" altLang="en-US" sz="1700" i="1" dirty="0"/>
              <a:t>null</a:t>
            </a:r>
            <a:r>
              <a:rPr lang="en-US" altLang="en-US" sz="1700" dirty="0"/>
              <a:t> values.</a:t>
            </a:r>
          </a:p>
          <a:p>
            <a:pPr marL="0" indent="0" algn="just">
              <a:buNone/>
            </a:pPr>
            <a:endParaRPr lang="en-US" altLang="en-US" sz="1700" dirty="0"/>
          </a:p>
          <a:p>
            <a:pPr algn="just"/>
            <a:r>
              <a:rPr lang="en-US" altLang="en-US" sz="1700" dirty="0">
                <a:solidFill>
                  <a:srgbClr val="FF0000"/>
                </a:solidFill>
              </a:rPr>
              <a:t>Three forms of outer join:</a:t>
            </a:r>
          </a:p>
          <a:p>
            <a:pPr lvl="1" algn="just"/>
            <a:r>
              <a:rPr lang="en-US" altLang="en-US" sz="1700" dirty="0">
                <a:solidFill>
                  <a:srgbClr val="000099"/>
                </a:solidFill>
              </a:rPr>
              <a:t>left outer join</a:t>
            </a:r>
          </a:p>
          <a:p>
            <a:pPr lvl="1" algn="just"/>
            <a:r>
              <a:rPr lang="en-US" altLang="en-US" sz="1700" dirty="0">
                <a:solidFill>
                  <a:srgbClr val="000099"/>
                </a:solidFill>
              </a:rPr>
              <a:t>right outer join</a:t>
            </a:r>
          </a:p>
          <a:p>
            <a:pPr lvl="1" algn="just"/>
            <a:r>
              <a:rPr lang="en-US" altLang="en-US" sz="1700" dirty="0">
                <a:solidFill>
                  <a:srgbClr val="000099"/>
                </a:solidFill>
              </a:rPr>
              <a:t>full outer join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800" dirty="0"/>
              <a:t>Left Outer Join</a:t>
            </a:r>
            <a:endParaRPr lang="en-US" sz="2800" dirty="0">
              <a:ea typeface="+mj-ea"/>
            </a:endParaRP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70533"/>
            <a:ext cx="7750843" cy="4876800"/>
          </a:xfrm>
        </p:spPr>
        <p:txBody>
          <a:bodyPr/>
          <a:lstStyle/>
          <a:p>
            <a:r>
              <a:rPr lang="en-US" altLang="en-US" sz="1700" i="1" dirty="0"/>
              <a:t>course</a:t>
            </a:r>
            <a:r>
              <a:rPr lang="en-US" altLang="en-US" sz="1700" dirty="0"/>
              <a:t> </a:t>
            </a:r>
            <a:r>
              <a:rPr lang="en-US" altLang="en-US" sz="1700" b="1" dirty="0">
                <a:solidFill>
                  <a:srgbClr val="000099"/>
                </a:solidFill>
              </a:rPr>
              <a:t>natural left outer join</a:t>
            </a:r>
            <a:r>
              <a:rPr lang="en-US" altLang="en-US" sz="1700" dirty="0">
                <a:solidFill>
                  <a:srgbClr val="000099"/>
                </a:solidFill>
              </a:rPr>
              <a:t> </a:t>
            </a:r>
            <a:r>
              <a:rPr lang="en-US" altLang="en-US" sz="1700" i="1" dirty="0" err="1"/>
              <a:t>prereq</a:t>
            </a:r>
            <a:endParaRPr lang="en-US" altLang="en-US" sz="1700" dirty="0"/>
          </a:p>
          <a:p>
            <a:endParaRPr lang="en-US" altLang="en-US" sz="1700" dirty="0"/>
          </a:p>
          <a:p>
            <a:endParaRPr lang="en-US" altLang="en-US" sz="1700" dirty="0"/>
          </a:p>
          <a:p>
            <a:endParaRPr lang="en-US" altLang="en-US" sz="1700" dirty="0"/>
          </a:p>
          <a:p>
            <a:endParaRPr lang="en-US" altLang="en-US" sz="1700" dirty="0"/>
          </a:p>
          <a:p>
            <a:endParaRPr lang="en-US" altLang="en-US" sz="1700" dirty="0"/>
          </a:p>
          <a:p>
            <a:pPr marL="342900" lvl="1" indent="-342900">
              <a:buClr>
                <a:srgbClr val="002060"/>
              </a:buClr>
              <a:buFont typeface="Wingdings" panose="05000000000000000000" pitchFamily="2" charset="2"/>
              <a:buChar char="§"/>
            </a:pPr>
            <a:r>
              <a:rPr lang="en-US" altLang="en-US" sz="1700" b="1" dirty="0"/>
              <a:t>In relational algebra:</a:t>
            </a:r>
            <a:r>
              <a:rPr lang="en-US" altLang="en-US" sz="1700" b="1" dirty="0">
                <a:solidFill>
                  <a:srgbClr val="000099"/>
                </a:solidFill>
              </a:rPr>
              <a:t>   </a:t>
            </a:r>
            <a:r>
              <a:rPr lang="en-US" altLang="en-US" sz="1700" b="1" i="1" dirty="0">
                <a:solidFill>
                  <a:srgbClr val="000099"/>
                </a:solidFill>
              </a:rPr>
              <a:t>course </a:t>
            </a:r>
            <a:r>
              <a:rPr lang="en-US" altLang="en-US" sz="1700" b="1" dirty="0">
                <a:solidFill>
                  <a:srgbClr val="000099"/>
                </a:solidFill>
              </a:rPr>
              <a:t>⟕ </a:t>
            </a:r>
            <a:r>
              <a:rPr lang="en-US" altLang="en-US" sz="1700" b="1" i="1" dirty="0" err="1">
                <a:solidFill>
                  <a:srgbClr val="000099"/>
                </a:solidFill>
              </a:rPr>
              <a:t>prereq</a:t>
            </a:r>
            <a:endParaRPr lang="en-US" altLang="en-US" sz="1700" b="1" dirty="0">
              <a:solidFill>
                <a:srgbClr val="000099"/>
              </a:solidFill>
            </a:endParaRPr>
          </a:p>
          <a:p>
            <a:pPr>
              <a:buNone/>
            </a:pPr>
            <a:endParaRPr lang="en-US" altLang="en-US" sz="17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1952" y="1802616"/>
            <a:ext cx="5316318" cy="120712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800" dirty="0"/>
              <a:t>Right Outer Join</a:t>
            </a:r>
            <a:endParaRPr lang="en-US" sz="2800" dirty="0">
              <a:ea typeface="+mj-ea"/>
            </a:endParaRP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70533"/>
            <a:ext cx="7750843" cy="4876800"/>
          </a:xfrm>
        </p:spPr>
        <p:txBody>
          <a:bodyPr/>
          <a:lstStyle/>
          <a:p>
            <a:r>
              <a:rPr lang="en-US" altLang="en-US" sz="1700" i="1" dirty="0"/>
              <a:t>course</a:t>
            </a:r>
            <a:r>
              <a:rPr lang="en-US" altLang="en-US" sz="1700" dirty="0"/>
              <a:t> </a:t>
            </a:r>
            <a:r>
              <a:rPr lang="en-US" altLang="en-US" sz="1700" b="1" dirty="0">
                <a:solidFill>
                  <a:srgbClr val="000099"/>
                </a:solidFill>
              </a:rPr>
              <a:t>natural right outer join</a:t>
            </a:r>
            <a:r>
              <a:rPr lang="en-US" altLang="en-US" sz="1700" dirty="0">
                <a:solidFill>
                  <a:srgbClr val="000099"/>
                </a:solidFill>
              </a:rPr>
              <a:t> </a:t>
            </a:r>
            <a:r>
              <a:rPr lang="en-US" altLang="en-US" sz="1700" i="1" dirty="0" err="1"/>
              <a:t>prereq</a:t>
            </a:r>
            <a:endParaRPr lang="en-US" altLang="en-US" sz="1700" dirty="0"/>
          </a:p>
          <a:p>
            <a:endParaRPr lang="en-US" altLang="en-US" sz="1700" dirty="0"/>
          </a:p>
          <a:p>
            <a:endParaRPr lang="en-US" altLang="en-US" sz="1700" dirty="0"/>
          </a:p>
          <a:p>
            <a:endParaRPr lang="en-US" altLang="en-US" sz="1700" dirty="0"/>
          </a:p>
          <a:p>
            <a:endParaRPr lang="en-US" altLang="en-US" sz="1700" dirty="0"/>
          </a:p>
          <a:p>
            <a:endParaRPr lang="en-US" altLang="en-US" sz="1700" dirty="0"/>
          </a:p>
          <a:p>
            <a:pPr marL="342900" lvl="1" indent="-342900">
              <a:buClr>
                <a:srgbClr val="002060"/>
              </a:buClr>
              <a:buFont typeface="Wingdings" panose="05000000000000000000" pitchFamily="2" charset="2"/>
              <a:buChar char="§"/>
            </a:pPr>
            <a:r>
              <a:rPr lang="en-US" altLang="en-US" sz="1700" b="1" dirty="0"/>
              <a:t>In relational algebra:   </a:t>
            </a:r>
            <a:r>
              <a:rPr lang="en-US" altLang="en-US" sz="1700" b="1" i="1" dirty="0">
                <a:solidFill>
                  <a:srgbClr val="000099"/>
                </a:solidFill>
              </a:rPr>
              <a:t>course </a:t>
            </a:r>
            <a:r>
              <a:rPr lang="en-IN" sz="1700" b="1" dirty="0">
                <a:solidFill>
                  <a:srgbClr val="000099"/>
                </a:solidFill>
                <a:cs typeface="Times New Roman" panose="02020603050405020304" pitchFamily="18" charset="0"/>
              </a:rPr>
              <a:t>⟖</a:t>
            </a:r>
            <a:r>
              <a:rPr lang="en-IN" sz="1700" b="1" dirty="0">
                <a:solidFill>
                  <a:srgbClr val="000099"/>
                </a:solidFill>
              </a:rPr>
              <a:t> </a:t>
            </a:r>
            <a:r>
              <a:rPr lang="en-US" altLang="en-US" sz="1700" b="1" i="1" dirty="0" err="1">
                <a:solidFill>
                  <a:srgbClr val="000099"/>
                </a:solidFill>
              </a:rPr>
              <a:t>prereq</a:t>
            </a:r>
            <a:endParaRPr lang="en-US" altLang="en-US" sz="1700" b="1" dirty="0">
              <a:solidFill>
                <a:srgbClr val="000099"/>
              </a:solidFill>
            </a:endParaRPr>
          </a:p>
          <a:p>
            <a:pPr>
              <a:buNone/>
            </a:pPr>
            <a:endParaRPr lang="en-US" altLang="en-US" sz="17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8343" y="1785905"/>
            <a:ext cx="5444073" cy="123613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800" dirty="0"/>
              <a:t>Full Outer Join</a:t>
            </a:r>
            <a:endParaRPr lang="en-US" sz="2800" dirty="0">
              <a:ea typeface="+mj-ea"/>
            </a:endParaRP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70533"/>
            <a:ext cx="7750843" cy="4876800"/>
          </a:xfrm>
        </p:spPr>
        <p:txBody>
          <a:bodyPr/>
          <a:lstStyle/>
          <a:p>
            <a:r>
              <a:rPr lang="en-US" altLang="en-US" sz="1700" i="1" dirty="0"/>
              <a:t>course</a:t>
            </a:r>
            <a:r>
              <a:rPr lang="en-US" altLang="en-US" sz="1700" dirty="0"/>
              <a:t> </a:t>
            </a:r>
            <a:r>
              <a:rPr lang="en-US" altLang="en-US" sz="1700" b="1" dirty="0">
                <a:solidFill>
                  <a:srgbClr val="000099"/>
                </a:solidFill>
              </a:rPr>
              <a:t>natural full outer join</a:t>
            </a:r>
            <a:r>
              <a:rPr lang="en-US" altLang="en-US" sz="1700" dirty="0">
                <a:solidFill>
                  <a:srgbClr val="000099"/>
                </a:solidFill>
              </a:rPr>
              <a:t> </a:t>
            </a:r>
            <a:r>
              <a:rPr lang="en-US" altLang="en-US" sz="1700" i="1" dirty="0" err="1"/>
              <a:t>prereq</a:t>
            </a:r>
            <a:endParaRPr lang="en-US" altLang="en-US" sz="1700" i="1" dirty="0"/>
          </a:p>
          <a:p>
            <a:endParaRPr lang="en-US" altLang="en-US" sz="1700" dirty="0"/>
          </a:p>
          <a:p>
            <a:endParaRPr lang="en-US" altLang="en-US" sz="1700" dirty="0"/>
          </a:p>
          <a:p>
            <a:endParaRPr lang="en-US" altLang="en-US" sz="1700" dirty="0"/>
          </a:p>
          <a:p>
            <a:endParaRPr lang="en-US" altLang="en-US" sz="1700" dirty="0"/>
          </a:p>
          <a:p>
            <a:pPr>
              <a:buNone/>
            </a:pPr>
            <a:endParaRPr lang="en-US" altLang="en-US" sz="1700" dirty="0"/>
          </a:p>
          <a:p>
            <a:r>
              <a:rPr lang="en-US" altLang="en-US" sz="1700" dirty="0"/>
              <a:t>In relational algebra:   </a:t>
            </a:r>
            <a:r>
              <a:rPr lang="en-US" altLang="en-US" sz="1700" i="1" dirty="0"/>
              <a:t>course </a:t>
            </a:r>
            <a:r>
              <a:rPr lang="en-IN" sz="1700" b="1" dirty="0"/>
              <a:t>⟗</a:t>
            </a:r>
            <a:r>
              <a:rPr lang="en-US" altLang="en-US" sz="1700" dirty="0"/>
              <a:t> </a:t>
            </a:r>
            <a:r>
              <a:rPr lang="en-US" altLang="en-US" sz="1700" i="1" dirty="0" err="1"/>
              <a:t>prereq</a:t>
            </a:r>
            <a:endParaRPr lang="en-US" altLang="en-US" sz="1700" i="1" dirty="0"/>
          </a:p>
          <a:p>
            <a:endParaRPr lang="en-US" altLang="en-US" sz="17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0550" y="1698292"/>
            <a:ext cx="5046366" cy="138127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6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800" dirty="0">
                <a:ea typeface="+mj-ea"/>
              </a:rPr>
              <a:t>Join Types and Conditions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06487"/>
            <a:ext cx="7436865" cy="2696255"/>
          </a:xfrm>
        </p:spPr>
        <p:txBody>
          <a:bodyPr/>
          <a:lstStyle/>
          <a:p>
            <a:pPr algn="just"/>
            <a:r>
              <a:rPr lang="en-US" altLang="en-US" sz="1700" b="1" dirty="0">
                <a:solidFill>
                  <a:srgbClr val="002060"/>
                </a:solidFill>
              </a:rPr>
              <a:t>Join operations</a:t>
            </a:r>
            <a:r>
              <a:rPr lang="en-US" altLang="en-US" sz="1700" dirty="0">
                <a:solidFill>
                  <a:srgbClr val="002060"/>
                </a:solidFill>
              </a:rPr>
              <a:t> </a:t>
            </a:r>
            <a:r>
              <a:rPr lang="en-US" altLang="en-US" sz="1700" dirty="0"/>
              <a:t>take two relations and return as a result another relation.</a:t>
            </a:r>
          </a:p>
          <a:p>
            <a:pPr algn="just"/>
            <a:endParaRPr lang="en-US" altLang="en-US" sz="1700" dirty="0"/>
          </a:p>
          <a:p>
            <a:pPr algn="just"/>
            <a:r>
              <a:rPr lang="en-US" altLang="en-US" sz="1700" b="1" dirty="0">
                <a:solidFill>
                  <a:srgbClr val="002060"/>
                </a:solidFill>
              </a:rPr>
              <a:t>Join condition</a:t>
            </a:r>
            <a:r>
              <a:rPr lang="en-US" altLang="en-US" sz="1700" dirty="0">
                <a:solidFill>
                  <a:srgbClr val="002060"/>
                </a:solidFill>
              </a:rPr>
              <a:t> </a:t>
            </a:r>
            <a:r>
              <a:rPr lang="en-US" altLang="en-US" sz="1700" dirty="0"/>
              <a:t>– defines </a:t>
            </a:r>
            <a:r>
              <a:rPr lang="en-US" altLang="en-US" sz="1700" b="1" dirty="0"/>
              <a:t>which tuples in the two relations match</a:t>
            </a:r>
            <a:r>
              <a:rPr lang="en-US" altLang="en-US" sz="1700" dirty="0"/>
              <a:t>.</a:t>
            </a:r>
            <a:r>
              <a:rPr lang="en-US" altLang="en-US" sz="1800" dirty="0"/>
              <a:t> and </a:t>
            </a:r>
            <a:r>
              <a:rPr lang="en-US" altLang="en-US" sz="1800" b="1" dirty="0"/>
              <a:t>what attributes are present in the result of the join</a:t>
            </a:r>
            <a:r>
              <a:rPr lang="en-US" altLang="en-US" sz="1800" dirty="0"/>
              <a:t>.</a:t>
            </a:r>
          </a:p>
          <a:p>
            <a:pPr marL="0" indent="0" algn="just">
              <a:buNone/>
            </a:pPr>
            <a:endParaRPr lang="en-US" altLang="en-US" sz="1700" dirty="0"/>
          </a:p>
          <a:p>
            <a:pPr algn="just"/>
            <a:r>
              <a:rPr lang="en-US" altLang="en-US" sz="1700" b="1" dirty="0">
                <a:solidFill>
                  <a:srgbClr val="002060"/>
                </a:solidFill>
              </a:rPr>
              <a:t>Join type</a:t>
            </a:r>
            <a:r>
              <a:rPr lang="en-US" altLang="en-US" sz="1700" dirty="0">
                <a:solidFill>
                  <a:srgbClr val="002060"/>
                </a:solidFill>
              </a:rPr>
              <a:t> </a:t>
            </a:r>
            <a:r>
              <a:rPr lang="en-US" altLang="en-US" sz="1700" dirty="0"/>
              <a:t>– defines how tuples in each relation that do not match any tuple in the other relation (based on the join condition) are treated.</a:t>
            </a:r>
          </a:p>
        </p:txBody>
      </p:sp>
      <p:pic>
        <p:nvPicPr>
          <p:cNvPr id="1026" name="Picture 2" descr="C:\Users\as668\Desktop\4_07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606335" y="3933370"/>
            <a:ext cx="5578236" cy="174171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Joined Relations – Examples </a:t>
            </a:r>
            <a:endParaRPr lang="en-US" sz="2800" dirty="0">
              <a:ea typeface="+mj-ea"/>
            </a:endParaRP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70533"/>
            <a:ext cx="7750843" cy="4876800"/>
          </a:xfrm>
        </p:spPr>
        <p:txBody>
          <a:bodyPr/>
          <a:lstStyle/>
          <a:p>
            <a:r>
              <a:rPr lang="en-US" altLang="en-US" sz="2000" b="1" i="1" dirty="0"/>
              <a:t>course </a:t>
            </a:r>
            <a:r>
              <a:rPr lang="en-US" altLang="en-US" sz="2000" b="1" dirty="0">
                <a:solidFill>
                  <a:srgbClr val="000099"/>
                </a:solidFill>
              </a:rPr>
              <a:t>inner join</a:t>
            </a:r>
            <a:r>
              <a:rPr lang="en-US" altLang="en-US" sz="2000" b="1" dirty="0"/>
              <a:t> </a:t>
            </a:r>
            <a:r>
              <a:rPr lang="en-US" altLang="en-US" sz="2000" b="1" i="1" dirty="0" err="1"/>
              <a:t>prereq</a:t>
            </a:r>
            <a:r>
              <a:rPr lang="en-US" altLang="en-US" sz="2000" b="1" i="1" dirty="0"/>
              <a:t> </a:t>
            </a:r>
            <a:r>
              <a:rPr lang="en-US" altLang="en-US" sz="2000" b="1" dirty="0">
                <a:solidFill>
                  <a:srgbClr val="000099"/>
                </a:solidFill>
              </a:rPr>
              <a:t>on</a:t>
            </a:r>
            <a:r>
              <a:rPr lang="en-US" altLang="en-US" sz="2000" b="1" dirty="0"/>
              <a:t/>
            </a:r>
            <a:br>
              <a:rPr lang="en-US" altLang="en-US" sz="2000" b="1" dirty="0"/>
            </a:br>
            <a:r>
              <a:rPr lang="en-US" altLang="en-US" sz="2000" b="1" i="1" dirty="0" err="1"/>
              <a:t>course.course_id</a:t>
            </a:r>
            <a:r>
              <a:rPr lang="en-US" altLang="en-US" sz="2000" b="1" i="1" dirty="0"/>
              <a:t> = </a:t>
            </a:r>
            <a:r>
              <a:rPr lang="en-US" altLang="en-US" sz="2000" b="1" i="1" dirty="0" err="1"/>
              <a:t>prereq.course_id</a:t>
            </a:r>
            <a:endParaRPr lang="en-US" altLang="en-US" sz="2000" b="1" i="1" dirty="0"/>
          </a:p>
          <a:p>
            <a:endParaRPr lang="en-US" altLang="en-US" sz="1700" dirty="0"/>
          </a:p>
          <a:p>
            <a:endParaRPr lang="en-US" altLang="en-US" sz="1700" dirty="0"/>
          </a:p>
          <a:p>
            <a:pPr>
              <a:buNone/>
            </a:pPr>
            <a:endParaRPr lang="en-US" altLang="en-US" sz="1700" dirty="0"/>
          </a:p>
          <a:p>
            <a:endParaRPr lang="en-US" altLang="en-US" sz="1700" dirty="0"/>
          </a:p>
          <a:p>
            <a:r>
              <a:rPr lang="en-US" altLang="en-US" sz="1700" dirty="0"/>
              <a:t>What is the difference between the above, and a natural join? </a:t>
            </a:r>
          </a:p>
          <a:p>
            <a:endParaRPr lang="en-US" altLang="en-US" sz="1700" i="1" dirty="0"/>
          </a:p>
          <a:p>
            <a:r>
              <a:rPr lang="en-US" altLang="en-US" sz="2000" b="1" i="1" dirty="0"/>
              <a:t>course </a:t>
            </a:r>
            <a:r>
              <a:rPr lang="en-US" altLang="en-US" sz="2000" b="1" dirty="0">
                <a:solidFill>
                  <a:srgbClr val="000099"/>
                </a:solidFill>
              </a:rPr>
              <a:t>left outer join</a:t>
            </a:r>
            <a:r>
              <a:rPr lang="en-US" altLang="en-US" sz="2000" b="1" i="1" dirty="0">
                <a:solidFill>
                  <a:srgbClr val="000099"/>
                </a:solidFill>
              </a:rPr>
              <a:t> </a:t>
            </a:r>
            <a:r>
              <a:rPr lang="en-US" altLang="en-US" sz="2000" b="1" i="1" dirty="0" err="1"/>
              <a:t>prereq</a:t>
            </a:r>
            <a:r>
              <a:rPr lang="en-US" altLang="en-US" sz="2000" b="1" i="1" dirty="0"/>
              <a:t> </a:t>
            </a:r>
            <a:r>
              <a:rPr lang="en-US" altLang="en-US" sz="2000" b="1" dirty="0">
                <a:solidFill>
                  <a:srgbClr val="000099"/>
                </a:solidFill>
              </a:rPr>
              <a:t>on</a:t>
            </a:r>
            <a:r>
              <a:rPr lang="en-US" altLang="en-US" sz="2000" b="1" i="1" dirty="0"/>
              <a:t/>
            </a:r>
            <a:br>
              <a:rPr lang="en-US" altLang="en-US" sz="2000" b="1" i="1" dirty="0"/>
            </a:br>
            <a:r>
              <a:rPr lang="en-US" altLang="en-US" sz="2000" b="1" i="1" dirty="0" err="1"/>
              <a:t>course.course_id</a:t>
            </a:r>
            <a:r>
              <a:rPr lang="en-US" altLang="en-US" sz="2000" b="1" i="1" dirty="0"/>
              <a:t> = </a:t>
            </a:r>
            <a:r>
              <a:rPr lang="en-US" altLang="en-US" sz="2000" b="1" i="1" dirty="0" err="1"/>
              <a:t>prereq.course_id</a:t>
            </a:r>
            <a:endParaRPr lang="en-US" altLang="en-US" sz="2000" b="1" i="1" dirty="0"/>
          </a:p>
          <a:p>
            <a:pPr>
              <a:buNone/>
            </a:pPr>
            <a:r>
              <a:rPr lang="en-US" altLang="en-US" sz="1700" dirty="0"/>
              <a:t>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5600" y="1922405"/>
            <a:ext cx="5932678" cy="106753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5600" y="4818743"/>
            <a:ext cx="5991156" cy="1088571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Joined Relations – Examples</a:t>
            </a:r>
            <a:endParaRPr lang="en-US" sz="2800" dirty="0">
              <a:ea typeface="+mj-ea"/>
            </a:endParaRP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70533"/>
            <a:ext cx="7750843" cy="4876800"/>
          </a:xfrm>
        </p:spPr>
        <p:txBody>
          <a:bodyPr/>
          <a:lstStyle/>
          <a:p>
            <a:r>
              <a:rPr lang="en-US" altLang="en-US" sz="2000" i="1" dirty="0">
                <a:solidFill>
                  <a:srgbClr val="000099"/>
                </a:solidFill>
              </a:rPr>
              <a:t>course</a:t>
            </a:r>
            <a:r>
              <a:rPr lang="en-US" altLang="en-US" sz="2000" b="1" dirty="0"/>
              <a:t> natural right outer join </a:t>
            </a:r>
            <a:r>
              <a:rPr lang="en-US" altLang="en-US" sz="2000" i="1" dirty="0" err="1">
                <a:solidFill>
                  <a:srgbClr val="000099"/>
                </a:solidFill>
              </a:rPr>
              <a:t>prereq</a:t>
            </a:r>
            <a:endParaRPr lang="en-US" altLang="en-US" sz="2000" b="1" dirty="0">
              <a:solidFill>
                <a:srgbClr val="000099"/>
              </a:solidFill>
            </a:endParaRPr>
          </a:p>
          <a:p>
            <a:pPr marL="0" indent="0">
              <a:buNone/>
            </a:pPr>
            <a:endParaRPr lang="en-US" altLang="en-US" sz="1700" dirty="0"/>
          </a:p>
          <a:p>
            <a:endParaRPr lang="en-US" altLang="en-US" sz="1700" dirty="0"/>
          </a:p>
          <a:p>
            <a:endParaRPr lang="en-US" altLang="en-US" sz="1700" dirty="0"/>
          </a:p>
          <a:p>
            <a:pPr>
              <a:buNone/>
            </a:pPr>
            <a:endParaRPr lang="en-US" altLang="en-US" sz="1700" dirty="0"/>
          </a:p>
          <a:p>
            <a:pPr>
              <a:buNone/>
            </a:pPr>
            <a:endParaRPr lang="en-US" altLang="en-US" sz="1700" dirty="0"/>
          </a:p>
          <a:p>
            <a:r>
              <a:rPr lang="en-US" altLang="en-US" sz="2000" i="1" dirty="0">
                <a:solidFill>
                  <a:srgbClr val="000099"/>
                </a:solidFill>
              </a:rPr>
              <a:t>course</a:t>
            </a:r>
            <a:r>
              <a:rPr lang="en-US" altLang="en-US" sz="2000" b="1" dirty="0"/>
              <a:t> full outer join </a:t>
            </a:r>
            <a:r>
              <a:rPr lang="en-US" altLang="en-US" sz="2000" i="1" dirty="0" err="1">
                <a:solidFill>
                  <a:srgbClr val="000099"/>
                </a:solidFill>
              </a:rPr>
              <a:t>prereq</a:t>
            </a:r>
            <a:r>
              <a:rPr lang="en-US" altLang="en-US" sz="2000" i="1" dirty="0"/>
              <a:t> </a:t>
            </a:r>
            <a:r>
              <a:rPr lang="en-US" altLang="en-US" sz="2000" b="1" dirty="0"/>
              <a:t>using </a:t>
            </a:r>
            <a:r>
              <a:rPr lang="en-US" altLang="en-US" sz="2000" dirty="0"/>
              <a:t>(</a:t>
            </a:r>
            <a:r>
              <a:rPr lang="en-US" altLang="en-US" sz="2000" i="1" dirty="0" err="1"/>
              <a:t>course_id</a:t>
            </a:r>
            <a:r>
              <a:rPr lang="en-US" altLang="en-US" sz="2000" dirty="0"/>
              <a:t>)</a:t>
            </a:r>
          </a:p>
          <a:p>
            <a:pPr marL="0" indent="0">
              <a:buNone/>
            </a:pPr>
            <a:endParaRPr lang="en-US" altLang="en-US" sz="17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3943" y="1656430"/>
            <a:ext cx="5762171" cy="114040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3943" y="3904343"/>
            <a:ext cx="5762171" cy="1524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7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800" dirty="0">
                <a:ea typeface="+mj-ea"/>
              </a:rPr>
              <a:t>Views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06488"/>
            <a:ext cx="7583170" cy="4937125"/>
          </a:xfrm>
        </p:spPr>
        <p:txBody>
          <a:bodyPr/>
          <a:lstStyle/>
          <a:p>
            <a:pPr algn="just">
              <a:tabLst>
                <a:tab pos="3205163" algn="ctr"/>
              </a:tabLst>
            </a:pPr>
            <a:r>
              <a:rPr lang="en-US" altLang="en-US" sz="1800" dirty="0"/>
              <a:t>In some cases, it is not desirable for all users to see the entire logical model (that is, all the actual relations stored in the database.)</a:t>
            </a:r>
          </a:p>
          <a:p>
            <a:pPr algn="just">
              <a:buFont typeface="Monotype Sorts" charset="2"/>
              <a:buNone/>
              <a:tabLst>
                <a:tab pos="3205163" algn="ctr"/>
              </a:tabLst>
            </a:pPr>
            <a:endParaRPr lang="en-US" altLang="en-US" sz="1800" dirty="0"/>
          </a:p>
          <a:p>
            <a:pPr>
              <a:tabLst>
                <a:tab pos="3205163" algn="ctr"/>
              </a:tabLst>
            </a:pPr>
            <a:r>
              <a:rPr lang="en-US" altLang="en-US" sz="1800" dirty="0"/>
              <a:t>Consider a person who needs to know an instructors name and department, but not the salary.  This person should see a relation described, in SQL, by </a:t>
            </a:r>
            <a:br>
              <a:rPr lang="en-US" altLang="en-US" sz="1800" dirty="0"/>
            </a:br>
            <a:r>
              <a:rPr lang="en-US" altLang="en-US" sz="1800" dirty="0"/>
              <a:t>		</a:t>
            </a:r>
            <a:r>
              <a:rPr kumimoji="0" lang="en-US" altLang="en-US" sz="1800" b="1" dirty="0"/>
              <a:t/>
            </a:r>
            <a:br>
              <a:rPr kumimoji="0" lang="en-US" altLang="en-US" sz="1800" b="1" dirty="0"/>
            </a:br>
            <a:r>
              <a:rPr kumimoji="0" lang="en-US" altLang="en-US" sz="1800" b="1" dirty="0"/>
              <a:t>             select </a:t>
            </a:r>
            <a:r>
              <a:rPr kumimoji="0" lang="en-US" altLang="en-US" sz="1800" i="1" dirty="0"/>
              <a:t>ID</a:t>
            </a:r>
            <a:r>
              <a:rPr kumimoji="0" lang="en-US" altLang="en-US" sz="1800" dirty="0"/>
              <a:t>, </a:t>
            </a:r>
            <a:r>
              <a:rPr kumimoji="0" lang="en-US" altLang="en-US" sz="1800" i="1" dirty="0"/>
              <a:t>name</a:t>
            </a:r>
            <a:r>
              <a:rPr kumimoji="0" lang="en-US" altLang="en-US" sz="1800" dirty="0"/>
              <a:t>, </a:t>
            </a:r>
            <a:r>
              <a:rPr kumimoji="0" lang="en-US" altLang="en-US" sz="1800" i="1" dirty="0" err="1"/>
              <a:t>dept_name</a:t>
            </a:r>
            <a:r>
              <a:rPr kumimoji="0" lang="en-US" altLang="en-US" sz="1800" i="1" dirty="0"/>
              <a:t/>
            </a:r>
            <a:br>
              <a:rPr kumimoji="0" lang="en-US" altLang="en-US" sz="1800" i="1" dirty="0"/>
            </a:br>
            <a:r>
              <a:rPr kumimoji="0" lang="en-US" altLang="en-US" sz="1800" i="1" dirty="0"/>
              <a:t>             </a:t>
            </a:r>
            <a:r>
              <a:rPr kumimoji="0" lang="en-US" altLang="en-US" sz="1800" b="1" dirty="0"/>
              <a:t>from </a:t>
            </a:r>
            <a:r>
              <a:rPr kumimoji="0" lang="en-US" altLang="en-US" sz="1800" i="1" dirty="0"/>
              <a:t>instructor</a:t>
            </a:r>
            <a:endParaRPr kumimoji="0" lang="en-US" altLang="en-US" sz="1800" dirty="0"/>
          </a:p>
          <a:p>
            <a:pPr>
              <a:buFont typeface="Monotype Sorts" charset="2"/>
              <a:buNone/>
              <a:tabLst>
                <a:tab pos="3205163" algn="ctr"/>
              </a:tabLst>
            </a:pPr>
            <a:endParaRPr lang="en-US" altLang="en-US" sz="1800" dirty="0">
              <a:sym typeface="Symbol" pitchFamily="18" charset="2"/>
            </a:endParaRPr>
          </a:p>
          <a:p>
            <a:pPr algn="just">
              <a:tabLst>
                <a:tab pos="3205163" algn="ctr"/>
              </a:tabLst>
            </a:pPr>
            <a:r>
              <a:rPr lang="en-US" altLang="en-US" sz="1800" dirty="0"/>
              <a:t>A </a:t>
            </a:r>
            <a:r>
              <a:rPr lang="en-US" altLang="en-US" sz="1800" b="1" dirty="0">
                <a:solidFill>
                  <a:srgbClr val="000099"/>
                </a:solidFill>
              </a:rPr>
              <a:t>view</a:t>
            </a:r>
            <a:r>
              <a:rPr lang="en-US" altLang="en-US" sz="1800" dirty="0"/>
              <a:t> provides a mechanism to hide certain data from the view of certain users. </a:t>
            </a:r>
          </a:p>
          <a:p>
            <a:pPr algn="just">
              <a:buFont typeface="Monotype Sorts" charset="2"/>
              <a:buNone/>
              <a:tabLst>
                <a:tab pos="3205163" algn="ctr"/>
              </a:tabLst>
            </a:pPr>
            <a:endParaRPr lang="en-US" altLang="en-US" sz="1800" dirty="0"/>
          </a:p>
          <a:p>
            <a:pPr algn="just">
              <a:tabLst>
                <a:tab pos="3205163" algn="ctr"/>
              </a:tabLst>
            </a:pPr>
            <a:r>
              <a:rPr lang="en-US" altLang="en-US" sz="1800" dirty="0">
                <a:solidFill>
                  <a:srgbClr val="000099"/>
                </a:solidFill>
              </a:rPr>
              <a:t>Any relation that is not of the conceptual model but is made visible to a user as a </a:t>
            </a:r>
            <a:r>
              <a:rPr lang="en-US" altLang="en-US" sz="1800" dirty="0"/>
              <a:t>“</a:t>
            </a:r>
            <a:r>
              <a:rPr lang="en-US" altLang="en-US" sz="1800" dirty="0">
                <a:solidFill>
                  <a:srgbClr val="FF0000"/>
                </a:solidFill>
              </a:rPr>
              <a:t>virtual relation</a:t>
            </a:r>
            <a:r>
              <a:rPr lang="en-US" altLang="en-US" sz="1800" dirty="0"/>
              <a:t>” is called a </a:t>
            </a:r>
            <a:r>
              <a:rPr lang="en-US" altLang="en-US" sz="1800" b="1" dirty="0">
                <a:solidFill>
                  <a:srgbClr val="000099"/>
                </a:solidFill>
              </a:rPr>
              <a:t>view</a:t>
            </a:r>
            <a:r>
              <a:rPr lang="en-US" altLang="en-US" sz="1800" dirty="0"/>
              <a:t>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826" name="Rectangle 2"/>
          <p:cNvSpPr>
            <a:spLocks noGrp="1" noChangeArrowheads="1"/>
          </p:cNvSpPr>
          <p:nvPr>
            <p:ph type="title"/>
          </p:nvPr>
        </p:nvSpPr>
        <p:spPr>
          <a:xfrm>
            <a:off x="812800" y="168275"/>
            <a:ext cx="7352030" cy="609600"/>
          </a:xfrm>
        </p:spPr>
        <p:txBody>
          <a:bodyPr/>
          <a:lstStyle/>
          <a:p>
            <a:pPr>
              <a:defRPr/>
            </a:pPr>
            <a:r>
              <a:rPr lang="en-US" sz="2800" dirty="0">
                <a:ea typeface="+mj-ea"/>
              </a:rPr>
              <a:t>View Definition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69404"/>
            <a:ext cx="7925707" cy="5178995"/>
          </a:xfrm>
        </p:spPr>
        <p:txBody>
          <a:bodyPr/>
          <a:lstStyle/>
          <a:p>
            <a:pPr algn="just">
              <a:tabLst>
                <a:tab pos="3432175" algn="ctr"/>
              </a:tabLst>
            </a:pPr>
            <a:r>
              <a:rPr lang="en-US" altLang="en-US" sz="2000" dirty="0"/>
              <a:t>A view is defined using the </a:t>
            </a:r>
            <a:r>
              <a:rPr lang="en-US" altLang="en-US" sz="2000" b="1" dirty="0"/>
              <a:t>create view </a:t>
            </a:r>
            <a:r>
              <a:rPr lang="en-US" altLang="en-US" sz="2000" dirty="0"/>
              <a:t>statement which has the form</a:t>
            </a:r>
            <a:endParaRPr lang="en-US" altLang="en-US" dirty="0"/>
          </a:p>
          <a:p>
            <a:pPr>
              <a:lnSpc>
                <a:spcPct val="40000"/>
              </a:lnSpc>
              <a:tabLst>
                <a:tab pos="3432175" algn="ctr"/>
              </a:tabLst>
            </a:pPr>
            <a:endParaRPr lang="en-US" altLang="en-US" dirty="0"/>
          </a:p>
          <a:p>
            <a:pPr>
              <a:lnSpc>
                <a:spcPct val="40000"/>
              </a:lnSpc>
              <a:buFont typeface="Monotype Sorts" charset="2"/>
              <a:buNone/>
              <a:tabLst>
                <a:tab pos="3432175" algn="ctr"/>
              </a:tabLst>
            </a:pPr>
            <a:r>
              <a:rPr lang="en-US" altLang="en-US" dirty="0"/>
              <a:t>		</a:t>
            </a:r>
            <a:r>
              <a:rPr lang="en-US" altLang="en-US" sz="2000" b="1" dirty="0">
                <a:solidFill>
                  <a:srgbClr val="000099"/>
                </a:solidFill>
              </a:rPr>
              <a:t>create </a:t>
            </a:r>
            <a:r>
              <a:rPr lang="en-US" altLang="en-US" sz="2000" b="1" dirty="0" smtClean="0">
                <a:solidFill>
                  <a:srgbClr val="000099"/>
                </a:solidFill>
              </a:rPr>
              <a:t>view  </a:t>
            </a:r>
            <a:r>
              <a:rPr lang="en-US" altLang="en-US" sz="2000" b="1" i="1" dirty="0" smtClean="0">
                <a:solidFill>
                  <a:srgbClr val="C00000"/>
                </a:solidFill>
              </a:rPr>
              <a:t>v </a:t>
            </a:r>
            <a:r>
              <a:rPr lang="en-US" altLang="en-US" sz="2000" i="1" dirty="0" smtClean="0">
                <a:solidFill>
                  <a:srgbClr val="000099"/>
                </a:solidFill>
              </a:rPr>
              <a:t> </a:t>
            </a:r>
            <a:r>
              <a:rPr lang="en-US" altLang="en-US" sz="2000" b="1" dirty="0">
                <a:solidFill>
                  <a:srgbClr val="000099"/>
                </a:solidFill>
              </a:rPr>
              <a:t>as </a:t>
            </a:r>
            <a:r>
              <a:rPr lang="en-US" altLang="en-US" sz="2000" i="1" dirty="0">
                <a:solidFill>
                  <a:srgbClr val="000099"/>
                </a:solidFill>
              </a:rPr>
              <a:t>&lt; </a:t>
            </a:r>
            <a:r>
              <a:rPr lang="en-US" altLang="en-US" sz="2000" dirty="0">
                <a:solidFill>
                  <a:srgbClr val="000099"/>
                </a:solidFill>
              </a:rPr>
              <a:t>query expression &gt;</a:t>
            </a:r>
            <a:endParaRPr lang="en-US" altLang="en-US" dirty="0">
              <a:solidFill>
                <a:srgbClr val="000099"/>
              </a:solidFill>
            </a:endParaRPr>
          </a:p>
          <a:p>
            <a:pPr>
              <a:lnSpc>
                <a:spcPct val="20000"/>
              </a:lnSpc>
              <a:buFont typeface="Monotype Sorts" charset="2"/>
              <a:buNone/>
              <a:tabLst>
                <a:tab pos="3432175" algn="ctr"/>
              </a:tabLst>
            </a:pPr>
            <a:endParaRPr lang="en-US" altLang="en-US" dirty="0"/>
          </a:p>
          <a:p>
            <a:pPr>
              <a:buFont typeface="Monotype Sorts" charset="2"/>
              <a:buNone/>
              <a:tabLst>
                <a:tab pos="3432175" algn="ctr"/>
              </a:tabLst>
            </a:pPr>
            <a:r>
              <a:rPr lang="en-US" altLang="en-US" dirty="0"/>
              <a:t>	</a:t>
            </a:r>
            <a:r>
              <a:rPr lang="en-US" altLang="en-US" sz="2000" dirty="0">
                <a:solidFill>
                  <a:srgbClr val="C00000"/>
                </a:solidFill>
              </a:rPr>
              <a:t>where </a:t>
            </a:r>
            <a:r>
              <a:rPr lang="en-US" altLang="en-US" sz="2000" b="1" dirty="0"/>
              <a:t>&lt;query expression&gt; </a:t>
            </a:r>
            <a:r>
              <a:rPr lang="en-US" altLang="en-US" sz="2000" dirty="0">
                <a:solidFill>
                  <a:srgbClr val="C00000"/>
                </a:solidFill>
              </a:rPr>
              <a:t>is any legal SQL expression.  </a:t>
            </a:r>
          </a:p>
          <a:p>
            <a:pPr>
              <a:buFont typeface="Monotype Sorts" charset="2"/>
              <a:buNone/>
              <a:tabLst>
                <a:tab pos="3432175" algn="ctr"/>
              </a:tabLst>
            </a:pPr>
            <a:r>
              <a:rPr lang="en-US" altLang="en-US" sz="2000" dirty="0">
                <a:solidFill>
                  <a:srgbClr val="000099"/>
                </a:solidFill>
              </a:rPr>
              <a:t>	The </a:t>
            </a:r>
            <a:r>
              <a:rPr lang="en-US" altLang="en-US" sz="2000" dirty="0">
                <a:solidFill>
                  <a:srgbClr val="C00000"/>
                </a:solidFill>
              </a:rPr>
              <a:t>view name </a:t>
            </a:r>
            <a:r>
              <a:rPr lang="en-US" altLang="en-US" sz="2000" dirty="0">
                <a:solidFill>
                  <a:srgbClr val="000099"/>
                </a:solidFill>
              </a:rPr>
              <a:t>is represented by </a:t>
            </a:r>
            <a:r>
              <a:rPr lang="en-US" altLang="en-US" sz="2000" i="1" dirty="0">
                <a:solidFill>
                  <a:srgbClr val="C00000"/>
                </a:solidFill>
              </a:rPr>
              <a:t>v.</a:t>
            </a:r>
          </a:p>
          <a:p>
            <a:pPr>
              <a:buFont typeface="Monotype Sorts" charset="2"/>
              <a:buNone/>
              <a:tabLst>
                <a:tab pos="3432175" algn="ctr"/>
              </a:tabLst>
            </a:pPr>
            <a:endParaRPr lang="en-US" altLang="en-US" dirty="0"/>
          </a:p>
          <a:p>
            <a:pPr algn="just">
              <a:tabLst>
                <a:tab pos="3432175" algn="ctr"/>
              </a:tabLst>
            </a:pPr>
            <a:r>
              <a:rPr lang="en-US" altLang="en-US" sz="2000" dirty="0"/>
              <a:t>Once a view is defined, the view name can be used to refer to the virtual relation that the view generates.</a:t>
            </a:r>
          </a:p>
          <a:p>
            <a:pPr algn="just">
              <a:buFont typeface="Monotype Sorts" charset="2"/>
              <a:buNone/>
              <a:tabLst>
                <a:tab pos="3432175" algn="ctr"/>
              </a:tabLst>
            </a:pPr>
            <a:endParaRPr lang="en-US" altLang="en-US" dirty="0"/>
          </a:p>
          <a:p>
            <a:pPr algn="just">
              <a:tabLst>
                <a:tab pos="3432175" algn="ctr"/>
              </a:tabLst>
            </a:pPr>
            <a:r>
              <a:rPr lang="en-US" altLang="en-US" sz="2000" dirty="0"/>
              <a:t>View definition is not the same as creating a new relation by evaluating the query expression</a:t>
            </a:r>
            <a:r>
              <a:rPr lang="en-US" altLang="en-US" dirty="0"/>
              <a:t>  </a:t>
            </a:r>
          </a:p>
          <a:p>
            <a:pPr lvl="1">
              <a:tabLst>
                <a:tab pos="3432175" algn="ctr"/>
              </a:tabLst>
            </a:pPr>
            <a:r>
              <a:rPr lang="en-US" altLang="en-US" sz="2000" dirty="0"/>
              <a:t>Rather, </a:t>
            </a:r>
            <a:r>
              <a:rPr lang="en-US" altLang="en-US" sz="2000" dirty="0">
                <a:solidFill>
                  <a:srgbClr val="000099"/>
                </a:solidFill>
              </a:rPr>
              <a:t>a view definition causes the saving of an expression; </a:t>
            </a:r>
            <a:r>
              <a:rPr lang="en-US" altLang="en-US" sz="2000" dirty="0">
                <a:solidFill>
                  <a:srgbClr val="C00000"/>
                </a:solidFill>
              </a:rPr>
              <a:t>the expression </a:t>
            </a:r>
            <a:r>
              <a:rPr lang="en-US" altLang="en-US" sz="2000" dirty="0"/>
              <a:t>is </a:t>
            </a:r>
            <a:r>
              <a:rPr lang="en-US" altLang="en-US" sz="2000" dirty="0">
                <a:solidFill>
                  <a:srgbClr val="C00000"/>
                </a:solidFill>
              </a:rPr>
              <a:t>substituted into queries which use the view</a:t>
            </a:r>
            <a:r>
              <a:rPr lang="en-US" altLang="en-US" sz="2000" dirty="0"/>
              <a:t>.</a:t>
            </a:r>
            <a:endParaRPr lang="en-US" alt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800" dirty="0">
                <a:ea typeface="+mj-ea"/>
              </a:rPr>
              <a:t>View Definition and Use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06489"/>
            <a:ext cx="7550150" cy="4806632"/>
          </a:xfrm>
        </p:spPr>
        <p:txBody>
          <a:bodyPr/>
          <a:lstStyle/>
          <a:p>
            <a:pPr>
              <a:tabLst>
                <a:tab pos="1370013" algn="l"/>
              </a:tabLst>
            </a:pPr>
            <a:r>
              <a:rPr lang="en-US" altLang="en-US" sz="1800" dirty="0">
                <a:solidFill>
                  <a:srgbClr val="000099"/>
                </a:solidFill>
              </a:rPr>
              <a:t>A view of instructors without their salary</a:t>
            </a:r>
            <a:r>
              <a:rPr lang="en-US" altLang="en-US" sz="1800" dirty="0"/>
              <a:t/>
            </a:r>
            <a:br>
              <a:rPr lang="en-US" altLang="en-US" sz="1800" dirty="0"/>
            </a:br>
            <a:r>
              <a:rPr lang="en-US" altLang="en-US" sz="2000" dirty="0"/>
              <a:t> </a:t>
            </a:r>
            <a:r>
              <a:rPr kumimoji="0" lang="en-US" altLang="en-US" sz="1800" b="1" dirty="0"/>
              <a:t>create view </a:t>
            </a:r>
            <a:r>
              <a:rPr kumimoji="0" lang="en-US" altLang="en-US" sz="1800" i="1" dirty="0">
                <a:solidFill>
                  <a:srgbClr val="FF0000"/>
                </a:solidFill>
              </a:rPr>
              <a:t>faculty</a:t>
            </a:r>
            <a:r>
              <a:rPr kumimoji="0" lang="en-US" altLang="en-US" sz="1800" i="1" dirty="0"/>
              <a:t> </a:t>
            </a:r>
            <a:r>
              <a:rPr kumimoji="0" lang="en-US" altLang="en-US" sz="1800" b="1" dirty="0"/>
              <a:t>as</a:t>
            </a:r>
            <a:r>
              <a:rPr lang="en-US" altLang="en-US" sz="1800" b="1" dirty="0"/>
              <a:t> </a:t>
            </a:r>
            <a:br>
              <a:rPr lang="en-US" altLang="en-US" sz="1800" b="1" dirty="0"/>
            </a:br>
            <a:r>
              <a:rPr lang="en-US" altLang="en-US" sz="1800" b="1" dirty="0"/>
              <a:t>    </a:t>
            </a:r>
            <a:r>
              <a:rPr kumimoji="0" lang="en-US" altLang="en-US" sz="1800" b="1" dirty="0"/>
              <a:t>select </a:t>
            </a:r>
            <a:r>
              <a:rPr kumimoji="0" lang="en-US" altLang="en-US" sz="1800" i="1" dirty="0"/>
              <a:t>ID</a:t>
            </a:r>
            <a:r>
              <a:rPr kumimoji="0" lang="en-US" altLang="en-US" sz="1800" dirty="0"/>
              <a:t>, </a:t>
            </a:r>
            <a:r>
              <a:rPr kumimoji="0" lang="en-US" altLang="en-US" sz="1800" i="1" dirty="0"/>
              <a:t>name</a:t>
            </a:r>
            <a:r>
              <a:rPr kumimoji="0" lang="en-US" altLang="en-US" sz="1800" dirty="0"/>
              <a:t>, </a:t>
            </a:r>
            <a:r>
              <a:rPr kumimoji="0" lang="en-US" altLang="en-US" sz="1800" i="1" dirty="0" err="1"/>
              <a:t>dept_name</a:t>
            </a:r>
            <a:r>
              <a:rPr kumimoji="0" lang="en-US" altLang="en-US" sz="1800" i="1" dirty="0"/>
              <a:t/>
            </a:r>
            <a:br>
              <a:rPr kumimoji="0" lang="en-US" altLang="en-US" sz="1800" i="1" dirty="0"/>
            </a:br>
            <a:r>
              <a:rPr kumimoji="0" lang="en-US" altLang="en-US" sz="1800" i="1" dirty="0"/>
              <a:t>    </a:t>
            </a:r>
            <a:r>
              <a:rPr kumimoji="0" lang="en-US" altLang="en-US" sz="1800" b="1" dirty="0"/>
              <a:t>from </a:t>
            </a:r>
            <a:r>
              <a:rPr kumimoji="0" lang="en-US" altLang="en-US" sz="1800" i="1" dirty="0"/>
              <a:t>instructor</a:t>
            </a:r>
          </a:p>
          <a:p>
            <a:pPr>
              <a:buFont typeface="Monotype Sorts" charset="2"/>
              <a:buNone/>
              <a:tabLst>
                <a:tab pos="1370013" algn="l"/>
              </a:tabLst>
            </a:pPr>
            <a:endParaRPr kumimoji="0" lang="en-US" altLang="en-US" sz="1800" dirty="0"/>
          </a:p>
          <a:p>
            <a:pPr>
              <a:tabLst>
                <a:tab pos="1370013" algn="l"/>
              </a:tabLst>
            </a:pPr>
            <a:r>
              <a:rPr lang="en-US" altLang="en-US" sz="1800" dirty="0">
                <a:solidFill>
                  <a:srgbClr val="000099"/>
                </a:solidFill>
              </a:rPr>
              <a:t>Find all instructors in the Biology department</a:t>
            </a:r>
            <a:r>
              <a:rPr lang="en-US" altLang="en-US" sz="1800" dirty="0"/>
              <a:t/>
            </a:r>
            <a:br>
              <a:rPr lang="en-US" altLang="en-US" sz="1800" dirty="0"/>
            </a:br>
            <a:r>
              <a:rPr lang="en-US" altLang="en-US" sz="1800" dirty="0"/>
              <a:t> </a:t>
            </a:r>
            <a:r>
              <a:rPr lang="en-US" altLang="en-US" sz="1800" b="1" dirty="0"/>
              <a:t>select </a:t>
            </a:r>
            <a:r>
              <a:rPr lang="en-US" altLang="en-US" sz="1800" i="1" dirty="0"/>
              <a:t>name</a:t>
            </a:r>
            <a:br>
              <a:rPr lang="en-US" altLang="en-US" sz="1800" i="1" dirty="0"/>
            </a:br>
            <a:r>
              <a:rPr lang="en-US" altLang="en-US" sz="1800" i="1" dirty="0"/>
              <a:t> </a:t>
            </a:r>
            <a:r>
              <a:rPr lang="en-US" altLang="en-US" sz="1800" b="1" dirty="0"/>
              <a:t>from</a:t>
            </a:r>
            <a:r>
              <a:rPr lang="en-US" altLang="en-US" sz="1800" b="1" dirty="0">
                <a:solidFill>
                  <a:srgbClr val="FF0000"/>
                </a:solidFill>
              </a:rPr>
              <a:t> </a:t>
            </a:r>
            <a:r>
              <a:rPr lang="en-US" altLang="en-US" sz="1800" i="1" dirty="0">
                <a:solidFill>
                  <a:srgbClr val="FF0000"/>
                </a:solidFill>
              </a:rPr>
              <a:t>faculty</a:t>
            </a:r>
            <a:r>
              <a:rPr lang="en-US" altLang="en-US" sz="1800" i="1" dirty="0"/>
              <a:t/>
            </a:r>
            <a:br>
              <a:rPr lang="en-US" altLang="en-US" sz="1800" i="1" dirty="0"/>
            </a:br>
            <a:r>
              <a:rPr lang="en-US" altLang="en-US" sz="1800" i="1" dirty="0"/>
              <a:t> </a:t>
            </a:r>
            <a:r>
              <a:rPr lang="en-US" altLang="en-US" sz="1800" b="1" dirty="0"/>
              <a:t>where </a:t>
            </a:r>
            <a:r>
              <a:rPr lang="en-US" altLang="en-US" sz="1800" i="1" dirty="0" err="1"/>
              <a:t>dept_name</a:t>
            </a:r>
            <a:r>
              <a:rPr lang="en-US" altLang="en-US" sz="1800" i="1" dirty="0"/>
              <a:t> = </a:t>
            </a:r>
            <a:r>
              <a:rPr lang="en-US" altLang="en-US" sz="1800" dirty="0"/>
              <a:t>‘Biology’</a:t>
            </a:r>
          </a:p>
          <a:p>
            <a:pPr>
              <a:buFont typeface="Monotype Sorts" charset="2"/>
              <a:buNone/>
              <a:tabLst>
                <a:tab pos="1370013" algn="l"/>
              </a:tabLst>
            </a:pPr>
            <a:endParaRPr lang="en-US" altLang="en-US" sz="1800" dirty="0"/>
          </a:p>
          <a:p>
            <a:pPr>
              <a:tabLst>
                <a:tab pos="1370013" algn="l"/>
              </a:tabLst>
            </a:pPr>
            <a:r>
              <a:rPr lang="en-US" altLang="en-US" sz="1800" dirty="0">
                <a:solidFill>
                  <a:srgbClr val="000099"/>
                </a:solidFill>
              </a:rPr>
              <a:t>Create a view of department salary totals</a:t>
            </a:r>
            <a:r>
              <a:rPr lang="en-US" altLang="en-US" sz="1800" dirty="0"/>
              <a:t/>
            </a:r>
            <a:br>
              <a:rPr lang="en-US" altLang="en-US" sz="1800" dirty="0"/>
            </a:br>
            <a:r>
              <a:rPr lang="en-US" altLang="en-US" sz="1800" dirty="0"/>
              <a:t>  </a:t>
            </a:r>
            <a:r>
              <a:rPr lang="en-US" altLang="en-US" sz="1800" b="1" dirty="0"/>
              <a:t>create view </a:t>
            </a:r>
            <a:r>
              <a:rPr lang="en-US" altLang="en-US" sz="1800" i="1" dirty="0" err="1">
                <a:solidFill>
                  <a:srgbClr val="FF0000"/>
                </a:solidFill>
              </a:rPr>
              <a:t>departments_total_salary</a:t>
            </a:r>
            <a:r>
              <a:rPr lang="en-US" altLang="en-US" sz="1800" dirty="0">
                <a:solidFill>
                  <a:srgbClr val="FF0000"/>
                </a:solidFill>
              </a:rPr>
              <a:t>(</a:t>
            </a:r>
            <a:r>
              <a:rPr lang="en-US" altLang="en-US" sz="1800" i="1" dirty="0" err="1"/>
              <a:t>dept_name</a:t>
            </a:r>
            <a:r>
              <a:rPr lang="en-US" altLang="en-US" sz="1800" dirty="0"/>
              <a:t>, </a:t>
            </a:r>
            <a:r>
              <a:rPr lang="en-US" altLang="en-US" sz="1800" i="1" dirty="0" err="1"/>
              <a:t>total_salary</a:t>
            </a:r>
            <a:r>
              <a:rPr lang="en-US" altLang="en-US" sz="1800" dirty="0"/>
              <a:t>) </a:t>
            </a:r>
            <a:r>
              <a:rPr lang="en-US" altLang="en-US" sz="1800" b="1" dirty="0"/>
              <a:t>as</a:t>
            </a:r>
            <a:br>
              <a:rPr lang="en-US" altLang="en-US" sz="1800" b="1" dirty="0"/>
            </a:br>
            <a:r>
              <a:rPr lang="en-US" altLang="en-US" sz="1800" b="1" dirty="0"/>
              <a:t>       select </a:t>
            </a:r>
            <a:r>
              <a:rPr lang="en-US" altLang="en-US" sz="1800" i="1" dirty="0" err="1"/>
              <a:t>dept_name</a:t>
            </a:r>
            <a:r>
              <a:rPr lang="en-US" altLang="en-US" sz="1800" dirty="0"/>
              <a:t>, </a:t>
            </a:r>
            <a:r>
              <a:rPr lang="en-US" altLang="en-US" sz="1800" b="1" dirty="0"/>
              <a:t>sum </a:t>
            </a:r>
            <a:r>
              <a:rPr lang="en-US" altLang="en-US" sz="1800" dirty="0"/>
              <a:t>(</a:t>
            </a:r>
            <a:r>
              <a:rPr lang="en-US" altLang="en-US" sz="1800" i="1" dirty="0"/>
              <a:t>salary</a:t>
            </a:r>
            <a:r>
              <a:rPr lang="en-US" altLang="en-US" sz="1800" dirty="0"/>
              <a:t>)</a:t>
            </a:r>
            <a:br>
              <a:rPr lang="en-US" altLang="en-US" sz="1800" dirty="0"/>
            </a:br>
            <a:r>
              <a:rPr lang="en-US" altLang="en-US" sz="1800" dirty="0"/>
              <a:t>       </a:t>
            </a:r>
            <a:r>
              <a:rPr lang="en-US" altLang="en-US" sz="1800" b="1" dirty="0"/>
              <a:t>from </a:t>
            </a:r>
            <a:r>
              <a:rPr lang="en-US" altLang="en-US" sz="1800" i="1" dirty="0"/>
              <a:t>instructor</a:t>
            </a:r>
            <a:br>
              <a:rPr lang="en-US" altLang="en-US" sz="1800" i="1" dirty="0"/>
            </a:br>
            <a:r>
              <a:rPr lang="en-US" altLang="en-US" sz="1800" i="1" dirty="0"/>
              <a:t>      </a:t>
            </a:r>
            <a:r>
              <a:rPr lang="en-US" altLang="en-US" sz="1800" b="1" dirty="0"/>
              <a:t>group by </a:t>
            </a:r>
            <a:r>
              <a:rPr lang="en-US" altLang="en-US" sz="1800" i="1" dirty="0" err="1"/>
              <a:t>dept_name</a:t>
            </a:r>
            <a:r>
              <a:rPr lang="en-US" altLang="en-US" sz="1800" dirty="0"/>
              <a:t>;</a:t>
            </a:r>
            <a:endParaRPr lang="en-US" altLang="en-US" sz="2000" dirty="0"/>
          </a:p>
          <a:p>
            <a:pPr>
              <a:tabLst>
                <a:tab pos="1370013" algn="l"/>
              </a:tabLst>
            </a:pPr>
            <a:endParaRPr lang="en-US" altLang="en-US" sz="2000" dirty="0"/>
          </a:p>
          <a:p>
            <a:pPr>
              <a:buNone/>
              <a:tabLst>
                <a:tab pos="1370013" algn="l"/>
              </a:tabLst>
            </a:pPr>
            <a:endParaRPr lang="en-US" altLang="en-US" sz="2400" dirty="0"/>
          </a:p>
          <a:p>
            <a:pPr>
              <a:tabLst>
                <a:tab pos="1370013" algn="l"/>
              </a:tabLst>
            </a:pPr>
            <a:endParaRPr lang="en-US" altLang="en-US" sz="2000" dirty="0"/>
          </a:p>
          <a:p>
            <a:pPr>
              <a:tabLst>
                <a:tab pos="1370013" algn="l"/>
              </a:tabLst>
            </a:pPr>
            <a:endParaRPr lang="en-US" altLang="en-US" sz="2000" dirty="0"/>
          </a:p>
        </p:txBody>
      </p:sp>
      <p:sp>
        <p:nvSpPr>
          <p:cNvPr id="335877" name="Text Box 5"/>
          <p:cNvSpPr txBox="1">
            <a:spLocks noChangeArrowheads="1"/>
          </p:cNvSpPr>
          <p:nvPr/>
        </p:nvSpPr>
        <p:spPr bwMode="auto">
          <a:xfrm>
            <a:off x="1060450" y="5232400"/>
            <a:ext cx="7550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buClr>
                <a:schemeClr val="tx2"/>
              </a:buClr>
              <a:buSzPct val="90000"/>
              <a:buFont typeface="Monotype Sorts" charset="2"/>
              <a:buNone/>
            </a:pPr>
            <a:r>
              <a:rPr kumimoji="1" lang="en-US" altLang="en-US" sz="2400" b="1"/>
              <a:t>	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5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5877" grpId="0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800" dirty="0">
                <a:ea typeface="+mj-ea"/>
              </a:rPr>
              <a:t>Views Defined Using Other Views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06488"/>
            <a:ext cx="7683191" cy="3380168"/>
          </a:xfrm>
        </p:spPr>
        <p:txBody>
          <a:bodyPr/>
          <a:lstStyle/>
          <a:p>
            <a:pPr algn="just"/>
            <a:r>
              <a:rPr lang="en-US" altLang="en-US" sz="1700" dirty="0"/>
              <a:t>One view may be used in the expression defining another view </a:t>
            </a:r>
          </a:p>
          <a:p>
            <a:pPr algn="just"/>
            <a:endParaRPr lang="en-US" altLang="en-US" sz="1700" dirty="0"/>
          </a:p>
          <a:p>
            <a:pPr algn="just"/>
            <a:r>
              <a:rPr lang="en-US" altLang="en-US" sz="1700" dirty="0"/>
              <a:t>A view relation </a:t>
            </a:r>
            <a:r>
              <a:rPr lang="en-US" altLang="en-US" sz="1700" i="1" dirty="0"/>
              <a:t>v</a:t>
            </a:r>
            <a:r>
              <a:rPr lang="en-US" altLang="en-US" sz="1700" baseline="-25000" dirty="0"/>
              <a:t>1</a:t>
            </a:r>
            <a:r>
              <a:rPr lang="en-US" altLang="en-US" sz="1700" dirty="0"/>
              <a:t> is said to </a:t>
            </a:r>
            <a:r>
              <a:rPr lang="en-US" altLang="en-US" sz="1700" b="1" i="1" dirty="0">
                <a:solidFill>
                  <a:srgbClr val="002060"/>
                </a:solidFill>
              </a:rPr>
              <a:t>depend directly </a:t>
            </a:r>
            <a:r>
              <a:rPr lang="en-US" altLang="en-US" sz="1700" dirty="0"/>
              <a:t>on a view relation </a:t>
            </a:r>
            <a:r>
              <a:rPr lang="en-US" altLang="en-US" sz="1700" i="1" dirty="0"/>
              <a:t>v</a:t>
            </a:r>
            <a:r>
              <a:rPr lang="en-US" altLang="en-US" sz="1700" i="1" baseline="-25000" dirty="0"/>
              <a:t>2</a:t>
            </a:r>
            <a:r>
              <a:rPr lang="en-US" altLang="en-US" sz="1700" i="1" dirty="0"/>
              <a:t> </a:t>
            </a:r>
            <a:r>
              <a:rPr lang="en-US" altLang="en-US" sz="1700" dirty="0"/>
              <a:t> if </a:t>
            </a:r>
            <a:r>
              <a:rPr lang="en-US" altLang="en-US" sz="1700" i="1" dirty="0"/>
              <a:t>v</a:t>
            </a:r>
            <a:r>
              <a:rPr lang="en-US" altLang="en-US" sz="1700" baseline="-25000" dirty="0"/>
              <a:t>2</a:t>
            </a:r>
            <a:r>
              <a:rPr lang="en-US" altLang="en-US" sz="1700" dirty="0"/>
              <a:t> is used in the expression defining </a:t>
            </a:r>
            <a:r>
              <a:rPr lang="en-US" altLang="en-US" sz="1700" i="1" dirty="0"/>
              <a:t>v</a:t>
            </a:r>
            <a:r>
              <a:rPr lang="en-US" altLang="en-US" sz="1700" baseline="-25000" dirty="0"/>
              <a:t>1</a:t>
            </a:r>
            <a:endParaRPr lang="en-US" altLang="en-US" sz="1700" dirty="0"/>
          </a:p>
          <a:p>
            <a:pPr algn="just"/>
            <a:endParaRPr lang="en-US" altLang="en-US" sz="1700" dirty="0"/>
          </a:p>
          <a:p>
            <a:pPr algn="just"/>
            <a:r>
              <a:rPr lang="en-US" altLang="en-US" sz="1700" dirty="0"/>
              <a:t>A view relation </a:t>
            </a:r>
            <a:r>
              <a:rPr lang="en-US" altLang="en-US" sz="1700" i="1" dirty="0"/>
              <a:t>v</a:t>
            </a:r>
            <a:r>
              <a:rPr lang="en-US" altLang="en-US" sz="1700" baseline="-25000" dirty="0"/>
              <a:t>1</a:t>
            </a:r>
            <a:r>
              <a:rPr lang="en-US" altLang="en-US" sz="1700" dirty="0"/>
              <a:t> is said to </a:t>
            </a:r>
            <a:r>
              <a:rPr lang="en-US" altLang="en-US" sz="1700" b="1" i="1" dirty="0">
                <a:solidFill>
                  <a:srgbClr val="002060"/>
                </a:solidFill>
              </a:rPr>
              <a:t>depend on</a:t>
            </a:r>
            <a:r>
              <a:rPr lang="en-US" altLang="en-US" sz="1700" b="1" dirty="0">
                <a:solidFill>
                  <a:srgbClr val="002060"/>
                </a:solidFill>
              </a:rPr>
              <a:t> </a:t>
            </a:r>
            <a:r>
              <a:rPr lang="en-US" altLang="en-US" sz="1700" dirty="0"/>
              <a:t>view relation </a:t>
            </a:r>
            <a:r>
              <a:rPr lang="en-US" altLang="en-US" sz="1700" i="1" dirty="0"/>
              <a:t>v</a:t>
            </a:r>
            <a:r>
              <a:rPr lang="en-US" altLang="en-US" sz="1700" i="1" baseline="-25000" dirty="0"/>
              <a:t>2</a:t>
            </a:r>
            <a:r>
              <a:rPr lang="en-US" altLang="en-US" sz="1700" i="1" dirty="0"/>
              <a:t> </a:t>
            </a:r>
            <a:r>
              <a:rPr lang="en-US" altLang="en-US" sz="1700" dirty="0"/>
              <a:t>if either </a:t>
            </a:r>
            <a:r>
              <a:rPr lang="en-US" altLang="en-US" sz="1700" i="1" dirty="0"/>
              <a:t>v</a:t>
            </a:r>
            <a:r>
              <a:rPr lang="en-US" altLang="en-US" sz="1700" baseline="-25000" dirty="0"/>
              <a:t>1 </a:t>
            </a:r>
            <a:r>
              <a:rPr lang="en-US" altLang="en-US" sz="1700" dirty="0"/>
              <a:t>depends directly to </a:t>
            </a:r>
            <a:r>
              <a:rPr lang="en-US" altLang="en-US" sz="1700" i="1" dirty="0"/>
              <a:t>v</a:t>
            </a:r>
            <a:r>
              <a:rPr lang="en-US" altLang="en-US" sz="1700" baseline="-25000" dirty="0"/>
              <a:t>2 </a:t>
            </a:r>
            <a:r>
              <a:rPr lang="en-US" altLang="en-US" sz="1700" dirty="0"/>
              <a:t> or there is a path of dependencies from </a:t>
            </a:r>
            <a:r>
              <a:rPr lang="en-US" altLang="en-US" sz="1700" i="1" dirty="0"/>
              <a:t>v</a:t>
            </a:r>
            <a:r>
              <a:rPr lang="en-US" altLang="en-US" sz="1700" baseline="-25000" dirty="0"/>
              <a:t>1</a:t>
            </a:r>
            <a:r>
              <a:rPr lang="en-US" altLang="en-US" sz="1700" dirty="0"/>
              <a:t> to </a:t>
            </a:r>
            <a:r>
              <a:rPr lang="en-US" altLang="en-US" sz="1700" i="1" dirty="0"/>
              <a:t>v</a:t>
            </a:r>
            <a:r>
              <a:rPr lang="en-US" altLang="en-US" sz="1700" baseline="-25000" dirty="0"/>
              <a:t>2</a:t>
            </a:r>
            <a:r>
              <a:rPr lang="en-US" altLang="en-US" sz="1700" dirty="0"/>
              <a:t> </a:t>
            </a:r>
          </a:p>
          <a:p>
            <a:pPr algn="just"/>
            <a:endParaRPr lang="en-US" altLang="en-US" sz="1700" dirty="0"/>
          </a:p>
          <a:p>
            <a:pPr algn="just"/>
            <a:r>
              <a:rPr lang="en-US" altLang="en-US" sz="1700" dirty="0"/>
              <a:t>A view relation </a:t>
            </a:r>
            <a:r>
              <a:rPr lang="en-US" altLang="en-US" sz="1700" i="1" dirty="0"/>
              <a:t>v</a:t>
            </a:r>
            <a:r>
              <a:rPr lang="en-US" altLang="en-US" sz="1700" dirty="0"/>
              <a:t> is said to be </a:t>
            </a:r>
            <a:r>
              <a:rPr lang="en-US" altLang="en-US" sz="1700" b="1" i="1" dirty="0">
                <a:solidFill>
                  <a:srgbClr val="002060"/>
                </a:solidFill>
              </a:rPr>
              <a:t>recursive</a:t>
            </a:r>
            <a:r>
              <a:rPr lang="en-US" altLang="en-US" sz="1700" i="1" dirty="0"/>
              <a:t> </a:t>
            </a:r>
            <a:r>
              <a:rPr lang="en-US" altLang="en-US" sz="1700" dirty="0"/>
              <a:t> if it depends on itself.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800" dirty="0">
                <a:ea typeface="+mj-ea"/>
              </a:rPr>
              <a:t>Views Defined Using Other Views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18172"/>
            <a:ext cx="7570979" cy="5093941"/>
          </a:xfrm>
        </p:spPr>
        <p:txBody>
          <a:bodyPr/>
          <a:lstStyle/>
          <a:p>
            <a:r>
              <a:rPr lang="en-US" altLang="en-US" sz="2000" dirty="0">
                <a:solidFill>
                  <a:srgbClr val="FF0000"/>
                </a:solidFill>
              </a:rPr>
              <a:t>List of all course sections offered by the physics Department in the fall 2017 semester, along with the building and room number of each section.</a:t>
            </a:r>
            <a:endParaRPr lang="en-US" altLang="en-US" sz="2000" b="1" dirty="0">
              <a:solidFill>
                <a:srgbClr val="FF0000"/>
              </a:solidFill>
            </a:endParaRPr>
          </a:p>
          <a:p>
            <a:pPr>
              <a:buFont typeface="Monotype Sorts" charset="2"/>
              <a:buNone/>
            </a:pPr>
            <a:r>
              <a:rPr lang="en-US" altLang="en-US" sz="2000" b="1" dirty="0"/>
              <a:t>	create view </a:t>
            </a:r>
            <a:r>
              <a:rPr lang="en-US" altLang="en-US" sz="2000" i="1" dirty="0">
                <a:solidFill>
                  <a:srgbClr val="000099"/>
                </a:solidFill>
              </a:rPr>
              <a:t>physics_fall_2017</a:t>
            </a:r>
            <a:r>
              <a:rPr lang="en-US" altLang="en-US" sz="2000" i="1" dirty="0"/>
              <a:t> </a:t>
            </a:r>
            <a:r>
              <a:rPr lang="en-US" altLang="en-US" sz="2000" b="1" dirty="0"/>
              <a:t>as</a:t>
            </a:r>
            <a:br>
              <a:rPr lang="en-US" altLang="en-US" sz="2000" b="1" dirty="0"/>
            </a:br>
            <a:r>
              <a:rPr lang="en-US" altLang="en-US" sz="2000" b="1" dirty="0"/>
              <a:t>   select </a:t>
            </a:r>
            <a:r>
              <a:rPr lang="en-US" altLang="en-US" sz="2000" i="1" dirty="0" err="1"/>
              <a:t>course</a:t>
            </a:r>
            <a:r>
              <a:rPr lang="en-US" altLang="en-US" sz="2000" dirty="0" err="1"/>
              <a:t>.</a:t>
            </a:r>
            <a:r>
              <a:rPr lang="en-US" altLang="en-US" sz="2000" i="1" dirty="0" err="1">
                <a:solidFill>
                  <a:srgbClr val="FF0000"/>
                </a:solidFill>
              </a:rPr>
              <a:t>course_id</a:t>
            </a:r>
            <a:r>
              <a:rPr lang="en-US" altLang="en-US" sz="2000" dirty="0">
                <a:solidFill>
                  <a:srgbClr val="FF0000"/>
                </a:solidFill>
              </a:rPr>
              <a:t>, </a:t>
            </a:r>
            <a:r>
              <a:rPr lang="en-US" altLang="en-US" sz="2000" i="1" dirty="0" err="1">
                <a:solidFill>
                  <a:srgbClr val="FF0000"/>
                </a:solidFill>
              </a:rPr>
              <a:t>sec_id</a:t>
            </a:r>
            <a:r>
              <a:rPr lang="en-US" altLang="en-US" sz="2000" dirty="0"/>
              <a:t>, </a:t>
            </a:r>
            <a:r>
              <a:rPr lang="en-US" altLang="en-US" sz="2000" i="1" dirty="0">
                <a:solidFill>
                  <a:srgbClr val="FF0000"/>
                </a:solidFill>
              </a:rPr>
              <a:t>building</a:t>
            </a:r>
            <a:r>
              <a:rPr lang="en-US" altLang="en-US" sz="2000" dirty="0">
                <a:solidFill>
                  <a:srgbClr val="FF0000"/>
                </a:solidFill>
              </a:rPr>
              <a:t>, </a:t>
            </a:r>
            <a:r>
              <a:rPr lang="en-US" altLang="en-US" sz="2000" i="1" dirty="0" err="1">
                <a:solidFill>
                  <a:srgbClr val="FF0000"/>
                </a:solidFill>
              </a:rPr>
              <a:t>room_number</a:t>
            </a:r>
            <a:r>
              <a:rPr lang="en-US" altLang="en-US" sz="2000" i="1" dirty="0"/>
              <a:t/>
            </a:r>
            <a:br>
              <a:rPr lang="en-US" altLang="en-US" sz="2000" i="1" dirty="0"/>
            </a:br>
            <a:r>
              <a:rPr lang="en-US" altLang="en-US" sz="2000" i="1" dirty="0"/>
              <a:t>   </a:t>
            </a:r>
            <a:r>
              <a:rPr lang="en-US" altLang="en-US" sz="2000" b="1" dirty="0"/>
              <a:t>from </a:t>
            </a:r>
            <a:r>
              <a:rPr lang="en-US" altLang="en-US" sz="2000" i="1" dirty="0">
                <a:solidFill>
                  <a:srgbClr val="7030A0"/>
                </a:solidFill>
              </a:rPr>
              <a:t>course</a:t>
            </a:r>
            <a:r>
              <a:rPr lang="en-US" altLang="en-US" sz="2000" dirty="0">
                <a:solidFill>
                  <a:srgbClr val="7030A0"/>
                </a:solidFill>
              </a:rPr>
              <a:t>,</a:t>
            </a:r>
            <a:r>
              <a:rPr lang="en-US" altLang="en-US" sz="2000" dirty="0"/>
              <a:t> </a:t>
            </a:r>
            <a:r>
              <a:rPr lang="en-US" altLang="en-US" sz="2000" i="1" dirty="0">
                <a:solidFill>
                  <a:srgbClr val="7030A0"/>
                </a:solidFill>
              </a:rPr>
              <a:t>section</a:t>
            </a:r>
            <a:r>
              <a:rPr lang="en-US" altLang="en-US" sz="2000" i="1" dirty="0"/>
              <a:t/>
            </a:r>
            <a:br>
              <a:rPr lang="en-US" altLang="en-US" sz="2000" i="1" dirty="0"/>
            </a:br>
            <a:r>
              <a:rPr lang="en-US" altLang="en-US" sz="2000" i="1" dirty="0"/>
              <a:t>   </a:t>
            </a:r>
            <a:r>
              <a:rPr lang="en-US" altLang="en-US" sz="2000" b="1" dirty="0"/>
              <a:t>where </a:t>
            </a:r>
            <a:r>
              <a:rPr lang="en-US" altLang="en-US" sz="2000" i="1" dirty="0" err="1"/>
              <a:t>course</a:t>
            </a:r>
            <a:r>
              <a:rPr lang="en-US" altLang="en-US" sz="2000" dirty="0" err="1"/>
              <a:t>.</a:t>
            </a:r>
            <a:r>
              <a:rPr lang="en-US" altLang="en-US" sz="2000" i="1" dirty="0" err="1"/>
              <a:t>course_id</a:t>
            </a:r>
            <a:r>
              <a:rPr lang="en-US" altLang="en-US" sz="2000" i="1" dirty="0"/>
              <a:t> </a:t>
            </a:r>
            <a:r>
              <a:rPr lang="en-US" altLang="en-US" sz="2000" dirty="0"/>
              <a:t>= </a:t>
            </a:r>
            <a:r>
              <a:rPr lang="en-US" altLang="en-US" sz="2000" i="1" dirty="0" err="1"/>
              <a:t>section</a:t>
            </a:r>
            <a:r>
              <a:rPr lang="en-US" altLang="en-US" sz="2000" dirty="0" err="1"/>
              <a:t>.</a:t>
            </a:r>
            <a:r>
              <a:rPr lang="en-US" altLang="en-US" sz="2000" i="1" dirty="0" err="1"/>
              <a:t>course_id</a:t>
            </a:r>
            <a:r>
              <a:rPr lang="en-US" altLang="en-US" sz="2000" i="1" dirty="0"/>
              <a:t/>
            </a:r>
            <a:br>
              <a:rPr lang="en-US" altLang="en-US" sz="2000" i="1" dirty="0"/>
            </a:br>
            <a:r>
              <a:rPr lang="en-US" altLang="en-US" sz="2000" i="1" dirty="0"/>
              <a:t>              </a:t>
            </a:r>
            <a:r>
              <a:rPr lang="en-US" altLang="en-US" sz="2000" b="1" dirty="0"/>
              <a:t>and </a:t>
            </a:r>
            <a:r>
              <a:rPr lang="en-US" altLang="en-US" sz="2000" i="1" dirty="0" err="1"/>
              <a:t>course</a:t>
            </a:r>
            <a:r>
              <a:rPr lang="en-US" altLang="en-US" sz="2000" dirty="0" err="1"/>
              <a:t>.</a:t>
            </a:r>
            <a:r>
              <a:rPr lang="en-US" altLang="en-US" sz="2000" i="1" dirty="0" err="1"/>
              <a:t>dept_name</a:t>
            </a:r>
            <a:r>
              <a:rPr lang="en-US" altLang="en-US" sz="2000" i="1" dirty="0"/>
              <a:t> </a:t>
            </a:r>
            <a:r>
              <a:rPr lang="en-US" altLang="en-US" sz="2000" dirty="0"/>
              <a:t>= ’Physics’</a:t>
            </a:r>
            <a:br>
              <a:rPr lang="en-US" altLang="en-US" sz="2000" dirty="0"/>
            </a:br>
            <a:r>
              <a:rPr lang="en-US" altLang="en-US" sz="2000" dirty="0"/>
              <a:t>              </a:t>
            </a:r>
            <a:r>
              <a:rPr lang="en-US" altLang="en-US" sz="2000" b="1" dirty="0"/>
              <a:t>and </a:t>
            </a:r>
            <a:r>
              <a:rPr lang="en-US" altLang="en-US" sz="2000" i="1" dirty="0" err="1"/>
              <a:t>section</a:t>
            </a:r>
            <a:r>
              <a:rPr lang="en-US" altLang="en-US" sz="2000" dirty="0" err="1"/>
              <a:t>.</a:t>
            </a:r>
            <a:r>
              <a:rPr lang="en-US" altLang="en-US" sz="2000" i="1" dirty="0" err="1"/>
              <a:t>semester</a:t>
            </a:r>
            <a:r>
              <a:rPr lang="en-US" altLang="en-US" sz="2000" i="1" dirty="0"/>
              <a:t> </a:t>
            </a:r>
            <a:r>
              <a:rPr lang="en-US" altLang="en-US" sz="2000" dirty="0"/>
              <a:t>= ’Fall’</a:t>
            </a:r>
            <a:br>
              <a:rPr lang="en-US" altLang="en-US" sz="2000" dirty="0"/>
            </a:br>
            <a:r>
              <a:rPr lang="en-US" altLang="en-US" sz="2000" dirty="0"/>
              <a:t>              </a:t>
            </a:r>
            <a:r>
              <a:rPr lang="en-US" altLang="en-US" sz="2000" b="1" dirty="0"/>
              <a:t>and </a:t>
            </a:r>
            <a:r>
              <a:rPr lang="en-US" altLang="en-US" sz="2000" i="1" dirty="0" err="1"/>
              <a:t>section</a:t>
            </a:r>
            <a:r>
              <a:rPr lang="en-US" altLang="en-US" sz="2000" dirty="0" err="1"/>
              <a:t>.</a:t>
            </a:r>
            <a:r>
              <a:rPr lang="en-US" altLang="en-US" sz="2000" i="1" dirty="0" err="1"/>
              <a:t>year</a:t>
            </a:r>
            <a:r>
              <a:rPr lang="en-US" altLang="en-US" sz="2000" i="1" dirty="0"/>
              <a:t> </a:t>
            </a:r>
            <a:r>
              <a:rPr lang="en-US" altLang="en-US" sz="2000" dirty="0"/>
              <a:t>= ’2017</a:t>
            </a:r>
            <a:r>
              <a:rPr lang="en-US" altLang="en-US" sz="1800" dirty="0"/>
              <a:t>’;</a:t>
            </a:r>
          </a:p>
          <a:p>
            <a:pPr>
              <a:buFont typeface="Monotype Sorts" charset="2"/>
              <a:buNone/>
            </a:pPr>
            <a:endParaRPr lang="en-US" altLang="en-US" dirty="0"/>
          </a:p>
          <a:p>
            <a:r>
              <a:rPr lang="en-US" altLang="en-US" sz="2000" b="1" dirty="0"/>
              <a:t>create view </a:t>
            </a:r>
            <a:r>
              <a:rPr lang="en-US" altLang="en-US" sz="2000" i="1" dirty="0">
                <a:solidFill>
                  <a:srgbClr val="000099"/>
                </a:solidFill>
              </a:rPr>
              <a:t>physics_fall_2017_watson</a:t>
            </a:r>
            <a:r>
              <a:rPr lang="en-US" altLang="en-US" sz="2000" i="1" dirty="0"/>
              <a:t> </a:t>
            </a:r>
            <a:r>
              <a:rPr lang="en-US" altLang="en-US" sz="2000" b="1" dirty="0"/>
              <a:t>as</a:t>
            </a:r>
            <a:br>
              <a:rPr lang="en-US" altLang="en-US" sz="2000" b="1" dirty="0"/>
            </a:br>
            <a:r>
              <a:rPr lang="en-US" altLang="en-US" sz="2000" b="1" dirty="0"/>
              <a:t>    select </a:t>
            </a:r>
            <a:r>
              <a:rPr lang="en-US" altLang="en-US" sz="2000" i="1" dirty="0" err="1"/>
              <a:t>course_id</a:t>
            </a:r>
            <a:r>
              <a:rPr lang="en-US" altLang="en-US" sz="2000" dirty="0"/>
              <a:t>, </a:t>
            </a:r>
            <a:r>
              <a:rPr lang="en-US" altLang="en-US" sz="2000" i="1" dirty="0" err="1"/>
              <a:t>room_number</a:t>
            </a:r>
            <a:r>
              <a:rPr lang="en-US" altLang="en-US" sz="2000" i="1" dirty="0"/>
              <a:t/>
            </a:r>
            <a:br>
              <a:rPr lang="en-US" altLang="en-US" sz="2000" i="1" dirty="0"/>
            </a:br>
            <a:r>
              <a:rPr lang="en-US" altLang="en-US" sz="2000" i="1" dirty="0"/>
              <a:t>    </a:t>
            </a:r>
            <a:r>
              <a:rPr lang="en-US" altLang="en-US" sz="2000" b="1" dirty="0"/>
              <a:t>from </a:t>
            </a:r>
            <a:r>
              <a:rPr lang="en-US" altLang="en-US" sz="2000" i="1" dirty="0" smtClean="0">
                <a:solidFill>
                  <a:srgbClr val="000099"/>
                </a:solidFill>
              </a:rPr>
              <a:t>physics_fall_2017</a:t>
            </a:r>
            <a:r>
              <a:rPr lang="en-US" altLang="en-US" sz="2000" i="1" dirty="0"/>
              <a:t/>
            </a:r>
            <a:br>
              <a:rPr lang="en-US" altLang="en-US" sz="2000" i="1" dirty="0"/>
            </a:br>
            <a:r>
              <a:rPr lang="en-US" altLang="en-US" sz="2000" i="1" dirty="0"/>
              <a:t>    </a:t>
            </a:r>
            <a:r>
              <a:rPr lang="en-US" altLang="en-US" sz="2000" b="1" dirty="0"/>
              <a:t>where </a:t>
            </a:r>
            <a:r>
              <a:rPr lang="en-US" altLang="en-US" sz="2000" i="1" dirty="0"/>
              <a:t>building</a:t>
            </a:r>
            <a:r>
              <a:rPr lang="en-US" altLang="en-US" sz="2000" dirty="0"/>
              <a:t>= ’Watson’;</a:t>
            </a:r>
          </a:p>
          <a:p>
            <a:pPr marL="0" indent="0"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800" dirty="0">
                <a:ea typeface="+mj-ea"/>
              </a:rPr>
              <a:t>View Expansion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1700" dirty="0"/>
              <a:t>Expand  the view :</a:t>
            </a:r>
          </a:p>
          <a:p>
            <a:pPr>
              <a:buNone/>
            </a:pPr>
            <a:r>
              <a:rPr lang="en-US" altLang="en-US" sz="1700" b="1" dirty="0"/>
              <a:t>          create view </a:t>
            </a:r>
            <a:r>
              <a:rPr lang="en-US" altLang="en-US" sz="1700" b="1" i="1" dirty="0">
                <a:solidFill>
                  <a:srgbClr val="002060"/>
                </a:solidFill>
              </a:rPr>
              <a:t>physics_fall_2017_watson</a:t>
            </a:r>
            <a:r>
              <a:rPr lang="en-US" altLang="en-US" sz="1700" b="1" i="1" dirty="0"/>
              <a:t>  </a:t>
            </a:r>
            <a:r>
              <a:rPr lang="en-US" altLang="en-US" sz="1700" b="1" dirty="0"/>
              <a:t>as</a:t>
            </a:r>
            <a:br>
              <a:rPr lang="en-US" altLang="en-US" sz="1700" b="1" dirty="0"/>
            </a:br>
            <a:r>
              <a:rPr lang="en-US" altLang="en-US" sz="1700" b="1" dirty="0"/>
              <a:t>        select </a:t>
            </a:r>
            <a:r>
              <a:rPr lang="en-US" altLang="en-US" sz="1700" i="1" dirty="0" err="1"/>
              <a:t>course_id</a:t>
            </a:r>
            <a:r>
              <a:rPr lang="en-US" altLang="en-US" sz="1700" dirty="0"/>
              <a:t>, </a:t>
            </a:r>
            <a:r>
              <a:rPr lang="en-US" altLang="en-US" sz="1700" i="1" dirty="0" err="1"/>
              <a:t>room_number</a:t>
            </a:r>
            <a:r>
              <a:rPr lang="en-US" altLang="en-US" sz="1700" i="1" dirty="0"/>
              <a:t/>
            </a:r>
            <a:br>
              <a:rPr lang="en-US" altLang="en-US" sz="1700" i="1" dirty="0"/>
            </a:br>
            <a:r>
              <a:rPr lang="en-US" altLang="en-US" sz="1700" i="1" dirty="0"/>
              <a:t>        </a:t>
            </a:r>
            <a:r>
              <a:rPr lang="en-US" altLang="en-US" sz="1700" b="1" dirty="0"/>
              <a:t>from </a:t>
            </a:r>
            <a:r>
              <a:rPr lang="en-US" altLang="en-US" sz="1700" b="1" i="1" dirty="0">
                <a:solidFill>
                  <a:srgbClr val="002060"/>
                </a:solidFill>
              </a:rPr>
              <a:t>physics_fall_2017</a:t>
            </a:r>
            <a:r>
              <a:rPr lang="en-US" altLang="en-US" sz="1700" i="1" dirty="0"/>
              <a:t/>
            </a:r>
            <a:br>
              <a:rPr lang="en-US" altLang="en-US" sz="1700" i="1" dirty="0"/>
            </a:br>
            <a:r>
              <a:rPr lang="en-US" altLang="en-US" sz="1700" i="1" dirty="0"/>
              <a:t>        </a:t>
            </a:r>
            <a:r>
              <a:rPr lang="en-US" altLang="en-US" sz="1700" b="1" dirty="0"/>
              <a:t>where </a:t>
            </a:r>
            <a:r>
              <a:rPr lang="en-US" altLang="en-US" sz="1700" i="1" dirty="0"/>
              <a:t>building</a:t>
            </a:r>
            <a:r>
              <a:rPr lang="en-US" altLang="en-US" sz="1700" dirty="0"/>
              <a:t>= 'Watson</a:t>
            </a:r>
            <a:r>
              <a:rPr lang="en-US" altLang="ja-JP" sz="1700" dirty="0"/>
              <a:t>'</a:t>
            </a:r>
            <a:endParaRPr lang="en-US" altLang="en-US" sz="1700" dirty="0"/>
          </a:p>
          <a:p>
            <a:r>
              <a:rPr lang="en-US" altLang="en-US" sz="1700" dirty="0"/>
              <a:t>To:</a:t>
            </a:r>
          </a:p>
          <a:p>
            <a:endParaRPr lang="en-US" altLang="en-US" sz="1700" dirty="0"/>
          </a:p>
          <a:p>
            <a:endParaRPr lang="en-US" altLang="en-US" sz="1700" dirty="0"/>
          </a:p>
          <a:p>
            <a:endParaRPr lang="en-US" altLang="en-US" sz="1700" dirty="0"/>
          </a:p>
          <a:p>
            <a:endParaRPr lang="en-US" altLang="en-US" sz="1700" dirty="0"/>
          </a:p>
          <a:p>
            <a:endParaRPr lang="en-US" altLang="en-US" sz="1700" dirty="0"/>
          </a:p>
          <a:p>
            <a:endParaRPr lang="en-US" altLang="en-US" sz="1700" dirty="0"/>
          </a:p>
          <a:p>
            <a:endParaRPr lang="en-US" altLang="en-US" sz="1700" dirty="0"/>
          </a:p>
          <a:p>
            <a:endParaRPr lang="en-US" altLang="en-US" sz="1700" dirty="0"/>
          </a:p>
          <a:p>
            <a:endParaRPr lang="en-US" altLang="en-US" sz="1700" dirty="0"/>
          </a:p>
        </p:txBody>
      </p:sp>
      <p:sp>
        <p:nvSpPr>
          <p:cNvPr id="45060" name="Text Box 4"/>
          <p:cNvSpPr txBox="1">
            <a:spLocks noChangeArrowheads="1"/>
          </p:cNvSpPr>
          <p:nvPr/>
        </p:nvSpPr>
        <p:spPr bwMode="auto">
          <a:xfrm>
            <a:off x="1477963" y="2966255"/>
            <a:ext cx="7192962" cy="275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700" b="1" dirty="0"/>
              <a:t>create view </a:t>
            </a:r>
            <a:r>
              <a:rPr kumimoji="1" lang="en-US" altLang="en-US" sz="1700" b="1" i="1" dirty="0">
                <a:solidFill>
                  <a:srgbClr val="002060"/>
                </a:solidFill>
                <a:latin typeface="+mn-lt"/>
              </a:rPr>
              <a:t>physics_fall_2017_watson</a:t>
            </a:r>
            <a:r>
              <a:rPr lang="en-US" altLang="en-US" sz="1700" b="1" i="1" dirty="0">
                <a:solidFill>
                  <a:srgbClr val="002060"/>
                </a:solidFill>
              </a:rPr>
              <a:t> </a:t>
            </a:r>
            <a:r>
              <a:rPr lang="en-US" altLang="en-US" sz="1700" b="1" dirty="0"/>
              <a:t>as</a:t>
            </a:r>
          </a:p>
          <a:p>
            <a:r>
              <a:rPr lang="en-US" altLang="en-US" sz="1700" dirty="0"/>
              <a:t>    </a:t>
            </a:r>
            <a:r>
              <a:rPr lang="en-US" altLang="en-US" sz="1700" b="1" dirty="0"/>
              <a:t>select </a:t>
            </a:r>
            <a:r>
              <a:rPr lang="en-US" altLang="en-US" sz="1700" i="1" dirty="0" err="1"/>
              <a:t>course_id</a:t>
            </a:r>
            <a:r>
              <a:rPr lang="en-US" altLang="en-US" sz="1700" dirty="0"/>
              <a:t>, </a:t>
            </a:r>
            <a:r>
              <a:rPr lang="en-US" altLang="en-US" sz="1700" i="1" dirty="0" err="1"/>
              <a:t>room_number</a:t>
            </a:r>
            <a:endParaRPr lang="en-US" altLang="en-US" sz="1700" i="1" dirty="0"/>
          </a:p>
          <a:p>
            <a:r>
              <a:rPr lang="en-US" altLang="en-US" sz="1700" b="1" dirty="0"/>
              <a:t>    from </a:t>
            </a:r>
            <a:r>
              <a:rPr lang="en-US" altLang="en-US" sz="1700" dirty="0"/>
              <a:t>(</a:t>
            </a:r>
            <a:r>
              <a:rPr lang="en-US" altLang="en-US" sz="1700" b="1" dirty="0">
                <a:solidFill>
                  <a:srgbClr val="FF0000"/>
                </a:solidFill>
              </a:rPr>
              <a:t>select </a:t>
            </a:r>
            <a:r>
              <a:rPr lang="en-US" altLang="en-US" sz="1700" i="1" dirty="0" err="1">
                <a:solidFill>
                  <a:srgbClr val="FF0000"/>
                </a:solidFill>
              </a:rPr>
              <a:t>course</a:t>
            </a:r>
            <a:r>
              <a:rPr lang="en-US" altLang="en-US" sz="1700" dirty="0" err="1">
                <a:solidFill>
                  <a:srgbClr val="FF0000"/>
                </a:solidFill>
              </a:rPr>
              <a:t>.</a:t>
            </a:r>
            <a:r>
              <a:rPr lang="en-US" altLang="en-US" sz="1700" i="1" dirty="0" err="1">
                <a:solidFill>
                  <a:srgbClr val="FF0000"/>
                </a:solidFill>
              </a:rPr>
              <a:t>course_id</a:t>
            </a:r>
            <a:r>
              <a:rPr lang="en-US" altLang="en-US" sz="1700" dirty="0">
                <a:solidFill>
                  <a:srgbClr val="FF0000"/>
                </a:solidFill>
              </a:rPr>
              <a:t>, </a:t>
            </a:r>
            <a:r>
              <a:rPr lang="en-US" altLang="en-US" sz="1700" i="1" dirty="0">
                <a:solidFill>
                  <a:srgbClr val="FF0000"/>
                </a:solidFill>
              </a:rPr>
              <a:t>building</a:t>
            </a:r>
            <a:r>
              <a:rPr lang="en-US" altLang="en-US" sz="1700" dirty="0">
                <a:solidFill>
                  <a:srgbClr val="FF0000"/>
                </a:solidFill>
              </a:rPr>
              <a:t>, </a:t>
            </a:r>
            <a:r>
              <a:rPr lang="en-US" altLang="en-US" sz="1700" i="1" dirty="0" err="1">
                <a:solidFill>
                  <a:srgbClr val="FF0000"/>
                </a:solidFill>
              </a:rPr>
              <a:t>room_number</a:t>
            </a:r>
            <a:endParaRPr lang="en-US" altLang="en-US" sz="1700" i="1" dirty="0">
              <a:solidFill>
                <a:srgbClr val="FF0000"/>
              </a:solidFill>
            </a:endParaRPr>
          </a:p>
          <a:p>
            <a:r>
              <a:rPr lang="en-US" altLang="en-US" sz="1700" b="1" dirty="0">
                <a:solidFill>
                  <a:srgbClr val="FF0000"/>
                </a:solidFill>
              </a:rPr>
              <a:t>          from </a:t>
            </a:r>
            <a:r>
              <a:rPr lang="en-US" altLang="en-US" sz="1700" i="1" dirty="0">
                <a:solidFill>
                  <a:srgbClr val="FF0000"/>
                </a:solidFill>
              </a:rPr>
              <a:t>course</a:t>
            </a:r>
            <a:r>
              <a:rPr lang="en-US" altLang="en-US" sz="1700" dirty="0">
                <a:solidFill>
                  <a:srgbClr val="FF0000"/>
                </a:solidFill>
              </a:rPr>
              <a:t>, </a:t>
            </a:r>
            <a:r>
              <a:rPr lang="en-US" altLang="en-US" sz="1700" i="1" dirty="0">
                <a:solidFill>
                  <a:srgbClr val="FF0000"/>
                </a:solidFill>
              </a:rPr>
              <a:t>section</a:t>
            </a:r>
          </a:p>
          <a:p>
            <a:r>
              <a:rPr lang="en-US" altLang="en-US" sz="1700" b="1" dirty="0">
                <a:solidFill>
                  <a:srgbClr val="FF0000"/>
                </a:solidFill>
              </a:rPr>
              <a:t>          where </a:t>
            </a:r>
            <a:r>
              <a:rPr lang="en-US" altLang="en-US" sz="1700" i="1" dirty="0" err="1">
                <a:solidFill>
                  <a:srgbClr val="FF0000"/>
                </a:solidFill>
              </a:rPr>
              <a:t>course</a:t>
            </a:r>
            <a:r>
              <a:rPr lang="en-US" altLang="en-US" sz="1700" dirty="0" err="1">
                <a:solidFill>
                  <a:srgbClr val="FF0000"/>
                </a:solidFill>
              </a:rPr>
              <a:t>.</a:t>
            </a:r>
            <a:r>
              <a:rPr lang="en-US" altLang="en-US" sz="1700" i="1" dirty="0" err="1">
                <a:solidFill>
                  <a:srgbClr val="FF0000"/>
                </a:solidFill>
              </a:rPr>
              <a:t>course_id</a:t>
            </a:r>
            <a:r>
              <a:rPr lang="en-US" altLang="en-US" sz="1700" i="1" dirty="0">
                <a:solidFill>
                  <a:srgbClr val="FF0000"/>
                </a:solidFill>
              </a:rPr>
              <a:t> </a:t>
            </a:r>
            <a:r>
              <a:rPr lang="en-US" altLang="en-US" sz="1700" dirty="0">
                <a:solidFill>
                  <a:srgbClr val="FF0000"/>
                </a:solidFill>
              </a:rPr>
              <a:t>= </a:t>
            </a:r>
            <a:r>
              <a:rPr lang="en-US" altLang="en-US" sz="1700" i="1" dirty="0" err="1">
                <a:solidFill>
                  <a:srgbClr val="FF0000"/>
                </a:solidFill>
              </a:rPr>
              <a:t>section</a:t>
            </a:r>
            <a:r>
              <a:rPr lang="en-US" altLang="en-US" sz="1700" dirty="0" err="1">
                <a:solidFill>
                  <a:srgbClr val="FF0000"/>
                </a:solidFill>
              </a:rPr>
              <a:t>.</a:t>
            </a:r>
            <a:r>
              <a:rPr lang="en-US" altLang="en-US" sz="1700" i="1" dirty="0" err="1">
                <a:solidFill>
                  <a:srgbClr val="FF0000"/>
                </a:solidFill>
              </a:rPr>
              <a:t>course_id</a:t>
            </a:r>
            <a:endParaRPr lang="en-US" altLang="en-US" sz="1700" i="1" dirty="0">
              <a:solidFill>
                <a:srgbClr val="FF0000"/>
              </a:solidFill>
            </a:endParaRPr>
          </a:p>
          <a:p>
            <a:r>
              <a:rPr lang="en-US" altLang="en-US" sz="1700" b="1" dirty="0">
                <a:solidFill>
                  <a:srgbClr val="FF0000"/>
                </a:solidFill>
              </a:rPr>
              <a:t>               and </a:t>
            </a:r>
            <a:r>
              <a:rPr lang="en-US" altLang="en-US" sz="1700" i="1" dirty="0" err="1">
                <a:solidFill>
                  <a:srgbClr val="FF0000"/>
                </a:solidFill>
              </a:rPr>
              <a:t>course</a:t>
            </a:r>
            <a:r>
              <a:rPr lang="en-US" altLang="en-US" sz="1700" dirty="0" err="1">
                <a:solidFill>
                  <a:srgbClr val="FF0000"/>
                </a:solidFill>
              </a:rPr>
              <a:t>.</a:t>
            </a:r>
            <a:r>
              <a:rPr lang="en-US" altLang="en-US" sz="1700" i="1" dirty="0" err="1">
                <a:solidFill>
                  <a:srgbClr val="FF0000"/>
                </a:solidFill>
              </a:rPr>
              <a:t>dept_name</a:t>
            </a:r>
            <a:r>
              <a:rPr lang="en-US" altLang="en-US" sz="1700" i="1" dirty="0">
                <a:solidFill>
                  <a:srgbClr val="FF0000"/>
                </a:solidFill>
              </a:rPr>
              <a:t> </a:t>
            </a:r>
            <a:r>
              <a:rPr lang="en-US" altLang="en-US" sz="1700" dirty="0">
                <a:solidFill>
                  <a:srgbClr val="FF0000"/>
                </a:solidFill>
              </a:rPr>
              <a:t>= 'Physics'</a:t>
            </a:r>
          </a:p>
          <a:p>
            <a:r>
              <a:rPr lang="en-US" altLang="en-US" sz="1700" b="1" dirty="0">
                <a:solidFill>
                  <a:srgbClr val="FF0000"/>
                </a:solidFill>
              </a:rPr>
              <a:t>               and </a:t>
            </a:r>
            <a:r>
              <a:rPr lang="en-US" altLang="en-US" sz="1700" i="1" dirty="0" err="1">
                <a:solidFill>
                  <a:srgbClr val="FF0000"/>
                </a:solidFill>
              </a:rPr>
              <a:t>section</a:t>
            </a:r>
            <a:r>
              <a:rPr lang="en-US" altLang="en-US" sz="1700" dirty="0" err="1">
                <a:solidFill>
                  <a:srgbClr val="FF0000"/>
                </a:solidFill>
              </a:rPr>
              <a:t>.</a:t>
            </a:r>
            <a:r>
              <a:rPr lang="en-US" altLang="en-US" sz="1700" i="1" dirty="0" err="1">
                <a:solidFill>
                  <a:srgbClr val="FF0000"/>
                </a:solidFill>
              </a:rPr>
              <a:t>semester</a:t>
            </a:r>
            <a:r>
              <a:rPr lang="en-US" altLang="en-US" sz="1700" i="1" dirty="0">
                <a:solidFill>
                  <a:srgbClr val="FF0000"/>
                </a:solidFill>
              </a:rPr>
              <a:t> </a:t>
            </a:r>
            <a:r>
              <a:rPr lang="en-US" altLang="en-US" sz="1700" dirty="0">
                <a:solidFill>
                  <a:srgbClr val="FF0000"/>
                </a:solidFill>
              </a:rPr>
              <a:t>= 'Fall'</a:t>
            </a:r>
          </a:p>
          <a:p>
            <a:r>
              <a:rPr lang="en-US" altLang="en-US" sz="1700" b="1" dirty="0">
                <a:solidFill>
                  <a:srgbClr val="FF0000"/>
                </a:solidFill>
              </a:rPr>
              <a:t>               and </a:t>
            </a:r>
            <a:r>
              <a:rPr lang="en-US" altLang="en-US" sz="1700" i="1" dirty="0" err="1">
                <a:solidFill>
                  <a:srgbClr val="FF0000"/>
                </a:solidFill>
              </a:rPr>
              <a:t>section</a:t>
            </a:r>
            <a:r>
              <a:rPr lang="en-US" altLang="en-US" sz="1700" dirty="0" err="1">
                <a:solidFill>
                  <a:srgbClr val="FF0000"/>
                </a:solidFill>
              </a:rPr>
              <a:t>.</a:t>
            </a:r>
            <a:r>
              <a:rPr lang="en-US" altLang="en-US" sz="1700" i="1" dirty="0" err="1">
                <a:solidFill>
                  <a:srgbClr val="FF0000"/>
                </a:solidFill>
              </a:rPr>
              <a:t>year</a:t>
            </a:r>
            <a:r>
              <a:rPr lang="en-US" altLang="en-US" sz="1700" i="1" dirty="0">
                <a:solidFill>
                  <a:srgbClr val="FF0000"/>
                </a:solidFill>
              </a:rPr>
              <a:t> </a:t>
            </a:r>
            <a:r>
              <a:rPr lang="en-US" altLang="en-US" sz="1700" dirty="0">
                <a:solidFill>
                  <a:srgbClr val="FF0000"/>
                </a:solidFill>
              </a:rPr>
              <a:t>= '2017'</a:t>
            </a:r>
            <a:r>
              <a:rPr lang="en-US" altLang="en-US" sz="1700" dirty="0"/>
              <a:t>)</a:t>
            </a:r>
          </a:p>
          <a:p>
            <a:r>
              <a:rPr lang="en-US" altLang="en-US" sz="1700" b="1" dirty="0"/>
              <a:t>     where </a:t>
            </a:r>
            <a:r>
              <a:rPr lang="en-US" altLang="en-US" sz="1700" i="1" dirty="0"/>
              <a:t>building</a:t>
            </a:r>
            <a:r>
              <a:rPr lang="en-US" altLang="en-US" sz="1700" dirty="0"/>
              <a:t>= 'Watson';</a:t>
            </a:r>
          </a:p>
          <a:p>
            <a:endParaRPr lang="en-US" altLang="en-US" sz="2000" dirty="0"/>
          </a:p>
        </p:txBody>
      </p:sp>
    </p:spTree>
    <p:extLst>
      <p:ext uri="{BB962C8B-B14F-4D97-AF65-F5344CB8AC3E}">
        <p14:creationId xmlns:p14="http://schemas.microsoft.com/office/powerpoint/2010/main" val="64358788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2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800" dirty="0">
                <a:ea typeface="+mj-ea"/>
              </a:rPr>
              <a:t>Integrity Constraints</a:t>
            </a:r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35063"/>
            <a:ext cx="7505638" cy="4302569"/>
          </a:xfrm>
        </p:spPr>
        <p:txBody>
          <a:bodyPr/>
          <a:lstStyle/>
          <a:p>
            <a:pPr algn="just"/>
            <a:r>
              <a:rPr lang="en-US" altLang="en-US" sz="1800" b="1" dirty="0">
                <a:solidFill>
                  <a:srgbClr val="000099"/>
                </a:solidFill>
              </a:rPr>
              <a:t>Integrity constraints </a:t>
            </a:r>
            <a:r>
              <a:rPr lang="en-US" altLang="en-US" sz="1800" b="1" dirty="0"/>
              <a:t>guard against accidental damage to the database, by ensuring that </a:t>
            </a:r>
            <a:r>
              <a:rPr lang="en-US" altLang="en-US" sz="1800" b="1" dirty="0">
                <a:solidFill>
                  <a:srgbClr val="FF0000"/>
                </a:solidFill>
              </a:rPr>
              <a:t>authorized changes to the database </a:t>
            </a:r>
            <a:r>
              <a:rPr lang="en-US" altLang="en-US" sz="1800" b="1" dirty="0">
                <a:solidFill>
                  <a:srgbClr val="000099"/>
                </a:solidFill>
              </a:rPr>
              <a:t>do not result in a loss of data consistency</a:t>
            </a:r>
            <a:r>
              <a:rPr lang="en-US" altLang="en-US" sz="1800" dirty="0"/>
              <a:t>. </a:t>
            </a:r>
            <a:endParaRPr lang="en-US" altLang="en-US" sz="1800" dirty="0" smtClean="0"/>
          </a:p>
          <a:p>
            <a:pPr marL="0" indent="0" algn="just">
              <a:buNone/>
            </a:pPr>
            <a:endParaRPr lang="en-US" altLang="en-US" sz="1800" dirty="0" smtClean="0"/>
          </a:p>
          <a:p>
            <a:pPr marL="0" indent="0" algn="just">
              <a:buNone/>
            </a:pPr>
            <a:r>
              <a:rPr lang="en-US" altLang="en-US" sz="1800" b="1" dirty="0" smtClean="0">
                <a:solidFill>
                  <a:srgbClr val="C00000"/>
                </a:solidFill>
              </a:rPr>
              <a:t>Examples:</a:t>
            </a:r>
            <a:endParaRPr lang="en-US" altLang="en-US" sz="1800" b="1" dirty="0">
              <a:solidFill>
                <a:srgbClr val="C00000"/>
              </a:solidFill>
            </a:endParaRPr>
          </a:p>
          <a:p>
            <a:pPr lvl="1"/>
            <a:r>
              <a:rPr lang="en-US" altLang="en-US" sz="1800" dirty="0"/>
              <a:t>A checking account must have a balance greater than $10,000.00</a:t>
            </a:r>
          </a:p>
          <a:p>
            <a:pPr marL="457200" lvl="1" indent="0">
              <a:buNone/>
            </a:pPr>
            <a:endParaRPr lang="en-US" altLang="en-US" sz="1800" dirty="0"/>
          </a:p>
          <a:p>
            <a:pPr lvl="1"/>
            <a:r>
              <a:rPr lang="en-US" altLang="en-US" sz="1800" dirty="0"/>
              <a:t>A salary of a bank employee must be at least $4.00 an hour</a:t>
            </a:r>
          </a:p>
          <a:p>
            <a:pPr marL="457200" lvl="1" indent="0">
              <a:buNone/>
            </a:pPr>
            <a:endParaRPr lang="en-US" altLang="en-US" sz="1800" dirty="0"/>
          </a:p>
          <a:p>
            <a:pPr lvl="1"/>
            <a:r>
              <a:rPr lang="en-US" altLang="en-US" sz="1800" dirty="0"/>
              <a:t>A customer must have a (non-null) phone number</a:t>
            </a:r>
          </a:p>
          <a:p>
            <a:pPr lvl="1"/>
            <a:endParaRPr lang="en-US" altLang="en-US" sz="1700" dirty="0"/>
          </a:p>
          <a:p>
            <a:endParaRPr lang="en-US" altLang="en-US" sz="17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306" name="Rectangle 2"/>
          <p:cNvSpPr>
            <a:spLocks noGrp="1" noChangeArrowheads="1"/>
          </p:cNvSpPr>
          <p:nvPr>
            <p:ph type="title"/>
          </p:nvPr>
        </p:nvSpPr>
        <p:spPr>
          <a:xfrm>
            <a:off x="738188" y="109538"/>
            <a:ext cx="8077200" cy="609600"/>
          </a:xfrm>
        </p:spPr>
        <p:txBody>
          <a:bodyPr/>
          <a:lstStyle/>
          <a:p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Constraints on a Single Relation</a:t>
            </a: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4863" y="1177925"/>
            <a:ext cx="7136765" cy="2640013"/>
          </a:xfrm>
        </p:spPr>
        <p:txBody>
          <a:bodyPr/>
          <a:lstStyle/>
          <a:p>
            <a:r>
              <a:rPr lang="en-US" altLang="en-US" sz="1800" b="1" dirty="0"/>
              <a:t>not null</a:t>
            </a:r>
          </a:p>
          <a:p>
            <a:r>
              <a:rPr lang="en-US" altLang="en-US" sz="1800" b="1" dirty="0"/>
              <a:t>primary key</a:t>
            </a:r>
          </a:p>
          <a:p>
            <a:r>
              <a:rPr lang="en-US" altLang="en-US" sz="1800" b="1" dirty="0"/>
              <a:t>unique</a:t>
            </a:r>
            <a:endParaRPr lang="en-US" altLang="en-US" sz="1800" dirty="0"/>
          </a:p>
          <a:p>
            <a:r>
              <a:rPr lang="en-US" altLang="en-US" sz="1800" b="1" dirty="0"/>
              <a:t>check </a:t>
            </a:r>
            <a:r>
              <a:rPr lang="en-US" altLang="en-US" sz="1800" dirty="0"/>
              <a:t>(P), where P is a predicate</a:t>
            </a:r>
          </a:p>
        </p:txBody>
      </p:sp>
      <p:sp>
        <p:nvSpPr>
          <p:cNvPr id="58372" name="Rectangle 4"/>
          <p:cNvSpPr>
            <a:spLocks noChangeArrowheads="1"/>
          </p:cNvSpPr>
          <p:nvPr/>
        </p:nvSpPr>
        <p:spPr bwMode="auto">
          <a:xfrm>
            <a:off x="804863" y="5229225"/>
            <a:ext cx="680085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35000"/>
              </a:spcBef>
              <a:buClr>
                <a:schemeClr val="tx2"/>
              </a:buClr>
              <a:buFont typeface="Monotype Sorts" charset="2"/>
              <a:buNone/>
            </a:pPr>
            <a:endParaRPr kumimoji="1" lang="en-US" altLang="en-US" sz="2000" b="1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354" name="Rectangle 2"/>
          <p:cNvSpPr>
            <a:spLocks noGrp="1" noChangeArrowheads="1"/>
          </p:cNvSpPr>
          <p:nvPr>
            <p:ph type="title"/>
          </p:nvPr>
        </p:nvSpPr>
        <p:spPr>
          <a:xfrm>
            <a:off x="786316" y="153909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 sz="2800" dirty="0">
                <a:ea typeface="+mj-ea"/>
              </a:rPr>
              <a:t>Not Null Constraint</a:t>
            </a:r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4863" y="1135063"/>
            <a:ext cx="7144321" cy="2656649"/>
          </a:xfrm>
        </p:spPr>
        <p:txBody>
          <a:bodyPr/>
          <a:lstStyle/>
          <a:p>
            <a:r>
              <a:rPr kumimoji="0" lang="en-US" altLang="en-US" sz="2000" b="1" dirty="0"/>
              <a:t>not null</a:t>
            </a:r>
            <a:endParaRPr kumimoji="0" lang="en-US" altLang="en-US" b="1" dirty="0"/>
          </a:p>
          <a:p>
            <a:pPr lvl="1"/>
            <a:r>
              <a:rPr kumimoji="0" lang="en-US" altLang="en-US" sz="2000" dirty="0">
                <a:solidFill>
                  <a:srgbClr val="000099"/>
                </a:solidFill>
              </a:rPr>
              <a:t>Declare </a:t>
            </a:r>
            <a:r>
              <a:rPr kumimoji="0" lang="en-US" altLang="en-US" sz="2000" i="1" dirty="0">
                <a:solidFill>
                  <a:srgbClr val="FF0000"/>
                </a:solidFill>
              </a:rPr>
              <a:t>name</a:t>
            </a:r>
            <a:r>
              <a:rPr kumimoji="0" lang="en-US" altLang="en-US" sz="2000" dirty="0">
                <a:solidFill>
                  <a:srgbClr val="000099"/>
                </a:solidFill>
              </a:rPr>
              <a:t> and </a:t>
            </a:r>
            <a:r>
              <a:rPr kumimoji="0" lang="en-US" altLang="en-US" sz="2000" i="1" dirty="0">
                <a:solidFill>
                  <a:srgbClr val="FF0000"/>
                </a:solidFill>
              </a:rPr>
              <a:t>budget</a:t>
            </a:r>
            <a:r>
              <a:rPr kumimoji="0" lang="en-US" altLang="en-US" sz="2000" dirty="0">
                <a:solidFill>
                  <a:srgbClr val="000099"/>
                </a:solidFill>
              </a:rPr>
              <a:t> to be </a:t>
            </a:r>
            <a:r>
              <a:rPr lang="en-US" altLang="en-US" sz="2000" b="1" dirty="0">
                <a:solidFill>
                  <a:srgbClr val="000099"/>
                </a:solidFill>
              </a:rPr>
              <a:t>not null</a:t>
            </a:r>
            <a:endParaRPr lang="en-US" altLang="en-US" b="1" dirty="0">
              <a:solidFill>
                <a:srgbClr val="000099"/>
              </a:solidFill>
            </a:endParaRPr>
          </a:p>
          <a:p>
            <a:pPr>
              <a:buFont typeface="Monotype Sorts" charset="2"/>
              <a:buNone/>
            </a:pPr>
            <a:r>
              <a:rPr kumimoji="0" lang="en-US" altLang="en-US" i="1" dirty="0"/>
              <a:t>	          </a:t>
            </a:r>
            <a:r>
              <a:rPr kumimoji="0" lang="en-US" altLang="en-US" sz="2000" i="1" dirty="0"/>
              <a:t>name </a:t>
            </a:r>
            <a:r>
              <a:rPr kumimoji="0" lang="en-US" altLang="en-US" sz="2000" b="1" dirty="0"/>
              <a:t>varchar</a:t>
            </a:r>
            <a:r>
              <a:rPr kumimoji="0" lang="en-US" altLang="en-US" sz="2000" dirty="0"/>
              <a:t>(20) </a:t>
            </a:r>
            <a:r>
              <a:rPr kumimoji="0" lang="en-US" altLang="en-US" sz="2000" b="1" dirty="0"/>
              <a:t>not null</a:t>
            </a:r>
            <a:br>
              <a:rPr kumimoji="0" lang="en-US" altLang="en-US" sz="2000" b="1" dirty="0"/>
            </a:br>
            <a:r>
              <a:rPr kumimoji="0" lang="en-US" altLang="en-US" sz="2000" b="1" dirty="0"/>
              <a:t>          </a:t>
            </a:r>
            <a:r>
              <a:rPr kumimoji="0" lang="en-US" altLang="en-US" sz="2000" i="1" dirty="0"/>
              <a:t>budget </a:t>
            </a:r>
            <a:r>
              <a:rPr kumimoji="0" lang="en-US" altLang="en-US" sz="2000" b="1" dirty="0"/>
              <a:t>numeric</a:t>
            </a:r>
            <a:r>
              <a:rPr kumimoji="0" lang="en-US" altLang="en-US" sz="2000" dirty="0"/>
              <a:t>(12,2) </a:t>
            </a:r>
            <a:r>
              <a:rPr kumimoji="0" lang="en-US" altLang="en-US" sz="2000" b="1" dirty="0"/>
              <a:t>not null</a:t>
            </a:r>
          </a:p>
          <a:p>
            <a:pPr marL="0" indent="0">
              <a:buNone/>
            </a:pPr>
            <a:endParaRPr lang="en-US" altLang="en-US" b="1" dirty="0"/>
          </a:p>
          <a:p>
            <a:pPr>
              <a:buFont typeface="Monotype Sorts" charset="2"/>
              <a:buNone/>
            </a:pPr>
            <a:endParaRPr lang="en-US" altLang="en-US" dirty="0"/>
          </a:p>
        </p:txBody>
      </p:sp>
      <p:sp>
        <p:nvSpPr>
          <p:cNvPr id="60420" name="Rectangle 4"/>
          <p:cNvSpPr>
            <a:spLocks noChangeArrowheads="1"/>
          </p:cNvSpPr>
          <p:nvPr/>
        </p:nvSpPr>
        <p:spPr bwMode="auto">
          <a:xfrm>
            <a:off x="804863" y="5240655"/>
            <a:ext cx="680085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35000"/>
              </a:spcBef>
              <a:buClr>
                <a:schemeClr val="tx2"/>
              </a:buClr>
              <a:buFont typeface="Monotype Sorts" charset="2"/>
              <a:buNone/>
            </a:pPr>
            <a:endParaRPr kumimoji="1" lang="en-US" altLang="en-US" sz="2000" b="1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354" name="Rectangle 2"/>
          <p:cNvSpPr>
            <a:spLocks noGrp="1" noChangeArrowheads="1"/>
          </p:cNvSpPr>
          <p:nvPr>
            <p:ph type="title"/>
          </p:nvPr>
        </p:nvSpPr>
        <p:spPr>
          <a:xfrm>
            <a:off x="738188" y="129845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 sz="2800" dirty="0">
                <a:ea typeface="+mj-ea"/>
              </a:rPr>
              <a:t>Unique Constraint </a:t>
            </a:r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4864" y="1098487"/>
            <a:ext cx="8007666" cy="2583497"/>
          </a:xfrm>
        </p:spPr>
        <p:txBody>
          <a:bodyPr/>
          <a:lstStyle/>
          <a:p>
            <a:r>
              <a:rPr lang="en-US" altLang="en-US" sz="1700" b="1" dirty="0"/>
              <a:t>unique</a:t>
            </a:r>
            <a:r>
              <a:rPr kumimoji="0" lang="en-US" altLang="en-US" sz="1700" dirty="0"/>
              <a:t> ( </a:t>
            </a:r>
            <a:r>
              <a:rPr kumimoji="0" lang="en-US" altLang="en-US" sz="1700" i="1" dirty="0"/>
              <a:t>A</a:t>
            </a:r>
            <a:r>
              <a:rPr kumimoji="0" lang="en-US" altLang="en-US" sz="1700" baseline="-25000" dirty="0"/>
              <a:t>1</a:t>
            </a:r>
            <a:r>
              <a:rPr kumimoji="0" lang="en-US" altLang="en-US" sz="1700" dirty="0"/>
              <a:t>, </a:t>
            </a:r>
            <a:r>
              <a:rPr kumimoji="0" lang="en-US" altLang="en-US" sz="1700" i="1" dirty="0"/>
              <a:t>A</a:t>
            </a:r>
            <a:r>
              <a:rPr kumimoji="0" lang="en-US" altLang="en-US" sz="1700" baseline="-25000" dirty="0"/>
              <a:t>2</a:t>
            </a:r>
            <a:r>
              <a:rPr kumimoji="0" lang="en-US" altLang="en-US" sz="1700" dirty="0"/>
              <a:t>, …, </a:t>
            </a:r>
            <a:r>
              <a:rPr kumimoji="0" lang="en-US" altLang="en-US" sz="1700" i="1" dirty="0"/>
              <a:t>A</a:t>
            </a:r>
            <a:r>
              <a:rPr kumimoji="0" lang="en-US" altLang="en-US" sz="1700" baseline="-25000" dirty="0"/>
              <a:t>m</a:t>
            </a:r>
            <a:r>
              <a:rPr kumimoji="0" lang="en-US" altLang="en-US" sz="1700" dirty="0"/>
              <a:t>)</a:t>
            </a:r>
          </a:p>
          <a:p>
            <a:pPr lvl="1"/>
            <a:r>
              <a:rPr kumimoji="0" lang="en-US" altLang="en-US" sz="1800" dirty="0"/>
              <a:t>The </a:t>
            </a:r>
            <a:r>
              <a:rPr kumimoji="0" lang="en-US" altLang="en-US" sz="1800" dirty="0">
                <a:solidFill>
                  <a:srgbClr val="FF0000"/>
                </a:solidFill>
              </a:rPr>
              <a:t>unique specification </a:t>
            </a:r>
            <a:r>
              <a:rPr kumimoji="0" lang="en-US" altLang="en-US" sz="1800" dirty="0"/>
              <a:t>states that the attributes </a:t>
            </a:r>
            <a:r>
              <a:rPr kumimoji="0" lang="en-US" altLang="en-US" sz="1800" i="1" dirty="0"/>
              <a:t>A</a:t>
            </a:r>
            <a:r>
              <a:rPr kumimoji="0" lang="en-US" altLang="en-US" sz="1800" dirty="0"/>
              <a:t>1, </a:t>
            </a:r>
            <a:r>
              <a:rPr kumimoji="0" lang="en-US" altLang="en-US" sz="1800" i="1" dirty="0"/>
              <a:t>A</a:t>
            </a:r>
            <a:r>
              <a:rPr kumimoji="0" lang="en-US" altLang="en-US" sz="1800" dirty="0"/>
              <a:t>2, … </a:t>
            </a:r>
            <a:r>
              <a:rPr kumimoji="0" lang="en-US" altLang="en-US" sz="1800" i="1" dirty="0"/>
              <a:t>A</a:t>
            </a:r>
            <a:r>
              <a:rPr kumimoji="0" lang="en-US" altLang="en-US" sz="1800" dirty="0"/>
              <a:t>m      </a:t>
            </a:r>
            <a:r>
              <a:rPr kumimoji="0" lang="en-US" altLang="en-US" sz="1800" dirty="0">
                <a:solidFill>
                  <a:srgbClr val="FF0000"/>
                </a:solidFill>
              </a:rPr>
              <a:t>form a candidate key.</a:t>
            </a:r>
            <a:endParaRPr kumimoji="0" lang="en-US" altLang="en-US" dirty="0">
              <a:solidFill>
                <a:srgbClr val="FF0000"/>
              </a:solidFill>
            </a:endParaRPr>
          </a:p>
          <a:p>
            <a:pPr lvl="1"/>
            <a:r>
              <a:rPr kumimoji="0" lang="en-US" altLang="en-US" sz="1800" dirty="0">
                <a:solidFill>
                  <a:srgbClr val="000099"/>
                </a:solidFill>
              </a:rPr>
              <a:t>Candidate keys are permitted to be null </a:t>
            </a:r>
            <a:r>
              <a:rPr kumimoji="0" lang="en-US" altLang="en-US" sz="1800" dirty="0"/>
              <a:t>(in contrast to primary keys).</a:t>
            </a:r>
            <a:endParaRPr kumimoji="0" lang="en-US" altLang="en-US" dirty="0"/>
          </a:p>
          <a:p>
            <a:pPr marL="0" indent="0">
              <a:buNone/>
            </a:pPr>
            <a:endParaRPr kumimoji="0" lang="en-US" altLang="en-US" sz="1700" dirty="0"/>
          </a:p>
          <a:p>
            <a:endParaRPr lang="en-US" altLang="en-US" b="1" dirty="0"/>
          </a:p>
          <a:p>
            <a:pPr>
              <a:buFont typeface="Monotype Sorts" charset="2"/>
              <a:buNone/>
            </a:pPr>
            <a:endParaRPr lang="en-US" altLang="en-US" dirty="0"/>
          </a:p>
        </p:txBody>
      </p:sp>
      <p:sp>
        <p:nvSpPr>
          <p:cNvPr id="60420" name="Rectangle 4"/>
          <p:cNvSpPr>
            <a:spLocks noChangeArrowheads="1"/>
          </p:cNvSpPr>
          <p:nvPr/>
        </p:nvSpPr>
        <p:spPr bwMode="auto">
          <a:xfrm>
            <a:off x="804863" y="5229225"/>
            <a:ext cx="680085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35000"/>
              </a:spcBef>
              <a:buClr>
                <a:schemeClr val="tx2"/>
              </a:buClr>
              <a:buFont typeface="Monotype Sorts" charset="2"/>
              <a:buNone/>
            </a:pPr>
            <a:endParaRPr kumimoji="1" lang="en-US" altLang="en-US" sz="2000" b="1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450" name="Rectangle 2"/>
          <p:cNvSpPr>
            <a:spLocks noGrp="1" noChangeArrowheads="1"/>
          </p:cNvSpPr>
          <p:nvPr>
            <p:ph type="title"/>
          </p:nvPr>
        </p:nvSpPr>
        <p:spPr>
          <a:xfrm>
            <a:off x="738188" y="141877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 sz="2800" dirty="0">
                <a:ea typeface="+mj-ea"/>
              </a:rPr>
              <a:t>The check clause</a:t>
            </a:r>
          </a:p>
        </p:txBody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38188" y="1086358"/>
            <a:ext cx="7600949" cy="4692650"/>
          </a:xfrm>
        </p:spPr>
        <p:txBody>
          <a:bodyPr/>
          <a:lstStyle/>
          <a:p>
            <a:r>
              <a:rPr lang="en-US" altLang="en-US" sz="1700" dirty="0"/>
              <a:t>The  </a:t>
            </a:r>
            <a:r>
              <a:rPr lang="en-US" altLang="en-US" sz="1700" b="1" dirty="0"/>
              <a:t>check </a:t>
            </a:r>
            <a:r>
              <a:rPr lang="en-US" altLang="en-US" sz="1700" dirty="0"/>
              <a:t>(P) clause specifies a predicate P that must be satisfied by every tuple in a relation.</a:t>
            </a:r>
          </a:p>
          <a:p>
            <a:pPr marL="0" indent="0">
              <a:buNone/>
            </a:pPr>
            <a:endParaRPr lang="en-US" altLang="en-US" sz="1700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800" dirty="0"/>
              <a:t>Example:  </a:t>
            </a:r>
            <a:r>
              <a:rPr kumimoji="0" lang="en-US" altLang="en-US" sz="1800" dirty="0">
                <a:solidFill>
                  <a:srgbClr val="000099"/>
                </a:solidFill>
              </a:rPr>
              <a:t>Ensure that semester is one of </a:t>
            </a:r>
            <a:r>
              <a:rPr kumimoji="0" lang="en-US" altLang="en-US" sz="1800" dirty="0">
                <a:solidFill>
                  <a:srgbClr val="C00000"/>
                </a:solidFill>
              </a:rPr>
              <a:t>fall, winter, spring or summer</a:t>
            </a:r>
            <a:r>
              <a:rPr kumimoji="0" lang="en-US" altLang="en-US" sz="1800" dirty="0">
                <a:solidFill>
                  <a:srgbClr val="000099"/>
                </a:solidFill>
              </a:rPr>
              <a:t>: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en-US" altLang="en-US" sz="1800" b="1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800" b="1" dirty="0"/>
              <a:t>create table </a:t>
            </a:r>
            <a:r>
              <a:rPr kumimoji="0" lang="en-US" altLang="en-US" sz="1800" b="1" i="1" dirty="0">
                <a:solidFill>
                  <a:srgbClr val="000099"/>
                </a:solidFill>
              </a:rPr>
              <a:t>section </a:t>
            </a:r>
            <a:r>
              <a:rPr kumimoji="0" lang="en-US" altLang="en-US" sz="1800" dirty="0"/>
              <a:t>(</a:t>
            </a:r>
            <a:endParaRPr kumimoji="0" lang="en-US" altLang="en-US" sz="1800" i="1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800" dirty="0"/>
              <a:t>    </a:t>
            </a:r>
            <a:r>
              <a:rPr kumimoji="0" lang="en-US" altLang="en-US" sz="1800" i="1" dirty="0" err="1"/>
              <a:t>course_id</a:t>
            </a:r>
            <a:r>
              <a:rPr kumimoji="0" lang="en-US" altLang="en-US" sz="1800" i="1" dirty="0"/>
              <a:t> </a:t>
            </a:r>
            <a:r>
              <a:rPr kumimoji="0" lang="en-US" altLang="en-US" sz="1800" b="1" dirty="0"/>
              <a:t>varchar </a:t>
            </a:r>
            <a:r>
              <a:rPr kumimoji="0" lang="en-US" altLang="en-US" sz="1800" dirty="0"/>
              <a:t>(8),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800" i="1" dirty="0"/>
              <a:t>    </a:t>
            </a:r>
            <a:r>
              <a:rPr kumimoji="0" lang="en-US" altLang="en-US" sz="1800" i="1" dirty="0" err="1"/>
              <a:t>sec_id</a:t>
            </a:r>
            <a:r>
              <a:rPr kumimoji="0" lang="en-US" altLang="en-US" sz="1800" i="1" dirty="0"/>
              <a:t> </a:t>
            </a:r>
            <a:r>
              <a:rPr kumimoji="0" lang="en-US" altLang="en-US" sz="1800" b="1" dirty="0"/>
              <a:t>varchar </a:t>
            </a:r>
            <a:r>
              <a:rPr kumimoji="0" lang="en-US" altLang="en-US" sz="1800" dirty="0"/>
              <a:t>(8),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800" i="1" dirty="0"/>
              <a:t>    </a:t>
            </a:r>
            <a:r>
              <a:rPr kumimoji="0" lang="en-US" altLang="en-US" sz="1800" i="1" dirty="0">
                <a:solidFill>
                  <a:srgbClr val="FF0000"/>
                </a:solidFill>
              </a:rPr>
              <a:t>semester </a:t>
            </a:r>
            <a:r>
              <a:rPr kumimoji="0" lang="en-US" altLang="en-US" sz="1800" b="1" dirty="0"/>
              <a:t>varchar </a:t>
            </a:r>
            <a:r>
              <a:rPr kumimoji="0" lang="en-US" altLang="en-US" sz="1800" dirty="0"/>
              <a:t>(6),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800" i="1" dirty="0"/>
              <a:t>    year </a:t>
            </a:r>
            <a:r>
              <a:rPr kumimoji="0" lang="en-US" altLang="en-US" sz="1800" b="1" dirty="0"/>
              <a:t>numeric </a:t>
            </a:r>
            <a:r>
              <a:rPr kumimoji="0" lang="en-US" altLang="en-US" sz="1800" dirty="0"/>
              <a:t>(4,0),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800" i="1" dirty="0"/>
              <a:t>    building </a:t>
            </a:r>
            <a:r>
              <a:rPr kumimoji="0" lang="en-US" altLang="en-US" sz="1800" b="1" dirty="0"/>
              <a:t>varchar </a:t>
            </a:r>
            <a:r>
              <a:rPr kumimoji="0" lang="en-US" altLang="en-US" sz="1800" dirty="0"/>
              <a:t>(15),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800" i="1" dirty="0"/>
              <a:t>    </a:t>
            </a:r>
            <a:r>
              <a:rPr kumimoji="0" lang="en-US" altLang="en-US" sz="1800" i="1" dirty="0" err="1"/>
              <a:t>room_number</a:t>
            </a:r>
            <a:r>
              <a:rPr kumimoji="0" lang="en-US" altLang="en-US" sz="1800" i="1" dirty="0"/>
              <a:t> </a:t>
            </a:r>
            <a:r>
              <a:rPr kumimoji="0" lang="en-US" altLang="en-US" sz="1800" b="1" dirty="0"/>
              <a:t>varchar </a:t>
            </a:r>
            <a:r>
              <a:rPr kumimoji="0" lang="en-US" altLang="en-US" sz="1800" dirty="0"/>
              <a:t>(7),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800" i="1" dirty="0"/>
              <a:t>    time slot id </a:t>
            </a:r>
            <a:r>
              <a:rPr kumimoji="0" lang="en-US" altLang="en-US" sz="1800" b="1" dirty="0"/>
              <a:t>varchar </a:t>
            </a:r>
            <a:r>
              <a:rPr kumimoji="0" lang="en-US" altLang="en-US" sz="1800" dirty="0"/>
              <a:t>(4),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800" b="1" dirty="0"/>
              <a:t>    primary key </a:t>
            </a:r>
            <a:r>
              <a:rPr kumimoji="0" lang="en-US" altLang="en-US" sz="1800" dirty="0"/>
              <a:t>(</a:t>
            </a:r>
            <a:r>
              <a:rPr kumimoji="0" lang="en-US" altLang="en-US" sz="1800" i="1" dirty="0" err="1"/>
              <a:t>course_id</a:t>
            </a:r>
            <a:r>
              <a:rPr kumimoji="0" lang="en-US" altLang="en-US" sz="1800" dirty="0"/>
              <a:t>, </a:t>
            </a:r>
            <a:r>
              <a:rPr kumimoji="0" lang="en-US" altLang="en-US" sz="1800" i="1" dirty="0" err="1"/>
              <a:t>sec_id</a:t>
            </a:r>
            <a:r>
              <a:rPr kumimoji="0" lang="en-US" altLang="en-US" sz="1800" dirty="0"/>
              <a:t>, </a:t>
            </a:r>
            <a:r>
              <a:rPr kumimoji="0" lang="en-US" altLang="en-US" sz="1800" i="1" dirty="0"/>
              <a:t>semester</a:t>
            </a:r>
            <a:r>
              <a:rPr kumimoji="0" lang="en-US" altLang="en-US" sz="1800" dirty="0"/>
              <a:t>, </a:t>
            </a:r>
            <a:r>
              <a:rPr kumimoji="0" lang="en-US" altLang="en-US" sz="1800" i="1" dirty="0"/>
              <a:t>year</a:t>
            </a:r>
            <a:r>
              <a:rPr kumimoji="0" lang="en-US" altLang="en-US" sz="1800" dirty="0"/>
              <a:t>),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800" b="1" dirty="0"/>
              <a:t>    </a:t>
            </a:r>
            <a:r>
              <a:rPr kumimoji="0" lang="en-US" altLang="en-US" sz="1800" b="1" dirty="0">
                <a:solidFill>
                  <a:srgbClr val="000099"/>
                </a:solidFill>
              </a:rPr>
              <a:t>check</a:t>
            </a:r>
            <a:r>
              <a:rPr kumimoji="0" lang="en-US" altLang="en-US" sz="1800" b="1" dirty="0"/>
              <a:t> (</a:t>
            </a:r>
            <a:r>
              <a:rPr kumimoji="0" lang="en-US" altLang="en-US" sz="1800" b="1" i="1" dirty="0">
                <a:solidFill>
                  <a:srgbClr val="FF0000"/>
                </a:solidFill>
              </a:rPr>
              <a:t>semester</a:t>
            </a:r>
            <a:r>
              <a:rPr kumimoji="0" lang="en-US" altLang="en-US" sz="1800" b="1" i="1" dirty="0"/>
              <a:t> </a:t>
            </a:r>
            <a:r>
              <a:rPr kumimoji="0" lang="en-US" altLang="en-US" sz="1800" b="1" dirty="0"/>
              <a:t>in (’Fall’, ’Winter’, ’Spring’, ’Summer’))</a:t>
            </a:r>
            <a:r>
              <a:rPr kumimoji="0" lang="en-US" altLang="en-US" sz="1800" dirty="0"/>
              <a:t/>
            </a:r>
            <a:br>
              <a:rPr kumimoji="0" lang="en-US" altLang="en-US" sz="1800" dirty="0"/>
            </a:br>
            <a:r>
              <a:rPr kumimoji="0" lang="en-US" altLang="en-US" sz="1800" dirty="0"/>
              <a:t>);</a:t>
            </a:r>
          </a:p>
        </p:txBody>
      </p:sp>
      <p:sp>
        <p:nvSpPr>
          <p:cNvPr id="62469" name="Rectangle 5"/>
          <p:cNvSpPr>
            <a:spLocks noChangeArrowheads="1"/>
          </p:cNvSpPr>
          <p:nvPr/>
        </p:nvSpPr>
        <p:spPr bwMode="auto">
          <a:xfrm>
            <a:off x="804863" y="5229225"/>
            <a:ext cx="680085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35000"/>
              </a:spcBef>
              <a:buClr>
                <a:schemeClr val="tx2"/>
              </a:buClr>
              <a:buFont typeface="Monotype Sorts" charset="2"/>
              <a:buNone/>
            </a:pPr>
            <a:endParaRPr kumimoji="1" lang="en-US" altLang="en-US" sz="2000" b="1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5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800" dirty="0">
                <a:ea typeface="+mj-ea"/>
              </a:rPr>
              <a:t>Referential Integrity</a:t>
            </a:r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35063"/>
            <a:ext cx="7523394" cy="4943475"/>
          </a:xfrm>
        </p:spPr>
        <p:txBody>
          <a:bodyPr/>
          <a:lstStyle/>
          <a:p>
            <a:pPr algn="just">
              <a:defRPr/>
            </a:pPr>
            <a:r>
              <a:rPr lang="en-US" altLang="en-US" sz="1800" dirty="0"/>
              <a:t>Ensures that </a:t>
            </a:r>
            <a:r>
              <a:rPr lang="en-US" altLang="en-US" sz="1800" dirty="0">
                <a:solidFill>
                  <a:srgbClr val="000099"/>
                </a:solidFill>
              </a:rPr>
              <a:t>a value </a:t>
            </a:r>
            <a:r>
              <a:rPr lang="en-US" altLang="en-US" sz="1800" dirty="0"/>
              <a:t>that appears in one relation </a:t>
            </a:r>
            <a:r>
              <a:rPr lang="en-US" altLang="en-US" sz="1800" dirty="0">
                <a:solidFill>
                  <a:srgbClr val="000099"/>
                </a:solidFill>
              </a:rPr>
              <a:t>for a given set of attributes </a:t>
            </a:r>
            <a:r>
              <a:rPr lang="en-US" altLang="en-US" sz="1800" dirty="0"/>
              <a:t>also </a:t>
            </a:r>
            <a:r>
              <a:rPr lang="en-US" altLang="en-US" sz="1800" dirty="0">
                <a:solidFill>
                  <a:srgbClr val="FF0000"/>
                </a:solidFill>
              </a:rPr>
              <a:t>appears for a certain set of attributes in another relation.</a:t>
            </a:r>
          </a:p>
          <a:p>
            <a:pPr lvl="1">
              <a:defRPr/>
            </a:pPr>
            <a:r>
              <a:rPr lang="en-US" altLang="en-US" sz="1800" dirty="0"/>
              <a:t>Example:  If </a:t>
            </a:r>
            <a:r>
              <a:rPr lang="en-US" altLang="en-US" sz="1800" dirty="0">
                <a:solidFill>
                  <a:srgbClr val="000099"/>
                </a:solidFill>
              </a:rPr>
              <a:t>“Biology” </a:t>
            </a:r>
            <a:r>
              <a:rPr lang="en-US" altLang="en-US" sz="1800" dirty="0"/>
              <a:t>is a department name appearing in one of the tuples in the </a:t>
            </a:r>
            <a:r>
              <a:rPr lang="en-US" altLang="en-US" sz="1800" i="1" dirty="0">
                <a:solidFill>
                  <a:srgbClr val="000099"/>
                </a:solidFill>
              </a:rPr>
              <a:t>instructor</a:t>
            </a:r>
            <a:r>
              <a:rPr lang="en-US" altLang="en-US" sz="1800" dirty="0"/>
              <a:t> relation, then there exists a tuple in the</a:t>
            </a:r>
            <a:r>
              <a:rPr lang="en-US" altLang="en-US" sz="1800" dirty="0">
                <a:solidFill>
                  <a:srgbClr val="FF0000"/>
                </a:solidFill>
              </a:rPr>
              <a:t> </a:t>
            </a:r>
            <a:r>
              <a:rPr lang="en-US" altLang="en-US" sz="1800" i="1" dirty="0">
                <a:solidFill>
                  <a:srgbClr val="FF0000"/>
                </a:solidFill>
              </a:rPr>
              <a:t>department</a:t>
            </a:r>
            <a:r>
              <a:rPr lang="en-US" altLang="en-US" sz="1800" dirty="0">
                <a:solidFill>
                  <a:srgbClr val="FF0000"/>
                </a:solidFill>
              </a:rPr>
              <a:t> relation </a:t>
            </a:r>
            <a:r>
              <a:rPr lang="en-US" altLang="en-US" sz="1800" dirty="0">
                <a:solidFill>
                  <a:srgbClr val="7030A0"/>
                </a:solidFill>
              </a:rPr>
              <a:t>for “Biology”.</a:t>
            </a:r>
          </a:p>
          <a:p>
            <a:pPr lvl="1">
              <a:buFont typeface="Monotype Sorts" charset="2"/>
              <a:buNone/>
              <a:defRPr/>
            </a:pPr>
            <a:endParaRPr lang="en-US" altLang="en-US" sz="1800" dirty="0"/>
          </a:p>
          <a:p>
            <a:pPr algn="just">
              <a:defRPr/>
            </a:pPr>
            <a:r>
              <a:rPr lang="en-US" altLang="en-US" sz="1800" dirty="0"/>
              <a:t>Let A be a set of attributes.  Let </a:t>
            </a:r>
            <a:r>
              <a:rPr lang="en-US" altLang="en-US" sz="1800" dirty="0">
                <a:solidFill>
                  <a:srgbClr val="7030A0"/>
                </a:solidFill>
              </a:rPr>
              <a:t>R and S </a:t>
            </a:r>
            <a:r>
              <a:rPr lang="en-US" altLang="en-US" sz="1800" dirty="0"/>
              <a:t>be two relations that contain attributes A and where </a:t>
            </a:r>
            <a:r>
              <a:rPr lang="en-US" altLang="en-US" sz="1800" dirty="0">
                <a:solidFill>
                  <a:srgbClr val="7030A0"/>
                </a:solidFill>
              </a:rPr>
              <a:t>A is the primary key of S. </a:t>
            </a:r>
          </a:p>
          <a:p>
            <a:pPr marL="0" indent="0" algn="just">
              <a:buNone/>
              <a:defRPr/>
            </a:pPr>
            <a:endParaRPr lang="en-US" altLang="en-US" sz="1800" dirty="0">
              <a:solidFill>
                <a:srgbClr val="7030A0"/>
              </a:solidFill>
            </a:endParaRPr>
          </a:p>
          <a:p>
            <a:pPr algn="just">
              <a:defRPr/>
            </a:pPr>
            <a:r>
              <a:rPr lang="en-US" altLang="en-US" sz="1800" dirty="0"/>
              <a:t>A is said to be a  </a:t>
            </a:r>
            <a:r>
              <a:rPr lang="en-US" altLang="en-US" sz="1800" b="1" dirty="0">
                <a:solidFill>
                  <a:srgbClr val="000099"/>
                </a:solidFill>
              </a:rPr>
              <a:t>foreign key</a:t>
            </a:r>
            <a:r>
              <a:rPr lang="en-US" altLang="en-US" sz="1800" dirty="0"/>
              <a:t> of R if for any values of A appearing in R these values also appear in 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5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800" dirty="0">
                <a:ea typeface="+mj-ea"/>
              </a:rPr>
              <a:t>Referential Integrity (Cont.)</a:t>
            </a:r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35063"/>
            <a:ext cx="8032749" cy="5277167"/>
          </a:xfrm>
        </p:spPr>
        <p:txBody>
          <a:bodyPr/>
          <a:lstStyle/>
          <a:p>
            <a:r>
              <a:rPr lang="en-US" altLang="en-US" sz="1800" dirty="0"/>
              <a:t>Foreign </a:t>
            </a:r>
            <a:r>
              <a:rPr lang="en-US" altLang="en-US" sz="1800" i="1" dirty="0"/>
              <a:t>keys can be </a:t>
            </a:r>
            <a:r>
              <a:rPr lang="en-US" altLang="en-US" sz="1800" dirty="0"/>
              <a:t>specified as part of the SQL </a:t>
            </a:r>
            <a:r>
              <a:rPr lang="en-US" altLang="en-US" sz="1800" b="1" dirty="0"/>
              <a:t>create</a:t>
            </a:r>
            <a:r>
              <a:rPr lang="en-US" altLang="en-US" sz="1800" dirty="0"/>
              <a:t> </a:t>
            </a:r>
            <a:r>
              <a:rPr lang="en-US" altLang="en-US" sz="1800" b="1" dirty="0"/>
              <a:t>table </a:t>
            </a:r>
            <a:r>
              <a:rPr lang="en-US" altLang="en-US" sz="1800" dirty="0"/>
              <a:t> statement.</a:t>
            </a:r>
          </a:p>
          <a:p>
            <a:pPr>
              <a:buFont typeface="Monotype Sorts" charset="2"/>
              <a:buNone/>
            </a:pPr>
            <a:r>
              <a:rPr lang="en-US" altLang="en-US" sz="1800" b="1" dirty="0"/>
              <a:t>        	</a:t>
            </a:r>
            <a:r>
              <a:rPr lang="en-US" altLang="en-US" sz="1800" b="1" dirty="0">
                <a:solidFill>
                  <a:srgbClr val="000099"/>
                </a:solidFill>
              </a:rPr>
              <a:t> foreign key </a:t>
            </a:r>
            <a:r>
              <a:rPr lang="en-US" altLang="en-US" sz="1800" dirty="0">
                <a:solidFill>
                  <a:srgbClr val="000099"/>
                </a:solidFill>
              </a:rPr>
              <a:t>(</a:t>
            </a:r>
            <a:r>
              <a:rPr lang="en-US" altLang="en-US" sz="1800" i="1" dirty="0" err="1">
                <a:solidFill>
                  <a:srgbClr val="000099"/>
                </a:solidFill>
              </a:rPr>
              <a:t>dept_name</a:t>
            </a:r>
            <a:r>
              <a:rPr lang="en-US" altLang="en-US" sz="1800" dirty="0">
                <a:solidFill>
                  <a:srgbClr val="000099"/>
                </a:solidFill>
              </a:rPr>
              <a:t>) </a:t>
            </a:r>
            <a:r>
              <a:rPr lang="en-US" altLang="en-US" sz="1800" b="1" dirty="0">
                <a:solidFill>
                  <a:srgbClr val="000099"/>
                </a:solidFill>
              </a:rPr>
              <a:t>references </a:t>
            </a:r>
            <a:r>
              <a:rPr lang="en-US" altLang="en-US" sz="1800" i="1" dirty="0">
                <a:solidFill>
                  <a:srgbClr val="000099"/>
                </a:solidFill>
              </a:rPr>
              <a:t>department</a:t>
            </a:r>
          </a:p>
          <a:p>
            <a:pPr>
              <a:buFont typeface="Monotype Sorts" charset="2"/>
              <a:buNone/>
            </a:pPr>
            <a:endParaRPr lang="en-US" altLang="en-US" sz="1800" i="1" dirty="0"/>
          </a:p>
          <a:p>
            <a:pPr algn="just"/>
            <a:r>
              <a:rPr lang="en-US" altLang="en-US" sz="1800" dirty="0"/>
              <a:t>By default, a foreign key references the primary-key attributes of the referenced table.</a:t>
            </a:r>
          </a:p>
          <a:p>
            <a:pPr>
              <a:buFont typeface="Monotype Sorts" charset="2"/>
              <a:buNone/>
            </a:pPr>
            <a:endParaRPr lang="en-US" altLang="en-US" sz="1800" dirty="0"/>
          </a:p>
          <a:p>
            <a:pPr algn="just"/>
            <a:r>
              <a:rPr lang="en-US" altLang="en-US" sz="1800" dirty="0"/>
              <a:t>SQL allows  a list of attributes of the referenced relation to be specified explicitly.</a:t>
            </a:r>
          </a:p>
          <a:p>
            <a:pPr>
              <a:buFont typeface="Monotype Sorts" charset="2"/>
              <a:buNone/>
            </a:pPr>
            <a:r>
              <a:rPr lang="en-US" altLang="en-US" sz="1800" b="1" dirty="0">
                <a:solidFill>
                  <a:srgbClr val="000099"/>
                </a:solidFill>
              </a:rPr>
              <a:t>       foreign key </a:t>
            </a:r>
            <a:r>
              <a:rPr lang="en-US" altLang="en-US" sz="1800" dirty="0">
                <a:solidFill>
                  <a:srgbClr val="000099"/>
                </a:solidFill>
              </a:rPr>
              <a:t>(</a:t>
            </a:r>
            <a:r>
              <a:rPr lang="en-US" altLang="en-US" sz="1800" i="1" dirty="0" err="1">
                <a:solidFill>
                  <a:srgbClr val="000099"/>
                </a:solidFill>
              </a:rPr>
              <a:t>dept_name</a:t>
            </a:r>
            <a:r>
              <a:rPr lang="en-US" altLang="en-US" sz="1800" dirty="0">
                <a:solidFill>
                  <a:srgbClr val="000099"/>
                </a:solidFill>
              </a:rPr>
              <a:t>) </a:t>
            </a:r>
            <a:r>
              <a:rPr lang="en-US" altLang="en-US" sz="1800" b="1" dirty="0">
                <a:solidFill>
                  <a:srgbClr val="000099"/>
                </a:solidFill>
              </a:rPr>
              <a:t>references </a:t>
            </a:r>
            <a:r>
              <a:rPr lang="en-US" altLang="en-US" sz="1800" i="1" dirty="0">
                <a:solidFill>
                  <a:srgbClr val="000099"/>
                </a:solidFill>
              </a:rPr>
              <a:t>department </a:t>
            </a:r>
            <a:r>
              <a:rPr lang="en-US" altLang="en-US" sz="1800" dirty="0">
                <a:solidFill>
                  <a:srgbClr val="000099"/>
                </a:solidFill>
              </a:rPr>
              <a:t>(</a:t>
            </a:r>
            <a:r>
              <a:rPr lang="en-US" altLang="en-US" sz="1800" i="1" dirty="0" err="1">
                <a:solidFill>
                  <a:srgbClr val="000099"/>
                </a:solidFill>
              </a:rPr>
              <a:t>dept_name</a:t>
            </a:r>
            <a:r>
              <a:rPr lang="en-US" altLang="en-US" sz="1800" dirty="0">
                <a:solidFill>
                  <a:srgbClr val="000099"/>
                </a:solidFill>
              </a:rPr>
              <a:t>)</a:t>
            </a:r>
          </a:p>
          <a:p>
            <a:pPr>
              <a:buFont typeface="Monotype Sorts" charset="2"/>
              <a:buNone/>
            </a:pPr>
            <a:endParaRPr lang="en-US" altLang="en-US" sz="1800" dirty="0"/>
          </a:p>
          <a:p>
            <a:r>
              <a:rPr lang="en-US" altLang="en-US" sz="1800" b="1" dirty="0">
                <a:solidFill>
                  <a:srgbClr val="C00000"/>
                </a:solidFill>
              </a:rPr>
              <a:t>Shorter notation:</a:t>
            </a:r>
          </a:p>
          <a:p>
            <a:pPr lvl="1"/>
            <a:r>
              <a:rPr lang="en-US" altLang="en-US" sz="1800" b="1" dirty="0"/>
              <a:t>create table </a:t>
            </a:r>
            <a:r>
              <a:rPr lang="en-US" altLang="en-US" sz="1800" i="1" dirty="0"/>
              <a:t>course (</a:t>
            </a:r>
            <a:br>
              <a:rPr lang="en-US" altLang="en-US" sz="1800" i="1" dirty="0"/>
            </a:br>
            <a:r>
              <a:rPr lang="en-US" altLang="en-US" sz="1800" i="1" dirty="0"/>
              <a:t>    </a:t>
            </a:r>
            <a:r>
              <a:rPr lang="en-US" altLang="en-US" sz="1800" i="1" dirty="0" err="1"/>
              <a:t>course_id</a:t>
            </a:r>
            <a:r>
              <a:rPr lang="en-US" altLang="en-US" sz="1800" i="1" dirty="0"/>
              <a:t> </a:t>
            </a:r>
            <a:r>
              <a:rPr lang="en-US" altLang="en-US" sz="1800" dirty="0"/>
              <a:t>  </a:t>
            </a:r>
            <a:r>
              <a:rPr lang="en-US" altLang="en-US" sz="1800" b="1" dirty="0"/>
              <a:t>char</a:t>
            </a:r>
            <a:r>
              <a:rPr lang="en-US" altLang="en-US" sz="1800" dirty="0"/>
              <a:t>(5) </a:t>
            </a:r>
            <a:r>
              <a:rPr lang="en-US" altLang="en-US" sz="1800" b="1" dirty="0"/>
              <a:t>primary key</a:t>
            </a:r>
            <a:r>
              <a:rPr lang="en-US" altLang="en-US" sz="1800" dirty="0"/>
              <a:t>,</a:t>
            </a:r>
            <a:br>
              <a:rPr lang="en-US" altLang="en-US" sz="1800" dirty="0"/>
            </a:br>
            <a:r>
              <a:rPr lang="en-US" altLang="en-US" sz="1800" dirty="0"/>
              <a:t>    </a:t>
            </a:r>
            <a:r>
              <a:rPr lang="en-US" altLang="en-US" sz="1800" i="1" dirty="0"/>
              <a:t>title             </a:t>
            </a:r>
            <a:r>
              <a:rPr lang="en-US" altLang="en-US" sz="1800" b="1" dirty="0"/>
              <a:t>varchar</a:t>
            </a:r>
            <a:r>
              <a:rPr lang="en-US" altLang="en-US" sz="1800" dirty="0"/>
              <a:t>(20),</a:t>
            </a:r>
            <a:br>
              <a:rPr lang="en-US" altLang="en-US" sz="1800" dirty="0"/>
            </a:br>
            <a:r>
              <a:rPr lang="en-US" altLang="en-US" sz="1800" dirty="0">
                <a:solidFill>
                  <a:srgbClr val="FF0000"/>
                </a:solidFill>
              </a:rPr>
              <a:t> </a:t>
            </a:r>
            <a:r>
              <a:rPr lang="en-US" altLang="en-US" sz="1800" i="1" dirty="0">
                <a:solidFill>
                  <a:srgbClr val="FF0000"/>
                </a:solidFill>
              </a:rPr>
              <a:t>   </a:t>
            </a:r>
            <a:r>
              <a:rPr lang="en-US" altLang="en-US" sz="1800" i="1" dirty="0" err="1">
                <a:solidFill>
                  <a:srgbClr val="FF0000"/>
                </a:solidFill>
              </a:rPr>
              <a:t>dept_name</a:t>
            </a:r>
            <a:r>
              <a:rPr lang="en-US" altLang="en-US" sz="1800" i="1" dirty="0">
                <a:solidFill>
                  <a:srgbClr val="FF0000"/>
                </a:solidFill>
              </a:rPr>
              <a:t> </a:t>
            </a:r>
            <a:r>
              <a:rPr lang="en-US" altLang="en-US" sz="1800" b="1" dirty="0"/>
              <a:t>varchar</a:t>
            </a:r>
            <a:r>
              <a:rPr lang="en-US" altLang="en-US" sz="1800" dirty="0"/>
              <a:t>(20) </a:t>
            </a:r>
            <a:r>
              <a:rPr lang="en-US" altLang="en-US" sz="1800" b="1" dirty="0">
                <a:solidFill>
                  <a:srgbClr val="000099"/>
                </a:solidFill>
              </a:rPr>
              <a:t>references</a:t>
            </a:r>
            <a:r>
              <a:rPr lang="en-US" altLang="en-US" sz="1800" b="1" dirty="0"/>
              <a:t> </a:t>
            </a:r>
            <a:r>
              <a:rPr lang="en-US" altLang="en-US" sz="1800" i="1" dirty="0">
                <a:solidFill>
                  <a:srgbClr val="FF0000"/>
                </a:solidFill>
              </a:rPr>
              <a:t>department </a:t>
            </a:r>
            <a:r>
              <a:rPr lang="en-US" altLang="en-US" sz="1800" i="1" dirty="0"/>
              <a:t>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690" name="Rectangle 2"/>
          <p:cNvSpPr>
            <a:spLocks noGrp="1" noChangeArrowheads="1"/>
          </p:cNvSpPr>
          <p:nvPr>
            <p:ph type="title"/>
          </p:nvPr>
        </p:nvSpPr>
        <p:spPr>
          <a:xfrm>
            <a:off x="800100" y="240030"/>
            <a:ext cx="8539163" cy="427038"/>
          </a:xfrm>
        </p:spPr>
        <p:txBody>
          <a:bodyPr/>
          <a:lstStyle/>
          <a:p>
            <a:pPr>
              <a:defRPr/>
            </a:pPr>
            <a:r>
              <a:rPr lang="en-US" sz="2800" dirty="0">
                <a:ea typeface="+mj-ea"/>
              </a:rPr>
              <a:t>Cascading Actions in Referential Integrity</a:t>
            </a:r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72359" y="1123279"/>
            <a:ext cx="7806431" cy="5186081"/>
          </a:xfrm>
        </p:spPr>
        <p:txBody>
          <a:bodyPr/>
          <a:lstStyle/>
          <a:p>
            <a:pPr>
              <a:tabLst>
                <a:tab pos="2173288" algn="l"/>
              </a:tabLst>
            </a:pPr>
            <a:r>
              <a:rPr lang="en-US" altLang="en-US" sz="1700" dirty="0"/>
              <a:t>When a referential-integrity constraint is violated, the normal procedure is to reject the action that caused the violation.</a:t>
            </a:r>
          </a:p>
          <a:p>
            <a:pPr marL="0" indent="0">
              <a:buNone/>
              <a:tabLst>
                <a:tab pos="2173288" algn="l"/>
              </a:tabLst>
            </a:pPr>
            <a:endParaRPr lang="en-US" altLang="en-US" sz="1700" dirty="0"/>
          </a:p>
          <a:p>
            <a:pPr>
              <a:tabLst>
                <a:tab pos="2173288" algn="l"/>
              </a:tabLst>
            </a:pPr>
            <a:r>
              <a:rPr lang="en-US" altLang="en-US" sz="1800" dirty="0"/>
              <a:t>An alternative, in case of delete or update is to</a:t>
            </a:r>
            <a:r>
              <a:rPr lang="en-US" altLang="en-US" sz="1800" dirty="0">
                <a:solidFill>
                  <a:srgbClr val="000099"/>
                </a:solidFill>
              </a:rPr>
              <a:t> cascade</a:t>
            </a:r>
          </a:p>
          <a:p>
            <a:pPr>
              <a:buFont typeface="Monotype Sorts" charset="2"/>
              <a:buNone/>
              <a:tabLst>
                <a:tab pos="2173288" algn="l"/>
              </a:tabLst>
            </a:pPr>
            <a:r>
              <a:rPr lang="en-US" altLang="en-US" sz="1800" b="1" dirty="0"/>
              <a:t>	</a:t>
            </a:r>
            <a:r>
              <a:rPr lang="en-US" altLang="en-US" sz="1800" b="1" dirty="0">
                <a:solidFill>
                  <a:srgbClr val="FF0000"/>
                </a:solidFill>
              </a:rPr>
              <a:t>create table </a:t>
            </a:r>
            <a:r>
              <a:rPr lang="en-US" altLang="en-US" sz="1800" i="1" dirty="0">
                <a:solidFill>
                  <a:srgbClr val="FF0000"/>
                </a:solidFill>
              </a:rPr>
              <a:t>course </a:t>
            </a:r>
            <a:r>
              <a:rPr lang="en-US" altLang="en-US" sz="1800" dirty="0">
                <a:solidFill>
                  <a:srgbClr val="FF0000"/>
                </a:solidFill>
              </a:rPr>
              <a:t>(</a:t>
            </a:r>
            <a:br>
              <a:rPr lang="en-US" altLang="en-US" sz="1800" dirty="0">
                <a:solidFill>
                  <a:srgbClr val="FF0000"/>
                </a:solidFill>
              </a:rPr>
            </a:br>
            <a:r>
              <a:rPr lang="en-US" altLang="en-US" sz="1800" dirty="0"/>
              <a:t>    …</a:t>
            </a:r>
            <a:br>
              <a:rPr lang="en-US" altLang="en-US" sz="1800" dirty="0"/>
            </a:br>
            <a:r>
              <a:rPr lang="en-US" altLang="en-US" sz="1800" dirty="0"/>
              <a:t>    </a:t>
            </a:r>
            <a:r>
              <a:rPr lang="en-US" altLang="en-US" sz="1800" i="1" dirty="0" err="1"/>
              <a:t>dept_name</a:t>
            </a:r>
            <a:r>
              <a:rPr lang="en-US" altLang="en-US" sz="1800" i="1" dirty="0"/>
              <a:t> </a:t>
            </a:r>
            <a:r>
              <a:rPr lang="en-US" altLang="en-US" sz="1800" b="1" dirty="0"/>
              <a:t>varchar</a:t>
            </a:r>
            <a:r>
              <a:rPr lang="en-US" altLang="en-US" sz="1800" dirty="0"/>
              <a:t>(20),</a:t>
            </a:r>
            <a:br>
              <a:rPr lang="en-US" altLang="en-US" sz="1800" dirty="0"/>
            </a:br>
            <a:r>
              <a:rPr lang="en-US" altLang="en-US" sz="1800" dirty="0"/>
              <a:t>    </a:t>
            </a:r>
            <a:r>
              <a:rPr lang="en-US" altLang="en-US" sz="1800" b="1" dirty="0">
                <a:solidFill>
                  <a:srgbClr val="000099"/>
                </a:solidFill>
              </a:rPr>
              <a:t>foreign key </a:t>
            </a:r>
            <a:r>
              <a:rPr lang="en-US" altLang="en-US" sz="1800" dirty="0">
                <a:solidFill>
                  <a:srgbClr val="000099"/>
                </a:solidFill>
              </a:rPr>
              <a:t>(</a:t>
            </a:r>
            <a:r>
              <a:rPr lang="en-US" altLang="en-US" sz="1800" i="1" dirty="0" err="1">
                <a:solidFill>
                  <a:srgbClr val="000099"/>
                </a:solidFill>
              </a:rPr>
              <a:t>dept_name</a:t>
            </a:r>
            <a:r>
              <a:rPr lang="en-US" altLang="en-US" sz="1800" dirty="0">
                <a:solidFill>
                  <a:srgbClr val="000099"/>
                </a:solidFill>
              </a:rPr>
              <a:t>) </a:t>
            </a:r>
            <a:r>
              <a:rPr lang="en-US" altLang="en-US" sz="1800" b="1" dirty="0">
                <a:solidFill>
                  <a:srgbClr val="000099"/>
                </a:solidFill>
              </a:rPr>
              <a:t>references </a:t>
            </a:r>
            <a:r>
              <a:rPr lang="en-US" altLang="en-US" sz="1800" i="1" dirty="0">
                <a:solidFill>
                  <a:srgbClr val="000099"/>
                </a:solidFill>
              </a:rPr>
              <a:t>department</a:t>
            </a:r>
            <a:r>
              <a:rPr lang="en-US" altLang="en-US" sz="1800" i="1" dirty="0"/>
              <a:t/>
            </a:r>
            <a:br>
              <a:rPr lang="en-US" altLang="en-US" sz="1800" i="1" dirty="0"/>
            </a:br>
            <a:r>
              <a:rPr lang="en-US" altLang="en-US" sz="1800" i="1" dirty="0"/>
              <a:t>                </a:t>
            </a:r>
            <a:r>
              <a:rPr lang="en-US" altLang="en-US" sz="1800" b="1" dirty="0">
                <a:solidFill>
                  <a:srgbClr val="C00000"/>
                </a:solidFill>
              </a:rPr>
              <a:t>on delete cascade</a:t>
            </a:r>
            <a:br>
              <a:rPr lang="en-US" altLang="en-US" sz="1800" b="1" dirty="0">
                <a:solidFill>
                  <a:srgbClr val="C00000"/>
                </a:solidFill>
              </a:rPr>
            </a:br>
            <a:r>
              <a:rPr lang="en-US" altLang="en-US" sz="1800" b="1" dirty="0">
                <a:solidFill>
                  <a:srgbClr val="C00000"/>
                </a:solidFill>
              </a:rPr>
              <a:t>                on update cascade</a:t>
            </a:r>
            <a:r>
              <a:rPr lang="en-US" altLang="en-US" sz="1800" dirty="0"/>
              <a:t>,</a:t>
            </a:r>
            <a:br>
              <a:rPr lang="en-US" altLang="en-US" sz="1800" dirty="0"/>
            </a:br>
            <a:r>
              <a:rPr lang="en-US" altLang="en-US" sz="1800" dirty="0">
                <a:solidFill>
                  <a:srgbClr val="FF0000"/>
                </a:solidFill>
              </a:rPr>
              <a:t>    . . . )</a:t>
            </a:r>
          </a:p>
          <a:p>
            <a:pPr>
              <a:buFont typeface="Monotype Sorts" charset="2"/>
              <a:buNone/>
              <a:tabLst>
                <a:tab pos="2173288" algn="l"/>
              </a:tabLst>
            </a:pPr>
            <a:endParaRPr lang="en-US" altLang="en-US" sz="1800" dirty="0"/>
          </a:p>
          <a:p>
            <a:pPr>
              <a:tabLst>
                <a:tab pos="2173288" algn="l"/>
              </a:tabLst>
            </a:pPr>
            <a:r>
              <a:rPr lang="en-US" altLang="en-US" sz="1700" dirty="0"/>
              <a:t>Instead of cascade we can use :  </a:t>
            </a:r>
          </a:p>
          <a:p>
            <a:pPr lvl="1">
              <a:tabLst>
                <a:tab pos="2173288" algn="l"/>
              </a:tabLst>
            </a:pPr>
            <a:r>
              <a:rPr lang="en-US" altLang="en-US" sz="1700" b="1" dirty="0"/>
              <a:t>set null</a:t>
            </a:r>
            <a:r>
              <a:rPr lang="en-US" altLang="en-US" sz="1700" dirty="0"/>
              <a:t>,</a:t>
            </a:r>
          </a:p>
          <a:p>
            <a:pPr lvl="1">
              <a:tabLst>
                <a:tab pos="2173288" algn="l"/>
              </a:tabLst>
            </a:pPr>
            <a:r>
              <a:rPr lang="en-US" altLang="en-US" sz="1700" b="1" dirty="0"/>
              <a:t>set default</a:t>
            </a:r>
            <a:endParaRPr lang="en-US" altLang="en-US" sz="1700" dirty="0"/>
          </a:p>
          <a:p>
            <a:pPr>
              <a:buFont typeface="Monotype Sorts" charset="2"/>
              <a:buNone/>
              <a:tabLst>
                <a:tab pos="2173288" algn="l"/>
              </a:tabLst>
            </a:pPr>
            <a:endParaRPr lang="en-US" altLang="en-US" i="1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746" name="Rectangle 2"/>
          <p:cNvSpPr>
            <a:spLocks noGrp="1" noChangeArrowheads="1"/>
          </p:cNvSpPr>
          <p:nvPr>
            <p:ph type="title"/>
          </p:nvPr>
        </p:nvSpPr>
        <p:spPr>
          <a:xfrm>
            <a:off x="918666" y="148585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 sz="2600" dirty="0">
                <a:ea typeface="+mj-ea"/>
              </a:rPr>
              <a:t>Integrity Constraint Violation During Transactions</a:t>
            </a:r>
          </a:p>
        </p:txBody>
      </p:sp>
      <p:sp>
        <p:nvSpPr>
          <p:cNvPr id="686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72358" y="1130364"/>
            <a:ext cx="7706647" cy="5213285"/>
          </a:xfrm>
        </p:spPr>
        <p:txBody>
          <a:bodyPr/>
          <a:lstStyle/>
          <a:p>
            <a:r>
              <a:rPr lang="en-US" altLang="en-US" sz="1700" dirty="0"/>
              <a:t>Consider:</a:t>
            </a:r>
          </a:p>
          <a:p>
            <a:pPr lvl="1">
              <a:buFont typeface="Monotype Sorts" charset="2"/>
              <a:buNone/>
            </a:pPr>
            <a:r>
              <a:rPr lang="en-US" altLang="en-US" sz="1700" b="1" dirty="0"/>
              <a:t>      create table </a:t>
            </a:r>
            <a:r>
              <a:rPr lang="en-US" altLang="en-US" sz="1700" i="1" dirty="0"/>
              <a:t>person </a:t>
            </a:r>
            <a:r>
              <a:rPr lang="en-US" altLang="en-US" sz="1700" dirty="0"/>
              <a:t>(</a:t>
            </a:r>
            <a:br>
              <a:rPr lang="en-US" altLang="en-US" sz="1700" dirty="0"/>
            </a:br>
            <a:r>
              <a:rPr lang="en-US" altLang="en-US" sz="1700" dirty="0"/>
              <a:t>	     </a:t>
            </a:r>
            <a:r>
              <a:rPr lang="en-US" altLang="en-US" sz="1700" i="1" dirty="0"/>
              <a:t>ID</a:t>
            </a:r>
            <a:r>
              <a:rPr lang="en-US" altLang="en-US" sz="1700" dirty="0"/>
              <a:t>  </a:t>
            </a:r>
            <a:r>
              <a:rPr lang="en-US" altLang="en-US" sz="1700" b="1" dirty="0"/>
              <a:t>char</a:t>
            </a:r>
            <a:r>
              <a:rPr lang="en-US" altLang="en-US" sz="1700" dirty="0"/>
              <a:t>(10),</a:t>
            </a:r>
            <a:br>
              <a:rPr lang="en-US" altLang="en-US" sz="1700" dirty="0"/>
            </a:br>
            <a:r>
              <a:rPr lang="en-US" altLang="en-US" sz="1700" dirty="0"/>
              <a:t>        </a:t>
            </a:r>
            <a:r>
              <a:rPr lang="en-US" altLang="en-US" sz="1700" i="1" dirty="0"/>
              <a:t>name </a:t>
            </a:r>
            <a:r>
              <a:rPr lang="en-US" altLang="en-US" sz="1700" b="1" dirty="0"/>
              <a:t>char</a:t>
            </a:r>
            <a:r>
              <a:rPr lang="en-US" altLang="en-US" sz="1700" dirty="0"/>
              <a:t>(40),</a:t>
            </a:r>
            <a:br>
              <a:rPr lang="en-US" altLang="en-US" sz="1700" dirty="0"/>
            </a:br>
            <a:r>
              <a:rPr lang="en-US" altLang="en-US" sz="1700" dirty="0">
                <a:solidFill>
                  <a:srgbClr val="000099"/>
                </a:solidFill>
              </a:rPr>
              <a:t>        </a:t>
            </a:r>
            <a:r>
              <a:rPr lang="en-US" altLang="en-US" sz="1700" i="1" dirty="0">
                <a:solidFill>
                  <a:srgbClr val="000099"/>
                </a:solidFill>
              </a:rPr>
              <a:t>mother</a:t>
            </a:r>
            <a:r>
              <a:rPr lang="en-US" altLang="en-US" sz="1700" dirty="0"/>
              <a:t> </a:t>
            </a:r>
            <a:r>
              <a:rPr lang="en-US" altLang="en-US" sz="1700" b="1" dirty="0"/>
              <a:t>char</a:t>
            </a:r>
            <a:r>
              <a:rPr lang="en-US" altLang="en-US" sz="1700" dirty="0"/>
              <a:t>(10),</a:t>
            </a:r>
            <a:br>
              <a:rPr lang="en-US" altLang="en-US" sz="1700" dirty="0"/>
            </a:br>
            <a:r>
              <a:rPr lang="en-US" altLang="en-US" sz="1700" dirty="0"/>
              <a:t>       </a:t>
            </a:r>
            <a:r>
              <a:rPr lang="en-US" altLang="en-US" sz="1700" dirty="0">
                <a:solidFill>
                  <a:srgbClr val="000099"/>
                </a:solidFill>
              </a:rPr>
              <a:t> </a:t>
            </a:r>
            <a:r>
              <a:rPr lang="en-US" altLang="en-US" sz="1700" i="1" dirty="0">
                <a:solidFill>
                  <a:srgbClr val="000099"/>
                </a:solidFill>
              </a:rPr>
              <a:t>father </a:t>
            </a:r>
            <a:r>
              <a:rPr lang="en-US" altLang="en-US" sz="1700" b="1" dirty="0">
                <a:solidFill>
                  <a:srgbClr val="000099"/>
                </a:solidFill>
              </a:rPr>
              <a:t> </a:t>
            </a:r>
            <a:r>
              <a:rPr lang="en-US" altLang="en-US" sz="1700" b="1" dirty="0"/>
              <a:t>char</a:t>
            </a:r>
            <a:r>
              <a:rPr lang="en-US" altLang="en-US" sz="1700" dirty="0"/>
              <a:t>(10),</a:t>
            </a:r>
            <a:br>
              <a:rPr lang="en-US" altLang="en-US" sz="1700" dirty="0"/>
            </a:br>
            <a:r>
              <a:rPr lang="en-US" altLang="en-US" sz="1700" dirty="0"/>
              <a:t>        </a:t>
            </a:r>
            <a:r>
              <a:rPr lang="en-US" altLang="en-US" sz="1700" b="1" dirty="0"/>
              <a:t>primary key</a:t>
            </a:r>
            <a:r>
              <a:rPr lang="en-US" altLang="en-US" sz="1700" i="1" dirty="0"/>
              <a:t> ID,</a:t>
            </a:r>
            <a:br>
              <a:rPr lang="en-US" altLang="en-US" sz="1700" i="1" dirty="0"/>
            </a:br>
            <a:r>
              <a:rPr lang="en-US" altLang="en-US" sz="1700" i="1" dirty="0"/>
              <a:t>        </a:t>
            </a:r>
            <a:r>
              <a:rPr lang="en-US" altLang="en-US" sz="1700" b="1" dirty="0"/>
              <a:t>foreign key </a:t>
            </a:r>
            <a:r>
              <a:rPr lang="en-US" altLang="en-US" sz="1700" i="1" dirty="0"/>
              <a:t>father</a:t>
            </a:r>
            <a:r>
              <a:rPr lang="en-US" altLang="en-US" sz="1700" b="1" dirty="0"/>
              <a:t> references </a:t>
            </a:r>
            <a:r>
              <a:rPr lang="en-US" altLang="en-US" sz="1700" i="1" dirty="0"/>
              <a:t>person,</a:t>
            </a:r>
            <a:r>
              <a:rPr lang="en-US" altLang="en-US" sz="1700" dirty="0"/>
              <a:t/>
            </a:r>
            <a:br>
              <a:rPr lang="en-US" altLang="en-US" sz="1700" dirty="0"/>
            </a:br>
            <a:r>
              <a:rPr lang="en-US" altLang="en-US" sz="1700" dirty="0"/>
              <a:t>        </a:t>
            </a:r>
            <a:r>
              <a:rPr lang="en-US" altLang="en-US" sz="1700" b="1" dirty="0"/>
              <a:t>foreign key </a:t>
            </a:r>
            <a:r>
              <a:rPr lang="en-US" altLang="en-US" sz="1700" i="1" dirty="0"/>
              <a:t>mother</a:t>
            </a:r>
            <a:r>
              <a:rPr lang="en-US" altLang="en-US" sz="1700" dirty="0"/>
              <a:t> </a:t>
            </a:r>
            <a:r>
              <a:rPr lang="en-US" altLang="en-US" sz="1700" b="1" dirty="0"/>
              <a:t>references </a:t>
            </a:r>
            <a:r>
              <a:rPr lang="en-US" altLang="en-US" sz="1700" i="1" dirty="0"/>
              <a:t> person</a:t>
            </a:r>
            <a:r>
              <a:rPr lang="en-US" altLang="en-US" sz="1700" dirty="0"/>
              <a:t>)</a:t>
            </a:r>
          </a:p>
          <a:p>
            <a:endParaRPr lang="en-US" altLang="en-US" sz="1700" dirty="0"/>
          </a:p>
          <a:p>
            <a:r>
              <a:rPr lang="en-US" altLang="en-US" sz="1700" b="1" dirty="0"/>
              <a:t>How to insert a tuple without causing constraint violation?</a:t>
            </a:r>
          </a:p>
          <a:p>
            <a:pPr lvl="1" algn="just"/>
            <a:r>
              <a:rPr lang="en-US" altLang="en-US" sz="1700" dirty="0"/>
              <a:t>Insert father and mother of a person before inserting person</a:t>
            </a:r>
          </a:p>
          <a:p>
            <a:pPr lvl="1" algn="just"/>
            <a:r>
              <a:rPr lang="en-US" altLang="en-US" sz="1700" dirty="0"/>
              <a:t>OR, set father and mother to null initially, update after inserting all persons (not possible if father and mother attributes declared to be </a:t>
            </a:r>
            <a:r>
              <a:rPr lang="en-US" altLang="en-US" sz="1700" b="1" dirty="0"/>
              <a:t>not null</a:t>
            </a:r>
            <a:r>
              <a:rPr lang="en-US" altLang="en-US" sz="1700" dirty="0"/>
              <a:t>) </a:t>
            </a:r>
          </a:p>
          <a:p>
            <a:pPr lvl="1" algn="just"/>
            <a:r>
              <a:rPr lang="en-US" altLang="en-US" sz="1700" dirty="0"/>
              <a:t>OR </a:t>
            </a:r>
            <a:r>
              <a:rPr lang="en-US" altLang="en-US" sz="1700" dirty="0">
                <a:solidFill>
                  <a:srgbClr val="000099"/>
                </a:solidFill>
              </a:rPr>
              <a:t>defer constraint</a:t>
            </a:r>
            <a:r>
              <a:rPr lang="en-US" altLang="en-US" sz="1700" b="1" dirty="0">
                <a:solidFill>
                  <a:srgbClr val="000099"/>
                </a:solidFill>
              </a:rPr>
              <a:t> </a:t>
            </a:r>
            <a:r>
              <a:rPr lang="en-US" altLang="en-US" sz="1700" dirty="0">
                <a:solidFill>
                  <a:srgbClr val="000099"/>
                </a:solidFill>
              </a:rPr>
              <a:t>checking</a:t>
            </a:r>
            <a:r>
              <a:rPr lang="en-US" altLang="en-US" dirty="0"/>
              <a:t>(</a:t>
            </a:r>
            <a:r>
              <a:rPr lang="en-US" altLang="en-US" b="1" dirty="0"/>
              <a:t>deferrable </a:t>
            </a:r>
            <a:r>
              <a:rPr lang="en-US" altLang="en-US" dirty="0"/>
              <a:t>clause</a:t>
            </a:r>
            <a:r>
              <a:rPr lang="en-US" altLang="en-US" b="1" dirty="0"/>
              <a:t> </a:t>
            </a:r>
            <a:r>
              <a:rPr lang="en-US" altLang="en-US" dirty="0"/>
              <a:t> in constraint specification)</a:t>
            </a:r>
          </a:p>
          <a:p>
            <a:pPr lvl="1"/>
            <a:endParaRPr lang="en-US" altLang="en-US" sz="1700" dirty="0"/>
          </a:p>
          <a:p>
            <a:pPr lvl="1"/>
            <a:endParaRPr lang="en-US" altLang="en-US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Index Creation</a:t>
            </a:r>
          </a:p>
        </p:txBody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093789"/>
            <a:ext cx="7638802" cy="5582782"/>
          </a:xfrm>
        </p:spPr>
        <p:txBody>
          <a:bodyPr/>
          <a:lstStyle/>
          <a:p>
            <a:pPr algn="just">
              <a:defRPr/>
            </a:pPr>
            <a:r>
              <a:rPr lang="en-US" altLang="en-US" sz="1800" dirty="0"/>
              <a:t>Many queries reference only a small proportion of the records in a table. </a:t>
            </a:r>
          </a:p>
          <a:p>
            <a:pPr algn="just">
              <a:buFont typeface="Monotype Sorts" charset="2"/>
              <a:buNone/>
              <a:defRPr/>
            </a:pPr>
            <a:endParaRPr lang="en-US" altLang="en-US" sz="1800" dirty="0"/>
          </a:p>
          <a:p>
            <a:pPr algn="just">
              <a:defRPr/>
            </a:pPr>
            <a:r>
              <a:rPr lang="en-US" altLang="en-US" sz="1800" dirty="0"/>
              <a:t>It is inefficient for the system to read every record to find  a record with  particular value</a:t>
            </a:r>
          </a:p>
          <a:p>
            <a:pPr algn="just">
              <a:buFont typeface="Monotype Sorts" charset="2"/>
              <a:buNone/>
              <a:defRPr/>
            </a:pPr>
            <a:endParaRPr lang="en-US" altLang="en-US" sz="1800" dirty="0"/>
          </a:p>
          <a:p>
            <a:pPr algn="just">
              <a:defRPr/>
            </a:pPr>
            <a:r>
              <a:rPr lang="en-US" altLang="en-US" sz="1800" dirty="0"/>
              <a:t>An </a:t>
            </a:r>
            <a:r>
              <a:rPr lang="en-US" altLang="en-US" sz="1800" b="1" dirty="0">
                <a:solidFill>
                  <a:srgbClr val="FF0000"/>
                </a:solidFill>
              </a:rPr>
              <a:t>index</a:t>
            </a:r>
            <a:r>
              <a:rPr lang="en-US" altLang="en-US" sz="1800" dirty="0"/>
              <a:t> </a:t>
            </a:r>
            <a:r>
              <a:rPr lang="en-US" altLang="en-US" sz="1800" dirty="0">
                <a:solidFill>
                  <a:srgbClr val="000099"/>
                </a:solidFill>
              </a:rPr>
              <a:t>on an attribute of a relation is a data structure </a:t>
            </a:r>
            <a:r>
              <a:rPr lang="en-US" altLang="en-US" sz="1800" dirty="0"/>
              <a:t>that allows the database system to find those tuples in the relation that have a specified value for that attribute efficiently, without scanning through all the tuples of the relation.</a:t>
            </a:r>
          </a:p>
          <a:p>
            <a:pPr marL="0" indent="0" algn="just">
              <a:buNone/>
              <a:defRPr/>
            </a:pPr>
            <a:endParaRPr lang="en-US" altLang="en-US" sz="1800" dirty="0"/>
          </a:p>
          <a:p>
            <a:pPr algn="just">
              <a:defRPr/>
            </a:pPr>
            <a:r>
              <a:rPr lang="en-US" altLang="en-US" sz="1800" dirty="0"/>
              <a:t>Indices are data structures used to speed up access to records with specified values for index attributes</a:t>
            </a:r>
          </a:p>
          <a:p>
            <a:pPr algn="just">
              <a:defRPr/>
            </a:pPr>
            <a:endParaRPr lang="en-US" altLang="en-US" sz="1800" dirty="0"/>
          </a:p>
          <a:p>
            <a:r>
              <a:rPr lang="en-US" altLang="en-US" sz="1700" dirty="0"/>
              <a:t>We create an index with the </a:t>
            </a:r>
            <a:r>
              <a:rPr lang="en-US" altLang="en-US" sz="1700" b="1" dirty="0"/>
              <a:t>create index </a:t>
            </a:r>
            <a:r>
              <a:rPr lang="en-US" altLang="en-US" sz="1700" dirty="0"/>
              <a:t>command</a:t>
            </a:r>
          </a:p>
          <a:p>
            <a:pPr>
              <a:buNone/>
            </a:pPr>
            <a:r>
              <a:rPr lang="en-US" altLang="en-US" sz="1700" dirty="0"/>
              <a:t>         </a:t>
            </a:r>
            <a:r>
              <a:rPr lang="en-US" altLang="en-US" sz="1700" b="1" dirty="0"/>
              <a:t>create index </a:t>
            </a:r>
            <a:r>
              <a:rPr lang="en-US" altLang="en-US" sz="1700" dirty="0"/>
              <a:t>&lt;name&gt; </a:t>
            </a:r>
            <a:r>
              <a:rPr lang="en-US" altLang="en-US" sz="1700" b="1" dirty="0"/>
              <a:t>on </a:t>
            </a:r>
            <a:r>
              <a:rPr lang="en-US" altLang="en-US" sz="1700" dirty="0"/>
              <a:t>&lt;relation-name&gt; (attribute);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Index Creation Example</a:t>
            </a:r>
          </a:p>
        </p:txBody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093788"/>
            <a:ext cx="7497826" cy="5112701"/>
          </a:xfrm>
        </p:spPr>
        <p:txBody>
          <a:bodyPr/>
          <a:lstStyle/>
          <a:p>
            <a:r>
              <a:rPr lang="en-US" altLang="en-US" sz="2000" b="1" dirty="0"/>
              <a:t>create table </a:t>
            </a:r>
            <a:r>
              <a:rPr lang="en-US" altLang="en-US" sz="2000" i="1" dirty="0">
                <a:solidFill>
                  <a:srgbClr val="C00000"/>
                </a:solidFill>
              </a:rPr>
              <a:t>student	</a:t>
            </a:r>
            <a:r>
              <a:rPr lang="en-US" altLang="en-US" sz="2000" i="1" dirty="0"/>
              <a:t/>
            </a:r>
            <a:br>
              <a:rPr lang="en-US" altLang="en-US" sz="2000" i="1" dirty="0"/>
            </a:br>
            <a:r>
              <a:rPr lang="en-US" altLang="en-US" sz="2000" dirty="0"/>
              <a:t>(</a:t>
            </a:r>
            <a:r>
              <a:rPr lang="en-US" altLang="en-US" sz="2000" i="1" dirty="0"/>
              <a:t>ID </a:t>
            </a:r>
            <a:r>
              <a:rPr lang="en-US" altLang="en-US" sz="2000" dirty="0"/>
              <a:t>varchar (5),</a:t>
            </a:r>
            <a:br>
              <a:rPr lang="en-US" altLang="en-US" sz="2000" dirty="0"/>
            </a:br>
            <a:r>
              <a:rPr lang="en-US" altLang="en-US" sz="2000" i="1" dirty="0"/>
              <a:t>name </a:t>
            </a:r>
            <a:r>
              <a:rPr lang="en-US" altLang="en-US" sz="2000" dirty="0"/>
              <a:t>varchar (20) not null,</a:t>
            </a:r>
            <a:br>
              <a:rPr lang="en-US" altLang="en-US" sz="2000" dirty="0"/>
            </a:br>
            <a:r>
              <a:rPr lang="en-US" altLang="en-US" sz="2000" i="1" dirty="0" err="1"/>
              <a:t>dept_name</a:t>
            </a:r>
            <a:r>
              <a:rPr lang="en-US" altLang="en-US" sz="2000" i="1" dirty="0"/>
              <a:t> </a:t>
            </a:r>
            <a:r>
              <a:rPr lang="en-US" altLang="en-US" sz="2000" dirty="0"/>
              <a:t>varchar (20),</a:t>
            </a:r>
            <a:br>
              <a:rPr lang="en-US" altLang="en-US" sz="2000" dirty="0"/>
            </a:br>
            <a:r>
              <a:rPr lang="en-US" altLang="en-US" sz="2000" i="1" dirty="0" err="1"/>
              <a:t>tot_cred</a:t>
            </a:r>
            <a:r>
              <a:rPr lang="en-US" altLang="en-US" sz="2000" i="1" dirty="0"/>
              <a:t> </a:t>
            </a:r>
            <a:r>
              <a:rPr lang="en-US" altLang="en-US" sz="2000" dirty="0"/>
              <a:t>numeric (3,0) default 0,</a:t>
            </a:r>
            <a:br>
              <a:rPr lang="en-US" altLang="en-US" sz="2000" dirty="0"/>
            </a:br>
            <a:r>
              <a:rPr lang="en-US" altLang="en-US" sz="2000" dirty="0"/>
              <a:t>primary key (</a:t>
            </a:r>
            <a:r>
              <a:rPr lang="en-US" altLang="en-US" sz="2000" i="1" dirty="0"/>
              <a:t>ID</a:t>
            </a:r>
            <a:r>
              <a:rPr lang="en-US" altLang="en-US" sz="2000" dirty="0"/>
              <a:t>))</a:t>
            </a:r>
          </a:p>
          <a:p>
            <a:pPr>
              <a:buFont typeface="Monotype Sorts" charset="2"/>
              <a:buNone/>
            </a:pPr>
            <a:endParaRPr lang="en-US" altLang="en-US" dirty="0"/>
          </a:p>
          <a:p>
            <a:r>
              <a:rPr lang="en-US" altLang="en-US" sz="2000" b="1" dirty="0"/>
              <a:t>create index </a:t>
            </a:r>
            <a:r>
              <a:rPr lang="en-US" altLang="en-US" sz="2000" i="1" dirty="0" err="1">
                <a:solidFill>
                  <a:srgbClr val="000099"/>
                </a:solidFill>
              </a:rPr>
              <a:t>studentID_index</a:t>
            </a:r>
            <a:r>
              <a:rPr lang="en-US" altLang="en-US" sz="2000" i="1" dirty="0"/>
              <a:t> </a:t>
            </a:r>
            <a:r>
              <a:rPr lang="en-US" altLang="en-US" sz="2000" b="1" dirty="0"/>
              <a:t>on </a:t>
            </a:r>
            <a:r>
              <a:rPr lang="en-US" altLang="en-US" sz="2000" i="1" dirty="0"/>
              <a:t>student</a:t>
            </a:r>
            <a:r>
              <a:rPr lang="en-US" altLang="en-US" sz="2000" dirty="0"/>
              <a:t>(</a:t>
            </a:r>
            <a:r>
              <a:rPr lang="en-US" altLang="en-US" sz="2000" i="1" dirty="0"/>
              <a:t>ID</a:t>
            </a:r>
            <a:r>
              <a:rPr lang="en-US" altLang="en-US" sz="2000" dirty="0"/>
              <a:t>)</a:t>
            </a:r>
          </a:p>
          <a:p>
            <a:pPr>
              <a:buFont typeface="Monotype Sorts" charset="2"/>
              <a:buNone/>
            </a:pPr>
            <a:endParaRPr lang="en-US" altLang="en-US" dirty="0"/>
          </a:p>
          <a:p>
            <a:r>
              <a:rPr lang="en-US" altLang="en-US" dirty="0">
                <a:solidFill>
                  <a:srgbClr val="C00000"/>
                </a:solidFill>
              </a:rPr>
              <a:t>Query:     </a:t>
            </a:r>
            <a:r>
              <a:rPr lang="en-US" altLang="en-US" sz="2000" b="1" dirty="0"/>
              <a:t>select * </a:t>
            </a:r>
            <a:br>
              <a:rPr lang="en-US" altLang="en-US" sz="2000" b="1" dirty="0"/>
            </a:br>
            <a:r>
              <a:rPr lang="en-US" altLang="en-US" sz="2000" b="1" dirty="0"/>
              <a:t>      		 from </a:t>
            </a:r>
            <a:r>
              <a:rPr lang="en-US" altLang="en-US" sz="2000" dirty="0"/>
              <a:t> </a:t>
            </a:r>
            <a:r>
              <a:rPr lang="en-US" altLang="en-US" sz="2000" i="1" dirty="0"/>
              <a:t>student</a:t>
            </a:r>
            <a:br>
              <a:rPr lang="en-US" altLang="en-US" sz="2000" i="1" dirty="0"/>
            </a:br>
            <a:r>
              <a:rPr lang="en-US" altLang="en-US" sz="2000" i="1" dirty="0"/>
              <a:t>      		 </a:t>
            </a:r>
            <a:r>
              <a:rPr lang="en-US" altLang="en-US" sz="2000" b="1" dirty="0"/>
              <a:t>where </a:t>
            </a:r>
            <a:r>
              <a:rPr lang="en-US" altLang="en-US" sz="2000" i="1" dirty="0"/>
              <a:t> ID = </a:t>
            </a:r>
            <a:r>
              <a:rPr lang="en-US" altLang="en-US" sz="2000" dirty="0"/>
              <a:t>‘12345’</a:t>
            </a:r>
            <a:endParaRPr lang="en-US" altLang="en-US" dirty="0"/>
          </a:p>
          <a:p>
            <a:pPr lvl="1" algn="just">
              <a:buFont typeface="Monotype Sorts" charset="2"/>
              <a:buNone/>
            </a:pPr>
            <a:r>
              <a:rPr lang="en-US" altLang="en-US" sz="1800" dirty="0">
                <a:solidFill>
                  <a:srgbClr val="000099"/>
                </a:solidFill>
              </a:rPr>
              <a:t>can be executed by using the index to find the required record, without looking at all records of </a:t>
            </a:r>
            <a:r>
              <a:rPr lang="en-US" altLang="en-US" sz="1800" i="1" dirty="0">
                <a:solidFill>
                  <a:srgbClr val="000099"/>
                </a:solidFill>
              </a:rPr>
              <a:t>student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22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a typeface="+mj-ea"/>
              </a:rPr>
              <a:t>End of the Unit-2,Part-3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db-5-grey">
  <a:themeElements>
    <a:clrScheme name="">
      <a:dk1>
        <a:srgbClr val="000000"/>
      </a:dk1>
      <a:lt1>
        <a:srgbClr val="CCECFF"/>
      </a:lt1>
      <a:dk2>
        <a:srgbClr val="CC3300"/>
      </a:dk2>
      <a:lt2>
        <a:srgbClr val="666699"/>
      </a:lt2>
      <a:accent1>
        <a:srgbClr val="FFFFFF"/>
      </a:accent1>
      <a:accent2>
        <a:srgbClr val="CCCC00"/>
      </a:accent2>
      <a:accent3>
        <a:srgbClr val="E2F4FF"/>
      </a:accent3>
      <a:accent4>
        <a:srgbClr val="000000"/>
      </a:accent4>
      <a:accent5>
        <a:srgbClr val="FFFFFF"/>
      </a:accent5>
      <a:accent6>
        <a:srgbClr val="B9B900"/>
      </a:accent6>
      <a:hlink>
        <a:srgbClr val="FF9900"/>
      </a:hlink>
      <a:folHlink>
        <a:srgbClr val="FF9933"/>
      </a:folHlink>
    </a:clrScheme>
    <a:fontScheme name="2_db-5-grey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Helvetic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Helvetica" charset="0"/>
          </a:defRPr>
        </a:defPPr>
      </a:lstStyle>
    </a:lnDef>
  </a:objectDefaults>
  <a:extraClrSchemeLst>
    <a:extraClrScheme>
      <a:clrScheme name="2_db-5-grey 1">
        <a:dk1>
          <a:srgbClr val="333333"/>
        </a:dk1>
        <a:lt1>
          <a:srgbClr val="A9BDA9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D1DBD1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b-5-grey 2">
        <a:dk1>
          <a:srgbClr val="333333"/>
        </a:dk1>
        <a:lt1>
          <a:srgbClr val="FFFFFF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FFFFFF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b-5-grey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37373"/>
        </a:accent6>
        <a:hlink>
          <a:srgbClr val="B2B2B2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DB6</Template>
  <TotalTime>93222</TotalTime>
  <Words>1364</Words>
  <Application>Microsoft Office PowerPoint</Application>
  <PresentationFormat>On-screen Show (4:3)</PresentationFormat>
  <Paragraphs>319</Paragraphs>
  <Slides>37</Slides>
  <Notes>31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  <vt:variant>
        <vt:lpstr>Custom Shows</vt:lpstr>
      </vt:variant>
      <vt:variant>
        <vt:i4>1</vt:i4>
      </vt:variant>
    </vt:vector>
  </HeadingPairs>
  <TitlesOfParts>
    <vt:vector size="48" baseType="lpstr">
      <vt:lpstr>ＭＳ Ｐゴシック</vt:lpstr>
      <vt:lpstr>ＭＳ Ｐゴシック</vt:lpstr>
      <vt:lpstr>Arial</vt:lpstr>
      <vt:lpstr>Helvetica</vt:lpstr>
      <vt:lpstr>Monotype Sorts</vt:lpstr>
      <vt:lpstr>Symbol</vt:lpstr>
      <vt:lpstr>Times New Roman</vt:lpstr>
      <vt:lpstr>Webdings</vt:lpstr>
      <vt:lpstr>Wingdings</vt:lpstr>
      <vt:lpstr>2_db-5-grey</vt:lpstr>
      <vt:lpstr>Intermediate SQL Unit-2,Part-2 Faculty: A.Sirisha</vt:lpstr>
      <vt:lpstr>Outline</vt:lpstr>
      <vt:lpstr>Joined Relations</vt:lpstr>
      <vt:lpstr>Student Relation</vt:lpstr>
      <vt:lpstr>Takes Relation</vt:lpstr>
      <vt:lpstr>student natural join takes</vt:lpstr>
      <vt:lpstr>Natural Join</vt:lpstr>
      <vt:lpstr>Natural Join in SQL</vt:lpstr>
      <vt:lpstr>Dangerous in Natural Join</vt:lpstr>
      <vt:lpstr>Natural Join with Using Clause</vt:lpstr>
      <vt:lpstr>Join Condition</vt:lpstr>
      <vt:lpstr>Join operations – Example</vt:lpstr>
      <vt:lpstr>Outer Join</vt:lpstr>
      <vt:lpstr>Left Outer Join</vt:lpstr>
      <vt:lpstr>Right Outer Join</vt:lpstr>
      <vt:lpstr>Full Outer Join</vt:lpstr>
      <vt:lpstr>Join Types and Conditions</vt:lpstr>
      <vt:lpstr>Joined Relations – Examples </vt:lpstr>
      <vt:lpstr>Joined Relations – Examples</vt:lpstr>
      <vt:lpstr>Views</vt:lpstr>
      <vt:lpstr>View Definition</vt:lpstr>
      <vt:lpstr>View Definition and Use</vt:lpstr>
      <vt:lpstr>Views Defined Using Other Views</vt:lpstr>
      <vt:lpstr>Views Defined Using Other Views</vt:lpstr>
      <vt:lpstr>View Expansion</vt:lpstr>
      <vt:lpstr>Integrity Constraints</vt:lpstr>
      <vt:lpstr> Constraints on a Single Relation </vt:lpstr>
      <vt:lpstr>Not Null Constraint</vt:lpstr>
      <vt:lpstr>Unique Constraint </vt:lpstr>
      <vt:lpstr>The check clause</vt:lpstr>
      <vt:lpstr>Referential Integrity</vt:lpstr>
      <vt:lpstr>Referential Integrity (Cont.)</vt:lpstr>
      <vt:lpstr>Cascading Actions in Referential Integrity</vt:lpstr>
      <vt:lpstr>Integrity Constraint Violation During Transactions</vt:lpstr>
      <vt:lpstr>Index Creation</vt:lpstr>
      <vt:lpstr>Index Creation Example</vt:lpstr>
      <vt:lpstr>End of the Unit-2,Part-3</vt:lpstr>
      <vt:lpstr>Custom Show 1</vt:lpstr>
    </vt:vector>
  </TitlesOfParts>
  <Company>Lucent Technologies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7:  Relational Database Design</dc:title>
  <dc:creator>Marilyn Turnamian</dc:creator>
  <cp:lastModifiedBy>Sirisha Alamanda</cp:lastModifiedBy>
  <cp:revision>516</cp:revision>
  <cp:lastPrinted>1999-06-28T19:27:31Z</cp:lastPrinted>
  <dcterms:created xsi:type="dcterms:W3CDTF">2009-12-21T15:40:22Z</dcterms:created>
  <dcterms:modified xsi:type="dcterms:W3CDTF">2025-02-20T09:31:30Z</dcterms:modified>
</cp:coreProperties>
</file>