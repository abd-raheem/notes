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3" r:id="rId1"/>
  </p:sldMasterIdLst>
  <p:notesMasterIdLst>
    <p:notesMasterId r:id="rId29"/>
  </p:notesMasterIdLst>
  <p:handoutMasterIdLst>
    <p:handoutMasterId r:id="rId30"/>
  </p:handoutMasterIdLst>
  <p:sldIdLst>
    <p:sldId id="370" r:id="rId2"/>
    <p:sldId id="256" r:id="rId3"/>
    <p:sldId id="344" r:id="rId4"/>
    <p:sldId id="319" r:id="rId5"/>
    <p:sldId id="343" r:id="rId6"/>
    <p:sldId id="476" r:id="rId7"/>
    <p:sldId id="363" r:id="rId8"/>
    <p:sldId id="309" r:id="rId9"/>
    <p:sldId id="310" r:id="rId10"/>
    <p:sldId id="388" r:id="rId11"/>
    <p:sldId id="311" r:id="rId12"/>
    <p:sldId id="312" r:id="rId13"/>
    <p:sldId id="313" r:id="rId14"/>
    <p:sldId id="462" r:id="rId15"/>
    <p:sldId id="463" r:id="rId16"/>
    <p:sldId id="455" r:id="rId17"/>
    <p:sldId id="456" r:id="rId18"/>
    <p:sldId id="342" r:id="rId19"/>
    <p:sldId id="457" r:id="rId20"/>
    <p:sldId id="317" r:id="rId21"/>
    <p:sldId id="318" r:id="rId22"/>
    <p:sldId id="364" r:id="rId23"/>
    <p:sldId id="321" r:id="rId24"/>
    <p:sldId id="459" r:id="rId25"/>
    <p:sldId id="327" r:id="rId26"/>
    <p:sldId id="328" r:id="rId27"/>
    <p:sldId id="478" r:id="rId28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99"/>
    <a:srgbClr val="3366CC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24" autoAdjust="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>
        <p:guide orient="horz" pos="70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2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xmlns="" id="{A1F08303-2CD9-4788-958C-65C4BFDD75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xmlns="" id="{161BF148-0A15-46B7-8DD7-02C13C8EF90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4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20" name="Rectangle 4">
            <a:extLst>
              <a:ext uri="{FF2B5EF4-FFF2-40B4-BE49-F238E27FC236}">
                <a16:creationId xmlns:a16="http://schemas.microsoft.com/office/drawing/2014/main" xmlns="" id="{7238AF6D-AA32-4C88-BB92-27E791452A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21" name="Rectangle 5">
            <a:extLst>
              <a:ext uri="{FF2B5EF4-FFF2-40B4-BE49-F238E27FC236}">
                <a16:creationId xmlns:a16="http://schemas.microsoft.com/office/drawing/2014/main" xmlns="" id="{91141A00-8B0B-40AA-9BDC-71C79084B68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40788"/>
            <a:ext cx="304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36E825B-D795-474E-A44E-EE0311DDC1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xmlns="" id="{C6BFD82A-7DBF-496D-8A34-58AC026337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xmlns="" id="{A1F4BD03-B568-40D5-86DC-D2326AF695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>
            <a:lvl1pPr algn="r"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57E6A977-6667-44CC-9695-7786EF5BC62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0263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xmlns="" id="{07351312-129D-4F3F-81CB-22BFA61745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3397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xmlns="" id="{59839329-0D0E-4440-AF95-A5CC0C4458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b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xmlns="" id="{BE5359F0-274A-4408-8973-E5AB57445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E737BEB-9250-4702-B43C-3A636F0CD6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973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31A0E380-F0EE-40D0-AFCE-90433E95E2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D0C9F46-EEC1-44E1-AADF-0C5DFAC157FD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xmlns="" id="{BEE72DA4-8AA8-4864-8EDE-1781EF2B18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xmlns="" id="{133BAE36-8C0B-40D0-862F-F5862FDA8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838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xmlns="" id="{6321B667-9A45-42B8-9A88-05CCA7CE4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219423-C9AB-4B43-A997-58F863D1912F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xmlns="" id="{23F8EC89-E9A1-405D-981C-52FF1AF249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xmlns="" id="{E27EED68-434D-49BF-B488-F84981275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55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xmlns="" id="{D737C83C-5231-400C-ABAC-E802D57250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6960B5-CD0D-4E77-9549-F0BE319614AF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xmlns="" id="{9C02F081-F3E5-4E82-A506-8249FCC7EA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xmlns="" id="{E01E14C4-E8D3-4EF2-AE91-C909FDE03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691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E0B70E7C-6BD0-4B47-846B-BDFA05BE3F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1FFDD60-6F1F-41F9-AE11-E0C93AB48046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09056EE3-D9C5-4A86-BC14-5FA0427469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9C850731-90E0-4872-BC7B-AD10870C1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442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xmlns="" id="{F32DA4FD-03E3-4ADF-B51F-ED6C5C47E1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F12D1A-C6EE-4D7C-AC44-7E505EC7AF9A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xmlns="" id="{0DF77218-C772-4D7B-9568-C8F8165B99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xmlns="" id="{D40D1FB1-38D3-4CD0-9B4F-E6C096821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665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xmlns="" id="{C03F6759-721F-432F-A734-55E1C5F22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xmlns="" id="{FCA8C569-269B-4964-A6C4-E112A1C17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xmlns="" id="{FA955F6C-4161-4C7D-96F2-9FF5E5C91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027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xmlns="" id="{3152DB3B-E3D4-4EB9-891D-3AFF2DD1D4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217FA94-1851-4A4F-882F-690D434D5664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xmlns="" id="{AAF0C87B-A3AD-4535-996D-565146AFE9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xmlns="" id="{CC7946C1-AA22-4D30-A389-86F48E798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433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xmlns="" id="{88A60A3C-83B9-4899-851B-E58271EE25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F2A6619-26FC-4C2B-BBB5-BE9514BF1391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xmlns="" id="{19CE9E0F-6018-43CB-B763-D2A60ACCC8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xmlns="" id="{FE9F0D31-793C-457E-82A5-88A01D82B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61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xmlns="" id="{28C1544A-10C5-41D5-BE9F-0F5FFAC90E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58AEBB-0155-4B61-8D5B-283345223885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xmlns="" id="{D6171361-ED55-4304-B92D-1B39E353D0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xmlns="" id="{731805C8-25FE-4591-82A9-583FCE3F7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383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xmlns="" id="{E15551B6-F202-41C7-9919-C9D7CFDD0F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C98B507-36CD-452D-B3F8-31AD42CE15FF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xmlns="" id="{A97D8762-D09A-4267-9D70-BE56B46690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xmlns="" id="{C64E75D3-B753-40E5-8669-F958D69C7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99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xmlns="" id="{B0FCF47F-4348-498B-B820-B9B73C6D58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EF0E0E8-D17B-41A3-B753-2245199CBB30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xmlns="" id="{E6EC2138-3D91-405A-B29F-B1C527799D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xmlns="" id="{77519BCB-959F-4CA7-86A5-A3590C17A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817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xmlns="" id="{CBC8D124-B136-42BA-B33A-1DF2378A5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43A896A-CD88-45BB-883A-A5A6ACCFC261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xmlns="" id="{D0E5C191-44C7-4313-85F7-8BD71D8C93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xmlns="" id="{F12ECE34-0B14-4777-B117-F516895DE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755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xmlns="" id="{B375F6E7-BF43-423E-9E8D-8524F7B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8B0E96-3F79-4205-B0CE-221B7F97329C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xmlns="" id="{F61EE5A8-966A-41BB-B726-B2C48308D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xmlns="" id="{C1EC76AA-7316-448A-A891-5E3CEF933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460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xmlns="" id="{B375F6E7-BF43-423E-9E8D-8524F7B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8B0E96-3F79-4205-B0CE-221B7F97329C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xmlns="" id="{F61EE5A8-966A-41BB-B726-B2C48308D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xmlns="" id="{C1EC76AA-7316-448A-A891-5E3CEF933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856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xmlns="" id="{B375F6E7-BF43-423E-9E8D-8524F7B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8B0E96-3F79-4205-B0CE-221B7F97329C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xmlns="" id="{F61EE5A8-966A-41BB-B726-B2C48308D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xmlns="" id="{C1EC76AA-7316-448A-A891-5E3CEF933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How about </a:t>
            </a:r>
            <a:r>
              <a:rPr lang="en-US" altLang="en-US" dirty="0">
                <a:sym typeface="Greek Symbols" pitchFamily="18" charset="2"/>
              </a:rPr>
              <a:t>(r </a:t>
            </a:r>
            <a:r>
              <a:rPr lang="en-IN" dirty="0"/>
              <a:t>⟕ s) ⟕ t  vs </a:t>
            </a:r>
            <a:r>
              <a:rPr lang="en-US" altLang="en-US" dirty="0">
                <a:sym typeface="Greek Symbols" pitchFamily="18" charset="2"/>
              </a:rPr>
              <a:t>(r </a:t>
            </a:r>
            <a:r>
              <a:rPr lang="en-IN" dirty="0"/>
              <a:t>⟕ t) ⟕ s assuming r has common attributes with s and t?  Hint: consider 2 cases where s and t have common attributes and those where they have no common attribute 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484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xmlns="" id="{2FFE2C0B-1E00-41D0-8A11-C4E72548B5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C713CF-9607-4470-A273-AC494A38B95B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xmlns="" id="{919EB798-4276-4EB1-BA14-2883766AD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xmlns="" id="{3ECD4996-047F-43DA-BBDD-D548EFF47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948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xmlns="" id="{9047973B-0933-4747-BC7D-DC93B515F7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6076AEA-D4D8-443A-B94D-3E3B52B66C93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xmlns="" id="{094E1CE2-39F3-415A-A9D3-7A1485FAB1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xmlns="" id="{9618E90F-7E5F-432A-A700-F2B7700B1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074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xmlns="" id="{371AD5BA-2A20-45B1-B5ED-8C53DA2EC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7A7E811-F856-4583-9950-8E1234DCF49C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xmlns="" id="{294988F5-3980-4401-8BEA-49271D3F2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xmlns="" id="{1081064C-90F0-4D6B-84C2-C2B908F48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140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xmlns="" id="{DC3B6426-DEBD-439A-B825-EAF23D5313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591014-7458-4460-9DFD-89B1944A3F9E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xmlns="" id="{86B845D5-6C90-4896-8EFD-B2EEDA235B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xmlns="" id="{0ADE95A0-2975-4AFA-9BF4-3B9DD6F09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7364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xmlns="" id="{31B06015-4375-4F47-98C5-80E32064BC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9566348-BFEE-4085-9B98-BB3E51A967A7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xmlns="" id="{400DAAEE-9188-46A0-8928-77476B356C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xmlns="" id="{131AFA1C-1C5D-441D-82BC-5AC4D121B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281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xmlns="" id="{19FEE978-6044-4D2E-8F9F-32A6AE15BC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ACB2606-DECF-45B3-A0F6-8771E5D1B393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xmlns="" id="{A94E872E-7942-443C-ADE8-42F93E345A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xmlns="" id="{A6B2C401-F648-4E44-981B-48E8A3DD4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778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xmlns="" id="{2D39EA6C-42C4-49FA-A04B-E724C52723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5AE1339-B637-4260-8C8B-8BD687B29C9D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xmlns="" id="{24F4CFF6-94AC-4A55-8E7A-B46A95728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xmlns="" id="{26080C2F-B19D-4F75-8687-069C24ED2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7080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xmlns="" id="{C03F6759-721F-432F-A734-55E1C5F22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xmlns="" id="{FCA8C569-269B-4964-A6C4-E112A1C17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xmlns="" id="{FA955F6C-4161-4C7D-96F2-9FF5E5C91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1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18533F7-750B-4DBA-96FC-65DC7E364DF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xmlns="" id="{77026798-0827-482F-848C-054321BDFD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172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2497"/>
            <a:ext cx="7772400" cy="5367972"/>
          </a:xfrm>
          <a:prstGeom prst="rect">
            <a:avLst/>
          </a:prstGeo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0FF13-A7A4-47FE-9669-E2EFAD58AB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768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  <a:prstGeom prst="rect">
            <a:avLst/>
          </a:prstGeo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29D90-88FA-402A-BEA8-1EF51CAB675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02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592F4-3A7D-46E7-98AB-5C544D380A1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  <a:prstGeom prst="rect">
            <a:avLst/>
          </a:prstGeo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406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C0E4B-79D4-46C0-883C-5BC043062C3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233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DF77F-67A1-48F6-8358-97C70542CB2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17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6F0F5-1220-4B86-AECD-B7BEE6E1BE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74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5D68A-6EDF-45EE-BBA8-637BD793E61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09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35670-FB96-4DB8-BA64-B31D7C042BD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81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145AF-6EF6-4D3F-9F5A-D9A01965DFC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31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73E3-C97D-4F1E-BBB4-46F84DAEF7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229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D80F2-B6B5-42D7-B641-5532DED868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8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18533F7-750B-4DBA-96FC-65DC7E364D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77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0876" y="1093788"/>
            <a:ext cx="782478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xmlns="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3251494-9320-46DB-9561-B10814EE66F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xmlns="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xmlns="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16.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xmlns="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xmlns="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xmlns="" id="{8415B884-A6BF-4E61-8F45-53870045B3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096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62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xmlns="" id="{4BB7257D-8AAC-402C-AE83-4064ED60F5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UNIT-5, PART-2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Query Optimization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B28584A3-E588-472A-9A73-1615951D4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xmlns="" id="{6F228E95-0A51-4249-9394-A4C573974D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2269" y="1102498"/>
            <a:ext cx="7738711" cy="2607354"/>
          </a:xfrm>
        </p:spPr>
        <p:txBody>
          <a:bodyPr/>
          <a:lstStyle/>
          <a:p>
            <a:r>
              <a:rPr lang="en-US" altLang="en-US" dirty="0"/>
              <a:t>Introduction </a:t>
            </a:r>
          </a:p>
          <a:p>
            <a:r>
              <a:rPr lang="en-US" altLang="en-US" dirty="0"/>
              <a:t>Transformation of Relational Expressions</a:t>
            </a:r>
          </a:p>
          <a:p>
            <a:r>
              <a:rPr lang="en-US" altLang="en-US" dirty="0"/>
              <a:t>Cost-based optimization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6" name="Rectangle 6">
            <a:extLst>
              <a:ext uri="{FF2B5EF4-FFF2-40B4-BE49-F238E27FC236}">
                <a16:creationId xmlns:a16="http://schemas.microsoft.com/office/drawing/2014/main" xmlns="" id="{3598BEF7-BBDB-45DA-88AB-4873FD9E5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</a:t>
            </a:r>
          </a:p>
        </p:txBody>
      </p:sp>
      <p:sp>
        <p:nvSpPr>
          <p:cNvPr id="9219" name="Rectangle 7">
            <a:extLst>
              <a:ext uri="{FF2B5EF4-FFF2-40B4-BE49-F238E27FC236}">
                <a16:creationId xmlns:a16="http://schemas.microsoft.com/office/drawing/2014/main" xmlns="" id="{07242271-6D11-4330-A09C-537A38CCC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4908" y="727075"/>
            <a:ext cx="8049189" cy="1415235"/>
          </a:xfrm>
        </p:spPr>
        <p:txBody>
          <a:bodyPr/>
          <a:lstStyle/>
          <a:p>
            <a:r>
              <a:rPr lang="en-US" b="1" dirty="0">
                <a:solidFill>
                  <a:srgbClr val="003399"/>
                </a:solidFill>
              </a:rPr>
              <a:t>Find the names of all instructors in the Music department together with the course title of all the courses that the instructors teach.</a:t>
            </a:r>
          </a:p>
          <a:p>
            <a:r>
              <a:rPr lang="en-US" dirty="0"/>
              <a:t> </a:t>
            </a:r>
            <a:r>
              <a:rPr lang="en-US" altLang="en-US" dirty="0"/>
              <a:t>Alternative ways of evaluating a given query</a:t>
            </a:r>
          </a:p>
          <a:p>
            <a:pPr lvl="1"/>
            <a:r>
              <a:rPr lang="en-US" altLang="en-US" dirty="0"/>
              <a:t>Equivalent expressions</a:t>
            </a:r>
          </a:p>
          <a:p>
            <a:pPr lvl="1"/>
            <a:r>
              <a:rPr lang="en-US" altLang="en-US" dirty="0"/>
              <a:t>Different algorithms for each operation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CE39E27B-873D-4551-A927-6DFB7A85D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88542" y="2656703"/>
            <a:ext cx="7715556" cy="34742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>
            <a:extLst>
              <a:ext uri="{FF2B5EF4-FFF2-40B4-BE49-F238E27FC236}">
                <a16:creationId xmlns:a16="http://schemas.microsoft.com/office/drawing/2014/main" xmlns="" id="{75832F87-A2B9-47F7-BB53-DF9BAE724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 (Cont.)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xmlns="" id="{3B55794D-DFAA-4CF0-981A-C7BE83AF0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2267" y="1092872"/>
            <a:ext cx="7816402" cy="4494724"/>
          </a:xfrm>
        </p:spPr>
        <p:txBody>
          <a:bodyPr/>
          <a:lstStyle/>
          <a:p>
            <a:r>
              <a:rPr lang="en-US" altLang="en-US" dirty="0"/>
              <a:t>An </a:t>
            </a:r>
            <a:r>
              <a:rPr lang="en-US" altLang="en-US" b="1" dirty="0">
                <a:solidFill>
                  <a:srgbClr val="002060"/>
                </a:solidFill>
              </a:rPr>
              <a:t>evaluation plan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defines exactly what algorithm is used for each operation, and how the execution of the operations is coordinated.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Find out how to view query execution plans on your favorite database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38164316-923D-4EC2-A0F7-CE5F6F3F2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672045" y="1868075"/>
            <a:ext cx="5407032" cy="3393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xmlns="" id="{286EDAB9-31F0-445E-9936-BCF7095F2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xmlns="" id="{82FD3551-130F-449A-9742-57CFBE1678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4908" y="727075"/>
            <a:ext cx="8077200" cy="5723152"/>
          </a:xfrm>
        </p:spPr>
        <p:txBody>
          <a:bodyPr/>
          <a:lstStyle/>
          <a:p>
            <a:pPr marL="381000" indent="-381000">
              <a:lnSpc>
                <a:spcPct val="90000"/>
              </a:lnSpc>
            </a:pPr>
            <a:r>
              <a:rPr lang="en-US" altLang="en-US" sz="2000" dirty="0"/>
              <a:t>Cost difference between evaluation plans for a query can be enormous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sz="2000" dirty="0"/>
              <a:t>E.g., seconds vs. days in some cases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381000" indent="-381000">
              <a:lnSpc>
                <a:spcPct val="90000"/>
              </a:lnSpc>
            </a:pPr>
            <a:r>
              <a:rPr lang="en-US" altLang="en-US" sz="2000" b="1" dirty="0"/>
              <a:t>Steps in </a:t>
            </a:r>
            <a:r>
              <a:rPr lang="en-US" altLang="en-US" sz="2000" b="1" dirty="0">
                <a:solidFill>
                  <a:srgbClr val="002060"/>
                </a:solidFill>
              </a:rPr>
              <a:t>cost-based query optimization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9900"/>
                </a:solidFill>
              </a:rPr>
              <a:t>1.</a:t>
            </a:r>
            <a:r>
              <a:rPr lang="en-US" altLang="en-US" sz="2000" dirty="0"/>
              <a:t>   Generate logically equivalent expressions using </a:t>
            </a:r>
            <a:r>
              <a:rPr lang="en-US" altLang="en-US" sz="2000" b="1" dirty="0">
                <a:solidFill>
                  <a:srgbClr val="002060"/>
                </a:solidFill>
              </a:rPr>
              <a:t>equivalence rules</a:t>
            </a:r>
            <a:endParaRPr lang="en-US" altLang="en-US" sz="2000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9900"/>
                </a:solidFill>
              </a:rPr>
              <a:t>2.   </a:t>
            </a:r>
            <a:r>
              <a:rPr lang="en-US" altLang="en-US" sz="2000" dirty="0"/>
              <a:t>Annotate resultant expressions to get alternative query plans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9900"/>
                </a:solidFill>
              </a:rPr>
              <a:t>3.   </a:t>
            </a:r>
            <a:r>
              <a:rPr lang="en-US" altLang="en-US" sz="2000" dirty="0"/>
              <a:t>Choose the cheapest plan based on </a:t>
            </a:r>
            <a:r>
              <a:rPr lang="en-US" altLang="en-US" sz="2000" b="1" dirty="0">
                <a:solidFill>
                  <a:srgbClr val="002060"/>
                </a:solidFill>
              </a:rPr>
              <a:t>estimated cost</a:t>
            </a:r>
            <a:endParaRPr lang="en-US" altLang="en-US" sz="2000" dirty="0">
              <a:solidFill>
                <a:srgbClr val="002060"/>
              </a:solidFill>
            </a:endParaRPr>
          </a:p>
          <a:p>
            <a:pPr marL="381000" indent="-381000">
              <a:lnSpc>
                <a:spcPct val="90000"/>
              </a:lnSpc>
            </a:pPr>
            <a:r>
              <a:rPr lang="en-US" altLang="en-US" sz="2000" b="1" dirty="0"/>
              <a:t>Estimation of plan cost based on: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sz="2000" dirty="0"/>
              <a:t>Statistical information about relations. Examples:</a:t>
            </a:r>
          </a:p>
          <a:p>
            <a:pPr marL="1200150" lvl="2" indent="-342900">
              <a:lnSpc>
                <a:spcPct val="90000"/>
              </a:lnSpc>
            </a:pPr>
            <a:r>
              <a:rPr lang="en-US" altLang="en-US" sz="2000" dirty="0"/>
              <a:t>number of tuples, number of distinct values for an attribute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sz="2000" dirty="0"/>
              <a:t>Statistics estimation for intermediate results</a:t>
            </a:r>
          </a:p>
          <a:p>
            <a:pPr marL="1200150" lvl="2" indent="-342900">
              <a:lnSpc>
                <a:spcPct val="90000"/>
              </a:lnSpc>
            </a:pPr>
            <a:r>
              <a:rPr lang="en-US" altLang="en-US" sz="2000" dirty="0"/>
              <a:t>to compute cost of complex expressions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sz="2000" dirty="0"/>
              <a:t>Cost formulae for algorithms, computed using statistics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6919" y="2632801"/>
            <a:ext cx="71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charset="0"/>
              </a:rPr>
              <a:t>Generating Equivalent Expressions</a:t>
            </a:r>
            <a:endParaRPr kumimoji="1"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36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xmlns="" id="{C3630E94-546B-44A3-9C2A-A6A0EA10D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2887" y="827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Transformation of Relational Expressions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xmlns="" id="{DE3790DE-27F5-44AA-ADB0-8D5296161F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2887" y="926757"/>
            <a:ext cx="7812064" cy="5053913"/>
          </a:xfrm>
        </p:spPr>
        <p:txBody>
          <a:bodyPr/>
          <a:lstStyle/>
          <a:p>
            <a:r>
              <a:rPr lang="en-US" altLang="en-US" sz="1800" dirty="0"/>
              <a:t>Two relational algebra expressions are said to be </a:t>
            </a:r>
            <a:r>
              <a:rPr lang="en-US" altLang="en-US" sz="1800" b="1" dirty="0">
                <a:solidFill>
                  <a:srgbClr val="002060"/>
                </a:solidFill>
              </a:rPr>
              <a:t>equivalent</a:t>
            </a:r>
            <a:r>
              <a:rPr lang="en-US" altLang="en-US" sz="1800" dirty="0"/>
              <a:t> if the two expressions generate the same set of tuples on every </a:t>
            </a:r>
            <a:r>
              <a:rPr lang="en-US" altLang="en-US" sz="1800" i="1" dirty="0"/>
              <a:t>legal</a:t>
            </a:r>
            <a:r>
              <a:rPr lang="en-US" altLang="en-US" sz="1800" dirty="0"/>
              <a:t> database instance</a:t>
            </a:r>
          </a:p>
          <a:p>
            <a:pPr lvl="1"/>
            <a:r>
              <a:rPr lang="en-US" altLang="en-US" sz="1800" dirty="0"/>
              <a:t>Note: order of tuples is irrelevant</a:t>
            </a:r>
          </a:p>
          <a:p>
            <a:pPr lvl="1"/>
            <a:r>
              <a:rPr lang="en-US" altLang="en-US" sz="1800" dirty="0"/>
              <a:t>we don’</a:t>
            </a:r>
            <a:r>
              <a:rPr lang="en-US" altLang="ja-JP" sz="1800" dirty="0"/>
              <a:t>t care if they generate different results on databases that violate integrity constraints.</a:t>
            </a:r>
          </a:p>
          <a:p>
            <a:pPr marL="457200" lvl="1" indent="0">
              <a:buNone/>
            </a:pPr>
            <a:endParaRPr lang="en-US" altLang="ja-JP" sz="1800" dirty="0"/>
          </a:p>
          <a:p>
            <a:r>
              <a:rPr lang="en-US" altLang="en-US" sz="1800" dirty="0"/>
              <a:t>In SQL, inputs and outputs are multisets of tuples</a:t>
            </a:r>
          </a:p>
          <a:p>
            <a:pPr lvl="1"/>
            <a:r>
              <a:rPr lang="en-US" altLang="en-US" sz="1800" dirty="0"/>
              <a:t>Two expressions in the multiset version of the relational algebra are said to be equivalent if the two expressions generate the same multiset of tuples on every legal database instance. </a:t>
            </a:r>
          </a:p>
          <a:p>
            <a:pPr marL="457200" lvl="1" indent="0">
              <a:buNone/>
            </a:pPr>
            <a:endParaRPr lang="en-US" altLang="en-US" sz="1800" dirty="0"/>
          </a:p>
          <a:p>
            <a:r>
              <a:rPr lang="en-US" altLang="en-US" sz="1800" dirty="0"/>
              <a:t>An </a:t>
            </a:r>
            <a:r>
              <a:rPr lang="en-US" altLang="en-US" sz="1800" b="1" dirty="0">
                <a:solidFill>
                  <a:srgbClr val="002060"/>
                </a:solidFill>
              </a:rPr>
              <a:t>equivalence rule</a:t>
            </a:r>
            <a:r>
              <a:rPr lang="en-US" altLang="en-US" sz="1800" dirty="0">
                <a:solidFill>
                  <a:srgbClr val="002060"/>
                </a:solidFill>
              </a:rPr>
              <a:t> </a:t>
            </a:r>
            <a:r>
              <a:rPr lang="en-US" altLang="en-US" sz="1800" dirty="0"/>
              <a:t>says that expressions of two forms are equivalent</a:t>
            </a:r>
          </a:p>
          <a:p>
            <a:pPr lvl="1"/>
            <a:r>
              <a:rPr lang="en-US" altLang="en-US" sz="1800" dirty="0"/>
              <a:t>Can replace expression of first form by second, or vice versa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>
            <a:extLst>
              <a:ext uri="{FF2B5EF4-FFF2-40B4-BE49-F238E27FC236}">
                <a16:creationId xmlns:a16="http://schemas.microsoft.com/office/drawing/2014/main" xmlns="" id="{95081A04-D8E9-4687-B8DF-F240A7F2C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</a:t>
            </a:r>
          </a:p>
        </p:txBody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xmlns="" id="{5F88891E-6FB7-4A93-A7DD-19CC40EB4A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777212" cy="4754606"/>
          </a:xfrm>
        </p:spPr>
        <p:txBody>
          <a:bodyPr/>
          <a:lstStyle/>
          <a:p>
            <a:pPr marL="381000" indent="-381000">
              <a:buFont typeface="Monotype Sorts" pitchFamily="-65" charset="2"/>
              <a:buAutoNum type="arabicPeriod"/>
            </a:pPr>
            <a:r>
              <a:rPr lang="en-US" altLang="en-US" dirty="0"/>
              <a:t>Conjunctive selection operations can be deconstructed into a sequence of individual selections.</a:t>
            </a:r>
            <a:br>
              <a:rPr lang="en-US" altLang="en-US" dirty="0"/>
            </a:br>
            <a:r>
              <a:rPr lang="en-US" altLang="en-US" dirty="0"/>
              <a:t>                 </a:t>
            </a:r>
            <a:r>
              <a:rPr lang="el-GR" b="1" dirty="0"/>
              <a:t>σ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1 </a:t>
            </a:r>
            <a:r>
              <a:rPr lang="en-US" altLang="en-US" b="1" baseline="-25000" dirty="0">
                <a:sym typeface="Symbol" panose="05050102010706020507" pitchFamily="18" charset="2"/>
              </a:rPr>
              <a:t> </a:t>
            </a:r>
            <a:r>
              <a:rPr lang="en-US" altLang="en-US" b="1" i="1" baseline="-46000" dirty="0">
                <a:sym typeface="Greek Symbols" pitchFamily="18" charset="2"/>
              </a:rPr>
              <a:t>2 </a:t>
            </a:r>
            <a:r>
              <a:rPr lang="en-US" altLang="en-US" b="1" dirty="0"/>
              <a:t>(E) </a:t>
            </a:r>
            <a:r>
              <a:rPr lang="en-US" altLang="en-US" b="1" baseline="-25000" dirty="0"/>
              <a:t>    </a:t>
            </a:r>
            <a:r>
              <a:rPr lang="en-IN" b="1" dirty="0"/>
              <a:t>≡  </a:t>
            </a:r>
            <a:r>
              <a:rPr lang="el-GR" b="1" dirty="0"/>
              <a:t>σ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IN" b="1" dirty="0"/>
              <a:t>(</a:t>
            </a:r>
            <a:r>
              <a:rPr lang="el-GR" b="1" dirty="0"/>
              <a:t>σ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i="1" baseline="-46000" dirty="0">
                <a:sym typeface="Greek Symbols" pitchFamily="18" charset="2"/>
              </a:rPr>
              <a:t>2 </a:t>
            </a:r>
            <a:r>
              <a:rPr lang="en-US" altLang="en-US" b="1" dirty="0"/>
              <a:t>(E))</a:t>
            </a:r>
            <a:r>
              <a:rPr lang="en-US" altLang="en-US" b="1" baseline="-25000" dirty="0"/>
              <a:t> </a:t>
            </a:r>
          </a:p>
          <a:p>
            <a:pPr marL="0" indent="0">
              <a:buNone/>
            </a:pPr>
            <a:endParaRPr lang="en-US" altLang="en-US" b="1" dirty="0"/>
          </a:p>
          <a:p>
            <a:pPr marL="381000" indent="-381000">
              <a:buFont typeface="Monotype Sorts" pitchFamily="-65" charset="2"/>
              <a:buAutoNum type="arabicPeriod" startAt="2"/>
            </a:pPr>
            <a:r>
              <a:rPr lang="en-US" altLang="en-US" dirty="0"/>
              <a:t>Selection operations are commutative.</a:t>
            </a:r>
            <a:br>
              <a:rPr lang="en-US" altLang="en-US" dirty="0"/>
            </a:br>
            <a:r>
              <a:rPr lang="en-US" altLang="en-US" dirty="0"/>
              <a:t>                 </a:t>
            </a:r>
            <a:r>
              <a:rPr lang="el-GR" b="1" dirty="0"/>
              <a:t>σ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IN" b="1" dirty="0"/>
              <a:t>(</a:t>
            </a:r>
            <a:r>
              <a:rPr lang="el-GR" b="1" dirty="0"/>
              <a:t>σ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i="1" baseline="-46000" dirty="0">
                <a:sym typeface="Greek Symbols" pitchFamily="18" charset="2"/>
              </a:rPr>
              <a:t>2</a:t>
            </a:r>
            <a:r>
              <a:rPr lang="en-US" altLang="en-US" b="1" dirty="0"/>
              <a:t>(E))</a:t>
            </a:r>
            <a:r>
              <a:rPr lang="en-US" altLang="en-US" b="1" baseline="-25000" dirty="0"/>
              <a:t>    </a:t>
            </a:r>
            <a:r>
              <a:rPr lang="en-IN" b="1" dirty="0"/>
              <a:t>≡   </a:t>
            </a:r>
            <a:r>
              <a:rPr lang="el-GR" b="1" dirty="0"/>
              <a:t>σ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2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IN" b="1" dirty="0"/>
              <a:t>(</a:t>
            </a:r>
            <a:r>
              <a:rPr lang="el-GR" b="1" dirty="0"/>
              <a:t>σ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i="1" baseline="-46000" dirty="0">
                <a:sym typeface="Greek Symbols" pitchFamily="18" charset="2"/>
              </a:rPr>
              <a:t>1</a:t>
            </a:r>
            <a:r>
              <a:rPr lang="en-US" altLang="en-US" b="1" dirty="0"/>
              <a:t>(E))</a:t>
            </a:r>
          </a:p>
          <a:p>
            <a:pPr marL="0" indent="0">
              <a:buNone/>
            </a:pPr>
            <a:endParaRPr lang="en-US" altLang="en-US" b="1" dirty="0"/>
          </a:p>
          <a:p>
            <a:pPr marL="381000" indent="-381000">
              <a:buAutoNum type="arabicPeriod" startAt="3"/>
            </a:pPr>
            <a:r>
              <a:rPr lang="en-US" altLang="en-US" dirty="0"/>
              <a:t>Only the last in a sequence of projection operations is needed, the others can be omitted.</a:t>
            </a:r>
            <a:br>
              <a:rPr lang="en-US" altLang="en-US" dirty="0"/>
            </a:br>
            <a:r>
              <a:rPr lang="en-US" altLang="en-US" b="1" dirty="0"/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="1" baseline="-25000" dirty="0"/>
              <a:t>L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IN" b="1" dirty="0"/>
              <a:t>(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="1" baseline="-25000" dirty="0"/>
              <a:t>L</a:t>
            </a:r>
            <a:r>
              <a:rPr lang="en-US" altLang="en-US" b="1" baseline="-46000" dirty="0">
                <a:sym typeface="Greek Symbols" pitchFamily="18" charset="2"/>
              </a:rPr>
              <a:t>2</a:t>
            </a:r>
            <a:r>
              <a:rPr lang="en-IN" b="1" dirty="0"/>
              <a:t>(…(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="1" baseline="-25000" dirty="0"/>
              <a:t>L</a:t>
            </a:r>
            <a:r>
              <a:rPr lang="en-US" altLang="en-US" b="1" baseline="-46000" dirty="0">
                <a:sym typeface="Greek Symbols" pitchFamily="18" charset="2"/>
              </a:rPr>
              <a:t>n</a:t>
            </a:r>
            <a:r>
              <a:rPr lang="en-IN" b="1" dirty="0"/>
              <a:t>(E))…))     ≡    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="1" baseline="-25000" dirty="0"/>
              <a:t>L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IN" b="1" dirty="0"/>
              <a:t>(E)</a:t>
            </a:r>
            <a:r>
              <a:rPr lang="en-US" altLang="en-US" b="1" dirty="0"/>
              <a:t/>
            </a:r>
            <a:br>
              <a:rPr lang="en-US" altLang="en-US" b="1" dirty="0"/>
            </a:br>
            <a:r>
              <a:rPr lang="en-US" altLang="en-US" dirty="0"/>
              <a:t>where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1</a:t>
            </a:r>
            <a:r>
              <a:rPr lang="en-US" altLang="en-US" dirty="0"/>
              <a:t> </a:t>
            </a:r>
            <a:r>
              <a:rPr lang="en-IN" dirty="0"/>
              <a:t>⊆</a:t>
            </a:r>
            <a:r>
              <a:rPr lang="en-US" altLang="en-US" dirty="0"/>
              <a:t>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2</a:t>
            </a:r>
            <a:r>
              <a:rPr lang="en-US" altLang="en-US" dirty="0"/>
              <a:t> … </a:t>
            </a:r>
            <a:r>
              <a:rPr lang="en-IN" dirty="0"/>
              <a:t>⊆</a:t>
            </a:r>
            <a:r>
              <a:rPr lang="en-US" altLang="en-US" dirty="0"/>
              <a:t>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n</a:t>
            </a:r>
          </a:p>
          <a:p>
            <a:pPr marL="0" indent="0">
              <a:buNone/>
            </a:pPr>
            <a:endParaRPr lang="en-US" altLang="en-US" i="1" baseline="-25000" dirty="0"/>
          </a:p>
          <a:p>
            <a:pPr marL="0" indent="0">
              <a:buNone/>
            </a:pPr>
            <a:r>
              <a:rPr lang="en-US" altLang="en-US" dirty="0"/>
              <a:t>4.    Selections can be combined with Cartesian products and theta joins.</a:t>
            </a:r>
          </a:p>
          <a:p>
            <a:pPr marL="800100" lvl="1" indent="-342900">
              <a:buFont typeface="Monotype Sorts" pitchFamily="-65" charset="2"/>
              <a:buAutoNum type="alphaLcPeriod"/>
            </a:pP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l-GR" b="1" dirty="0"/>
              <a:t>σ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 </a:t>
            </a:r>
            <a:r>
              <a:rPr lang="en-US" altLang="en-US" b="1" dirty="0"/>
              <a:t>(E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 x E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)</a:t>
            </a:r>
            <a:r>
              <a:rPr lang="en-US" altLang="en-US" b="1" baseline="-25000" dirty="0"/>
              <a:t>     </a:t>
            </a:r>
            <a:r>
              <a:rPr lang="en-IN" b="1" dirty="0"/>
              <a:t>≡    </a:t>
            </a:r>
            <a:r>
              <a:rPr lang="en-US" altLang="en-US" b="1" dirty="0"/>
              <a:t>E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 </a:t>
            </a:r>
            <a:r>
              <a:rPr lang="en-IN" altLang="en-US" b="1" dirty="0"/>
              <a:t>⨝</a:t>
            </a:r>
            <a:r>
              <a:rPr lang="en-US" altLang="en-US" b="1" i="1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dirty="0"/>
              <a:t> E</a:t>
            </a:r>
            <a:r>
              <a:rPr lang="en-US" altLang="en-US" b="1" baseline="-25000" dirty="0"/>
              <a:t>2</a:t>
            </a:r>
            <a:endParaRPr lang="en-US" altLang="en-US" b="1" baseline="-25000" dirty="0">
              <a:sym typeface="Symbol" panose="05050102010706020507" pitchFamily="18" charset="2"/>
            </a:endParaRPr>
          </a:p>
          <a:p>
            <a:pPr marL="800100" lvl="1" indent="-342900">
              <a:buFont typeface="Monotype Sorts" pitchFamily="-65" charset="2"/>
              <a:buAutoNum type="alphaLcPeriod"/>
            </a:pP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l-GR" b="1" dirty="0"/>
              <a:t>σ</a:t>
            </a:r>
            <a:r>
              <a:rPr lang="en-US" altLang="en-US" b="1" baseline="-25000" dirty="0">
                <a:sym typeface="Symbol" panose="05050102010706020507" pitchFamily="18" charset="2"/>
              </a:rPr>
              <a:t> </a:t>
            </a:r>
            <a:r>
              <a:rPr lang="en-US" altLang="en-US" b="1" baseline="-46000" dirty="0">
                <a:sym typeface="Greek Symbols" pitchFamily="18" charset="2"/>
              </a:rPr>
              <a:t>1 </a:t>
            </a:r>
            <a:r>
              <a:rPr lang="en-US" altLang="en-US" b="1" dirty="0"/>
              <a:t>(E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 </a:t>
            </a:r>
            <a:r>
              <a:rPr lang="en-IN" altLang="en-US" b="1" dirty="0"/>
              <a:t>⨝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2</a:t>
            </a:r>
            <a:r>
              <a:rPr lang="en-US" altLang="en-US" b="1" dirty="0"/>
              <a:t> E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)</a:t>
            </a:r>
            <a:r>
              <a:rPr lang="en-US" altLang="en-US" b="1" baseline="-25000" dirty="0"/>
              <a:t>     </a:t>
            </a:r>
            <a:r>
              <a:rPr lang="en-IN" b="1" dirty="0"/>
              <a:t>≡    </a:t>
            </a:r>
            <a:r>
              <a:rPr lang="en-US" altLang="en-US" b="1" dirty="0"/>
              <a:t>E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 </a:t>
            </a:r>
            <a:r>
              <a:rPr lang="en-IN" altLang="en-US" b="1" dirty="0"/>
              <a:t>⨝</a:t>
            </a:r>
            <a:r>
              <a:rPr lang="en-US" altLang="en-US" b="1" i="1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IN" b="1" baseline="-25000" dirty="0"/>
              <a:t>∧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2</a:t>
            </a:r>
            <a:r>
              <a:rPr lang="en-US" altLang="en-US" b="1" dirty="0"/>
              <a:t> E</a:t>
            </a:r>
            <a:r>
              <a:rPr lang="en-US" altLang="en-US" b="1" baseline="-25000" dirty="0"/>
              <a:t>2</a:t>
            </a:r>
            <a:endParaRPr lang="en-US" altLang="en-US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>
            <a:extLst>
              <a:ext uri="{FF2B5EF4-FFF2-40B4-BE49-F238E27FC236}">
                <a16:creationId xmlns:a16="http://schemas.microsoft.com/office/drawing/2014/main" xmlns="" id="{8091ABB1-6B13-4524-B9B6-6B007212F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xmlns="" id="{96C4720A-18C3-455E-B064-C93B8601E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8" y="1102497"/>
            <a:ext cx="7469205" cy="5367972"/>
          </a:xfrm>
        </p:spPr>
        <p:txBody>
          <a:bodyPr/>
          <a:lstStyle/>
          <a:p>
            <a:pPr marL="0" indent="0">
              <a:buNone/>
              <a:tabLst>
                <a:tab pos="3376613" algn="ctr"/>
              </a:tabLst>
            </a:pPr>
            <a:r>
              <a:rPr lang="en-US" altLang="en-US" dirty="0"/>
              <a:t>5.  Theta-join operations (and natural joins) are commutative.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          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1</a:t>
            </a:r>
            <a:r>
              <a:rPr lang="en-IN" altLang="en-US" b="1" dirty="0"/>
              <a:t> ⨝</a:t>
            </a:r>
            <a:r>
              <a:rPr lang="en-US" altLang="en-US" b="1" i="1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i="1" dirty="0"/>
              <a:t>E</a:t>
            </a:r>
            <a:r>
              <a:rPr lang="en-US" altLang="en-US" b="1" i="1" baseline="-25000" dirty="0"/>
              <a:t>2</a:t>
            </a:r>
            <a:r>
              <a:rPr lang="en-US" altLang="en-US" b="1" dirty="0"/>
              <a:t>    </a:t>
            </a:r>
            <a:r>
              <a:rPr lang="en-IN" b="1" dirty="0"/>
              <a:t>≡    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2</a:t>
            </a:r>
            <a:r>
              <a:rPr lang="en-IN" altLang="en-US" b="1" dirty="0"/>
              <a:t> ⨝</a:t>
            </a:r>
            <a:r>
              <a:rPr lang="en-US" altLang="en-US" b="1" dirty="0"/>
              <a:t> 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1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altLang="en-US" baseline="-25000" dirty="0">
              <a:sym typeface="Greek Symbols" pitchFamily="18" charset="2"/>
            </a:endParaRPr>
          </a:p>
          <a:p>
            <a:pPr>
              <a:buFont typeface="Monotype Sorts" pitchFamily="-65" charset="2"/>
              <a:buNone/>
              <a:tabLst>
                <a:tab pos="3376613" algn="ctr"/>
              </a:tabLst>
            </a:pPr>
            <a:r>
              <a:rPr lang="en-US" altLang="en-US" dirty="0">
                <a:sym typeface="Greek Symbols" pitchFamily="18" charset="2"/>
              </a:rPr>
              <a:t>6.	(a) Natural join operations are associative:</a:t>
            </a:r>
          </a:p>
          <a:p>
            <a:pPr>
              <a:buNone/>
              <a:tabLst>
                <a:tab pos="3376613" algn="ctr"/>
              </a:tabLst>
            </a:pPr>
            <a:r>
              <a:rPr lang="en-US" altLang="en-US" dirty="0">
                <a:sym typeface="Greek Symbols" pitchFamily="18" charset="2"/>
              </a:rPr>
              <a:t>	                </a:t>
            </a:r>
            <a:r>
              <a:rPr lang="en-US" altLang="en-US" b="1" dirty="0"/>
              <a:t> </a:t>
            </a:r>
            <a:r>
              <a:rPr lang="en-US" altLang="en-US" b="1" dirty="0">
                <a:sym typeface="Greek Symbols" pitchFamily="18" charset="2"/>
              </a:rPr>
              <a:t>(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1</a:t>
            </a:r>
            <a:r>
              <a:rPr lang="en-IN" altLang="en-US" b="1" dirty="0"/>
              <a:t> ⨝</a:t>
            </a:r>
            <a:r>
              <a:rPr lang="en-US" altLang="en-US" b="1" i="1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i="1" dirty="0"/>
              <a:t>E</a:t>
            </a:r>
            <a:r>
              <a:rPr lang="en-US" altLang="en-US" b="1" i="1" baseline="-25000" dirty="0"/>
              <a:t>2</a:t>
            </a:r>
            <a:r>
              <a:rPr lang="en-US" altLang="en-US" b="1" dirty="0"/>
              <a:t>) </a:t>
            </a:r>
            <a:r>
              <a:rPr lang="en-IN" altLang="en-US" b="1" dirty="0"/>
              <a:t>⨝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baseline="-46000" dirty="0">
                <a:sym typeface="Greek Symbols" pitchFamily="18" charset="2"/>
              </a:rPr>
              <a:t> </a:t>
            </a:r>
            <a:r>
              <a:rPr lang="en-US" altLang="en-US" b="1" i="1" dirty="0"/>
              <a:t>E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     </a:t>
            </a:r>
            <a:r>
              <a:rPr lang="en-IN" b="1" dirty="0"/>
              <a:t>≡     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1</a:t>
            </a:r>
            <a:r>
              <a:rPr lang="en-IN" altLang="en-US" b="1" dirty="0"/>
              <a:t> ⨝</a:t>
            </a:r>
            <a:r>
              <a:rPr lang="en-US" altLang="en-US" b="1" dirty="0"/>
              <a:t> (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2</a:t>
            </a:r>
            <a:r>
              <a:rPr lang="en-IN" altLang="en-US" b="1" dirty="0"/>
              <a:t> ⨝</a:t>
            </a:r>
            <a:r>
              <a:rPr lang="en-US" altLang="en-US" b="1" i="1" dirty="0"/>
              <a:t> E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)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(b) Theta joins are associative in the following manner: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       </a:t>
            </a:r>
            <a:r>
              <a:rPr lang="en-US" altLang="en-US" b="1" dirty="0">
                <a:sym typeface="Greek Symbols" pitchFamily="18" charset="2"/>
              </a:rPr>
              <a:t>(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1</a:t>
            </a:r>
            <a:r>
              <a:rPr lang="en-IN" altLang="en-US" b="1" dirty="0"/>
              <a:t> ⨝</a:t>
            </a:r>
            <a:r>
              <a:rPr lang="en-US" altLang="en-US" b="1" i="1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i="1" dirty="0"/>
              <a:t>E</a:t>
            </a:r>
            <a:r>
              <a:rPr lang="en-US" altLang="en-US" b="1" i="1" baseline="-25000" dirty="0"/>
              <a:t>2</a:t>
            </a:r>
            <a:r>
              <a:rPr lang="en-US" altLang="en-US" b="1" dirty="0"/>
              <a:t>) </a:t>
            </a:r>
            <a:r>
              <a:rPr lang="en-IN" altLang="en-US" b="1" dirty="0"/>
              <a:t>⨝</a:t>
            </a:r>
            <a:r>
              <a:rPr lang="en-US" altLang="en-US" b="1" baseline="-25000" dirty="0">
                <a:sym typeface="Symbol" panose="05050102010706020507" pitchFamily="18" charset="2"/>
              </a:rPr>
              <a:t> </a:t>
            </a:r>
            <a:r>
              <a:rPr lang="en-US" altLang="en-US" b="1" baseline="-46000" dirty="0">
                <a:sym typeface="Greek Symbols" pitchFamily="18" charset="2"/>
              </a:rPr>
              <a:t>2 </a:t>
            </a:r>
            <a:r>
              <a:rPr lang="en-US" altLang="en-US" b="1" baseline="-25000" dirty="0">
                <a:sym typeface="Symbol" panose="05050102010706020507" pitchFamily="18" charset="2"/>
              </a:rPr>
              <a:t> </a:t>
            </a:r>
            <a:r>
              <a:rPr lang="en-US" altLang="en-US" b="1" baseline="-46000" dirty="0">
                <a:sym typeface="Greek Symbols" pitchFamily="18" charset="2"/>
              </a:rPr>
              <a:t>3 </a:t>
            </a:r>
            <a:r>
              <a:rPr lang="en-US" altLang="en-US" b="1" i="1" dirty="0"/>
              <a:t>E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    </a:t>
            </a:r>
            <a:r>
              <a:rPr lang="en-IN" b="1" dirty="0"/>
              <a:t>≡    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1</a:t>
            </a:r>
            <a:r>
              <a:rPr lang="en-IN" altLang="en-US" b="1" dirty="0"/>
              <a:t> ⨝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1 </a:t>
            </a:r>
            <a:r>
              <a:rPr lang="en-US" altLang="en-US" b="1" baseline="-25000" dirty="0">
                <a:sym typeface="Symbol" panose="05050102010706020507" pitchFamily="18" charset="2"/>
              </a:rPr>
              <a:t> </a:t>
            </a:r>
            <a:r>
              <a:rPr lang="en-US" altLang="en-US" b="1" baseline="-46000" dirty="0">
                <a:sym typeface="Greek Symbols" pitchFamily="18" charset="2"/>
              </a:rPr>
              <a:t>3</a:t>
            </a:r>
            <a:r>
              <a:rPr lang="en-US" altLang="en-US" b="1" dirty="0"/>
              <a:t> (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2</a:t>
            </a:r>
            <a:r>
              <a:rPr lang="en-IN" altLang="en-US" b="1" dirty="0"/>
              <a:t> ⨝</a:t>
            </a:r>
            <a:r>
              <a:rPr lang="en-US" altLang="en-US" b="1" baseline="-25000" dirty="0">
                <a:sym typeface="Symbol" panose="05050102010706020507" pitchFamily="18" charset="2"/>
              </a:rPr>
              <a:t> </a:t>
            </a:r>
            <a:r>
              <a:rPr lang="en-US" altLang="en-US" b="1" baseline="-46000" dirty="0">
                <a:sym typeface="Greek Symbols" pitchFamily="18" charset="2"/>
              </a:rPr>
              <a:t>2</a:t>
            </a:r>
            <a:r>
              <a:rPr lang="en-US" altLang="en-US" b="1" i="1" dirty="0"/>
              <a:t> E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)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br>
              <a:rPr lang="en-US" altLang="en-US" b="1" dirty="0"/>
            </a:br>
            <a:r>
              <a:rPr lang="en-US" altLang="en-US" b="1" dirty="0">
                <a:solidFill>
                  <a:srgbClr val="0000FF"/>
                </a:solidFill>
              </a:rPr>
              <a:t>     where </a:t>
            </a:r>
            <a:r>
              <a:rPr lang="en-US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b="1" i="1" baseline="-25000" dirty="0">
                <a:solidFill>
                  <a:srgbClr val="0000FF"/>
                </a:solidFill>
                <a:sym typeface="Greek Symbols" pitchFamily="18" charset="2"/>
              </a:rPr>
              <a:t>2</a:t>
            </a:r>
            <a:r>
              <a:rPr lang="en-US" altLang="en-US" b="1" i="1" dirty="0">
                <a:solidFill>
                  <a:srgbClr val="0000FF"/>
                </a:solidFill>
                <a:sym typeface="Greek Symbols" pitchFamily="18" charset="2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sym typeface="Greek Symbols" pitchFamily="18" charset="2"/>
              </a:rPr>
              <a:t>involves attributes from only </a:t>
            </a:r>
            <a:r>
              <a:rPr lang="en-US" altLang="en-US" b="1" i="1" dirty="0">
                <a:solidFill>
                  <a:srgbClr val="0000FF"/>
                </a:solidFill>
                <a:sym typeface="Greek Symbols" pitchFamily="18" charset="2"/>
              </a:rPr>
              <a:t>E</a:t>
            </a:r>
            <a:r>
              <a:rPr lang="en-US" altLang="en-US" b="1" baseline="-25000" dirty="0">
                <a:solidFill>
                  <a:srgbClr val="0000FF"/>
                </a:solidFill>
                <a:sym typeface="Greek Symbols" pitchFamily="18" charset="2"/>
              </a:rPr>
              <a:t>2</a:t>
            </a:r>
            <a:r>
              <a:rPr lang="en-US" altLang="en-US" b="1" dirty="0">
                <a:solidFill>
                  <a:srgbClr val="0000FF"/>
                </a:solidFill>
                <a:sym typeface="Greek Symbols" pitchFamily="18" charset="2"/>
              </a:rPr>
              <a:t> and </a:t>
            </a:r>
            <a:r>
              <a:rPr lang="en-US" altLang="en-US" b="1" i="1" dirty="0">
                <a:solidFill>
                  <a:srgbClr val="0000FF"/>
                </a:solidFill>
                <a:sym typeface="Greek Symbols" pitchFamily="18" charset="2"/>
              </a:rPr>
              <a:t>E</a:t>
            </a:r>
            <a:r>
              <a:rPr lang="en-US" altLang="en-US" b="1" i="1" baseline="-25000" dirty="0">
                <a:solidFill>
                  <a:srgbClr val="0000FF"/>
                </a:solidFill>
                <a:sym typeface="Greek Symbols" pitchFamily="18" charset="2"/>
              </a:rPr>
              <a:t>3</a:t>
            </a:r>
            <a:r>
              <a:rPr lang="en-US" altLang="en-US" b="1" i="1" dirty="0">
                <a:solidFill>
                  <a:srgbClr val="0000FF"/>
                </a:solidFill>
                <a:sym typeface="Greek Symbols" pitchFamily="18" charset="2"/>
              </a:rPr>
              <a:t>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84B99422-6334-4E45-9086-F1F2684CA3D1}"/>
              </a:ext>
            </a:extLst>
          </p:cNvPr>
          <p:cNvSpPr txBox="1"/>
          <p:nvPr/>
        </p:nvSpPr>
        <p:spPr bwMode="auto">
          <a:xfrm>
            <a:off x="1647612" y="5188653"/>
            <a:ext cx="27924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xmlns="" id="{13BE5181-BC0D-4E3C-B803-BDBB6753C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555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Pictorial Depiction of Equivalence Rules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BBF349FB-4CB9-462F-A282-31330CD91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16627" y="1065978"/>
            <a:ext cx="6917843" cy="51331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>
            <a:extLst>
              <a:ext uri="{FF2B5EF4-FFF2-40B4-BE49-F238E27FC236}">
                <a16:creationId xmlns:a16="http://schemas.microsoft.com/office/drawing/2014/main" xmlns="" id="{6B49CD74-8487-4512-88D7-665692A99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xmlns="" id="{D1631F66-0C00-49F9-97DF-D953852A7E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1102497"/>
            <a:ext cx="7700211" cy="5367972"/>
          </a:xfrm>
        </p:spPr>
        <p:txBody>
          <a:bodyPr/>
          <a:lstStyle/>
          <a:p>
            <a:pPr>
              <a:buAutoNum type="arabicPeriod" startAt="7"/>
            </a:pPr>
            <a:r>
              <a:rPr lang="en-US" altLang="en-US" dirty="0" smtClean="0"/>
              <a:t>The </a:t>
            </a:r>
            <a:r>
              <a:rPr lang="en-US" altLang="en-US" b="1" dirty="0">
                <a:solidFill>
                  <a:srgbClr val="0000FF"/>
                </a:solidFill>
              </a:rPr>
              <a:t>selection operation distributes over the theta join </a:t>
            </a:r>
            <a:r>
              <a:rPr lang="en-US" altLang="en-US" dirty="0"/>
              <a:t>operation under the following two conditions</a:t>
            </a:r>
            <a:r>
              <a:rPr lang="en-US" altLang="en-US" dirty="0" smtClean="0"/>
              <a:t>:</a:t>
            </a:r>
          </a:p>
          <a:p>
            <a:pPr marL="0" indent="0"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 smtClean="0"/>
              <a:t>    (</a:t>
            </a:r>
            <a:r>
              <a:rPr lang="en-US" altLang="en-US" dirty="0"/>
              <a:t>a</a:t>
            </a:r>
            <a:r>
              <a:rPr lang="en-US" altLang="en-US" b="1" dirty="0"/>
              <a:t>)  When all the attributes in </a:t>
            </a:r>
            <a:r>
              <a:rPr lang="en-US" altLang="en-US" b="1" dirty="0">
                <a:sym typeface="Symbol" panose="05050102010706020507" pitchFamily="18" charset="2"/>
              </a:rPr>
              <a:t></a:t>
            </a:r>
            <a:r>
              <a:rPr lang="en-US" altLang="en-US" b="1" baseline="-25000" dirty="0">
                <a:sym typeface="Greek Symbols" pitchFamily="18" charset="2"/>
              </a:rPr>
              <a:t>0 </a:t>
            </a:r>
            <a:r>
              <a:rPr lang="en-US" altLang="en-US" b="1" dirty="0">
                <a:sym typeface="Greek Symbols" pitchFamily="18" charset="2"/>
              </a:rPr>
              <a:t> involve only the attributes of one </a:t>
            </a:r>
            <a:br>
              <a:rPr lang="en-US" altLang="en-US" b="1" dirty="0">
                <a:sym typeface="Greek Symbols" pitchFamily="18" charset="2"/>
              </a:rPr>
            </a:br>
            <a:r>
              <a:rPr lang="en-US" altLang="en-US" b="1" dirty="0">
                <a:sym typeface="Greek Symbols" pitchFamily="18" charset="2"/>
              </a:rPr>
              <a:t>       of the expressions (</a:t>
            </a:r>
            <a:r>
              <a:rPr lang="en-US" altLang="en-US" b="1" i="1" dirty="0">
                <a:sym typeface="Greek Symbols" pitchFamily="18" charset="2"/>
              </a:rPr>
              <a:t>E</a:t>
            </a:r>
            <a:r>
              <a:rPr lang="en-US" altLang="en-US" b="1" baseline="-25000" dirty="0">
                <a:sym typeface="Greek Symbols" pitchFamily="18" charset="2"/>
              </a:rPr>
              <a:t>1</a:t>
            </a:r>
            <a:r>
              <a:rPr lang="en-US" altLang="en-US" b="1" dirty="0">
                <a:sym typeface="Greek Symbols" pitchFamily="18" charset="2"/>
              </a:rPr>
              <a:t>) being joined.</a:t>
            </a:r>
            <a:br>
              <a:rPr lang="en-US" altLang="en-US" b="1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/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                </a:t>
            </a:r>
            <a:r>
              <a:rPr lang="en-US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en-US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olidFill>
                  <a:srgbClr val="0000FF"/>
                </a:solidFill>
                <a:sym typeface="Greek Symbols" pitchFamily="18" charset="2"/>
              </a:rPr>
              <a:t>0 </a:t>
            </a:r>
            <a:r>
              <a:rPr lang="en-US" altLang="en-US" b="1" dirty="0">
                <a:sym typeface="Symbol" panose="05050102010706020507" pitchFamily="18" charset="2"/>
              </a:rPr>
              <a:t>E</a:t>
            </a:r>
            <a:r>
              <a:rPr lang="en-US" altLang="en-US" b="1" baseline="-25000" dirty="0">
                <a:sym typeface="Symbol" panose="05050102010706020507" pitchFamily="18" charset="2"/>
              </a:rPr>
              <a:t>1 </a:t>
            </a:r>
            <a:r>
              <a:rPr lang="en-IN" altLang="en-US" b="1" dirty="0"/>
              <a:t>⨝</a:t>
            </a:r>
            <a:r>
              <a:rPr lang="en-US" altLang="en-US" b="1" baseline="-25000" dirty="0">
                <a:sym typeface="Symbol" panose="05050102010706020507" pitchFamily="18" charset="2"/>
              </a:rPr>
              <a:t> </a:t>
            </a:r>
            <a:r>
              <a:rPr lang="en-US" altLang="en-US" b="1" dirty="0">
                <a:sym typeface="Symbol" panose="05050102010706020507" pitchFamily="18" charset="2"/>
              </a:rPr>
              <a:t>E</a:t>
            </a:r>
            <a:r>
              <a:rPr lang="en-US" altLang="en-US" b="1" baseline="-25000" dirty="0">
                <a:sym typeface="Symbol" panose="05050102010706020507" pitchFamily="18" charset="2"/>
              </a:rPr>
              <a:t>2</a:t>
            </a:r>
            <a:r>
              <a:rPr lang="en-US" altLang="en-US" b="1" dirty="0">
                <a:sym typeface="Symbol" panose="05050102010706020507" pitchFamily="18" charset="2"/>
              </a:rPr>
              <a:t>)      </a:t>
            </a:r>
            <a:r>
              <a:rPr lang="en-IN" b="1" dirty="0"/>
              <a:t>≡    </a:t>
            </a:r>
            <a:r>
              <a:rPr lang="en-US" altLang="en-US" b="1" dirty="0">
                <a:sym typeface="Symbol" panose="05050102010706020507" pitchFamily="18" charset="2"/>
              </a:rPr>
              <a:t> (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0</a:t>
            </a:r>
            <a:r>
              <a:rPr lang="en-US" altLang="en-US" b="1" dirty="0">
                <a:sym typeface="Symbol" panose="05050102010706020507" pitchFamily="18" charset="2"/>
              </a:rPr>
              <a:t>(E</a:t>
            </a:r>
            <a:r>
              <a:rPr lang="en-US" altLang="en-US" b="1" baseline="-25000" dirty="0">
                <a:sym typeface="Symbol" panose="05050102010706020507" pitchFamily="18" charset="2"/>
              </a:rPr>
              <a:t>1</a:t>
            </a:r>
            <a:r>
              <a:rPr lang="en-US" altLang="en-US" b="1" dirty="0">
                <a:sym typeface="Symbol" panose="05050102010706020507" pitchFamily="18" charset="2"/>
              </a:rPr>
              <a:t>)) </a:t>
            </a:r>
            <a:r>
              <a:rPr lang="en-IN" altLang="en-US" b="1" dirty="0"/>
              <a:t>⨝</a:t>
            </a:r>
            <a:r>
              <a:rPr lang="en-US" altLang="en-US" b="1" baseline="-25000" dirty="0">
                <a:sym typeface="Symbol" panose="05050102010706020507" pitchFamily="18" charset="2"/>
              </a:rPr>
              <a:t> </a:t>
            </a:r>
            <a:r>
              <a:rPr lang="en-US" altLang="en-US" b="1" dirty="0">
                <a:sym typeface="Symbol" panose="05050102010706020507" pitchFamily="18" charset="2"/>
              </a:rPr>
              <a:t>E</a:t>
            </a:r>
            <a:r>
              <a:rPr lang="en-US" altLang="en-US" b="1" baseline="-25000" dirty="0">
                <a:sym typeface="Symbol" panose="05050102010706020507" pitchFamily="18" charset="2"/>
              </a:rPr>
              <a:t>2</a:t>
            </a:r>
            <a:r>
              <a:rPr lang="en-US" altLang="en-US" b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/>
            </a:r>
            <a:br>
              <a:rPr lang="en-US" altLang="en-US" dirty="0">
                <a:sym typeface="Greek Symbols" pitchFamily="18" charset="2"/>
              </a:rPr>
            </a:br>
            <a:endParaRPr lang="en-US" altLang="en-US" dirty="0">
              <a:sym typeface="Greek Symbols" pitchFamily="18" charset="2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sym typeface="Greek Symbols" pitchFamily="18" charset="2"/>
              </a:rPr>
              <a:t>	(b) </a:t>
            </a:r>
            <a:r>
              <a:rPr lang="en-US" altLang="en-US" b="1" dirty="0">
                <a:sym typeface="Greek Symbols" pitchFamily="18" charset="2"/>
              </a:rPr>
              <a:t>When </a:t>
            </a:r>
            <a:r>
              <a:rPr lang="en-US" altLang="en-US" b="1" dirty="0">
                <a:sym typeface="Symbol" panose="05050102010706020507" pitchFamily="18" charset="2"/>
              </a:rPr>
              <a:t></a:t>
            </a:r>
            <a:r>
              <a:rPr lang="en-US" altLang="en-US" b="1" baseline="-25000" dirty="0">
                <a:sym typeface="Greek Symbols" pitchFamily="18" charset="2"/>
              </a:rPr>
              <a:t>1 </a:t>
            </a:r>
            <a:r>
              <a:rPr lang="en-US" altLang="en-US" b="1" dirty="0">
                <a:sym typeface="Greek Symbols" pitchFamily="18" charset="2"/>
              </a:rPr>
              <a:t>involves only the attributes of </a:t>
            </a:r>
            <a:r>
              <a:rPr lang="en-US" altLang="en-US" b="1" i="1" dirty="0">
                <a:sym typeface="Greek Symbols" pitchFamily="18" charset="2"/>
              </a:rPr>
              <a:t>E</a:t>
            </a:r>
            <a:r>
              <a:rPr lang="en-US" altLang="en-US" b="1" baseline="-25000" dirty="0">
                <a:sym typeface="Greek Symbols" pitchFamily="18" charset="2"/>
              </a:rPr>
              <a:t>1</a:t>
            </a:r>
            <a:r>
              <a:rPr lang="en-US" altLang="en-US" b="1" dirty="0">
                <a:sym typeface="Greek Symbols" pitchFamily="18" charset="2"/>
              </a:rPr>
              <a:t> and</a:t>
            </a:r>
            <a:r>
              <a:rPr lang="en-US" altLang="en-US" b="1" i="1" dirty="0">
                <a:sym typeface="Greek Symbols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</a:t>
            </a:r>
            <a:r>
              <a:rPr lang="en-US" altLang="en-US" b="1" baseline="-25000" dirty="0">
                <a:sym typeface="Greek Symbols" pitchFamily="18" charset="2"/>
              </a:rPr>
              <a:t>2 </a:t>
            </a:r>
            <a:r>
              <a:rPr lang="en-US" altLang="en-US" b="1" dirty="0">
                <a:sym typeface="Greek Symbols" pitchFamily="18" charset="2"/>
              </a:rPr>
              <a:t> involves  </a:t>
            </a:r>
            <a:br>
              <a:rPr lang="en-US" altLang="en-US" b="1" dirty="0">
                <a:sym typeface="Greek Symbols" pitchFamily="18" charset="2"/>
              </a:rPr>
            </a:br>
            <a:r>
              <a:rPr lang="en-US" altLang="en-US" b="1" dirty="0">
                <a:sym typeface="Greek Symbols" pitchFamily="18" charset="2"/>
              </a:rPr>
              <a:t>      only the attributes of </a:t>
            </a:r>
            <a:r>
              <a:rPr lang="en-US" altLang="en-US" b="1" i="1" dirty="0">
                <a:sym typeface="Greek Symbols" pitchFamily="18" charset="2"/>
              </a:rPr>
              <a:t>E</a:t>
            </a:r>
            <a:r>
              <a:rPr lang="en-US" altLang="en-US" b="1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.</a:t>
            </a:r>
          </a:p>
          <a:p>
            <a:pPr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              </a:t>
            </a:r>
            <a:r>
              <a:rPr lang="en-US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en-US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olidFill>
                  <a:srgbClr val="0000FF"/>
                </a:solidFill>
                <a:sym typeface="Greek Symbols" pitchFamily="18" charset="2"/>
              </a:rPr>
              <a:t>1</a:t>
            </a:r>
            <a:r>
              <a:rPr lang="en-US" altLang="en-US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</a:t>
            </a:r>
            <a:r>
              <a:rPr lang="en-US" altLang="en-US" b="1" baseline="-25000" dirty="0">
                <a:solidFill>
                  <a:srgbClr val="0000FF"/>
                </a:solidFill>
                <a:sym typeface="Greek Symbols" pitchFamily="18" charset="2"/>
              </a:rPr>
              <a:t> </a:t>
            </a:r>
            <a:r>
              <a:rPr lang="en-US" altLang="en-US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olidFill>
                  <a:srgbClr val="0000FF"/>
                </a:solidFill>
                <a:sym typeface="Greek Symbols" pitchFamily="18" charset="2"/>
              </a:rPr>
              <a:t>2</a:t>
            </a:r>
            <a:r>
              <a:rPr lang="en-US" altLang="en-US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E</a:t>
            </a:r>
            <a:r>
              <a:rPr lang="en-US" altLang="en-US" b="1" baseline="-25000" dirty="0">
                <a:sym typeface="Symbol" panose="05050102010706020507" pitchFamily="18" charset="2"/>
              </a:rPr>
              <a:t>1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IN" altLang="en-US" b="1" dirty="0"/>
              <a:t>⨝</a:t>
            </a:r>
            <a:r>
              <a:rPr lang="en-US" altLang="en-US" b="1" baseline="-25000" dirty="0">
                <a:sym typeface="Symbol" panose="05050102010706020507" pitchFamily="18" charset="2"/>
              </a:rPr>
              <a:t> </a:t>
            </a:r>
            <a:r>
              <a:rPr lang="en-US" altLang="en-US" b="1" dirty="0">
                <a:sym typeface="Symbol" panose="05050102010706020507" pitchFamily="18" charset="2"/>
              </a:rPr>
              <a:t>E</a:t>
            </a:r>
            <a:r>
              <a:rPr lang="en-US" altLang="en-US" b="1" baseline="-25000" dirty="0">
                <a:sym typeface="Symbol" panose="05050102010706020507" pitchFamily="18" charset="2"/>
              </a:rPr>
              <a:t>2</a:t>
            </a:r>
            <a:r>
              <a:rPr lang="en-US" altLang="en-US" b="1" dirty="0">
                <a:sym typeface="Symbol" panose="05050102010706020507" pitchFamily="18" charset="2"/>
              </a:rPr>
              <a:t>)     </a:t>
            </a:r>
            <a:r>
              <a:rPr lang="en-IN" b="1" dirty="0"/>
              <a:t>≡</a:t>
            </a:r>
            <a:r>
              <a:rPr lang="en-US" altLang="en-US" b="1" dirty="0">
                <a:sym typeface="Symbol" panose="05050102010706020507" pitchFamily="18" charset="2"/>
              </a:rPr>
              <a:t>      (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US" altLang="en-US" b="1" dirty="0">
                <a:sym typeface="Symbol" panose="05050102010706020507" pitchFamily="18" charset="2"/>
              </a:rPr>
              <a:t>(E</a:t>
            </a:r>
            <a:r>
              <a:rPr lang="en-US" altLang="en-US" b="1" baseline="-25000" dirty="0">
                <a:sym typeface="Symbol" panose="05050102010706020507" pitchFamily="18" charset="2"/>
              </a:rPr>
              <a:t>1</a:t>
            </a:r>
            <a:r>
              <a:rPr lang="en-US" altLang="en-US" b="1" dirty="0">
                <a:sym typeface="Symbol" panose="05050102010706020507" pitchFamily="18" charset="2"/>
              </a:rPr>
              <a:t>))</a:t>
            </a:r>
            <a:r>
              <a:rPr lang="en-IN" altLang="en-US" b="1" dirty="0"/>
              <a:t> ⨝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dirty="0">
                <a:sym typeface="Symbol" panose="05050102010706020507" pitchFamily="18" charset="2"/>
              </a:rPr>
              <a:t> (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baseline="-46000" dirty="0">
                <a:sym typeface="Greek Symbols" pitchFamily="18" charset="2"/>
              </a:rPr>
              <a:t>2</a:t>
            </a:r>
            <a:r>
              <a:rPr lang="en-US" altLang="en-US" b="1" dirty="0">
                <a:sym typeface="Symbol" panose="05050102010706020507" pitchFamily="18" charset="2"/>
              </a:rPr>
              <a:t>(E</a:t>
            </a:r>
            <a:r>
              <a:rPr lang="en-US" altLang="en-US" b="1" baseline="-25000" dirty="0">
                <a:sym typeface="Symbol" panose="05050102010706020507" pitchFamily="18" charset="2"/>
              </a:rPr>
              <a:t>2</a:t>
            </a:r>
            <a:r>
              <a:rPr lang="en-US" altLang="en-US" b="1" dirty="0">
                <a:sym typeface="Symbol" panose="05050102010706020507" pitchFamily="18" charset="2"/>
              </a:rPr>
              <a:t>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xmlns="" id="{B646A50B-011F-454A-8351-8C638211E9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757962" cy="5367972"/>
          </a:xfrm>
        </p:spPr>
        <p:txBody>
          <a:bodyPr/>
          <a:lstStyle/>
          <a:p>
            <a:pPr>
              <a:buFont typeface="Monotype Sorts" pitchFamily="-65" charset="2"/>
              <a:buNone/>
              <a:tabLst>
                <a:tab pos="3087688" algn="ctr"/>
              </a:tabLst>
            </a:pPr>
            <a:r>
              <a:rPr lang="en-US" altLang="en-US" dirty="0"/>
              <a:t>8.	The </a:t>
            </a:r>
            <a:r>
              <a:rPr lang="en-US" altLang="en-US" b="1" dirty="0"/>
              <a:t>projection operation distributes over the theta join operation </a:t>
            </a:r>
            <a:r>
              <a:rPr lang="en-US" altLang="en-US" dirty="0"/>
              <a:t>as follows:</a:t>
            </a:r>
          </a:p>
          <a:p>
            <a:pPr>
              <a:buFont typeface="Monotype Sorts" pitchFamily="-65" charset="2"/>
              <a:buNone/>
              <a:tabLst>
                <a:tab pos="3087688" algn="ctr"/>
              </a:tabLst>
            </a:pPr>
            <a:r>
              <a:rPr lang="en-US" altLang="en-US" dirty="0"/>
              <a:t>	(a</a:t>
            </a:r>
            <a:r>
              <a:rPr lang="en-US" altLang="en-US" b="1" dirty="0">
                <a:solidFill>
                  <a:srgbClr val="003399"/>
                </a:solidFill>
              </a:rPr>
              <a:t>) if </a:t>
            </a:r>
            <a:r>
              <a:rPr kumimoji="0"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</a:t>
            </a:r>
            <a:r>
              <a:rPr lang="en-US" altLang="en-US" b="1" dirty="0">
                <a:solidFill>
                  <a:srgbClr val="003399"/>
                </a:solidFill>
                <a:sym typeface="Greek Symbols" pitchFamily="18" charset="2"/>
              </a:rPr>
              <a:t> involves only attributes from </a:t>
            </a:r>
            <a:r>
              <a:rPr lang="en-US" altLang="en-US" b="1" i="1" dirty="0">
                <a:solidFill>
                  <a:srgbClr val="003399"/>
                </a:solidFill>
                <a:sym typeface="Greek Symbols" pitchFamily="18" charset="2"/>
              </a:rPr>
              <a:t>L</a:t>
            </a:r>
            <a:r>
              <a:rPr lang="en-US" altLang="en-US" b="1" baseline="-25000" dirty="0">
                <a:solidFill>
                  <a:srgbClr val="003399"/>
                </a:solidFill>
                <a:sym typeface="Greek Symbols" pitchFamily="18" charset="2"/>
              </a:rPr>
              <a:t>1</a:t>
            </a:r>
            <a:r>
              <a:rPr lang="en-US" altLang="en-US" b="1" dirty="0">
                <a:solidFill>
                  <a:srgbClr val="003399"/>
                </a:solidFill>
                <a:sym typeface="Greek Symbols" pitchFamily="18" charset="2"/>
              </a:rPr>
              <a:t> </a:t>
            </a: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 </a:t>
            </a:r>
            <a:r>
              <a:rPr lang="en-US" altLang="en-US" b="1" i="1" dirty="0">
                <a:solidFill>
                  <a:srgbClr val="003399"/>
                </a:solidFill>
                <a:sym typeface="Symbol" panose="05050102010706020507" pitchFamily="18" charset="2"/>
              </a:rPr>
              <a:t>L</a:t>
            </a:r>
            <a:r>
              <a:rPr lang="en-US" altLang="en-US" b="1" baseline="-25000" dirty="0">
                <a:solidFill>
                  <a:srgbClr val="003399"/>
                </a:solidFill>
                <a:sym typeface="Symbol" panose="05050102010706020507" pitchFamily="18" charset="2"/>
              </a:rPr>
              <a:t>2</a:t>
            </a: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:</a:t>
            </a:r>
            <a:b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</a:br>
            <a:r>
              <a:rPr lang="en-IN" altLang="en-US" dirty="0">
                <a:sym typeface="Symbol" panose="05050102010706020507" pitchFamily="18" charset="2"/>
              </a:rPr>
              <a:t>      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="1" baseline="-25000" dirty="0">
                <a:solidFill>
                  <a:srgbClr val="0000FF"/>
                </a:solidFill>
              </a:rPr>
              <a:t>L</a:t>
            </a:r>
            <a:r>
              <a:rPr lang="en-US" altLang="en-US" b="1" baseline="-46000" dirty="0">
                <a:solidFill>
                  <a:srgbClr val="0000FF"/>
                </a:solidFill>
                <a:sym typeface="Greek Symbols" pitchFamily="18" charset="2"/>
              </a:rPr>
              <a:t>1</a:t>
            </a:r>
            <a:r>
              <a:rPr lang="en-IN" b="1" baseline="-25000" dirty="0">
                <a:solidFill>
                  <a:srgbClr val="0000FF"/>
                </a:solidFill>
              </a:rPr>
              <a:t> </a:t>
            </a:r>
            <a:r>
              <a:rPr lang="en-US" altLang="en-US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 </a:t>
            </a:r>
            <a:r>
              <a:rPr lang="en-IN" b="1" baseline="-25000" dirty="0">
                <a:solidFill>
                  <a:srgbClr val="0000FF"/>
                </a:solidFill>
              </a:rPr>
              <a:t>L</a:t>
            </a:r>
            <a:r>
              <a:rPr lang="en-US" b="1" baseline="-46000" dirty="0">
                <a:solidFill>
                  <a:srgbClr val="0000FF"/>
                </a:solidFill>
                <a:sym typeface="Greek Symbols" pitchFamily="18" charset="2"/>
              </a:rPr>
              <a:t>2</a:t>
            </a:r>
            <a:r>
              <a:rPr lang="en-IN" dirty="0"/>
              <a:t>(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US" altLang="en-US" dirty="0"/>
              <a:t>)     </a:t>
            </a:r>
            <a:r>
              <a:rPr lang="en-IN" dirty="0"/>
              <a:t>≡  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dirty="0"/>
              <a:t>(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)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dirty="0"/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IN" dirty="0"/>
              <a:t>(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IN" altLang="en-US" dirty="0"/>
              <a:t>)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	</a:t>
            </a:r>
          </a:p>
          <a:p>
            <a:pPr>
              <a:buFont typeface="Monotype Sorts" pitchFamily="-65" charset="2"/>
              <a:buNone/>
              <a:tabLst>
                <a:tab pos="3087688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tabLst>
                <a:tab pos="3087688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	(b) In general, consider a join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US" altLang="en-US" dirty="0">
                <a:sym typeface="Greek Symbols" pitchFamily="18" charset="2"/>
              </a:rPr>
              <a:t>. </a:t>
            </a:r>
          </a:p>
          <a:p>
            <a:pPr lvl="1">
              <a:tabLst>
                <a:tab pos="3087688" algn="ctr"/>
              </a:tabLst>
            </a:pPr>
            <a:r>
              <a:rPr lang="en-US" altLang="en-US" b="1" dirty="0">
                <a:solidFill>
                  <a:srgbClr val="003399"/>
                </a:solidFill>
                <a:sym typeface="Greek Symbols" pitchFamily="18" charset="2"/>
              </a:rPr>
              <a:t> Let </a:t>
            </a:r>
            <a:r>
              <a:rPr lang="en-US" altLang="en-US" b="1" i="1" dirty="0">
                <a:solidFill>
                  <a:srgbClr val="003399"/>
                </a:solidFill>
                <a:sym typeface="Greek Symbols" pitchFamily="18" charset="2"/>
              </a:rPr>
              <a:t>L</a:t>
            </a:r>
            <a:r>
              <a:rPr lang="en-US" altLang="en-US" b="1" baseline="-25000" dirty="0">
                <a:solidFill>
                  <a:srgbClr val="003399"/>
                </a:solidFill>
                <a:sym typeface="Greek Symbols" pitchFamily="18" charset="2"/>
              </a:rPr>
              <a:t>1</a:t>
            </a:r>
            <a:r>
              <a:rPr lang="en-US" altLang="en-US" b="1" dirty="0">
                <a:solidFill>
                  <a:srgbClr val="003399"/>
                </a:solidFill>
                <a:sym typeface="Greek Symbols" pitchFamily="18" charset="2"/>
              </a:rPr>
              <a:t> and </a:t>
            </a:r>
            <a:r>
              <a:rPr lang="en-US" altLang="en-US" b="1" i="1" dirty="0">
                <a:solidFill>
                  <a:srgbClr val="003399"/>
                </a:solidFill>
                <a:sym typeface="Symbol" panose="05050102010706020507" pitchFamily="18" charset="2"/>
              </a:rPr>
              <a:t>L</a:t>
            </a:r>
            <a:r>
              <a:rPr lang="en-US" altLang="en-US" b="1" baseline="-25000" dirty="0">
                <a:solidFill>
                  <a:srgbClr val="003399"/>
                </a:solidFill>
                <a:sym typeface="Symbol" panose="05050102010706020507" pitchFamily="18" charset="2"/>
              </a:rPr>
              <a:t>2</a:t>
            </a: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 be sets of attributes from </a:t>
            </a:r>
            <a:r>
              <a:rPr lang="en-US" altLang="en-US" b="1" i="1" dirty="0">
                <a:solidFill>
                  <a:srgbClr val="003399"/>
                </a:solidFill>
                <a:sym typeface="Symbol" panose="05050102010706020507" pitchFamily="18" charset="2"/>
              </a:rPr>
              <a:t>E</a:t>
            </a:r>
            <a:r>
              <a:rPr lang="en-US" altLang="en-US" b="1" baseline="-25000" dirty="0">
                <a:solidFill>
                  <a:srgbClr val="003399"/>
                </a:solidFill>
                <a:sym typeface="Symbol" panose="05050102010706020507" pitchFamily="18" charset="2"/>
              </a:rPr>
              <a:t>1</a:t>
            </a: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 and </a:t>
            </a:r>
            <a:r>
              <a:rPr lang="en-US" altLang="en-US" b="1" i="1" dirty="0">
                <a:solidFill>
                  <a:srgbClr val="003399"/>
                </a:solidFill>
                <a:sym typeface="Greek Symbols" pitchFamily="18" charset="2"/>
              </a:rPr>
              <a:t>E</a:t>
            </a:r>
            <a:r>
              <a:rPr lang="en-US" altLang="en-US" b="1" baseline="-25000" dirty="0">
                <a:solidFill>
                  <a:srgbClr val="003399"/>
                </a:solidFill>
                <a:sym typeface="Greek Symbols" pitchFamily="18" charset="2"/>
              </a:rPr>
              <a:t>2</a:t>
            </a:r>
            <a:r>
              <a:rPr lang="en-US" altLang="en-US" b="1" dirty="0">
                <a:solidFill>
                  <a:srgbClr val="003399"/>
                </a:solidFill>
                <a:sym typeface="Greek Symbols" pitchFamily="18" charset="2"/>
              </a:rPr>
              <a:t>, respectively.  </a:t>
            </a:r>
          </a:p>
          <a:p>
            <a:pPr lvl="1">
              <a:tabLst>
                <a:tab pos="3087688" algn="ctr"/>
              </a:tabLst>
            </a:pPr>
            <a:r>
              <a:rPr lang="en-US" altLang="en-US" b="1" dirty="0">
                <a:solidFill>
                  <a:srgbClr val="003399"/>
                </a:solidFill>
                <a:sym typeface="Greek Symbols" pitchFamily="18" charset="2"/>
              </a:rPr>
              <a:t>Let </a:t>
            </a:r>
            <a:r>
              <a:rPr lang="en-US" altLang="en-US" b="1" i="1" dirty="0">
                <a:solidFill>
                  <a:srgbClr val="003399"/>
                </a:solidFill>
                <a:sym typeface="Symbol" panose="05050102010706020507" pitchFamily="18" charset="2"/>
              </a:rPr>
              <a:t>L</a:t>
            </a:r>
            <a:r>
              <a:rPr lang="en-US" altLang="en-US" b="1" baseline="-25000" dirty="0">
                <a:solidFill>
                  <a:srgbClr val="003399"/>
                </a:solidFill>
                <a:sym typeface="Symbol" panose="05050102010706020507" pitchFamily="18" charset="2"/>
              </a:rPr>
              <a:t>3</a:t>
            </a: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 be attributes of </a:t>
            </a:r>
            <a:r>
              <a:rPr lang="en-US" altLang="en-US" b="1" i="1" dirty="0">
                <a:solidFill>
                  <a:srgbClr val="003399"/>
                </a:solidFill>
                <a:sym typeface="Symbol" panose="05050102010706020507" pitchFamily="18" charset="2"/>
              </a:rPr>
              <a:t>E</a:t>
            </a:r>
            <a:r>
              <a:rPr lang="en-US" altLang="en-US" b="1" baseline="-25000" dirty="0">
                <a:solidFill>
                  <a:srgbClr val="003399"/>
                </a:solidFill>
                <a:sym typeface="Symbol" panose="05050102010706020507" pitchFamily="18" charset="2"/>
              </a:rPr>
              <a:t>1</a:t>
            </a: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 that are involved in join condition </a:t>
            </a:r>
            <a:r>
              <a:rPr lang="en-US" altLang="en-US" b="1" i="1" dirty="0">
                <a:solidFill>
                  <a:srgbClr val="003399"/>
                </a:solidFill>
                <a:sym typeface="Greek Symbols" pitchFamily="18" charset="2"/>
              </a:rPr>
              <a:t>, </a:t>
            </a:r>
            <a:r>
              <a:rPr lang="en-US" altLang="en-US" b="1" dirty="0">
                <a:sym typeface="Greek Symbols" pitchFamily="18" charset="2"/>
              </a:rPr>
              <a:t>but are not in </a:t>
            </a:r>
            <a:r>
              <a:rPr lang="en-US" altLang="en-US" b="1" i="1" dirty="0">
                <a:sym typeface="Greek Symbols" pitchFamily="18" charset="2"/>
              </a:rPr>
              <a:t>L</a:t>
            </a:r>
            <a:r>
              <a:rPr lang="en-US" altLang="en-US" b="1" baseline="-25000" dirty="0">
                <a:sym typeface="Greek Symbols" pitchFamily="18" charset="2"/>
              </a:rPr>
              <a:t>1</a:t>
            </a:r>
            <a:r>
              <a:rPr lang="en-US" altLang="en-US" b="1" dirty="0">
                <a:sym typeface="Greek Symbols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 </a:t>
            </a:r>
            <a:r>
              <a:rPr lang="en-US" altLang="en-US" b="1" i="1" dirty="0">
                <a:sym typeface="Symbol" panose="05050102010706020507" pitchFamily="18" charset="2"/>
              </a:rPr>
              <a:t>L</a:t>
            </a:r>
            <a:r>
              <a:rPr lang="en-US" altLang="en-US" b="1" baseline="-25000" dirty="0">
                <a:sym typeface="Symbol" panose="05050102010706020507" pitchFamily="18" charset="2"/>
              </a:rPr>
              <a:t>2</a:t>
            </a: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, and</a:t>
            </a:r>
          </a:p>
          <a:p>
            <a:pPr lvl="1">
              <a:tabLst>
                <a:tab pos="3087688" algn="ctr"/>
              </a:tabLst>
            </a:pP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 smtClean="0">
                <a:solidFill>
                  <a:srgbClr val="003399"/>
                </a:solidFill>
                <a:sym typeface="Symbol" panose="05050102010706020507" pitchFamily="18" charset="2"/>
              </a:rPr>
              <a:t>Let </a:t>
            </a:r>
            <a:r>
              <a:rPr lang="en-US" altLang="en-US" b="1" i="1" dirty="0">
                <a:solidFill>
                  <a:srgbClr val="003399"/>
                </a:solidFill>
                <a:sym typeface="Greek Symbols" pitchFamily="18" charset="2"/>
              </a:rPr>
              <a:t>L</a:t>
            </a:r>
            <a:r>
              <a:rPr lang="en-US" altLang="en-US" b="1" baseline="-25000" dirty="0">
                <a:solidFill>
                  <a:srgbClr val="003399"/>
                </a:solidFill>
                <a:sym typeface="Greek Symbols" pitchFamily="18" charset="2"/>
              </a:rPr>
              <a:t>4</a:t>
            </a:r>
            <a:r>
              <a:rPr lang="en-US" altLang="en-US" b="1" dirty="0">
                <a:solidFill>
                  <a:srgbClr val="003399"/>
                </a:solidFill>
                <a:sym typeface="Greek Symbols" pitchFamily="18" charset="2"/>
              </a:rPr>
              <a:t> be attributes of </a:t>
            </a:r>
            <a:r>
              <a:rPr lang="en-US" altLang="en-US" b="1" i="1" dirty="0">
                <a:solidFill>
                  <a:srgbClr val="003399"/>
                </a:solidFill>
                <a:sym typeface="Greek Symbols" pitchFamily="18" charset="2"/>
              </a:rPr>
              <a:t>E</a:t>
            </a:r>
            <a:r>
              <a:rPr lang="en-US" altLang="en-US" b="1" baseline="-25000" dirty="0">
                <a:solidFill>
                  <a:srgbClr val="003399"/>
                </a:solidFill>
                <a:sym typeface="Greek Symbols" pitchFamily="18" charset="2"/>
              </a:rPr>
              <a:t>2 </a:t>
            </a:r>
            <a:r>
              <a:rPr lang="en-US" altLang="en-US" b="1" dirty="0">
                <a:solidFill>
                  <a:srgbClr val="003399"/>
                </a:solidFill>
                <a:sym typeface="Greek Symbols" pitchFamily="18" charset="2"/>
              </a:rPr>
              <a:t>that are involved in join condition </a:t>
            </a: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></a:t>
            </a:r>
            <a:r>
              <a:rPr lang="en-US" altLang="en-US" b="1" dirty="0">
                <a:solidFill>
                  <a:srgbClr val="003399"/>
                </a:solidFill>
                <a:sym typeface="Greek Symbols" pitchFamily="18" charset="2"/>
              </a:rPr>
              <a:t>, </a:t>
            </a:r>
            <a:r>
              <a:rPr lang="en-US" altLang="en-US" b="1" dirty="0">
                <a:sym typeface="Greek Symbols" pitchFamily="18" charset="2"/>
              </a:rPr>
              <a:t>but are not in </a:t>
            </a:r>
            <a:r>
              <a:rPr lang="en-US" altLang="en-US" b="1" i="1" dirty="0">
                <a:sym typeface="Greek Symbols" pitchFamily="18" charset="2"/>
              </a:rPr>
              <a:t>L</a:t>
            </a:r>
            <a:r>
              <a:rPr lang="en-US" altLang="en-US" b="1" baseline="-25000" dirty="0">
                <a:sym typeface="Greek Symbols" pitchFamily="18" charset="2"/>
              </a:rPr>
              <a:t>1</a:t>
            </a:r>
            <a:r>
              <a:rPr lang="en-US" altLang="en-US" b="1" dirty="0">
                <a:sym typeface="Greek Symbols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 </a:t>
            </a:r>
            <a:r>
              <a:rPr lang="en-US" altLang="en-US" b="1" i="1" dirty="0">
                <a:sym typeface="Symbol" panose="05050102010706020507" pitchFamily="18" charset="2"/>
              </a:rPr>
              <a:t>L</a:t>
            </a:r>
            <a:r>
              <a:rPr lang="en-US" altLang="en-US" b="1" baseline="-25000" dirty="0">
                <a:sym typeface="Symbol" panose="05050102010706020507" pitchFamily="18" charset="2"/>
              </a:rPr>
              <a:t>2</a:t>
            </a:r>
            <a:r>
              <a:rPr lang="en-US" altLang="en-US" b="1" dirty="0">
                <a:sym typeface="Symbol" panose="05050102010706020507" pitchFamily="18" charset="2"/>
              </a:rPr>
              <a:t>.</a:t>
            </a:r>
          </a:p>
          <a:p>
            <a:pPr marL="457200" lvl="1" indent="0">
              <a:buNone/>
              <a:tabLst>
                <a:tab pos="3087688" algn="ctr"/>
              </a:tabLst>
            </a:pPr>
            <a: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  <a:t/>
            </a:r>
            <a:br>
              <a:rPr lang="en-US" altLang="en-US" b="1" dirty="0">
                <a:solidFill>
                  <a:srgbClr val="003399"/>
                </a:solidFill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="1" baseline="-25000" dirty="0"/>
              <a:t>L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IN" b="1" baseline="-25000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 </a:t>
            </a:r>
            <a:r>
              <a:rPr lang="en-IN" b="1" baseline="-25000" dirty="0"/>
              <a:t>L</a:t>
            </a:r>
            <a:r>
              <a:rPr lang="en-US" b="1" baseline="-46000" dirty="0">
                <a:sym typeface="Greek Symbols" pitchFamily="18" charset="2"/>
              </a:rPr>
              <a:t>2</a:t>
            </a:r>
            <a:r>
              <a:rPr lang="en-IN" b="1" dirty="0"/>
              <a:t>(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1</a:t>
            </a:r>
            <a:r>
              <a:rPr lang="en-IN" altLang="en-US" b="1" dirty="0"/>
              <a:t> ⨝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i="1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i="1" dirty="0"/>
              <a:t>E</a:t>
            </a:r>
            <a:r>
              <a:rPr lang="en-US" altLang="en-US" b="1" i="1" baseline="-25000" dirty="0"/>
              <a:t>2</a:t>
            </a:r>
            <a:r>
              <a:rPr lang="en-US" altLang="en-US" b="1" dirty="0"/>
              <a:t>)     </a:t>
            </a:r>
            <a:r>
              <a:rPr lang="en-IN" b="1" dirty="0"/>
              <a:t>≡   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="1" baseline="-25000" dirty="0"/>
              <a:t>L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IN" b="1" baseline="-25000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 </a:t>
            </a:r>
            <a:r>
              <a:rPr lang="en-IN" b="1" baseline="-25000" dirty="0"/>
              <a:t>L</a:t>
            </a:r>
            <a:r>
              <a:rPr lang="en-US" b="1" baseline="-46000" dirty="0">
                <a:sym typeface="Greek Symbols" pitchFamily="18" charset="2"/>
              </a:rPr>
              <a:t>2</a:t>
            </a:r>
            <a:r>
              <a:rPr lang="en-IN" b="1" dirty="0"/>
              <a:t>(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="1" baseline="-25000" dirty="0"/>
              <a:t>L</a:t>
            </a:r>
            <a:r>
              <a:rPr lang="en-US" altLang="en-US" b="1" baseline="-46000" dirty="0">
                <a:sym typeface="Greek Symbols" pitchFamily="18" charset="2"/>
              </a:rPr>
              <a:t>1</a:t>
            </a:r>
            <a:r>
              <a:rPr lang="en-IN" b="1" baseline="-25000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 </a:t>
            </a:r>
            <a:r>
              <a:rPr lang="en-IN" b="1" baseline="-25000" dirty="0"/>
              <a:t>L</a:t>
            </a:r>
            <a:r>
              <a:rPr lang="en-US" b="1" baseline="-46000" dirty="0">
                <a:sym typeface="Greek Symbols" pitchFamily="18" charset="2"/>
              </a:rPr>
              <a:t>3</a:t>
            </a:r>
            <a:r>
              <a:rPr lang="en-IN" b="1" dirty="0"/>
              <a:t>(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1</a:t>
            </a:r>
            <a:r>
              <a:rPr lang="en-IN" altLang="en-US" b="1" dirty="0"/>
              <a:t>) ⨝</a:t>
            </a:r>
            <a:r>
              <a:rPr lang="en-US" altLang="en-US" b="1" baseline="-25000" dirty="0">
                <a:sym typeface="Symbol" panose="05050102010706020507" pitchFamily="18" charset="2"/>
              </a:rPr>
              <a:t></a:t>
            </a:r>
            <a:r>
              <a:rPr lang="en-US" altLang="en-US" b="1" i="1" dirty="0"/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="1" baseline="-25000" dirty="0"/>
              <a:t>L</a:t>
            </a:r>
            <a:r>
              <a:rPr lang="en-US" altLang="en-US" b="1" baseline="-46000" dirty="0">
                <a:sym typeface="Greek Symbols" pitchFamily="18" charset="2"/>
              </a:rPr>
              <a:t>2</a:t>
            </a:r>
            <a:r>
              <a:rPr lang="en-IN" b="1" baseline="-25000" dirty="0"/>
              <a:t> </a:t>
            </a:r>
            <a:r>
              <a:rPr lang="en-US" altLang="en-US" b="1" baseline="-25000" dirty="0">
                <a:sym typeface="Symbol" panose="05050102010706020507" pitchFamily="18" charset="2"/>
              </a:rPr>
              <a:t> </a:t>
            </a:r>
            <a:r>
              <a:rPr lang="en-IN" b="1" baseline="-25000" dirty="0"/>
              <a:t>L</a:t>
            </a:r>
            <a:r>
              <a:rPr lang="en-US" b="1" baseline="-46000" dirty="0">
                <a:sym typeface="Greek Symbols" pitchFamily="18" charset="2"/>
              </a:rPr>
              <a:t>4</a:t>
            </a:r>
            <a:r>
              <a:rPr lang="en-IN" b="1" dirty="0"/>
              <a:t>(</a:t>
            </a:r>
            <a:r>
              <a:rPr lang="en-US" altLang="en-US" b="1" i="1" dirty="0"/>
              <a:t>E</a:t>
            </a:r>
            <a:r>
              <a:rPr lang="en-US" altLang="en-US" b="1" baseline="-25000" dirty="0"/>
              <a:t>2</a:t>
            </a:r>
            <a:r>
              <a:rPr lang="en-IN" altLang="en-US" b="1" dirty="0"/>
              <a:t>))</a:t>
            </a:r>
          </a:p>
          <a:p>
            <a:pPr lvl="1">
              <a:tabLst>
                <a:tab pos="3087688" algn="ctr"/>
              </a:tabLst>
            </a:pPr>
            <a:endParaRPr lang="en-IN" altLang="en-US" dirty="0"/>
          </a:p>
          <a:p>
            <a:pPr marL="457200" lvl="1" indent="0">
              <a:buNone/>
              <a:tabLst>
                <a:tab pos="3087688" algn="ctr"/>
              </a:tabLst>
            </a:pPr>
            <a:r>
              <a:rPr lang="en-IN" altLang="en-US" dirty="0"/>
              <a:t>Similar equivalences hold for </a:t>
            </a:r>
            <a:r>
              <a:rPr lang="en-IN" altLang="en-US" dirty="0" err="1"/>
              <a:t>outerjoin</a:t>
            </a:r>
            <a:r>
              <a:rPr lang="en-IN" altLang="en-US" dirty="0"/>
              <a:t> operations: </a:t>
            </a:r>
            <a:r>
              <a:rPr lang="en-IN" dirty="0"/>
              <a:t>⟕, ⟖, and ⟗</a:t>
            </a:r>
            <a:r>
              <a:rPr lang="en-IN" altLang="en-US" dirty="0"/>
              <a:t> 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xmlns="" id="{CC6BF4E4-7BA6-4F5E-9757-648842B6E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xmlns="" id="{A280E042-4593-4F00-8739-31BAD978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2499" name="Rectangle 3">
                <a:extLst>
                  <a:ext uri="{FF2B5EF4-FFF2-40B4-BE49-F238E27FC236}">
                    <a16:creationId xmlns:a16="http://schemas.microsoft.com/office/drawing/2014/main" xmlns="" id="{CD34A2FB-3E13-4F06-8207-CFF2D7389F2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68350" y="727075"/>
                <a:ext cx="7307246" cy="5649012"/>
              </a:xfrm>
            </p:spPr>
            <p:txBody>
              <a:bodyPr/>
              <a:lstStyle/>
              <a:p>
                <a:pPr marL="0" indent="0">
                  <a:buNone/>
                  <a:tabLst>
                    <a:tab pos="2279650" algn="l"/>
                  </a:tabLst>
                </a:pPr>
                <a:r>
                  <a:rPr lang="en-US" altLang="en-US" dirty="0">
                    <a:solidFill>
                      <a:srgbClr val="002060"/>
                    </a:solidFill>
                  </a:rPr>
                  <a:t> 9.  </a:t>
                </a:r>
                <a:r>
                  <a:rPr lang="en-US" altLang="en-US" dirty="0"/>
                  <a:t>The set operations union and intersection are commutative</a:t>
                </a:r>
                <a:br>
                  <a:rPr lang="en-US" altLang="en-US" dirty="0"/>
                </a:br>
                <a:r>
                  <a:rPr lang="en-US" altLang="en-US" dirty="0"/>
                  <a:t>              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     </a:t>
                </a:r>
                <a:r>
                  <a:rPr lang="en-IN" dirty="0"/>
                  <a:t>≡   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1 </a:t>
                </a:r>
                <a:br>
                  <a:rPr lang="en-US" altLang="en-US" baseline="-25000" dirty="0">
                    <a:sym typeface="Symbol" panose="05050102010706020507" pitchFamily="18" charset="2"/>
                  </a:rPr>
                </a:br>
                <a:r>
                  <a:rPr lang="en-US" altLang="en-US" dirty="0"/>
                  <a:t>               </a:t>
                </a:r>
                <a:r>
                  <a:rPr lang="en-US" altLang="en-US" i="1" dirty="0" err="1"/>
                  <a:t>E</a:t>
                </a:r>
                <a:r>
                  <a:rPr lang="en-US" altLang="en-US" baseline="-25000" dirty="0" err="1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     </a:t>
                </a:r>
                <a:r>
                  <a:rPr lang="en-IN" dirty="0"/>
                  <a:t>≡   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en-US" dirty="0">
                    <a:sym typeface="Symbol" panose="05050102010706020507" pitchFamily="18" charset="2"/>
                  </a:rPr>
                  <a:t/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i="1" dirty="0"/>
                  <a:t>       </a:t>
                </a:r>
                <a:r>
                  <a:rPr lang="en-US" altLang="en-US" dirty="0"/>
                  <a:t>(set difference is not commutative).</a:t>
                </a:r>
              </a:p>
              <a:p>
                <a:pPr marL="0" indent="0">
                  <a:buNone/>
                  <a:tabLst>
                    <a:tab pos="2279650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buAutoNum type="arabicPeriod" startAt="10"/>
                  <a:tabLst>
                    <a:tab pos="2279650" algn="l"/>
                  </a:tabLst>
                </a:pPr>
                <a:r>
                  <a:rPr lang="en-US" altLang="en-US" dirty="0">
                    <a:sym typeface="Symbol" panose="05050102010706020507" pitchFamily="18" charset="2"/>
                  </a:rPr>
                  <a:t>Set union and intersection are associative.</a:t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dirty="0">
                    <a:sym typeface="Symbol" panose="05050102010706020507" pitchFamily="18" charset="2"/>
                  </a:rPr>
                  <a:t>           </a:t>
                </a:r>
                <a:r>
                  <a:rPr lang="en-US" altLang="en-US" dirty="0"/>
                  <a:t> 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 </a:t>
                </a:r>
                <a:r>
                  <a:rPr lang="en-IN" dirty="0"/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3    </a:t>
                </a:r>
                <a:r>
                  <a:rPr lang="en-IN" dirty="0"/>
                  <a:t>≡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  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dirty="0"/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dirty="0">
                    <a:sym typeface="Symbol" panose="05050102010706020507" pitchFamily="18" charset="2"/>
                  </a:rPr>
                  <a:t> 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3</a:t>
                </a:r>
                <a:r>
                  <a:rPr lang="en-IN" dirty="0"/>
                  <a:t>)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br>
                  <a:rPr lang="en-US" altLang="en-US" baseline="-25000" dirty="0">
                    <a:sym typeface="Symbol" panose="05050102010706020507" pitchFamily="18" charset="2"/>
                  </a:rPr>
                </a:br>
                <a:r>
                  <a:rPr lang="en-US" altLang="en-US" baseline="-25000" dirty="0">
                    <a:sym typeface="Symbol" panose="05050102010706020507" pitchFamily="18" charset="2"/>
                  </a:rPr>
                  <a:t>              </a:t>
                </a:r>
                <a:r>
                  <a:rPr lang="en-US" altLang="en-US" dirty="0">
                    <a:sym typeface="Symbol" panose="05050102010706020507" pitchFamily="18" charset="2"/>
                  </a:rPr>
                  <a:t>  </a:t>
                </a:r>
                <a:r>
                  <a:rPr lang="en-US" altLang="en-US" dirty="0"/>
                  <a:t> 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 </a:t>
                </a:r>
                <a:r>
                  <a:rPr lang="en-IN" dirty="0"/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3    </a:t>
                </a:r>
                <a:r>
                  <a:rPr lang="en-IN" dirty="0"/>
                  <a:t>≡   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dirty="0"/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dirty="0">
                    <a:sym typeface="Symbol" panose="05050102010706020507" pitchFamily="18" charset="2"/>
                  </a:rPr>
                  <a:t> 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3</a:t>
                </a:r>
                <a:r>
                  <a:rPr lang="en-IN" dirty="0"/>
                  <a:t>)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</a:p>
              <a:p>
                <a:pPr>
                  <a:buAutoNum type="arabicPeriod" startAt="10"/>
                  <a:tabLst>
                    <a:tab pos="2279650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buAutoNum type="arabicPeriod" startAt="11"/>
                  <a:tabLst>
                    <a:tab pos="2279650" algn="l"/>
                  </a:tabLst>
                </a:pPr>
                <a:r>
                  <a:rPr lang="en-US" altLang="en-US" dirty="0">
                    <a:sym typeface="Symbol" panose="05050102010706020507" pitchFamily="18" charset="2"/>
                  </a:rPr>
                  <a:t>The </a:t>
                </a:r>
                <a:r>
                  <a:rPr lang="en-US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selection operation distributes over ,  and –. </a:t>
                </a:r>
                <a:r>
                  <a:rPr lang="en-US" altLang="en-US" dirty="0">
                    <a:sym typeface="Symbol" panose="05050102010706020507" pitchFamily="18" charset="2"/>
                  </a:rPr>
                  <a:t/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IN" alt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dirty="0"/>
                      <m:t>	</m:t>
                    </m:r>
                  </m:oMath>
                </a14:m>
                <a:r>
                  <a:rPr lang="en-US" altLang="en-US" dirty="0">
                    <a:sym typeface="Symbol" panose="05050102010706020507" pitchFamily="18" charset="2"/>
                  </a:rPr>
                  <a:t>           a.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 </a:t>
                </a:r>
                <a:r>
                  <a:rPr lang="en-IN" dirty="0"/>
                  <a:t>≡   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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</a:t>
                </a:r>
                <a:br>
                  <a:rPr lang="en-US" altLang="en-US" dirty="0">
                    <a:sym typeface="Greek Symbols" pitchFamily="18" charset="2"/>
                  </a:rPr>
                </a:br>
                <a:r>
                  <a:rPr lang="en-US" altLang="en-US" dirty="0">
                    <a:sym typeface="Greek Symbols" pitchFamily="18" charset="2"/>
                  </a:rPr>
                  <a:t>            b.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 </a:t>
                </a:r>
                <a:r>
                  <a:rPr lang="en-IN" dirty="0"/>
                  <a:t>≡</a:t>
                </a:r>
                <a:r>
                  <a:rPr lang="en-US" altLang="en-US" dirty="0">
                    <a:sym typeface="Greek Symbols" pitchFamily="18" charset="2"/>
                  </a:rPr>
                  <a:t>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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</a:t>
                </a:r>
                <a:br>
                  <a:rPr lang="en-US" altLang="en-US" dirty="0">
                    <a:sym typeface="Greek Symbols" pitchFamily="18" charset="2"/>
                  </a:rPr>
                </a:br>
                <a:r>
                  <a:rPr lang="en-US" altLang="en-US" dirty="0">
                    <a:sym typeface="Greek Symbols" pitchFamily="18" charset="2"/>
                  </a:rPr>
                  <a:t>            c.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–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 </a:t>
                </a:r>
                <a:r>
                  <a:rPr lang="en-IN" dirty="0"/>
                  <a:t>≡   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–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 smtClean="0">
                    <a:sym typeface="Greek Symbols" pitchFamily="18" charset="2"/>
                  </a:rPr>
                  <a:t>)</a:t>
                </a:r>
              </a:p>
              <a:p>
                <a:pPr marL="0" indent="0">
                  <a:buNone/>
                  <a:tabLst>
                    <a:tab pos="2279650" algn="l"/>
                  </a:tabLst>
                </a:pPr>
                <a:r>
                  <a:rPr lang="en-US" altLang="en-US" dirty="0" smtClean="0">
                    <a:sym typeface="Greek Symbols" pitchFamily="18" charset="2"/>
                  </a:rPr>
                  <a:t>            </a:t>
                </a:r>
                <a:r>
                  <a:rPr lang="en-US" altLang="en-US" dirty="0">
                    <a:sym typeface="Greek Symbols" pitchFamily="18" charset="2"/>
                  </a:rPr>
                  <a:t>d.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</a:t>
                </a:r>
                <a:r>
                  <a:rPr lang="en-IN" dirty="0"/>
                  <a:t>≡</a:t>
                </a:r>
                <a:r>
                  <a:rPr lang="en-US" altLang="en-US" dirty="0">
                    <a:sym typeface="Greek Symbols" pitchFamily="18" charset="2"/>
                  </a:rPr>
                  <a:t>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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br>
                  <a:rPr lang="en-US" altLang="en-US" baseline="-25000" dirty="0">
                    <a:sym typeface="Greek Symbols" pitchFamily="18" charset="2"/>
                  </a:rPr>
                </a:br>
                <a:r>
                  <a:rPr lang="en-US" altLang="en-US" baseline="-25000" dirty="0">
                    <a:sym typeface="Greek Symbols" pitchFamily="18" charset="2"/>
                  </a:rPr>
                  <a:t>                  </a:t>
                </a:r>
                <a:r>
                  <a:rPr lang="en-US" altLang="en-US" dirty="0">
                    <a:sym typeface="Greek Symbols" pitchFamily="18" charset="2"/>
                  </a:rPr>
                  <a:t>e.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–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 </a:t>
                </a:r>
                <a:r>
                  <a:rPr lang="en-IN" dirty="0"/>
                  <a:t>≡</a:t>
                </a:r>
                <a:r>
                  <a:rPr lang="en-US" altLang="en-US" dirty="0">
                    <a:sym typeface="Greek Symbols" pitchFamily="18" charset="2"/>
                  </a:rPr>
                  <a:t>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–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/>
                </a:r>
                <a:br>
                  <a:rPr lang="en-US" altLang="en-US" dirty="0">
                    <a:sym typeface="Greek Symbols" pitchFamily="18" charset="2"/>
                  </a:rPr>
                </a:br>
                <a:r>
                  <a:rPr lang="en-US" altLang="en-US" dirty="0">
                    <a:sym typeface="Greek Symbols" pitchFamily="18" charset="2"/>
                  </a:rPr>
                  <a:t>        preceding equivalence does not hold for</a:t>
                </a:r>
                <a:r>
                  <a:rPr lang="en-US" altLang="en-US" dirty="0">
                    <a:sym typeface="Symbol" panose="05050102010706020507" pitchFamily="18" charset="2"/>
                  </a:rPr>
                  <a:t> </a:t>
                </a:r>
              </a:p>
              <a:p>
                <a:pPr marL="0" indent="0">
                  <a:buNone/>
                  <a:tabLst>
                    <a:tab pos="2279650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  <a:tabLst>
                    <a:tab pos="2279650" algn="l"/>
                  </a:tabLst>
                </a:pPr>
                <a:r>
                  <a:rPr lang="en-US" altLang="en-US" dirty="0">
                    <a:solidFill>
                      <a:srgbClr val="002060"/>
                    </a:solidFill>
                    <a:sym typeface="Greek Symbols" pitchFamily="18" charset="2"/>
                  </a:rPr>
                  <a:t>12.  </a:t>
                </a:r>
                <a:r>
                  <a:rPr lang="en-US" altLang="en-US" dirty="0">
                    <a:sym typeface="Greek Symbols" pitchFamily="18" charset="2"/>
                  </a:rPr>
                  <a:t>The </a:t>
                </a:r>
                <a:r>
                  <a:rPr lang="en-US" altLang="en-US" dirty="0">
                    <a:solidFill>
                      <a:srgbClr val="0000FF"/>
                    </a:solidFill>
                    <a:sym typeface="Greek Symbols" pitchFamily="18" charset="2"/>
                  </a:rPr>
                  <a:t>projection operation distributes over union</a:t>
                </a:r>
                <a:r>
                  <a:rPr lang="en-US" altLang="en-US" dirty="0">
                    <a:sym typeface="Greek Symbols" pitchFamily="18" charset="2"/>
                  </a:rPr>
                  <a:t/>
                </a:r>
                <a:br>
                  <a:rPr lang="en-US" altLang="en-US" dirty="0">
                    <a:sym typeface="Greek Symbols" pitchFamily="18" charset="2"/>
                  </a:rPr>
                </a:br>
                <a:r>
                  <a:rPr lang="en-US" altLang="en-US" dirty="0">
                    <a:sym typeface="Greek Symbols" pitchFamily="18" charset="2"/>
                  </a:rPr>
                  <a:t>        </a:t>
                </a:r>
                <a:r>
                  <a:rPr lang="en-US" altLang="en-US" dirty="0">
                    <a:sym typeface="Symbol" panose="05050102010706020507" pitchFamily="18" charset="2"/>
                  </a:rPr>
                  <a:t>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L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dirty="0">
                    <a:sym typeface="Symbol" panose="05050102010706020507" pitchFamily="18" charset="2"/>
                  </a:rPr>
                  <a:t>)     </a:t>
                </a:r>
                <a:r>
                  <a:rPr lang="en-IN" dirty="0"/>
                  <a:t>≡</a:t>
                </a:r>
                <a:r>
                  <a:rPr lang="en-US" altLang="en-US" dirty="0">
                    <a:sym typeface="Symbol" panose="05050102010706020507" pitchFamily="18" charset="2"/>
                  </a:rPr>
                  <a:t>     (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L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)) </a:t>
                </a:r>
                <a:r>
                  <a:rPr lang="en-US" altLang="en-US" dirty="0">
                    <a:sym typeface="Symbol" panose="05050102010706020507" pitchFamily="18" charset="2"/>
                  </a:rPr>
                  <a:t> (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L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)) </a:t>
                </a:r>
                <a:endParaRPr lang="en-US" altLang="en-US" dirty="0">
                  <a:sym typeface="Greek Symbols" pitchFamily="18" charset="2"/>
                </a:endParaRPr>
              </a:p>
              <a:p>
                <a:pPr marL="404813" indent="-404813">
                  <a:buFont typeface="Monotype Sorts" pitchFamily="-65" charset="2"/>
                  <a:buAutoNum type="arabicPeriod" startAt="10"/>
                  <a:tabLst>
                    <a:tab pos="2279650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 marL="404813" indent="-404813">
                  <a:buFont typeface="Monotype Sorts" pitchFamily="-65" charset="2"/>
                  <a:buNone/>
                  <a:tabLst>
                    <a:tab pos="2279650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62499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D34A2FB-3E13-4F06-8207-CFF2D7389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8350" y="727075"/>
                <a:ext cx="7307246" cy="5649012"/>
              </a:xfrm>
              <a:blipFill rotWithShape="0">
                <a:blip r:embed="rId3"/>
                <a:stretch>
                  <a:fillRect l="-584" t="-324" b="-20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xmlns="" id="{A280E042-4593-4F00-8739-31BAD978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xmlns="" id="{CD34A2FB-3E13-4F06-8207-CFF2D7389F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20" y="932534"/>
            <a:ext cx="7806088" cy="5642002"/>
          </a:xfrm>
        </p:spPr>
        <p:txBody>
          <a:bodyPr/>
          <a:lstStyle/>
          <a:p>
            <a:pPr>
              <a:buAutoNum type="arabicPeriod" startAt="13"/>
              <a:tabLst>
                <a:tab pos="2279650" algn="l"/>
              </a:tabLst>
            </a:pPr>
            <a:r>
              <a:rPr lang="en-US" altLang="en-US" dirty="0" smtClean="0">
                <a:sym typeface="Greek Symbols" pitchFamily="18" charset="2"/>
              </a:rPr>
              <a:t>Selection </a:t>
            </a:r>
            <a:r>
              <a:rPr lang="en-US" altLang="en-US" dirty="0">
                <a:sym typeface="Greek Symbols" pitchFamily="18" charset="2"/>
              </a:rPr>
              <a:t>distributes over aggregation as below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baseline="-25000" dirty="0">
                <a:sym typeface="Greek Symbols" pitchFamily="18" charset="2"/>
              </a:rPr>
              <a:t>G</a:t>
            </a:r>
            <a:r>
              <a:rPr lang="en-IN" dirty="0"/>
              <a:t>𝛾</a:t>
            </a:r>
            <a:r>
              <a:rPr lang="en-US" altLang="en-US" baseline="-25000" dirty="0">
                <a:sym typeface="Greek Symbols" pitchFamily="18" charset="2"/>
              </a:rPr>
              <a:t>A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dirty="0">
                <a:sym typeface="Greek Symbols" pitchFamily="18" charset="2"/>
              </a:rPr>
              <a:t>))    </a:t>
            </a:r>
            <a:r>
              <a:rPr lang="en-IN" dirty="0"/>
              <a:t>≡   </a:t>
            </a:r>
            <a:r>
              <a:rPr lang="en-US" altLang="en-US" baseline="-25000" dirty="0">
                <a:sym typeface="Greek Symbols" pitchFamily="18" charset="2"/>
              </a:rPr>
              <a:t>G</a:t>
            </a:r>
            <a:r>
              <a:rPr lang="en-IN" dirty="0"/>
              <a:t>𝛾</a:t>
            </a:r>
            <a:r>
              <a:rPr lang="en-US" altLang="en-US" baseline="-25000" dirty="0">
                <a:sym typeface="Greek Symbols" pitchFamily="18" charset="2"/>
              </a:rPr>
              <a:t>A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dirty="0">
                <a:sym typeface="Greek Symbols" pitchFamily="18" charset="2"/>
              </a:rPr>
              <a:t>)) 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provided </a:t>
            </a:r>
            <a:r>
              <a:rPr lang="en-US" altLang="en-US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only involves attributes in </a:t>
            </a:r>
            <a:r>
              <a:rPr lang="en-US" altLang="en-US" dirty="0" smtClean="0">
                <a:sym typeface="Greek Symbols" pitchFamily="18" charset="2"/>
              </a:rPr>
              <a:t>G</a:t>
            </a:r>
          </a:p>
          <a:p>
            <a:pPr marL="0" indent="0">
              <a:buNone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>
              <a:spcBef>
                <a:spcPts val="714"/>
              </a:spcBef>
              <a:buAutoNum type="arabicPeriod" startAt="14"/>
              <a:tabLst>
                <a:tab pos="2279650" algn="l"/>
              </a:tabLst>
            </a:pPr>
            <a:r>
              <a:rPr lang="en-US" altLang="en-US" dirty="0" smtClean="0">
                <a:sym typeface="Greek Symbols" pitchFamily="18" charset="2"/>
              </a:rPr>
              <a:t>a</a:t>
            </a:r>
            <a:r>
              <a:rPr lang="en-US" altLang="en-US" dirty="0">
                <a:sym typeface="Greek Symbols" pitchFamily="18" charset="2"/>
              </a:rPr>
              <a:t>. </a:t>
            </a: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Full </a:t>
            </a:r>
            <a:r>
              <a:rPr lang="en-US" altLang="en-US" dirty="0" err="1">
                <a:solidFill>
                  <a:srgbClr val="0000FF"/>
                </a:solidFill>
                <a:sym typeface="Greek Symbols" pitchFamily="18" charset="2"/>
              </a:rPr>
              <a:t>outerjoin</a:t>
            </a: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 is commutative:</a:t>
            </a:r>
            <a:r>
              <a:rPr lang="en-US" altLang="en-US" dirty="0">
                <a:sym typeface="Greek Symbols" pitchFamily="18" charset="2"/>
              </a:rPr>
              <a:t/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   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dirty="0"/>
              <a:t>⟗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2     </a:t>
            </a:r>
            <a:r>
              <a:rPr lang="en-IN" dirty="0"/>
              <a:t>≡  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IN" dirty="0"/>
              <a:t>⟗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1 </a:t>
            </a:r>
            <a:br>
              <a:rPr lang="en-US" altLang="en-US" baseline="-25000" dirty="0">
                <a:sym typeface="Symbol" panose="05050102010706020507" pitchFamily="18" charset="2"/>
              </a:rPr>
            </a:br>
            <a:r>
              <a:rPr lang="en-US" altLang="en-US" dirty="0" smtClean="0">
                <a:sym typeface="Symbol" panose="05050102010706020507" pitchFamily="18" charset="2"/>
              </a:rPr>
              <a:t>b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. Left and right </a:t>
            </a:r>
            <a:r>
              <a:rPr lang="en-US" altLang="en-US" dirty="0" err="1">
                <a:solidFill>
                  <a:srgbClr val="0000FF"/>
                </a:solidFill>
                <a:sym typeface="Symbol" panose="05050102010706020507" pitchFamily="18" charset="2"/>
              </a:rPr>
              <a:t>outerjoin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are not commutative</a:t>
            </a:r>
            <a:r>
              <a:rPr lang="en-US" altLang="en-US" dirty="0">
                <a:sym typeface="Symbol" panose="05050102010706020507" pitchFamily="18" charset="2"/>
              </a:rPr>
              <a:t>, but: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dirty="0"/>
              <a:t>⟕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2     </a:t>
            </a:r>
            <a:r>
              <a:rPr lang="en-IN" dirty="0"/>
              <a:t>≡  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IN" dirty="0"/>
              <a:t>⟖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 smtClean="0">
                <a:sym typeface="Symbol" panose="05050102010706020507" pitchFamily="18" charset="2"/>
              </a:rPr>
              <a:t>E</a:t>
            </a:r>
            <a:r>
              <a:rPr lang="en-US" altLang="en-US" baseline="-25000" dirty="0" smtClean="0">
                <a:sym typeface="Symbol" panose="05050102010706020507" pitchFamily="18" charset="2"/>
              </a:rPr>
              <a:t>1</a:t>
            </a:r>
          </a:p>
          <a:p>
            <a:pPr marL="0" indent="0">
              <a:spcBef>
                <a:spcPts val="714"/>
              </a:spcBef>
              <a:buNone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0" indent="0">
              <a:spcBef>
                <a:spcPts val="714"/>
              </a:spcBef>
              <a:buNone/>
              <a:tabLst>
                <a:tab pos="2279650" algn="l"/>
              </a:tabLst>
            </a:pPr>
            <a:r>
              <a:rPr lang="en-US" altLang="en-US" dirty="0">
                <a:solidFill>
                  <a:srgbClr val="002060"/>
                </a:solidFill>
                <a:sym typeface="Greek Symbols" pitchFamily="18" charset="2"/>
              </a:rPr>
              <a:t>15.  </a:t>
            </a: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Selection distributes over left and right </a:t>
            </a:r>
            <a:r>
              <a:rPr lang="en-US" altLang="en-US" dirty="0" err="1">
                <a:solidFill>
                  <a:srgbClr val="0000FF"/>
                </a:solidFill>
                <a:sym typeface="Greek Symbols" pitchFamily="18" charset="2"/>
              </a:rPr>
              <a:t>outerjoins</a:t>
            </a: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as below, </a:t>
            </a: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provided 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             </a:t>
            </a:r>
          </a:p>
          <a:p>
            <a:pPr marL="0" indent="0">
              <a:spcBef>
                <a:spcPts val="0"/>
              </a:spcBef>
              <a:buNone/>
              <a:tabLst>
                <a:tab pos="2279650" algn="l"/>
              </a:tabLst>
            </a:pP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       only involves attributes of </a:t>
            </a:r>
            <a:r>
              <a:rPr lang="en-US" altLang="en-US" i="1" dirty="0">
                <a:solidFill>
                  <a:srgbClr val="0000FF"/>
                </a:solidFill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a.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dirty="0"/>
              <a:t>⟕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    </a:t>
            </a:r>
            <a:r>
              <a:rPr lang="en-IN" dirty="0"/>
              <a:t>≡   </a:t>
            </a:r>
            <a:r>
              <a:rPr lang="en-US" altLang="en-US" dirty="0">
                <a:sym typeface="Greek Symbols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)) </a:t>
            </a:r>
            <a:r>
              <a:rPr lang="en-IN" dirty="0"/>
              <a:t>⟕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 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b.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dirty="0"/>
              <a:t>⟖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    </a:t>
            </a:r>
            <a:r>
              <a:rPr lang="en-IN" dirty="0"/>
              <a:t>≡   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 </a:t>
            </a:r>
            <a:r>
              <a:rPr lang="en-IN" dirty="0"/>
              <a:t>⟕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 smtClean="0">
                <a:sym typeface="Greek Symbols" pitchFamily="18" charset="2"/>
              </a:rPr>
              <a:t>))</a:t>
            </a:r>
          </a:p>
          <a:p>
            <a:pPr marL="0" indent="0">
              <a:spcBef>
                <a:spcPts val="0"/>
              </a:spcBef>
              <a:buNone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0" indent="0">
              <a:buNone/>
              <a:tabLst>
                <a:tab pos="2279650" algn="l"/>
              </a:tabLst>
            </a:pPr>
            <a:r>
              <a:rPr lang="en-US" altLang="en-US" dirty="0">
                <a:solidFill>
                  <a:srgbClr val="002060"/>
                </a:solidFill>
                <a:sym typeface="Greek Symbols" pitchFamily="18" charset="2"/>
              </a:rPr>
              <a:t>16.  </a:t>
            </a:r>
            <a:r>
              <a:rPr lang="en-US" altLang="en-US" dirty="0" err="1">
                <a:solidFill>
                  <a:srgbClr val="0000FF"/>
                </a:solidFill>
                <a:sym typeface="Greek Symbols" pitchFamily="18" charset="2"/>
              </a:rPr>
              <a:t>Outerjoins</a:t>
            </a: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 can be replaced by inner joins under some conditions</a:t>
            </a:r>
          </a:p>
          <a:p>
            <a:pPr marL="0" indent="0">
              <a:buNone/>
              <a:tabLst>
                <a:tab pos="227965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a.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dirty="0"/>
              <a:t>⟕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    </a:t>
            </a:r>
            <a:r>
              <a:rPr lang="en-IN" dirty="0"/>
              <a:t>≡   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b.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dirty="0"/>
              <a:t>⟖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 smtClean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 smtClean="0">
                <a:sym typeface="Greek Symbols" pitchFamily="18" charset="2"/>
              </a:rPr>
              <a:t>)    </a:t>
            </a:r>
            <a:r>
              <a:rPr lang="en-IN" dirty="0"/>
              <a:t>≡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        provided 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is null rejecting on </a:t>
            </a:r>
            <a:r>
              <a:rPr lang="en-US" altLang="en-US" i="1" dirty="0">
                <a:solidFill>
                  <a:srgbClr val="0000FF"/>
                </a:solidFill>
                <a:sym typeface="Greek Symbols" pitchFamily="18" charset="2"/>
              </a:rPr>
              <a:t>E</a:t>
            </a:r>
            <a:r>
              <a:rPr lang="en-US" altLang="en-US" baseline="-25000" dirty="0">
                <a:solidFill>
                  <a:srgbClr val="0000FF"/>
                </a:solidFill>
                <a:sym typeface="Greek Symbols" pitchFamily="18" charset="2"/>
              </a:rPr>
              <a:t>2</a:t>
            </a: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 </a:t>
            </a:r>
          </a:p>
          <a:p>
            <a:pPr marL="457200" indent="-457200">
              <a:buFont typeface="Monotype Sorts" pitchFamily="-65" charset="2"/>
              <a:buAutoNum type="arabicPeriod" startAt="13"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457200" indent="-457200">
              <a:buFont typeface="Monotype Sorts" pitchFamily="-65" charset="2"/>
              <a:buAutoNum type="arabicPeriod" startAt="13"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457200" indent="-457200">
              <a:buFont typeface="Monotype Sorts" pitchFamily="-65" charset="2"/>
              <a:buAutoNum type="arabicPeriod" startAt="13"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404813" indent="-404813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 marL="404813" indent="-404813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010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xmlns="" id="{A280E042-4593-4F00-8739-31BAD978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xmlns="" id="{CD34A2FB-3E13-4F06-8207-CFF2D7389F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932534"/>
            <a:ext cx="7796463" cy="5642002"/>
          </a:xfrm>
        </p:spPr>
        <p:txBody>
          <a:bodyPr/>
          <a:lstStyle/>
          <a:p>
            <a:pPr marL="0" indent="0">
              <a:buNone/>
              <a:tabLst>
                <a:tab pos="2279650" algn="l"/>
              </a:tabLst>
            </a:pPr>
            <a:r>
              <a:rPr lang="en-US" altLang="en-US" dirty="0">
                <a:sym typeface="Greek Symbols" pitchFamily="18" charset="2"/>
              </a:rPr>
              <a:t>Note that </a:t>
            </a:r>
            <a:r>
              <a:rPr lang="en-US" altLang="en-US" dirty="0">
                <a:solidFill>
                  <a:srgbClr val="0000FF"/>
                </a:solidFill>
                <a:sym typeface="Greek Symbols" pitchFamily="18" charset="2"/>
              </a:rPr>
              <a:t>several equivalences that hold for joins do not hold for </a:t>
            </a:r>
            <a:r>
              <a:rPr lang="en-US" altLang="en-US" dirty="0" err="1" smtClean="0">
                <a:solidFill>
                  <a:srgbClr val="0000FF"/>
                </a:solidFill>
                <a:sym typeface="Greek Symbols" pitchFamily="18" charset="2"/>
              </a:rPr>
              <a:t>outerjoins</a:t>
            </a:r>
            <a:endParaRPr lang="en-US" altLang="en-US" dirty="0">
              <a:solidFill>
                <a:srgbClr val="0000FF"/>
              </a:solidFill>
              <a:sym typeface="Greek Symbols" pitchFamily="18" charset="2"/>
            </a:endParaRPr>
          </a:p>
          <a:p>
            <a:pPr marL="0" indent="0">
              <a:buNone/>
              <a:tabLst>
                <a:tab pos="2279650" algn="l"/>
              </a:tabLst>
            </a:pPr>
            <a:endParaRPr lang="en-US" altLang="en-US" dirty="0">
              <a:solidFill>
                <a:srgbClr val="0000FF"/>
              </a:solidFill>
              <a:sym typeface="Greek Symbols" pitchFamily="18" charset="2"/>
            </a:endParaRPr>
          </a:p>
          <a:p>
            <a:pPr>
              <a:tabLst>
                <a:tab pos="2279650" algn="l"/>
              </a:tabLst>
            </a:pPr>
            <a:r>
              <a:rPr lang="en-US" altLang="en-US" b="1" i="1" dirty="0">
                <a:sym typeface="Symbol" panose="05050102010706020507" pitchFamily="18" charset="2"/>
              </a:rPr>
              <a:t></a:t>
            </a:r>
            <a:r>
              <a:rPr lang="en-US" altLang="en-US" b="1" baseline="-25000" dirty="0">
                <a:sym typeface="Symbol" panose="05050102010706020507" pitchFamily="18" charset="2"/>
              </a:rPr>
              <a:t>year=2017</a:t>
            </a:r>
            <a:r>
              <a:rPr lang="en-US" altLang="en-US" b="1" dirty="0">
                <a:sym typeface="Greek Symbols" pitchFamily="18" charset="2"/>
              </a:rPr>
              <a:t>(</a:t>
            </a:r>
            <a:r>
              <a:rPr lang="en-US" altLang="en-US" b="1" i="1" dirty="0">
                <a:sym typeface="Greek Symbols" pitchFamily="18" charset="2"/>
              </a:rPr>
              <a:t>instructor</a:t>
            </a:r>
            <a:r>
              <a:rPr lang="en-US" altLang="en-US" b="1" dirty="0">
                <a:sym typeface="Greek Symbols" pitchFamily="18" charset="2"/>
              </a:rPr>
              <a:t> </a:t>
            </a:r>
            <a:r>
              <a:rPr lang="en-IN" b="1" dirty="0"/>
              <a:t>⟕</a:t>
            </a:r>
            <a:r>
              <a:rPr lang="en-US" altLang="en-US" b="1" dirty="0">
                <a:sym typeface="Greek Symbols" pitchFamily="18" charset="2"/>
              </a:rPr>
              <a:t> </a:t>
            </a:r>
            <a:r>
              <a:rPr lang="en-US" altLang="en-US" b="1" i="1" dirty="0">
                <a:sym typeface="Greek Symbols" pitchFamily="18" charset="2"/>
              </a:rPr>
              <a:t>teaches</a:t>
            </a:r>
            <a:r>
              <a:rPr lang="en-US" altLang="en-US" b="1" dirty="0">
                <a:sym typeface="Greek Symbols" pitchFamily="18" charset="2"/>
              </a:rPr>
              <a:t>)  </a:t>
            </a:r>
            <a:r>
              <a:rPr lang="en-IN" b="1" dirty="0"/>
              <a:t>≢</a:t>
            </a:r>
            <a:r>
              <a:rPr lang="en-US" altLang="en-US" b="1" dirty="0">
                <a:sym typeface="Greek Symbols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</a:t>
            </a:r>
            <a:r>
              <a:rPr lang="en-US" altLang="en-US" b="1" baseline="-25000" dirty="0">
                <a:sym typeface="Symbol" panose="05050102010706020507" pitchFamily="18" charset="2"/>
              </a:rPr>
              <a:t>year=2017</a:t>
            </a:r>
            <a:r>
              <a:rPr lang="en-US" altLang="en-US" b="1" dirty="0">
                <a:sym typeface="Greek Symbols" pitchFamily="18" charset="2"/>
              </a:rPr>
              <a:t>(</a:t>
            </a:r>
            <a:r>
              <a:rPr lang="en-US" altLang="en-US" b="1" i="1" dirty="0">
                <a:sym typeface="Greek Symbols" pitchFamily="18" charset="2"/>
              </a:rPr>
              <a:t>instructor</a:t>
            </a:r>
            <a:r>
              <a:rPr lang="en-US" altLang="en-US" b="1" dirty="0">
                <a:sym typeface="Greek Symbols" pitchFamily="18" charset="2"/>
              </a:rPr>
              <a:t> </a:t>
            </a:r>
            <a:r>
              <a:rPr lang="en-IN" altLang="en-US" b="1" dirty="0"/>
              <a:t>⨝</a:t>
            </a:r>
            <a:r>
              <a:rPr lang="en-US" altLang="en-US" b="1" dirty="0">
                <a:sym typeface="Greek Symbols" pitchFamily="18" charset="2"/>
              </a:rPr>
              <a:t> </a:t>
            </a:r>
            <a:r>
              <a:rPr lang="en-US" altLang="en-US" b="1" i="1" dirty="0">
                <a:sym typeface="Greek Symbols" pitchFamily="18" charset="2"/>
              </a:rPr>
              <a:t>teaches</a:t>
            </a:r>
            <a:r>
              <a:rPr lang="en-US" altLang="en-US" b="1" dirty="0" smtClean="0">
                <a:sym typeface="Greek Symbols" pitchFamily="18" charset="2"/>
              </a:rPr>
              <a:t>)</a:t>
            </a:r>
          </a:p>
          <a:p>
            <a:pPr marL="0" indent="0">
              <a:buNone/>
              <a:tabLst>
                <a:tab pos="2279650" algn="l"/>
              </a:tabLst>
            </a:pPr>
            <a:endParaRPr lang="en-US" altLang="en-US" b="1" dirty="0">
              <a:sym typeface="Greek Symbols" pitchFamily="18" charset="2"/>
            </a:endParaRPr>
          </a:p>
          <a:p>
            <a:pPr>
              <a:tabLst>
                <a:tab pos="2279650" algn="l"/>
              </a:tabLst>
            </a:pPr>
            <a:r>
              <a:rPr lang="en-US" altLang="en-US" dirty="0" err="1">
                <a:sym typeface="Greek Symbols" pitchFamily="18" charset="2"/>
              </a:rPr>
              <a:t>Outerjoins</a:t>
            </a:r>
            <a:r>
              <a:rPr lang="en-US" altLang="en-US" dirty="0">
                <a:sym typeface="Greek Symbols" pitchFamily="18" charset="2"/>
              </a:rPr>
              <a:t> are not associative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       (r </a:t>
            </a:r>
            <a:r>
              <a:rPr lang="en-IN" dirty="0"/>
              <a:t>⟕ s) ⟕ t     ≢     r ⟕ (s ⟕ t)</a:t>
            </a:r>
          </a:p>
          <a:p>
            <a:pPr lvl="1">
              <a:tabLst>
                <a:tab pos="2279650" algn="l"/>
              </a:tabLst>
            </a:pPr>
            <a:r>
              <a:rPr lang="en-IN" altLang="en-US" dirty="0">
                <a:sym typeface="Greek Symbols" pitchFamily="18" charset="2"/>
              </a:rPr>
              <a:t>e.g. with r(A,B) = {(1,1),    s(B,C) = { (1,1)},   t(A,C) = { }</a:t>
            </a:r>
            <a:endParaRPr lang="en-US" altLang="en-US" dirty="0">
              <a:sym typeface="Greek Symbols" pitchFamily="18" charset="2"/>
            </a:endParaRPr>
          </a:p>
          <a:p>
            <a:pPr marL="457200" indent="-457200">
              <a:buFont typeface="Monotype Sorts" pitchFamily="-65" charset="2"/>
              <a:buAutoNum type="arabicPeriod" startAt="16"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404813" indent="-404813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 marL="404813" indent="-404813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2321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xmlns="" id="{C9AB4C80-3C53-4A22-A0BA-9A1ABBED1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Transformation Example: Pushing Selections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xmlns="" id="{F387F6FF-70A9-4D77-9B93-3363D0FBA8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892" y="1102497"/>
            <a:ext cx="7729087" cy="5367972"/>
          </a:xfrm>
        </p:spPr>
        <p:txBody>
          <a:bodyPr/>
          <a:lstStyle/>
          <a:p>
            <a:r>
              <a:rPr lang="en-US" altLang="en-US" sz="2000" dirty="0"/>
              <a:t>Query:  </a:t>
            </a:r>
            <a:r>
              <a:rPr lang="en-US" altLang="en-US" sz="2000" dirty="0">
                <a:solidFill>
                  <a:srgbClr val="003399"/>
                </a:solidFill>
              </a:rPr>
              <a:t>Find the names of all instructors in the Music department, along with the titles of the courses that they teach</a:t>
            </a: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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2000" dirty="0">
                <a:sym typeface="Symbol" panose="05050102010706020507" pitchFamily="18" charset="2"/>
              </a:rPr>
              <a:t>(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 </a:t>
            </a:r>
            <a:r>
              <a:rPr lang="en-IN" altLang="ja-JP" sz="2000" i="1" baseline="-25000" dirty="0">
                <a:sym typeface="Symbol" panose="05050102010706020507" pitchFamily="18" charset="2"/>
              </a:rPr>
              <a:t>‘</a:t>
            </a:r>
            <a:r>
              <a:rPr lang="en-US" altLang="ja-JP" sz="20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2000" baseline="-25000" dirty="0">
                <a:sym typeface="Symbol" panose="05050102010706020507" pitchFamily="18" charset="2"/>
              </a:rPr>
              <a:t>’</a:t>
            </a:r>
            <a:r>
              <a:rPr lang="en-US" altLang="ja-JP" sz="2000" dirty="0">
                <a:sym typeface="Symbol" panose="05050102010706020507" pitchFamily="18" charset="2"/>
              </a:rPr>
              <a:t/>
            </a:r>
            <a:br>
              <a:rPr lang="en-US" altLang="ja-JP" sz="2000" dirty="0">
                <a:sym typeface="Symbol" panose="05050102010706020507" pitchFamily="18" charset="2"/>
              </a:rPr>
            </a:br>
            <a:r>
              <a:rPr lang="en-US" altLang="ja-JP" sz="2000" dirty="0">
                <a:sym typeface="Symbol" panose="05050102010706020507" pitchFamily="18" charset="2"/>
              </a:rPr>
              <a:t>               (</a:t>
            </a:r>
            <a:r>
              <a:rPr lang="en-US" altLang="ja-JP" sz="2000" i="1" dirty="0">
                <a:sym typeface="Symbol" panose="05050102010706020507" pitchFamily="18" charset="2"/>
              </a:rPr>
              <a:t>instructor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ja-JP" sz="2000" i="1" dirty="0">
                <a:sym typeface="Symbol" panose="05050102010706020507" pitchFamily="18" charset="2"/>
              </a:rPr>
              <a:t>(teaches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</a:t>
            </a:r>
            <a:r>
              <a:rPr lang="en-US" altLang="ja-JP" sz="20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course</a:t>
            </a:r>
            <a:r>
              <a:rPr lang="en-US" altLang="ja-JP" sz="2000" dirty="0">
                <a:sym typeface="Symbol" panose="05050102010706020507" pitchFamily="18" charset="2"/>
              </a:rPr>
              <a:t>))))</a:t>
            </a:r>
          </a:p>
          <a:p>
            <a:pPr marL="457200" lvl="1" indent="0">
              <a:buNone/>
            </a:pPr>
            <a:endParaRPr lang="en-US" altLang="ja-JP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Transformation using rule 7a</a:t>
            </a:r>
            <a:r>
              <a:rPr lang="en-US" altLang="en-US" sz="2000" dirty="0" smtClean="0">
                <a:sym typeface="Symbol" panose="05050102010706020507" pitchFamily="18" charset="2"/>
              </a:rPr>
              <a:t>.</a:t>
            </a:r>
            <a:r>
              <a:rPr lang="en-US" altLang="en-US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en-US" altLang="en-US" sz="2000" b="1" dirty="0" smtClean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00FF"/>
                </a:solidFill>
                <a:sym typeface="Symbol" panose="05050102010706020507" pitchFamily="18" charset="2"/>
              </a:rPr>
              <a:t>	</a:t>
            </a:r>
            <a:r>
              <a:rPr lang="en-US" altLang="en-US" sz="2000" b="1" dirty="0" smtClean="0">
                <a:solidFill>
                  <a:srgbClr val="0000FF"/>
                </a:solidFill>
                <a:sym typeface="Symbol" panose="05050102010706020507" pitchFamily="18" charset="2"/>
              </a:rPr>
              <a:t>	</a:t>
            </a:r>
            <a:r>
              <a:rPr lang="en-US" altLang="en-US" sz="2000" b="1" baseline="-25000" dirty="0" smtClean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sz="2000" b="1" baseline="-46000" dirty="0">
                <a:solidFill>
                  <a:srgbClr val="0000FF"/>
                </a:solidFill>
                <a:sym typeface="Greek Symbols" pitchFamily="18" charset="2"/>
              </a:rPr>
              <a:t>0 </a:t>
            </a:r>
            <a:r>
              <a:rPr lang="en-US" altLang="en-US" sz="2000" b="1" dirty="0">
                <a:sym typeface="Symbol" panose="05050102010706020507" pitchFamily="18" charset="2"/>
              </a:rPr>
              <a:t>E</a:t>
            </a:r>
            <a:r>
              <a:rPr lang="en-US" altLang="en-US" sz="2000" b="1" baseline="-25000" dirty="0">
                <a:sym typeface="Symbol" panose="05050102010706020507" pitchFamily="18" charset="2"/>
              </a:rPr>
              <a:t>1 </a:t>
            </a:r>
            <a:r>
              <a:rPr lang="en-IN" altLang="en-US" sz="2000" b="1" dirty="0"/>
              <a:t>⨝</a:t>
            </a:r>
            <a:r>
              <a:rPr lang="en-US" altLang="en-US" sz="2000" b="1" baseline="-25000" dirty="0">
                <a:sym typeface="Symbol" panose="05050102010706020507" pitchFamily="18" charset="2"/>
              </a:rPr>
              <a:t> </a:t>
            </a:r>
            <a:r>
              <a:rPr lang="en-US" altLang="en-US" sz="2000" b="1" dirty="0">
                <a:sym typeface="Symbol" panose="05050102010706020507" pitchFamily="18" charset="2"/>
              </a:rPr>
              <a:t>E</a:t>
            </a:r>
            <a:r>
              <a:rPr lang="en-US" altLang="en-US" sz="2000" b="1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b="1" dirty="0">
                <a:sym typeface="Symbol" panose="05050102010706020507" pitchFamily="18" charset="2"/>
              </a:rPr>
              <a:t>)      </a:t>
            </a:r>
            <a:r>
              <a:rPr lang="en-IN" sz="2000" b="1" dirty="0"/>
              <a:t>≡    </a:t>
            </a:r>
            <a:r>
              <a:rPr lang="en-US" altLang="en-US" sz="2000" b="1" dirty="0">
                <a:sym typeface="Symbol" panose="05050102010706020507" pitchFamily="18" charset="2"/>
              </a:rPr>
              <a:t> (</a:t>
            </a:r>
            <a:r>
              <a:rPr lang="en-US" altLang="en-US" sz="2000" b="1" baseline="-25000" dirty="0">
                <a:sym typeface="Symbol" panose="05050102010706020507" pitchFamily="18" charset="2"/>
              </a:rPr>
              <a:t></a:t>
            </a:r>
            <a:r>
              <a:rPr lang="en-US" altLang="en-US" sz="2000" b="1" baseline="-46000" dirty="0">
                <a:sym typeface="Greek Symbols" pitchFamily="18" charset="2"/>
              </a:rPr>
              <a:t>0</a:t>
            </a:r>
            <a:r>
              <a:rPr lang="en-US" altLang="en-US" sz="2000" b="1" dirty="0">
                <a:sym typeface="Symbol" panose="05050102010706020507" pitchFamily="18" charset="2"/>
              </a:rPr>
              <a:t>(E</a:t>
            </a:r>
            <a:r>
              <a:rPr lang="en-US" altLang="en-US" sz="2000" b="1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b="1" dirty="0">
                <a:sym typeface="Symbol" panose="05050102010706020507" pitchFamily="18" charset="2"/>
              </a:rPr>
              <a:t>)) </a:t>
            </a:r>
            <a:r>
              <a:rPr lang="en-IN" altLang="en-US" sz="2000" b="1" dirty="0"/>
              <a:t>⨝</a:t>
            </a:r>
            <a:r>
              <a:rPr lang="en-US" altLang="en-US" sz="2000" b="1" baseline="-25000" dirty="0">
                <a:sym typeface="Symbol" panose="05050102010706020507" pitchFamily="18" charset="2"/>
              </a:rPr>
              <a:t> </a:t>
            </a:r>
            <a:r>
              <a:rPr lang="en-US" altLang="en-US" sz="2000" b="1" dirty="0">
                <a:sym typeface="Symbol" panose="05050102010706020507" pitchFamily="18" charset="2"/>
              </a:rPr>
              <a:t>E</a:t>
            </a:r>
            <a:r>
              <a:rPr lang="en-US" altLang="en-US" sz="2000" b="1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b="1" dirty="0">
                <a:sym typeface="Greek Symbols" pitchFamily="18" charset="2"/>
              </a:rPr>
              <a:t> </a:t>
            </a:r>
            <a:r>
              <a:rPr lang="en-US" altLang="en-US" sz="2000" dirty="0">
                <a:sym typeface="Greek Symbols" pitchFamily="18" charset="2"/>
              </a:rPr>
              <a:t/>
            </a:r>
            <a:br>
              <a:rPr lang="en-US" altLang="en-US" sz="2000" dirty="0">
                <a:sym typeface="Greek Symbols" pitchFamily="18" charset="2"/>
              </a:rPr>
            </a:b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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2000" dirty="0">
                <a:sym typeface="Symbol" panose="05050102010706020507" pitchFamily="18" charset="2"/>
              </a:rPr>
              <a:t>((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 </a:t>
            </a:r>
            <a:r>
              <a:rPr lang="en-IN" altLang="en-US" sz="2000" i="1" baseline="-25000" dirty="0">
                <a:sym typeface="Symbol" panose="05050102010706020507" pitchFamily="18" charset="2"/>
              </a:rPr>
              <a:t>‘</a:t>
            </a:r>
            <a:r>
              <a:rPr lang="en-US" altLang="ja-JP" sz="20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2000" baseline="-25000" dirty="0">
                <a:sym typeface="Symbol" panose="05050102010706020507" pitchFamily="18" charset="2"/>
              </a:rPr>
              <a:t>’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ym typeface="Symbol" panose="05050102010706020507" pitchFamily="18" charset="2"/>
              </a:rPr>
              <a:t>))</a:t>
            </a:r>
            <a:r>
              <a:rPr lang="en-IN" altLang="en-US" sz="2000" dirty="0">
                <a:ea typeface="MS PGothic" panose="020B0600070205080204" pitchFamily="34" charset="-128"/>
              </a:rPr>
              <a:t> ⨝</a:t>
            </a:r>
            <a:r>
              <a:rPr lang="en-US" altLang="ja-JP" sz="2000" i="1" dirty="0">
                <a:sym typeface="Symbol" panose="05050102010706020507" pitchFamily="18" charset="2"/>
              </a:rPr>
              <a:t>   </a:t>
            </a:r>
            <a:br>
              <a:rPr lang="en-US" altLang="ja-JP" sz="2000" i="1" dirty="0">
                <a:sym typeface="Symbol" panose="05050102010706020507" pitchFamily="18" charset="2"/>
              </a:rPr>
            </a:br>
            <a:r>
              <a:rPr lang="en-US" altLang="ja-JP" sz="2000" i="1" dirty="0">
                <a:sym typeface="Symbol" panose="05050102010706020507" pitchFamily="18" charset="2"/>
              </a:rPr>
              <a:t>               (teaches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</a:t>
            </a:r>
            <a:r>
              <a:rPr lang="en-US" altLang="ja-JP" sz="20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course</a:t>
            </a:r>
            <a:r>
              <a:rPr lang="en-US" altLang="ja-JP" sz="2000" dirty="0">
                <a:sym typeface="Symbol" panose="05050102010706020507" pitchFamily="18" charset="2"/>
              </a:rPr>
              <a:t>)))</a:t>
            </a:r>
          </a:p>
          <a:p>
            <a:pPr marL="457200" lvl="1" indent="0">
              <a:buNone/>
            </a:pPr>
            <a:endParaRPr lang="en-US" altLang="ja-JP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olidFill>
                  <a:srgbClr val="003399"/>
                </a:solidFill>
                <a:sym typeface="Symbol" panose="05050102010706020507" pitchFamily="18" charset="2"/>
              </a:rPr>
              <a:t>Performing the selection as early as possible reduces the size of the relation to be joined. </a:t>
            </a:r>
            <a:endParaRPr lang="en-US" altLang="en-US" sz="2000" baseline="-25000" dirty="0">
              <a:solidFill>
                <a:srgbClr val="003399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xmlns="" id="{0C250CDD-B570-4445-BF3F-3A786F80E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with Multiple Transformations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xmlns="" id="{AE12142C-2886-40EF-8A6F-FA29A9548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892" y="727075"/>
            <a:ext cx="7757963" cy="5960804"/>
          </a:xfrm>
        </p:spPr>
        <p:txBody>
          <a:bodyPr/>
          <a:lstStyle/>
          <a:p>
            <a:pPr algn="just"/>
            <a:r>
              <a:rPr lang="en-US" altLang="en-US" sz="2000" dirty="0"/>
              <a:t>Query: </a:t>
            </a:r>
            <a:r>
              <a:rPr lang="en-US" altLang="en-US" sz="2000" dirty="0">
                <a:solidFill>
                  <a:srgbClr val="003399"/>
                </a:solidFill>
              </a:rPr>
              <a:t>Find the names of all instructors in the Music department who have taught a course in 2017, along with the titles of the courses that they taught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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2000" dirty="0">
                <a:sym typeface="Symbol" panose="05050102010706020507" pitchFamily="18" charset="2"/>
              </a:rPr>
              <a:t>(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 </a:t>
            </a:r>
            <a:r>
              <a:rPr lang="en-IN" altLang="ja-JP" sz="2000" i="1" baseline="-25000" dirty="0">
                <a:sym typeface="Symbol" panose="05050102010706020507" pitchFamily="18" charset="2"/>
              </a:rPr>
              <a:t>"</a:t>
            </a:r>
            <a:r>
              <a:rPr lang="en-US" altLang="ja-JP" sz="20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2000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ym typeface="Symbol" panose="05050102010706020507" pitchFamily="18" charset="2"/>
              </a:rPr>
              <a:t>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year</a:t>
            </a:r>
            <a:r>
              <a:rPr lang="en-US" altLang="ja-JP" sz="2000" baseline="-25000" dirty="0">
                <a:sym typeface="Symbol" panose="05050102010706020507" pitchFamily="18" charset="2"/>
              </a:rPr>
              <a:t> = 2017</a:t>
            </a:r>
            <a:r>
              <a:rPr lang="en-US" altLang="ja-JP" sz="2000" dirty="0">
                <a:sym typeface="Symbol" panose="05050102010706020507" pitchFamily="18" charset="2"/>
              </a:rPr>
              <a:t/>
            </a:r>
            <a:br>
              <a:rPr lang="en-US" altLang="ja-JP" sz="2000" dirty="0">
                <a:sym typeface="Symbol" panose="05050102010706020507" pitchFamily="18" charset="2"/>
              </a:rPr>
            </a:br>
            <a:r>
              <a:rPr lang="en-US" altLang="ja-JP" sz="2000" dirty="0">
                <a:sym typeface="Symbol" panose="05050102010706020507" pitchFamily="18" charset="2"/>
              </a:rPr>
              <a:t>         </a:t>
            </a:r>
            <a:r>
              <a:rPr lang="en-US" altLang="ja-JP" sz="2000" dirty="0" smtClean="0">
                <a:sym typeface="Symbol" panose="05050102010706020507" pitchFamily="18" charset="2"/>
              </a:rPr>
              <a:t>       (</a:t>
            </a:r>
            <a:r>
              <a:rPr lang="en-US" altLang="ja-JP" sz="2000" i="1" dirty="0">
                <a:sym typeface="Symbol" panose="05050102010706020507" pitchFamily="18" charset="2"/>
              </a:rPr>
              <a:t>instructor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ja-JP" sz="2000" i="1" dirty="0">
                <a:sym typeface="Symbol" panose="05050102010706020507" pitchFamily="18" charset="2"/>
              </a:rPr>
              <a:t>(teaches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</a:t>
            </a:r>
            <a:r>
              <a:rPr lang="en-US" altLang="ja-JP" sz="20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course</a:t>
            </a:r>
            <a:r>
              <a:rPr lang="en-US" altLang="ja-JP" sz="2000" dirty="0" smtClean="0">
                <a:sym typeface="Symbol" panose="05050102010706020507" pitchFamily="18" charset="2"/>
              </a:rPr>
              <a:t>))))</a:t>
            </a:r>
          </a:p>
          <a:p>
            <a:pPr lvl="1">
              <a:lnSpc>
                <a:spcPct val="110000"/>
              </a:lnSpc>
            </a:pPr>
            <a:endParaRPr lang="en-US" altLang="ja-JP" sz="2000" dirty="0" smtClean="0">
              <a:sym typeface="Symbol" panose="05050102010706020507" pitchFamily="18" charset="2"/>
            </a:endParaRPr>
          </a:p>
          <a:p>
            <a:r>
              <a:rPr lang="en-US" altLang="en-US" sz="2000" dirty="0" smtClean="0">
                <a:sym typeface="Symbol" panose="05050102010706020507" pitchFamily="18" charset="2"/>
              </a:rPr>
              <a:t>Transformation </a:t>
            </a:r>
            <a:r>
              <a:rPr lang="en-US" altLang="en-US" sz="2000" dirty="0">
                <a:sym typeface="Symbol" panose="05050102010706020507" pitchFamily="18" charset="2"/>
              </a:rPr>
              <a:t>using join associatively (Rule 6a</a:t>
            </a:r>
            <a:r>
              <a:rPr lang="en-US" altLang="en-US" sz="2000" dirty="0" smtClean="0">
                <a:solidFill>
                  <a:srgbClr val="0000FF"/>
                </a:solidFill>
                <a:sym typeface="Symbol" panose="05050102010706020507" pitchFamily="18" charset="2"/>
              </a:rPr>
              <a:t>):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b="1" dirty="0" smtClean="0">
                <a:solidFill>
                  <a:srgbClr val="0000FF"/>
                </a:solidFill>
                <a:sym typeface="Symbol" panose="05050102010706020507" pitchFamily="18" charset="2"/>
              </a:rPr>
              <a:t>     </a:t>
            </a:r>
            <a:r>
              <a:rPr lang="en-US" altLang="en-US" sz="1800" b="1" dirty="0" smtClean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b="1" dirty="0" smtClean="0">
                <a:solidFill>
                  <a:srgbClr val="0000FF"/>
                </a:solidFill>
                <a:sym typeface="Greek Symbols" pitchFamily="18" charset="2"/>
              </a:rPr>
              <a:t>(</a:t>
            </a:r>
            <a:r>
              <a:rPr lang="en-US" altLang="en-US" sz="1800" b="1" i="1" dirty="0">
                <a:solidFill>
                  <a:srgbClr val="0000FF"/>
                </a:solidFill>
              </a:rPr>
              <a:t>E</a:t>
            </a:r>
            <a:r>
              <a:rPr lang="en-US" altLang="en-US" sz="1800" b="1" baseline="-25000" dirty="0">
                <a:solidFill>
                  <a:srgbClr val="0000FF"/>
                </a:solidFill>
              </a:rPr>
              <a:t>1</a:t>
            </a:r>
            <a:r>
              <a:rPr lang="en-IN" altLang="en-US" sz="1800" b="1" dirty="0">
                <a:solidFill>
                  <a:srgbClr val="0000FF"/>
                </a:solidFill>
              </a:rPr>
              <a:t> ⨝</a:t>
            </a:r>
            <a:r>
              <a:rPr lang="en-US" altLang="en-US" sz="1800" b="1" i="1" dirty="0">
                <a:solidFill>
                  <a:srgbClr val="0000FF"/>
                </a:solidFill>
              </a:rPr>
              <a:t> 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b="1" i="1" dirty="0">
                <a:solidFill>
                  <a:srgbClr val="0000FF"/>
                </a:solidFill>
              </a:rPr>
              <a:t>E</a:t>
            </a:r>
            <a:r>
              <a:rPr lang="en-US" altLang="en-US" sz="1800" b="1" i="1" baseline="-25000" dirty="0">
                <a:solidFill>
                  <a:srgbClr val="0000FF"/>
                </a:solidFill>
              </a:rPr>
              <a:t>2</a:t>
            </a:r>
            <a:r>
              <a:rPr lang="en-US" altLang="en-US" sz="1800" b="1" dirty="0">
                <a:solidFill>
                  <a:srgbClr val="0000FF"/>
                </a:solidFill>
              </a:rPr>
              <a:t>) </a:t>
            </a:r>
            <a:r>
              <a:rPr lang="en-IN" altLang="en-US" sz="1800" b="1" dirty="0">
                <a:solidFill>
                  <a:srgbClr val="0000FF"/>
                </a:solidFill>
              </a:rPr>
              <a:t>⨝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 </a:t>
            </a:r>
            <a:r>
              <a:rPr lang="en-US" altLang="en-US" sz="1800" b="1" i="1" dirty="0">
                <a:solidFill>
                  <a:srgbClr val="0000FF"/>
                </a:solidFill>
              </a:rPr>
              <a:t>E</a:t>
            </a:r>
            <a:r>
              <a:rPr lang="en-US" altLang="en-US" sz="1800" b="1" i="1" baseline="-25000" dirty="0">
                <a:solidFill>
                  <a:srgbClr val="0000FF"/>
                </a:solidFill>
              </a:rPr>
              <a:t>3</a:t>
            </a:r>
            <a:r>
              <a:rPr lang="en-US" altLang="en-US" sz="1800" b="1" i="1" dirty="0">
                <a:solidFill>
                  <a:srgbClr val="0000FF"/>
                </a:solidFill>
              </a:rPr>
              <a:t>     </a:t>
            </a:r>
            <a:r>
              <a:rPr lang="en-IN" sz="1800" b="1" dirty="0">
                <a:solidFill>
                  <a:srgbClr val="0000FF"/>
                </a:solidFill>
              </a:rPr>
              <a:t>≡     </a:t>
            </a:r>
            <a:r>
              <a:rPr lang="en-US" altLang="en-US" sz="1800" b="1" i="1" dirty="0">
                <a:solidFill>
                  <a:srgbClr val="0000FF"/>
                </a:solidFill>
              </a:rPr>
              <a:t>E</a:t>
            </a:r>
            <a:r>
              <a:rPr lang="en-US" altLang="en-US" sz="1800" b="1" baseline="-25000" dirty="0">
                <a:solidFill>
                  <a:srgbClr val="0000FF"/>
                </a:solidFill>
              </a:rPr>
              <a:t>1</a:t>
            </a:r>
            <a:r>
              <a:rPr lang="en-IN" altLang="en-US" sz="1800" b="1" dirty="0">
                <a:solidFill>
                  <a:srgbClr val="0000FF"/>
                </a:solidFill>
              </a:rPr>
              <a:t> ⨝</a:t>
            </a:r>
            <a:r>
              <a:rPr lang="en-US" altLang="en-US" sz="1800" b="1" dirty="0">
                <a:solidFill>
                  <a:srgbClr val="0000FF"/>
                </a:solidFill>
              </a:rPr>
              <a:t> (</a:t>
            </a:r>
            <a:r>
              <a:rPr lang="en-US" altLang="en-US" sz="1800" b="1" i="1" dirty="0">
                <a:solidFill>
                  <a:srgbClr val="0000FF"/>
                </a:solidFill>
              </a:rPr>
              <a:t>E</a:t>
            </a:r>
            <a:r>
              <a:rPr lang="en-US" altLang="en-US" sz="1800" b="1" baseline="-25000" dirty="0">
                <a:solidFill>
                  <a:srgbClr val="0000FF"/>
                </a:solidFill>
              </a:rPr>
              <a:t>2</a:t>
            </a:r>
            <a:r>
              <a:rPr lang="en-IN" altLang="en-US" sz="1800" b="1" dirty="0">
                <a:solidFill>
                  <a:srgbClr val="0000FF"/>
                </a:solidFill>
              </a:rPr>
              <a:t> ⨝</a:t>
            </a:r>
            <a:r>
              <a:rPr lang="en-US" altLang="en-US" sz="1800" b="1" i="1" dirty="0">
                <a:solidFill>
                  <a:srgbClr val="0000FF"/>
                </a:solidFill>
              </a:rPr>
              <a:t> E</a:t>
            </a:r>
            <a:r>
              <a:rPr lang="en-US" altLang="en-US" sz="1800" b="1" baseline="-25000" dirty="0">
                <a:solidFill>
                  <a:srgbClr val="0000FF"/>
                </a:solidFill>
              </a:rPr>
              <a:t>3</a:t>
            </a:r>
            <a:r>
              <a:rPr lang="en-US" altLang="en-US" sz="1800" b="1" dirty="0">
                <a:solidFill>
                  <a:srgbClr val="0000FF"/>
                </a:solidFill>
              </a:rPr>
              <a:t>)</a:t>
            </a:r>
            <a:r>
              <a:rPr lang="en-US" altLang="en-US" sz="2000" dirty="0"/>
              <a:t/>
            </a:r>
            <a:br>
              <a:rPr lang="en-US" altLang="en-US" sz="2000" dirty="0"/>
            </a:br>
            <a:r>
              <a:rPr lang="en-US" altLang="en-US" sz="2000" dirty="0" smtClean="0"/>
              <a:t>   </a:t>
            </a:r>
            <a:r>
              <a:rPr lang="en-US" altLang="en-US" sz="2000" dirty="0" smtClean="0">
                <a:sym typeface="Symbol" panose="05050102010706020507" pitchFamily="18" charset="2"/>
              </a:rPr>
              <a:t></a:t>
            </a:r>
            <a:r>
              <a:rPr lang="en-US" altLang="en-US" sz="2000" i="1" baseline="-25000" dirty="0" smtClean="0">
                <a:sym typeface="Symbol" panose="05050102010706020507" pitchFamily="18" charset="2"/>
              </a:rPr>
              <a:t>name, title</a:t>
            </a:r>
            <a:r>
              <a:rPr lang="en-US" altLang="en-US" sz="2000" dirty="0" smtClean="0">
                <a:sym typeface="Symbol" panose="05050102010706020507" pitchFamily="18" charset="2"/>
              </a:rPr>
              <a:t>(</a:t>
            </a:r>
            <a:r>
              <a:rPr lang="en-US" altLang="en-US" sz="2000" i="1" baseline="-25000" dirty="0" err="1" smtClean="0">
                <a:sym typeface="Symbol" panose="05050102010706020507" pitchFamily="18" charset="2"/>
              </a:rPr>
              <a:t>dept_name</a:t>
            </a:r>
            <a:r>
              <a:rPr lang="en-US" altLang="en-US" sz="2000" i="1" baseline="-25000" dirty="0" smtClean="0">
                <a:sym typeface="Symbol" panose="05050102010706020507" pitchFamily="18" charset="2"/>
              </a:rPr>
              <a:t>= </a:t>
            </a:r>
            <a:r>
              <a:rPr lang="en-IN" altLang="en-US" sz="2000" i="1" baseline="-25000" dirty="0" smtClean="0"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 smtClean="0">
                <a:sym typeface="Symbol" panose="05050102010706020507" pitchFamily="18" charset="2"/>
              </a:rPr>
              <a:t>Music</a:t>
            </a:r>
            <a:r>
              <a:rPr lang="en-IN" altLang="ja-JP" sz="2000" baseline="-25000" dirty="0" smtClean="0"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 smtClean="0">
                <a:sym typeface="Symbol" panose="05050102010706020507" pitchFamily="18" charset="2"/>
              </a:rPr>
              <a:t></a:t>
            </a:r>
            <a:r>
              <a:rPr lang="en-US" altLang="ja-JP" sz="2000" i="1" baseline="-25000" dirty="0" smtClean="0">
                <a:sym typeface="Symbol" panose="05050102010706020507" pitchFamily="18" charset="2"/>
              </a:rPr>
              <a:t>year</a:t>
            </a:r>
            <a:r>
              <a:rPr lang="en-US" altLang="ja-JP" sz="2000" baseline="-25000" dirty="0" smtClean="0">
                <a:sym typeface="Symbol" panose="05050102010706020507" pitchFamily="18" charset="2"/>
              </a:rPr>
              <a:t> = 2017</a:t>
            </a:r>
            <a:r>
              <a:rPr lang="en-US" altLang="ja-JP" sz="2000" dirty="0" smtClean="0">
                <a:sym typeface="Symbol" panose="05050102010706020507" pitchFamily="18" charset="2"/>
              </a:rPr>
              <a:t/>
            </a:r>
            <a:br>
              <a:rPr lang="en-US" altLang="ja-JP" sz="2000" dirty="0" smtClean="0">
                <a:sym typeface="Symbol" panose="05050102010706020507" pitchFamily="18" charset="2"/>
              </a:rPr>
            </a:br>
            <a:r>
              <a:rPr lang="en-US" altLang="ja-JP" sz="2000" dirty="0" smtClean="0">
                <a:sym typeface="Symbol" panose="05050102010706020507" pitchFamily="18" charset="2"/>
              </a:rPr>
              <a:t>                            ((</a:t>
            </a:r>
            <a:r>
              <a:rPr lang="en-US" altLang="ja-JP" sz="2000" i="1" dirty="0" smtClean="0">
                <a:sym typeface="Symbol" panose="05050102010706020507" pitchFamily="18" charset="2"/>
              </a:rPr>
              <a:t>instructor </a:t>
            </a:r>
            <a:r>
              <a:rPr lang="en-IN" altLang="en-US" sz="2000" dirty="0" smtClean="0">
                <a:ea typeface="MS PGothic" panose="020B0600070205080204" pitchFamily="34" charset="-128"/>
              </a:rPr>
              <a:t>⨝</a:t>
            </a:r>
            <a:r>
              <a:rPr lang="en-US" altLang="en-US" sz="2000" i="1" dirty="0" smtClean="0">
                <a:ea typeface="MS PGothic" panose="020B0600070205080204" pitchFamily="34" charset="-128"/>
              </a:rPr>
              <a:t> </a:t>
            </a:r>
            <a:r>
              <a:rPr lang="en-US" altLang="ja-JP" sz="2000" i="1" dirty="0" smtClean="0">
                <a:sym typeface="Symbol" panose="05050102010706020507" pitchFamily="18" charset="2"/>
              </a:rPr>
              <a:t>teaches)</a:t>
            </a:r>
            <a:r>
              <a:rPr lang="en-IN" altLang="en-US" sz="2000" dirty="0" smtClean="0">
                <a:ea typeface="MS PGothic" panose="020B0600070205080204" pitchFamily="34" charset="-128"/>
              </a:rPr>
              <a:t> ⨝</a:t>
            </a:r>
            <a:r>
              <a:rPr lang="en-US" altLang="ja-JP" sz="2000" i="1" dirty="0" smtClean="0">
                <a:sym typeface="Symbol" panose="05050102010706020507" pitchFamily="18" charset="2"/>
              </a:rPr>
              <a:t>  </a:t>
            </a:r>
            <a:r>
              <a:rPr lang="en-US" altLang="ja-JP" sz="2000" dirty="0" smtClean="0">
                <a:sym typeface="Symbol" panose="05050102010706020507" pitchFamily="18" charset="2"/>
              </a:rPr>
              <a:t></a:t>
            </a:r>
            <a:r>
              <a:rPr lang="en-US" altLang="ja-JP" sz="2000" i="1" baseline="-25000" dirty="0" err="1" smtClean="0">
                <a:sym typeface="Symbol" panose="05050102010706020507" pitchFamily="18" charset="2"/>
              </a:rPr>
              <a:t>course_id</a:t>
            </a:r>
            <a:r>
              <a:rPr lang="en-US" altLang="ja-JP" sz="2000" i="1" baseline="-25000" dirty="0" smtClean="0">
                <a:sym typeface="Symbol" panose="05050102010706020507" pitchFamily="18" charset="2"/>
              </a:rPr>
              <a:t>, title</a:t>
            </a:r>
            <a:r>
              <a:rPr lang="en-US" altLang="ja-JP" sz="2000" i="1" dirty="0" smtClean="0">
                <a:sym typeface="Symbol" panose="05050102010706020507" pitchFamily="18" charset="2"/>
              </a:rPr>
              <a:t> </a:t>
            </a:r>
            <a:r>
              <a:rPr lang="en-US" altLang="ja-JP" sz="2000" dirty="0" smtClean="0">
                <a:sym typeface="Symbol" panose="05050102010706020507" pitchFamily="18" charset="2"/>
              </a:rPr>
              <a:t>(</a:t>
            </a:r>
            <a:r>
              <a:rPr lang="en-US" altLang="ja-JP" sz="2000" i="1" dirty="0" smtClean="0">
                <a:sym typeface="Symbol" panose="05050102010706020507" pitchFamily="18" charset="2"/>
              </a:rPr>
              <a:t>course</a:t>
            </a:r>
            <a:r>
              <a:rPr lang="en-US" altLang="ja-JP" sz="2000" dirty="0" smtClean="0">
                <a:sym typeface="Symbol" panose="05050102010706020507" pitchFamily="18" charset="2"/>
              </a:rPr>
              <a:t>)))</a:t>
            </a:r>
          </a:p>
          <a:p>
            <a:pPr marL="0" indent="0">
              <a:buNone/>
            </a:pPr>
            <a:endParaRPr lang="en-US" altLang="ja-JP" sz="2000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sym typeface="Symbol" panose="05050102010706020507" pitchFamily="18" charset="2"/>
              </a:rPr>
              <a:t>(Rule </a:t>
            </a:r>
            <a:r>
              <a:rPr lang="en-US" altLang="en-US" sz="1800" dirty="0" smtClean="0">
                <a:sym typeface="Symbol" panose="05050102010706020507" pitchFamily="18" charset="2"/>
              </a:rPr>
              <a:t>7b</a:t>
            </a:r>
            <a:r>
              <a:rPr lang="en-US" altLang="en-US" sz="1800" dirty="0" smtClean="0">
                <a:solidFill>
                  <a:srgbClr val="0000FF"/>
                </a:solidFill>
                <a:sym typeface="Symbol" panose="05050102010706020507" pitchFamily="18" charset="2"/>
              </a:rPr>
              <a:t>):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 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1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</a:t>
            </a:r>
            <a:r>
              <a:rPr lang="en-US" altLang="en-US" sz="1800" b="1" baseline="-25000" dirty="0">
                <a:solidFill>
                  <a:srgbClr val="0000FF"/>
                </a:solidFill>
                <a:sym typeface="Greek Symbols" pitchFamily="18" charset="2"/>
              </a:rPr>
              <a:t> 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2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b="1" dirty="0">
                <a:sym typeface="Symbol" panose="05050102010706020507" pitchFamily="18" charset="2"/>
              </a:rPr>
              <a:t>E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1</a:t>
            </a:r>
            <a:r>
              <a:rPr lang="en-US" altLang="en-US" sz="1800" b="1" dirty="0">
                <a:sym typeface="Symbol" panose="05050102010706020507" pitchFamily="18" charset="2"/>
              </a:rPr>
              <a:t> </a:t>
            </a:r>
            <a:r>
              <a:rPr lang="en-IN" altLang="en-US" sz="1800" b="1" dirty="0"/>
              <a:t>⨝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 </a:t>
            </a:r>
            <a:r>
              <a:rPr lang="en-US" altLang="en-US" sz="1800" b="1" dirty="0">
                <a:sym typeface="Symbol" panose="05050102010706020507" pitchFamily="18" charset="2"/>
              </a:rPr>
              <a:t>E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2</a:t>
            </a:r>
            <a:r>
              <a:rPr lang="en-US" altLang="en-US" sz="1800" b="1" dirty="0">
                <a:sym typeface="Symbol" panose="05050102010706020507" pitchFamily="18" charset="2"/>
              </a:rPr>
              <a:t>)     </a:t>
            </a:r>
            <a:r>
              <a:rPr lang="en-IN" sz="1800" b="1" dirty="0"/>
              <a:t>≡</a:t>
            </a:r>
            <a:r>
              <a:rPr lang="en-US" altLang="en-US" sz="1800" b="1" dirty="0">
                <a:sym typeface="Symbol" panose="05050102010706020507" pitchFamily="18" charset="2"/>
              </a:rPr>
              <a:t>      (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="1" baseline="-46000" dirty="0">
                <a:sym typeface="Greek Symbols" pitchFamily="18" charset="2"/>
              </a:rPr>
              <a:t>1</a:t>
            </a:r>
            <a:r>
              <a:rPr lang="en-US" altLang="en-US" sz="1800" b="1" dirty="0">
                <a:sym typeface="Symbol" panose="05050102010706020507" pitchFamily="18" charset="2"/>
              </a:rPr>
              <a:t>(E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1</a:t>
            </a:r>
            <a:r>
              <a:rPr lang="en-US" altLang="en-US" sz="1800" b="1" dirty="0">
                <a:sym typeface="Symbol" panose="05050102010706020507" pitchFamily="18" charset="2"/>
              </a:rPr>
              <a:t>))</a:t>
            </a:r>
            <a:r>
              <a:rPr lang="en-IN" altLang="en-US" sz="1800" b="1" dirty="0"/>
              <a:t> ⨝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="1" dirty="0">
                <a:sym typeface="Symbol" panose="05050102010706020507" pitchFamily="18" charset="2"/>
              </a:rPr>
              <a:t> (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="1" baseline="-46000" dirty="0">
                <a:sym typeface="Greek Symbols" pitchFamily="18" charset="2"/>
              </a:rPr>
              <a:t>2</a:t>
            </a:r>
            <a:r>
              <a:rPr lang="en-US" altLang="en-US" sz="1800" b="1" dirty="0">
                <a:sym typeface="Symbol" panose="05050102010706020507" pitchFamily="18" charset="2"/>
              </a:rPr>
              <a:t>(E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2</a:t>
            </a:r>
            <a:r>
              <a:rPr lang="en-US" altLang="en-US" sz="1800" b="1" dirty="0">
                <a:sym typeface="Symbol" panose="05050102010706020507" pitchFamily="18" charset="2"/>
              </a:rPr>
              <a:t>))</a:t>
            </a:r>
            <a:r>
              <a:rPr lang="en-US" altLang="ja-JP" sz="1800" dirty="0">
                <a:sym typeface="Symbol" panose="05050102010706020507" pitchFamily="18" charset="2"/>
              </a:rPr>
              <a:t> </a:t>
            </a:r>
            <a:endParaRPr lang="en-US" altLang="ja-JP" sz="1800" dirty="0" smtClean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1800" dirty="0" smtClean="0">
                <a:sym typeface="Symbol" panose="05050102010706020507" pitchFamily="18" charset="2"/>
              </a:rPr>
              <a:t>provides </a:t>
            </a:r>
            <a:r>
              <a:rPr lang="en-US" altLang="en-US" sz="1800" dirty="0">
                <a:sym typeface="Symbol" panose="05050102010706020507" pitchFamily="18" charset="2"/>
              </a:rPr>
              <a:t>an opportunity to apply the </a:t>
            </a:r>
            <a:r>
              <a:rPr lang="ja-JP" altLang="en-US" sz="1800" dirty="0">
                <a:sym typeface="Symbol" panose="05050102010706020507" pitchFamily="18" charset="2"/>
              </a:rPr>
              <a:t>“</a:t>
            </a:r>
            <a:r>
              <a:rPr lang="en-US" altLang="ja-JP" sz="1800" dirty="0">
                <a:sym typeface="Symbol" panose="05050102010706020507" pitchFamily="18" charset="2"/>
              </a:rPr>
              <a:t>perform selections early</a:t>
            </a:r>
            <a:r>
              <a:rPr lang="ja-JP" altLang="en-US" sz="1800" dirty="0">
                <a:sym typeface="Symbol" panose="05050102010706020507" pitchFamily="18" charset="2"/>
              </a:rPr>
              <a:t>”</a:t>
            </a:r>
            <a:r>
              <a:rPr lang="en-US" altLang="ja-JP" sz="1800" dirty="0">
                <a:sym typeface="Symbol" panose="05050102010706020507" pitchFamily="18" charset="2"/>
              </a:rPr>
              <a:t> rule</a:t>
            </a:r>
            <a:r>
              <a:rPr lang="en-US" altLang="ja-JP" sz="2000" dirty="0" smtClean="0">
                <a:sym typeface="Symbol" panose="05050102010706020507" pitchFamily="18" charset="2"/>
              </a:rPr>
              <a:t>,</a:t>
            </a:r>
            <a:r>
              <a:rPr lang="en-US" altLang="en-US" sz="2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en-US" altLang="ja-JP" sz="1800" dirty="0" smtClean="0">
              <a:sym typeface="Symbol" panose="05050102010706020507" pitchFamily="18" charset="2"/>
            </a:endParaRPr>
          </a:p>
          <a:p>
            <a:r>
              <a:rPr lang="en-US" altLang="ja-JP" sz="2000" dirty="0" smtClean="0">
                <a:sym typeface="Symbol" panose="05050102010706020507" pitchFamily="18" charset="2"/>
              </a:rPr>
              <a:t>resulting </a:t>
            </a:r>
            <a:r>
              <a:rPr lang="en-US" altLang="ja-JP" sz="2000" dirty="0">
                <a:sym typeface="Symbol" panose="05050102010706020507" pitchFamily="18" charset="2"/>
              </a:rPr>
              <a:t>in the subexpression</a:t>
            </a: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          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 = </a:t>
            </a:r>
            <a:r>
              <a:rPr lang="en-IN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ym typeface="Symbol" panose="05050102010706020507" pitchFamily="18" charset="2"/>
              </a:rPr>
              <a:t>Music</a:t>
            </a:r>
            <a:r>
              <a:rPr lang="en-IN" altLang="ja-JP" sz="2000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ym typeface="Symbol" panose="05050102010706020507" pitchFamily="18" charset="2"/>
              </a:rPr>
              <a:t>)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ja-JP" sz="2000" dirty="0">
                <a:sym typeface="Symbol" panose="05050102010706020507" pitchFamily="18" charset="2"/>
              </a:rPr>
              <a:t>  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year = 2017</a:t>
            </a:r>
            <a:r>
              <a:rPr lang="en-US" altLang="ja-JP" sz="2000" dirty="0">
                <a:sym typeface="Symbol" panose="05050102010706020507" pitchFamily="18" charset="2"/>
              </a:rPr>
              <a:t> (</a:t>
            </a:r>
            <a:r>
              <a:rPr lang="en-US" altLang="ja-JP" sz="2000" i="1" dirty="0">
                <a:sym typeface="Symbol" panose="05050102010706020507" pitchFamily="18" charset="2"/>
              </a:rPr>
              <a:t>teaches</a:t>
            </a:r>
            <a:r>
              <a:rPr lang="en-US" altLang="ja-JP" sz="2000" dirty="0">
                <a:sym typeface="Symbol" panose="05050102010706020507" pitchFamily="18" charset="2"/>
              </a:rPr>
              <a:t>)</a:t>
            </a:r>
          </a:p>
          <a:p>
            <a:pPr>
              <a:buFont typeface="Monotype Sorts" pitchFamily="-65" charset="2"/>
              <a:buNone/>
            </a:pPr>
            <a:endParaRPr lang="en-US" altLang="en-US" sz="2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xmlns="" id="{4E491A4A-3C0A-4D6B-A8E6-DAADB455E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Multiple Transformations (Cont.)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33E806A7-61B5-4CE6-B8A7-DDF13E6D6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58393" y="1301164"/>
            <a:ext cx="8227213" cy="36102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xmlns="" id="{8DA5B014-9A7D-4BC3-B609-3F8C59E67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Transformation Example: Pushing Projections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xmlns="" id="{FFF184D8-343D-426D-8603-75BB32384B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4143" y="1102496"/>
            <a:ext cx="7796464" cy="545779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Consider: 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2000" dirty="0">
                <a:sym typeface="Symbol" panose="05050102010706020507" pitchFamily="18" charset="2"/>
              </a:rPr>
              <a:t>(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 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instructor)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ja-JP" sz="2000" i="1" dirty="0">
                <a:sym typeface="Symbol" panose="05050102010706020507" pitchFamily="18" charset="2"/>
              </a:rPr>
              <a:t>teaches</a:t>
            </a:r>
            <a:r>
              <a:rPr lang="en-US" altLang="ja-JP" sz="2000" dirty="0">
                <a:sym typeface="Symbol" panose="05050102010706020507" pitchFamily="18" charset="2"/>
              </a:rPr>
              <a:t>) </a:t>
            </a:r>
            <a:r>
              <a:rPr lang="en-US" altLang="ja-JP" sz="2000" i="1" dirty="0">
                <a:sym typeface="Symbol" panose="05050102010706020507" pitchFamily="18" charset="2"/>
              </a:rPr>
              <a:t/>
            </a:r>
            <a:br>
              <a:rPr lang="en-US" altLang="ja-JP" sz="2000" i="1" dirty="0">
                <a:sym typeface="Symbol" panose="05050102010706020507" pitchFamily="18" charset="2"/>
              </a:rPr>
            </a:br>
            <a:r>
              <a:rPr lang="en-US" altLang="ja-JP" sz="2000" i="1" dirty="0">
                <a:sym typeface="Symbol" panose="05050102010706020507" pitchFamily="18" charset="2"/>
              </a:rPr>
              <a:t>                                  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ja-JP" sz="2000" i="1" dirty="0">
                <a:sym typeface="Symbol" panose="05050102010706020507" pitchFamily="18" charset="2"/>
              </a:rPr>
              <a:t>  </a:t>
            </a:r>
            <a:r>
              <a:rPr lang="en-US" altLang="ja-JP" sz="2000" dirty="0">
                <a:sym typeface="Symbol" panose="05050102010706020507" pitchFamily="18" charset="2"/>
              </a:rPr>
              <a:t></a:t>
            </a:r>
            <a:r>
              <a:rPr lang="en-US" altLang="ja-JP" sz="20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course</a:t>
            </a:r>
            <a:r>
              <a:rPr lang="en-US" altLang="ja-JP" sz="2000" dirty="0">
                <a:sym typeface="Symbol" panose="05050102010706020507" pitchFamily="18" charset="2"/>
              </a:rPr>
              <a:t>))))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When we compute</a:t>
            </a: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dirty="0"/>
              <a:t>		(</a:t>
            </a:r>
            <a:r>
              <a:rPr lang="en-US" altLang="en-US" sz="2000" dirty="0">
                <a:sym typeface="Symbol" panose="05050102010706020507" pitchFamily="18" charset="2"/>
              </a:rPr>
              <a:t>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sz="2000" baseline="-25000" dirty="0">
                <a:sym typeface="Symbol" panose="05050102010706020507" pitchFamily="18" charset="2"/>
              </a:rPr>
              <a:t> = </a:t>
            </a:r>
            <a:r>
              <a:rPr lang="ja-JP" altLang="en-US" sz="2000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dirty="0">
                <a:sym typeface="Symbol" panose="05050102010706020507" pitchFamily="18" charset="2"/>
              </a:rPr>
              <a:t> (</a:t>
            </a:r>
            <a:r>
              <a:rPr lang="en-US" altLang="ja-JP" sz="2000" i="1" dirty="0"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ym typeface="Symbol" panose="05050102010706020507" pitchFamily="18" charset="2"/>
              </a:rPr>
              <a:t>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ja-JP" sz="2000" dirty="0">
                <a:sym typeface="Symbol" panose="05050102010706020507" pitchFamily="18" charset="2"/>
              </a:rPr>
              <a:t> </a:t>
            </a:r>
            <a:r>
              <a:rPr lang="en-US" altLang="ja-JP" sz="2000" i="1" dirty="0">
                <a:sym typeface="Symbol" panose="05050102010706020507" pitchFamily="18" charset="2"/>
              </a:rPr>
              <a:t>teaches</a:t>
            </a:r>
            <a:r>
              <a:rPr lang="en-US" altLang="ja-JP" sz="20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endParaRPr lang="en-US" altLang="en-US" sz="1800" dirty="0" smtClean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800" dirty="0" smtClean="0">
                <a:sym typeface="Symbol" panose="05050102010706020507" pitchFamily="18" charset="2"/>
              </a:rPr>
              <a:t>we </a:t>
            </a:r>
            <a:r>
              <a:rPr lang="en-US" altLang="en-US" sz="1800" dirty="0">
                <a:sym typeface="Symbol" panose="05050102010706020507" pitchFamily="18" charset="2"/>
              </a:rPr>
              <a:t>obtain a relation whose schema is</a:t>
            </a:r>
            <a:r>
              <a:rPr lang="en-US" altLang="en-US" sz="1800" dirty="0" smtClean="0">
                <a:sym typeface="Symbol" panose="05050102010706020507" pitchFamily="18" charset="2"/>
              </a:rPr>
              <a:t>: </a:t>
            </a:r>
            <a:r>
              <a:rPr lang="en-US" altLang="en-US" sz="1800" dirty="0" smtClean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rgbClr val="0000FF"/>
                </a:solidFill>
                <a:sym typeface="Symbol" panose="05050102010706020507" pitchFamily="18" charset="2"/>
              </a:rPr>
              <a:t>ID, name, dept_name, salary, </a:t>
            </a:r>
            <a:r>
              <a:rPr lang="en-US" altLang="en-US" sz="1800" i="1" dirty="0" err="1">
                <a:solidFill>
                  <a:srgbClr val="0000FF"/>
                </a:solidFill>
                <a:sym typeface="Symbol" panose="05050102010706020507" pitchFamily="18" charset="2"/>
              </a:rPr>
              <a:t>course_id</a:t>
            </a:r>
            <a:r>
              <a:rPr lang="en-US" altLang="en-US" sz="1800" i="1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en-US" altLang="en-US" sz="1800" i="1" dirty="0" err="1">
                <a:solidFill>
                  <a:srgbClr val="0000FF"/>
                </a:solidFill>
                <a:sym typeface="Symbol" panose="05050102010706020507" pitchFamily="18" charset="2"/>
              </a:rPr>
              <a:t>sec_id</a:t>
            </a:r>
            <a:r>
              <a:rPr lang="en-US" altLang="en-US" sz="1800" i="1" dirty="0">
                <a:solidFill>
                  <a:srgbClr val="0000FF"/>
                </a:solidFill>
                <a:sym typeface="Symbol" panose="05050102010706020507" pitchFamily="18" charset="2"/>
              </a:rPr>
              <a:t>, semester, year)</a:t>
            </a: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/>
              <a:t>Push projections using equivalence </a:t>
            </a:r>
            <a:r>
              <a:rPr lang="en-US" altLang="en-US" sz="1800" dirty="0">
                <a:solidFill>
                  <a:srgbClr val="0000FF"/>
                </a:solidFill>
              </a:rPr>
              <a:t>rules 8a and 8b</a:t>
            </a:r>
            <a:r>
              <a:rPr lang="en-US" altLang="en-US" sz="1800" dirty="0"/>
              <a:t>; eliminate unneeded attributes from intermediate results to get</a:t>
            </a:r>
            <a:r>
              <a:rPr lang="en-US" altLang="en-US" sz="1800" dirty="0" smtClean="0"/>
              <a:t>:</a:t>
            </a:r>
          </a:p>
          <a:p>
            <a:pPr marL="0" lvl="1" indent="0">
              <a:lnSpc>
                <a:spcPct val="90000"/>
              </a:lnSpc>
              <a:buClr>
                <a:srgbClr val="002060"/>
              </a:buClr>
              <a:buNone/>
            </a:pPr>
            <a:r>
              <a:rPr lang="en-US" altLang="en-US" sz="1800" b="1" dirty="0" smtClean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         </a:t>
            </a:r>
            <a:r>
              <a:rPr lang="en-IN" sz="1800" b="1" baseline="-25000" dirty="0">
                <a:solidFill>
                  <a:srgbClr val="0000FF"/>
                </a:solidFill>
              </a:rPr>
              <a:t>L</a:t>
            </a:r>
            <a:r>
              <a:rPr lang="en-US" alt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1</a:t>
            </a:r>
            <a:r>
              <a:rPr lang="en-IN" sz="1800" b="1" baseline="-25000" dirty="0">
                <a:solidFill>
                  <a:srgbClr val="0000FF"/>
                </a:solidFill>
              </a:rPr>
              <a:t> 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 </a:t>
            </a:r>
            <a:r>
              <a:rPr lang="en-IN" sz="1800" b="1" baseline="-25000" dirty="0">
                <a:solidFill>
                  <a:srgbClr val="0000FF"/>
                </a:solidFill>
              </a:rPr>
              <a:t>L</a:t>
            </a:r>
            <a:r>
              <a:rPr 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2</a:t>
            </a:r>
            <a:r>
              <a:rPr lang="en-IN" sz="1800" b="1" dirty="0">
                <a:solidFill>
                  <a:srgbClr val="0000FF"/>
                </a:solidFill>
              </a:rPr>
              <a:t>(</a:t>
            </a:r>
            <a:r>
              <a:rPr lang="en-US" altLang="en-US" sz="1800" b="1" i="1" dirty="0">
                <a:solidFill>
                  <a:srgbClr val="0000FF"/>
                </a:solidFill>
              </a:rPr>
              <a:t>E</a:t>
            </a:r>
            <a:r>
              <a:rPr lang="en-US" altLang="en-US" sz="1800" b="1" baseline="-25000" dirty="0">
                <a:solidFill>
                  <a:srgbClr val="0000FF"/>
                </a:solidFill>
              </a:rPr>
              <a:t>1</a:t>
            </a:r>
            <a:r>
              <a:rPr lang="en-IN" altLang="en-US" sz="1800" b="1" dirty="0">
                <a:solidFill>
                  <a:srgbClr val="0000FF"/>
                </a:solidFill>
              </a:rPr>
              <a:t> ⨝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sz="1800" b="1" i="1" dirty="0">
                <a:solidFill>
                  <a:srgbClr val="0000FF"/>
                </a:solidFill>
              </a:rPr>
              <a:t> 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b="1" i="1" dirty="0">
                <a:solidFill>
                  <a:srgbClr val="0000FF"/>
                </a:solidFill>
              </a:rPr>
              <a:t>E</a:t>
            </a:r>
            <a:r>
              <a:rPr lang="en-US" altLang="en-US" sz="1800" b="1" i="1" baseline="-25000" dirty="0">
                <a:solidFill>
                  <a:srgbClr val="0000FF"/>
                </a:solidFill>
              </a:rPr>
              <a:t>2</a:t>
            </a:r>
            <a:r>
              <a:rPr lang="en-US" altLang="en-US" sz="1800" b="1" dirty="0">
                <a:solidFill>
                  <a:srgbClr val="0000FF"/>
                </a:solidFill>
              </a:rPr>
              <a:t>)     </a:t>
            </a:r>
            <a:r>
              <a:rPr lang="en-IN" sz="1800" b="1" dirty="0">
                <a:solidFill>
                  <a:srgbClr val="0000FF"/>
                </a:solidFill>
              </a:rPr>
              <a:t>≡    </a:t>
            </a: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sz="1800" b="1" baseline="-25000" dirty="0">
                <a:solidFill>
                  <a:srgbClr val="0000FF"/>
                </a:solidFill>
              </a:rPr>
              <a:t>L</a:t>
            </a:r>
            <a:r>
              <a:rPr lang="en-US" alt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1</a:t>
            </a:r>
            <a:r>
              <a:rPr lang="en-IN" sz="1800" b="1" baseline="-25000" dirty="0">
                <a:solidFill>
                  <a:srgbClr val="0000FF"/>
                </a:solidFill>
              </a:rPr>
              <a:t> 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 </a:t>
            </a:r>
            <a:r>
              <a:rPr lang="en-IN" sz="1800" b="1" baseline="-25000" dirty="0">
                <a:solidFill>
                  <a:srgbClr val="0000FF"/>
                </a:solidFill>
              </a:rPr>
              <a:t>L</a:t>
            </a:r>
            <a:r>
              <a:rPr 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2</a:t>
            </a:r>
            <a:r>
              <a:rPr lang="en-IN" sz="1800" b="1" dirty="0">
                <a:solidFill>
                  <a:srgbClr val="0000FF"/>
                </a:solidFill>
              </a:rPr>
              <a:t>(</a:t>
            </a: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sz="1800" b="1" baseline="-25000" dirty="0">
                <a:solidFill>
                  <a:srgbClr val="0000FF"/>
                </a:solidFill>
              </a:rPr>
              <a:t>L</a:t>
            </a:r>
            <a:r>
              <a:rPr lang="en-US" alt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1</a:t>
            </a:r>
            <a:r>
              <a:rPr lang="en-IN" sz="1800" b="1" baseline="-25000" dirty="0">
                <a:solidFill>
                  <a:srgbClr val="0000FF"/>
                </a:solidFill>
              </a:rPr>
              <a:t> 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 </a:t>
            </a:r>
            <a:r>
              <a:rPr lang="en-IN" sz="1800" b="1" baseline="-25000" dirty="0">
                <a:solidFill>
                  <a:srgbClr val="0000FF"/>
                </a:solidFill>
              </a:rPr>
              <a:t>L</a:t>
            </a:r>
            <a:r>
              <a:rPr 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3</a:t>
            </a:r>
            <a:r>
              <a:rPr lang="en-IN" sz="1800" b="1" dirty="0">
                <a:solidFill>
                  <a:srgbClr val="0000FF"/>
                </a:solidFill>
              </a:rPr>
              <a:t>(</a:t>
            </a:r>
            <a:r>
              <a:rPr lang="en-US" altLang="en-US" sz="1800" b="1" i="1" dirty="0">
                <a:solidFill>
                  <a:srgbClr val="0000FF"/>
                </a:solidFill>
              </a:rPr>
              <a:t>E</a:t>
            </a:r>
            <a:r>
              <a:rPr lang="en-US" altLang="en-US" sz="1800" b="1" baseline="-25000" dirty="0">
                <a:solidFill>
                  <a:srgbClr val="0000FF"/>
                </a:solidFill>
              </a:rPr>
              <a:t>1</a:t>
            </a:r>
            <a:r>
              <a:rPr lang="en-IN" altLang="en-US" sz="1800" b="1" dirty="0">
                <a:solidFill>
                  <a:srgbClr val="0000FF"/>
                </a:solidFill>
              </a:rPr>
              <a:t>) ⨝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en-US" sz="1800" b="1" i="1" dirty="0">
                <a:solidFill>
                  <a:srgbClr val="0000FF"/>
                </a:solidFill>
              </a:rPr>
              <a:t> </a:t>
            </a: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sz="1800" b="1" baseline="-25000" dirty="0">
                <a:solidFill>
                  <a:srgbClr val="0000FF"/>
                </a:solidFill>
              </a:rPr>
              <a:t>L</a:t>
            </a:r>
            <a:r>
              <a:rPr lang="en-US" alt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2</a:t>
            </a:r>
            <a:r>
              <a:rPr lang="en-IN" sz="1800" b="1" baseline="-25000" dirty="0">
                <a:solidFill>
                  <a:srgbClr val="0000FF"/>
                </a:solidFill>
              </a:rPr>
              <a:t> </a:t>
            </a:r>
            <a:r>
              <a:rPr lang="en-US" altLang="en-US" sz="1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 </a:t>
            </a:r>
            <a:r>
              <a:rPr lang="en-IN" sz="1800" b="1" baseline="-25000" dirty="0">
                <a:solidFill>
                  <a:srgbClr val="0000FF"/>
                </a:solidFill>
              </a:rPr>
              <a:t>L</a:t>
            </a:r>
            <a:r>
              <a:rPr lang="en-US" sz="1800" b="1" baseline="-46000" dirty="0">
                <a:solidFill>
                  <a:srgbClr val="0000FF"/>
                </a:solidFill>
                <a:sym typeface="Greek Symbols" pitchFamily="18" charset="2"/>
              </a:rPr>
              <a:t>4</a:t>
            </a:r>
            <a:r>
              <a:rPr lang="en-IN" sz="1800" b="1" dirty="0">
                <a:solidFill>
                  <a:srgbClr val="0000FF"/>
                </a:solidFill>
              </a:rPr>
              <a:t>(</a:t>
            </a:r>
            <a:r>
              <a:rPr lang="en-US" altLang="en-US" sz="1800" b="1" i="1" dirty="0">
                <a:solidFill>
                  <a:srgbClr val="0000FF"/>
                </a:solidFill>
              </a:rPr>
              <a:t>E</a:t>
            </a:r>
            <a:r>
              <a:rPr lang="en-US" altLang="en-US" sz="1800" b="1" baseline="-25000" dirty="0">
                <a:solidFill>
                  <a:srgbClr val="0000FF"/>
                </a:solidFill>
              </a:rPr>
              <a:t>2</a:t>
            </a:r>
            <a:r>
              <a:rPr lang="en-IN" altLang="en-US" sz="1800" b="1" dirty="0">
                <a:solidFill>
                  <a:srgbClr val="0000FF"/>
                </a:solidFill>
              </a:rPr>
              <a:t>))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200" dirty="0" smtClean="0"/>
              <a:t>      </a:t>
            </a:r>
            <a:r>
              <a:rPr lang="en-US" altLang="en-US" sz="2200" dirty="0">
                <a:sym typeface="Symbol" panose="05050102010706020507" pitchFamily="18" charset="2"/>
              </a:rPr>
              <a:t></a:t>
            </a:r>
            <a:r>
              <a:rPr lang="en-US" altLang="en-US" sz="22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2200" dirty="0">
                <a:sym typeface="Symbol" panose="05050102010706020507" pitchFamily="18" charset="2"/>
              </a:rPr>
              <a:t>(</a:t>
            </a:r>
            <a:r>
              <a:rPr lang="en-US" altLang="en-US" sz="2200" i="1" baseline="-25000" dirty="0">
                <a:sym typeface="Symbol" panose="05050102010706020507" pitchFamily="18" charset="2"/>
              </a:rPr>
              <a:t>name, </a:t>
            </a:r>
            <a:r>
              <a:rPr lang="en-US" altLang="en-US" sz="22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en-US" sz="2200" dirty="0">
                <a:sym typeface="Symbol" panose="05050102010706020507" pitchFamily="18" charset="2"/>
              </a:rPr>
              <a:t> (</a:t>
            </a:r>
            <a:br>
              <a:rPr lang="en-US" altLang="en-US" sz="2200" dirty="0">
                <a:sym typeface="Symbol" panose="05050102010706020507" pitchFamily="18" charset="2"/>
              </a:rPr>
            </a:br>
            <a:r>
              <a:rPr lang="en-US" altLang="en-US" sz="2200" dirty="0">
                <a:sym typeface="Symbol" panose="05050102010706020507" pitchFamily="18" charset="2"/>
              </a:rPr>
              <a:t>                             </a:t>
            </a:r>
            <a:r>
              <a:rPr lang="en-US" altLang="en-US" sz="2200" i="1" baseline="-25000" dirty="0">
                <a:sym typeface="Symbol" panose="05050102010706020507" pitchFamily="18" charset="2"/>
              </a:rPr>
              <a:t>dept_name= </a:t>
            </a:r>
            <a:r>
              <a:rPr lang="ja-JP" altLang="en-US" sz="22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200" baseline="-25000" dirty="0">
                <a:sym typeface="Symbol" panose="05050102010706020507" pitchFamily="18" charset="2"/>
              </a:rPr>
              <a:t>Music</a:t>
            </a:r>
            <a:r>
              <a:rPr lang="ja-JP" altLang="en-US" sz="2200" baseline="-25000" dirty="0">
                <a:sym typeface="Symbol" panose="05050102010706020507" pitchFamily="18" charset="2"/>
              </a:rPr>
              <a:t>”</a:t>
            </a:r>
            <a:r>
              <a:rPr lang="en-US" altLang="ja-JP" sz="2200" baseline="-25000" dirty="0">
                <a:sym typeface="Symbol" panose="05050102010706020507" pitchFamily="18" charset="2"/>
              </a:rPr>
              <a:t> </a:t>
            </a:r>
            <a:r>
              <a:rPr lang="en-US" altLang="ja-JP" sz="2200" dirty="0">
                <a:sym typeface="Symbol" panose="05050102010706020507" pitchFamily="18" charset="2"/>
              </a:rPr>
              <a:t>(</a:t>
            </a:r>
            <a:r>
              <a:rPr lang="en-US" altLang="ja-JP" sz="2200" i="1" dirty="0">
                <a:sym typeface="Symbol" panose="05050102010706020507" pitchFamily="18" charset="2"/>
              </a:rPr>
              <a:t>instructor) </a:t>
            </a:r>
            <a:r>
              <a:rPr lang="en-IN" altLang="en-US" sz="2200" dirty="0">
                <a:ea typeface="MS PGothic" panose="020B0600070205080204" pitchFamily="34" charset="-128"/>
              </a:rPr>
              <a:t>⨝</a:t>
            </a:r>
            <a:r>
              <a:rPr lang="en-US" altLang="en-US" sz="2200" i="1" dirty="0">
                <a:ea typeface="MS PGothic" panose="020B0600070205080204" pitchFamily="34" charset="-128"/>
              </a:rPr>
              <a:t> </a:t>
            </a:r>
            <a:r>
              <a:rPr lang="en-US" altLang="ja-JP" sz="2200" i="1" dirty="0">
                <a:sym typeface="Symbol" panose="05050102010706020507" pitchFamily="18" charset="2"/>
              </a:rPr>
              <a:t>teaches</a:t>
            </a:r>
            <a:r>
              <a:rPr lang="en-US" altLang="ja-JP" sz="2200" dirty="0">
                <a:sym typeface="Symbol" panose="05050102010706020507" pitchFamily="18" charset="2"/>
              </a:rPr>
              <a:t>)) </a:t>
            </a:r>
            <a:r>
              <a:rPr lang="en-US" altLang="ja-JP" sz="2200" i="1" dirty="0">
                <a:sym typeface="Symbol" panose="05050102010706020507" pitchFamily="18" charset="2"/>
              </a:rPr>
              <a:t/>
            </a:r>
            <a:br>
              <a:rPr lang="en-US" altLang="ja-JP" sz="2200" i="1" dirty="0">
                <a:sym typeface="Symbol" panose="05050102010706020507" pitchFamily="18" charset="2"/>
              </a:rPr>
            </a:br>
            <a:r>
              <a:rPr lang="en-US" altLang="ja-JP" sz="2200" i="1" dirty="0">
                <a:sym typeface="Symbol" panose="05050102010706020507" pitchFamily="18" charset="2"/>
              </a:rPr>
              <a:t>                </a:t>
            </a:r>
            <a:r>
              <a:rPr lang="en-IN" altLang="en-US" sz="2200" dirty="0">
                <a:ea typeface="MS PGothic" panose="020B0600070205080204" pitchFamily="34" charset="-128"/>
              </a:rPr>
              <a:t>⨝</a:t>
            </a:r>
            <a:r>
              <a:rPr lang="en-US" altLang="ja-JP" sz="2200" i="1" dirty="0">
                <a:sym typeface="Symbol" panose="05050102010706020507" pitchFamily="18" charset="2"/>
              </a:rPr>
              <a:t>   </a:t>
            </a:r>
            <a:r>
              <a:rPr lang="en-US" altLang="ja-JP" sz="2200" dirty="0">
                <a:sym typeface="Symbol" panose="05050102010706020507" pitchFamily="18" charset="2"/>
              </a:rPr>
              <a:t></a:t>
            </a:r>
            <a:r>
              <a:rPr lang="en-US" altLang="ja-JP" sz="22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22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2200" i="1" dirty="0">
                <a:sym typeface="Symbol" panose="05050102010706020507" pitchFamily="18" charset="2"/>
              </a:rPr>
              <a:t> </a:t>
            </a:r>
            <a:r>
              <a:rPr lang="en-US" altLang="ja-JP" sz="2200" dirty="0">
                <a:sym typeface="Symbol" panose="05050102010706020507" pitchFamily="18" charset="2"/>
              </a:rPr>
              <a:t>(</a:t>
            </a:r>
            <a:r>
              <a:rPr lang="en-US" altLang="ja-JP" sz="2200" i="1" dirty="0">
                <a:sym typeface="Symbol" panose="05050102010706020507" pitchFamily="18" charset="2"/>
              </a:rPr>
              <a:t>course</a:t>
            </a:r>
            <a:r>
              <a:rPr lang="en-US" altLang="ja-JP" sz="2200" dirty="0" smtClean="0">
                <a:sym typeface="Symbol" panose="05050102010706020507" pitchFamily="18" charset="2"/>
              </a:rPr>
              <a:t>))))</a:t>
            </a:r>
          </a:p>
          <a:p>
            <a:pPr>
              <a:lnSpc>
                <a:spcPct val="90000"/>
              </a:lnSpc>
            </a:pPr>
            <a:r>
              <a:rPr lang="en-US" altLang="en-US" sz="1800" dirty="0" smtClean="0">
                <a:solidFill>
                  <a:srgbClr val="003399"/>
                </a:solidFill>
                <a:sym typeface="Symbol" panose="05050102010706020507" pitchFamily="18" charset="2"/>
              </a:rPr>
              <a:t>Performing </a:t>
            </a:r>
            <a:r>
              <a:rPr lang="en-US" altLang="en-US" sz="1800" dirty="0">
                <a:solidFill>
                  <a:srgbClr val="003399"/>
                </a:solidFill>
                <a:sym typeface="Symbol" panose="05050102010706020507" pitchFamily="18" charset="2"/>
              </a:rPr>
              <a:t>the projection as early as possible reduces the size of the relation to be joined</a:t>
            </a:r>
            <a:r>
              <a:rPr lang="en-US" altLang="en-US" sz="1800" dirty="0">
                <a:sym typeface="Symbol" panose="05050102010706020507" pitchFamily="18" charset="2"/>
              </a:rPr>
              <a:t>. </a:t>
            </a:r>
            <a:endParaRPr lang="en-US" alt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xmlns="" id="{C6E47C56-A0BE-493D-99C6-FE63BED90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Join Ordering Example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xmlns="" id="{7C1CF120-E4F7-4429-B2DB-787B5E5C0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4144" y="1073622"/>
            <a:ext cx="7594332" cy="5367972"/>
          </a:xfrm>
        </p:spPr>
        <p:txBody>
          <a:bodyPr/>
          <a:lstStyle/>
          <a:p>
            <a:pPr>
              <a:tabLst>
                <a:tab pos="1947863" algn="l"/>
              </a:tabLst>
            </a:pPr>
            <a:r>
              <a:rPr lang="en-US" altLang="en-US" sz="2000" dirty="0"/>
              <a:t>For all relations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1,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2,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</a:t>
            </a:r>
          </a:p>
          <a:p>
            <a:pPr>
              <a:buFont typeface="Monotype Sorts" pitchFamily="-65" charset="2"/>
              <a:buNone/>
              <a:tabLst>
                <a:tab pos="1947863" algn="l"/>
              </a:tabLst>
            </a:pPr>
            <a:r>
              <a:rPr lang="en-US" altLang="en-US" sz="2000" dirty="0"/>
              <a:t>		(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</a:t>
            </a:r>
            <a:r>
              <a:rPr lang="en-IN" altLang="en-US" sz="2000" dirty="0">
                <a:ea typeface="MS PGothic" panose="020B0600070205080204" pitchFamily="34" charset="-128"/>
              </a:rPr>
              <a:t> 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)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3  </a:t>
            </a:r>
            <a:r>
              <a:rPr lang="en-US" altLang="en-US" sz="2000" dirty="0"/>
              <a:t>=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3 </a:t>
            </a:r>
            <a:r>
              <a:rPr lang="en-US" altLang="en-US" sz="2000" dirty="0"/>
              <a:t>)</a:t>
            </a:r>
          </a:p>
          <a:p>
            <a:pPr>
              <a:buFont typeface="Monotype Sorts" pitchFamily="-65" charset="2"/>
              <a:buNone/>
              <a:tabLst>
                <a:tab pos="1947863" algn="l"/>
              </a:tabLst>
            </a:pPr>
            <a:r>
              <a:rPr lang="en-US" altLang="en-US" sz="2000" dirty="0"/>
              <a:t>	(Join Associativity)</a:t>
            </a:r>
            <a:r>
              <a:rPr lang="en-IN" altLang="en-US" sz="2000" dirty="0">
                <a:ea typeface="MS PGothic" panose="020B0600070205080204" pitchFamily="34" charset="-128"/>
              </a:rPr>
              <a:t> 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</a:p>
          <a:p>
            <a:pPr>
              <a:buFont typeface="Monotype Sorts" pitchFamily="-65" charset="2"/>
              <a:buNone/>
              <a:tabLst>
                <a:tab pos="1947863" algn="l"/>
              </a:tabLst>
            </a:pPr>
            <a:endParaRPr lang="en-US" altLang="en-US" sz="2000" dirty="0"/>
          </a:p>
          <a:p>
            <a:pPr>
              <a:tabLst>
                <a:tab pos="1947863" algn="l"/>
              </a:tabLst>
            </a:pPr>
            <a:r>
              <a:rPr lang="en-US" altLang="en-US" sz="2000" dirty="0"/>
              <a:t>If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dirty="0"/>
              <a:t> 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3 </a:t>
            </a:r>
            <a:r>
              <a:rPr lang="en-US" altLang="en-US" sz="2000" dirty="0"/>
              <a:t> is quite large and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dirty="0"/>
              <a:t>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is small, we choose</a:t>
            </a:r>
          </a:p>
          <a:p>
            <a:pPr>
              <a:buFont typeface="Monotype Sorts" pitchFamily="-65" charset="2"/>
              <a:buNone/>
              <a:tabLst>
                <a:tab pos="1947863" algn="l"/>
              </a:tabLst>
            </a:pPr>
            <a:r>
              <a:rPr lang="en-US" altLang="en-US" sz="2000" baseline="-25000" dirty="0"/>
              <a:t/>
            </a:r>
            <a:br>
              <a:rPr lang="en-US" altLang="en-US" sz="2000" baseline="-25000" dirty="0"/>
            </a:br>
            <a:r>
              <a:rPr lang="en-US" altLang="en-US" sz="2000" baseline="-25000" dirty="0"/>
              <a:t>	 </a:t>
            </a:r>
            <a:r>
              <a:rPr lang="en-US" altLang="en-US" sz="2000" dirty="0"/>
              <a:t>(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)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dirty="0"/>
              <a:t>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3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947863" algn="l"/>
              </a:tabLst>
            </a:pPr>
            <a:r>
              <a:rPr lang="en-US" altLang="en-US" sz="2000" dirty="0">
                <a:solidFill>
                  <a:srgbClr val="003399"/>
                </a:solidFill>
              </a:rPr>
              <a:t>	so that we compute and store a smaller temporary relation.</a:t>
            </a:r>
            <a:endParaRPr lang="en-US" altLang="en-US" sz="2000" baseline="-25000" dirty="0">
              <a:solidFill>
                <a:srgbClr val="00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xmlns="" id="{A7DFCF53-4E54-4048-AC08-C5BD5617B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Join Ordering Example (Cont.)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xmlns="" id="{FC58C06D-6BC1-4E20-A3A3-6AFD666C4D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4144" y="1073622"/>
            <a:ext cx="7584708" cy="5367972"/>
          </a:xfrm>
        </p:spPr>
        <p:txBody>
          <a:bodyPr/>
          <a:lstStyle/>
          <a:p>
            <a:pPr>
              <a:tabLst>
                <a:tab pos="1198563" algn="l"/>
              </a:tabLst>
            </a:pPr>
            <a:r>
              <a:rPr lang="en-US" altLang="en-US" sz="2000" dirty="0"/>
              <a:t>Consider the expression</a:t>
            </a:r>
          </a:p>
          <a:p>
            <a:pPr>
              <a:buFont typeface="Monotype Sorts" pitchFamily="-65" charset="2"/>
              <a:buNone/>
              <a:tabLst>
                <a:tab pos="1198563" algn="l"/>
              </a:tabLst>
            </a:pPr>
            <a:r>
              <a:rPr lang="en-US" altLang="en-US" sz="2000" dirty="0"/>
              <a:t>		</a:t>
            </a:r>
            <a:r>
              <a:rPr lang="en-US" altLang="en-US" sz="2000" dirty="0">
                <a:sym typeface="Symbol" panose="05050102010706020507" pitchFamily="18" charset="2"/>
              </a:rPr>
              <a:t>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sz="2000" dirty="0">
                <a:sym typeface="Symbol" panose="05050102010706020507" pitchFamily="18" charset="2"/>
              </a:rPr>
              <a:t>(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 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instructor)</a:t>
            </a:r>
            <a:r>
              <a:rPr lang="en-IN" altLang="en-US" sz="2000" dirty="0">
                <a:ea typeface="MS PGothic" panose="020B0600070205080204" pitchFamily="34" charset="-128"/>
              </a:rPr>
              <a:t> ⨝</a:t>
            </a:r>
            <a:r>
              <a:rPr lang="en-US" altLang="ja-JP" sz="2000" i="1" dirty="0">
                <a:sym typeface="Symbol" panose="05050102010706020507" pitchFamily="18" charset="2"/>
              </a:rPr>
              <a:t> teaches</a:t>
            </a:r>
            <a:r>
              <a:rPr lang="en-US" altLang="ja-JP" sz="2000" dirty="0">
                <a:sym typeface="Symbol" panose="05050102010706020507" pitchFamily="18" charset="2"/>
              </a:rPr>
              <a:t>) </a:t>
            </a:r>
            <a:r>
              <a:rPr lang="en-US" altLang="ja-JP" sz="2000" i="1" dirty="0">
                <a:sym typeface="Symbol" panose="05050102010706020507" pitchFamily="18" charset="2"/>
              </a:rPr>
              <a:t/>
            </a:r>
            <a:br>
              <a:rPr lang="en-US" altLang="ja-JP" sz="2000" i="1" dirty="0">
                <a:sym typeface="Symbol" panose="05050102010706020507" pitchFamily="18" charset="2"/>
              </a:rPr>
            </a:br>
            <a:r>
              <a:rPr lang="en-US" altLang="ja-JP" sz="2000" i="1" dirty="0">
                <a:sym typeface="Symbol" panose="05050102010706020507" pitchFamily="18" charset="2"/>
              </a:rPr>
              <a:t> 			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ja-JP" sz="2000" i="1" dirty="0">
                <a:sym typeface="Symbol" panose="05050102010706020507" pitchFamily="18" charset="2"/>
              </a:rPr>
              <a:t>  </a:t>
            </a:r>
            <a:r>
              <a:rPr lang="en-US" altLang="ja-JP" sz="2000" dirty="0">
                <a:sym typeface="Symbol" panose="05050102010706020507" pitchFamily="18" charset="2"/>
              </a:rPr>
              <a:t></a:t>
            </a:r>
            <a:r>
              <a:rPr lang="en-US" altLang="ja-JP" sz="2000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course</a:t>
            </a:r>
            <a:r>
              <a:rPr lang="en-US" altLang="ja-JP" sz="2000" dirty="0" smtClean="0">
                <a:sym typeface="Symbol" panose="05050102010706020507" pitchFamily="18" charset="2"/>
              </a:rPr>
              <a:t>))))</a:t>
            </a:r>
          </a:p>
          <a:p>
            <a:pPr>
              <a:buFont typeface="Monotype Sorts" pitchFamily="-65" charset="2"/>
              <a:buNone/>
              <a:tabLst>
                <a:tab pos="1198563" algn="l"/>
              </a:tabLst>
            </a:pPr>
            <a:endParaRPr lang="en-US" altLang="ja-JP" sz="2000" dirty="0">
              <a:sym typeface="Symbol" panose="05050102010706020507" pitchFamily="18" charset="2"/>
            </a:endParaRPr>
          </a:p>
          <a:p>
            <a:pPr>
              <a:tabLst>
                <a:tab pos="1198563" algn="l"/>
              </a:tabLst>
            </a:pPr>
            <a:r>
              <a:rPr lang="en-US" altLang="en-US" sz="2000" dirty="0"/>
              <a:t>Could </a:t>
            </a:r>
            <a:r>
              <a:rPr lang="en-US" altLang="en-US" sz="2000" dirty="0">
                <a:solidFill>
                  <a:srgbClr val="0000FF"/>
                </a:solidFill>
              </a:rPr>
              <a:t>compute   </a:t>
            </a:r>
            <a:r>
              <a:rPr lang="en-US" altLang="en-US" sz="2000" i="1" dirty="0">
                <a:solidFill>
                  <a:srgbClr val="0000FF"/>
                </a:solidFill>
              </a:rPr>
              <a:t>teaches </a:t>
            </a:r>
            <a:r>
              <a:rPr lang="en-IN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⨝</a:t>
            </a:r>
            <a:r>
              <a:rPr lang="en-US" altLang="en-US" sz="2000" i="1" dirty="0">
                <a:solidFill>
                  <a:srgbClr val="0000FF"/>
                </a:solidFill>
              </a:rPr>
              <a:t> </a:t>
            </a:r>
            <a:r>
              <a:rPr lang="en-US" altLang="en-US" sz="2000" dirty="0">
                <a:solidFill>
                  <a:srgbClr val="0000FF"/>
                </a:solidFill>
                <a:sym typeface="Symbol" panose="05050102010706020507" pitchFamily="18" charset="2"/>
              </a:rPr>
              <a:t></a:t>
            </a:r>
            <a:r>
              <a:rPr lang="en-US" altLang="en-US" sz="2000" i="1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course_id</a:t>
            </a:r>
            <a:r>
              <a:rPr lang="en-US" altLang="en-US" sz="2000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, title</a:t>
            </a:r>
            <a:r>
              <a:rPr lang="en-US" altLang="en-US" sz="2000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0000FF"/>
                </a:solidFill>
                <a:sym typeface="Symbol" panose="05050102010706020507" pitchFamily="18" charset="2"/>
              </a:rPr>
              <a:t>course</a:t>
            </a:r>
            <a:r>
              <a:rPr lang="en-US" altLang="en-US" sz="20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en-US" sz="2000" i="1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first, and join result with </a:t>
            </a:r>
            <a:br>
              <a:rPr lang="en-US" altLang="en-US" sz="2000" dirty="0"/>
            </a:br>
            <a:r>
              <a:rPr lang="en-US" altLang="en-US" sz="2000" dirty="0"/>
              <a:t>	 </a:t>
            </a:r>
            <a:r>
              <a:rPr lang="en-US" altLang="en-US" sz="2000" dirty="0">
                <a:solidFill>
                  <a:srgbClr val="0000FF"/>
                </a:solidFill>
                <a:sym typeface="Symbol" panose="05050102010706020507" pitchFamily="18" charset="2"/>
              </a:rPr>
              <a:t></a:t>
            </a:r>
            <a:r>
              <a:rPr lang="en-US" altLang="en-US" sz="2000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dept_name= </a:t>
            </a:r>
            <a:r>
              <a:rPr lang="ja-JP" altLang="en-US" sz="2000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olidFill>
                  <a:srgbClr val="0000FF"/>
                </a:solidFill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ja-JP" sz="2000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ja-JP" sz="2000" i="1" dirty="0">
                <a:sym typeface="Symbol" panose="05050102010706020507" pitchFamily="18" charset="2"/>
              </a:rPr>
              <a:t/>
            </a:r>
            <a:br>
              <a:rPr lang="en-US" altLang="ja-JP" sz="2000" i="1" dirty="0">
                <a:sym typeface="Symbol" panose="05050102010706020507" pitchFamily="18" charset="2"/>
              </a:rPr>
            </a:br>
            <a:r>
              <a:rPr lang="en-US" altLang="ja-JP" sz="2000" dirty="0">
                <a:sym typeface="Symbol" panose="05050102010706020507" pitchFamily="18" charset="2"/>
              </a:rPr>
              <a:t>but  the result of the first join</a:t>
            </a:r>
            <a:r>
              <a:rPr lang="en-US" altLang="ja-JP" sz="20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is likely to be a large relation</a:t>
            </a:r>
            <a:r>
              <a:rPr lang="en-US" altLang="ja-JP" sz="2000" dirty="0" smtClean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  <a:tabLst>
                <a:tab pos="1198563" algn="l"/>
              </a:tabLst>
            </a:pPr>
            <a:endParaRPr lang="en-US" altLang="ja-JP" sz="2000" dirty="0">
              <a:sym typeface="Symbol" panose="05050102010706020507" pitchFamily="18" charset="2"/>
            </a:endParaRPr>
          </a:p>
          <a:p>
            <a:pPr>
              <a:tabLst>
                <a:tab pos="1198563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Only a small fraction of the university</a:t>
            </a:r>
            <a:r>
              <a:rPr lang="ja-JP" altLang="en-US" sz="2000" dirty="0">
                <a:sym typeface="Symbol" panose="05050102010706020507" pitchFamily="18" charset="2"/>
              </a:rPr>
              <a:t>’</a:t>
            </a:r>
            <a:r>
              <a:rPr lang="en-US" altLang="ja-JP" sz="2000" dirty="0">
                <a:sym typeface="Symbol" panose="05050102010706020507" pitchFamily="18" charset="2"/>
              </a:rPr>
              <a:t>s instructors are likely to be from the Music department</a:t>
            </a:r>
          </a:p>
          <a:p>
            <a:pPr lvl="1">
              <a:tabLst>
                <a:tab pos="1198563" algn="l"/>
              </a:tabLst>
            </a:pPr>
            <a:r>
              <a:rPr lang="en-US" altLang="en-US" sz="2000" dirty="0">
                <a:solidFill>
                  <a:srgbClr val="0000FF"/>
                </a:solidFill>
                <a:sym typeface="Symbol" panose="05050102010706020507" pitchFamily="18" charset="2"/>
              </a:rPr>
              <a:t> it is better to compute</a:t>
            </a:r>
          </a:p>
          <a:p>
            <a:pPr>
              <a:buFont typeface="Monotype Sorts" pitchFamily="-65" charset="2"/>
              <a:buNone/>
              <a:tabLst>
                <a:tab pos="1198563" algn="l"/>
              </a:tabLst>
            </a:pPr>
            <a:r>
              <a:rPr lang="en-US" altLang="en-US" sz="2000" dirty="0"/>
              <a:t>		 </a:t>
            </a:r>
            <a:r>
              <a:rPr lang="en-US" altLang="en-US" sz="2000" dirty="0">
                <a:sym typeface="Symbol" panose="05050102010706020507" pitchFamily="18" charset="2"/>
              </a:rPr>
              <a:t>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dept_name= </a:t>
            </a:r>
            <a:r>
              <a:rPr lang="ja-JP" altLang="en-US" sz="20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000" baseline="-25000" dirty="0">
                <a:sym typeface="Symbol" panose="05050102010706020507" pitchFamily="18" charset="2"/>
              </a:rPr>
              <a:t>Music</a:t>
            </a:r>
            <a:r>
              <a:rPr lang="ja-JP" altLang="en-US" sz="2000" baseline="-25000" dirty="0">
                <a:sym typeface="Symbol" panose="05050102010706020507" pitchFamily="18" charset="2"/>
              </a:rPr>
              <a:t>”</a:t>
            </a:r>
            <a:r>
              <a:rPr lang="en-US" altLang="ja-JP" sz="2000" baseline="-25000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instructor)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ja-JP" sz="2000" i="1" dirty="0">
                <a:sym typeface="Symbol" panose="05050102010706020507" pitchFamily="18" charset="2"/>
              </a:rPr>
              <a:t> teaches </a:t>
            </a:r>
            <a:r>
              <a:rPr lang="en-US" altLang="en-US" sz="2000" i="1" dirty="0" smtClean="0">
                <a:sym typeface="Symbol" panose="05050102010706020507" pitchFamily="18" charset="2"/>
              </a:rPr>
              <a:t>   </a:t>
            </a:r>
            <a:r>
              <a:rPr lang="en-US" altLang="en-US" sz="2000" i="1" dirty="0" smtClean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0000FF"/>
                </a:solidFill>
                <a:sym typeface="Symbol" panose="05050102010706020507" pitchFamily="18" charset="2"/>
              </a:rPr>
              <a:t>first.</a:t>
            </a:r>
            <a:r>
              <a:rPr lang="en-US" altLang="en-US" sz="2000" dirty="0">
                <a:solidFill>
                  <a:srgbClr val="0000FF"/>
                </a:solidFill>
              </a:rPr>
              <a:t> </a:t>
            </a:r>
          </a:p>
          <a:p>
            <a:pPr>
              <a:buFont typeface="Monotype Sorts" pitchFamily="-65" charset="2"/>
              <a:buNone/>
              <a:tabLst>
                <a:tab pos="1198563" algn="l"/>
              </a:tabLst>
            </a:pP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>
            <a:extLst>
              <a:ext uri="{FF2B5EF4-FFF2-40B4-BE49-F238E27FC236}">
                <a16:creationId xmlns:a16="http://schemas.microsoft.com/office/drawing/2014/main" xmlns="" id="{A6C3F11C-A25B-4E42-A39E-BB138AAD9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Enumeration of Equivalent Expressions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xmlns="" id="{F6C31D7E-F789-4652-9488-B1AEE7EED4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932376"/>
            <a:ext cx="8171782" cy="5367972"/>
          </a:xfrm>
        </p:spPr>
        <p:txBody>
          <a:bodyPr/>
          <a:lstStyle/>
          <a:p>
            <a:pPr algn="just"/>
            <a:r>
              <a:rPr lang="en-US" altLang="en-US" sz="2000" dirty="0"/>
              <a:t>Query optimizers use equivalence rules to </a:t>
            </a:r>
            <a:r>
              <a:rPr lang="en-US" altLang="en-US" sz="2000" b="1" dirty="0"/>
              <a:t>systematically</a:t>
            </a:r>
            <a:r>
              <a:rPr lang="en-US" altLang="en-US" sz="2000" dirty="0"/>
              <a:t> generate expressions equivalent to the given expression</a:t>
            </a:r>
          </a:p>
          <a:p>
            <a:pPr algn="just"/>
            <a:r>
              <a:rPr lang="en-US" altLang="en-US" sz="2000" dirty="0">
                <a:solidFill>
                  <a:srgbClr val="0000FF"/>
                </a:solidFill>
              </a:rPr>
              <a:t>Can generate all equivalent expressions as follows: </a:t>
            </a:r>
          </a:p>
          <a:p>
            <a:pPr lvl="1" algn="just"/>
            <a:r>
              <a:rPr lang="en-US" altLang="en-US" sz="2000" dirty="0"/>
              <a:t> Repeat</a:t>
            </a:r>
          </a:p>
          <a:p>
            <a:pPr lvl="2" algn="just"/>
            <a:r>
              <a:rPr lang="en-US" altLang="en-US" sz="2000" dirty="0"/>
              <a:t>apply all applicable equivalence  rules on every subexpression of every equivalent expression found so far</a:t>
            </a:r>
          </a:p>
          <a:p>
            <a:pPr lvl="2" algn="just"/>
            <a:r>
              <a:rPr lang="en-US" altLang="en-US" sz="2000" dirty="0"/>
              <a:t>add newly generated expressions to the set of equivalent expressions </a:t>
            </a:r>
          </a:p>
          <a:p>
            <a:pPr lvl="2" algn="just">
              <a:buFont typeface="Webdings" panose="05030102010509060703" pitchFamily="18" charset="2"/>
              <a:buNone/>
            </a:pPr>
            <a:r>
              <a:rPr lang="en-US" altLang="en-US" sz="2000" dirty="0"/>
              <a:t>Until no new equivalent expressions are generated above</a:t>
            </a:r>
          </a:p>
          <a:p>
            <a:pPr algn="just"/>
            <a:r>
              <a:rPr lang="en-US" altLang="en-US" sz="2000" dirty="0">
                <a:solidFill>
                  <a:srgbClr val="0000FF"/>
                </a:solidFill>
              </a:rPr>
              <a:t>The above approach is very expensive in space and time</a:t>
            </a:r>
          </a:p>
          <a:p>
            <a:pPr lvl="1" algn="just"/>
            <a:r>
              <a:rPr lang="en-US" altLang="en-US" sz="2000" dirty="0"/>
              <a:t>Two approaches</a:t>
            </a:r>
          </a:p>
          <a:p>
            <a:pPr lvl="2" algn="just"/>
            <a:r>
              <a:rPr lang="en-US" altLang="en-US" sz="2000" dirty="0"/>
              <a:t>Optimized plan generation based on transformation rules</a:t>
            </a:r>
          </a:p>
          <a:p>
            <a:pPr lvl="2" algn="just"/>
            <a:r>
              <a:rPr lang="en-US" altLang="en-US" sz="2000" dirty="0"/>
              <a:t>Special case approach for queries with only selections, projections and joins</a:t>
            </a:r>
          </a:p>
          <a:p>
            <a:pPr>
              <a:buFont typeface="Monotype Sorts" pitchFamily="-65" charset="2"/>
              <a:buNone/>
            </a:pP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>
            <a:extLst>
              <a:ext uri="{FF2B5EF4-FFF2-40B4-BE49-F238E27FC236}">
                <a16:creationId xmlns:a16="http://schemas.microsoft.com/office/drawing/2014/main" xmlns="" id="{D488288B-9F1E-41DE-952D-1B18F0FF9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Cost-Based Optimization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xmlns="" id="{704B53F0-B238-43C6-8666-D94F62176F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700210" cy="5367972"/>
          </a:xfrm>
        </p:spPr>
        <p:txBody>
          <a:bodyPr/>
          <a:lstStyle/>
          <a:p>
            <a:r>
              <a:rPr lang="en-US" altLang="en-US" sz="2000" dirty="0"/>
              <a:t>Consider finding the best join-order for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dirty="0"/>
              <a:t>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 </a:t>
            </a:r>
            <a:r>
              <a:rPr lang="en-IN" altLang="en-US" sz="2000" dirty="0">
                <a:ea typeface="MS PGothic" panose="020B0600070205080204" pitchFamily="34" charset="-128"/>
              </a:rPr>
              <a:t>⨝</a:t>
            </a:r>
            <a:r>
              <a:rPr lang="en-US" altLang="en-US" sz="2000" baseline="-25000" dirty="0"/>
              <a:t>   </a:t>
            </a:r>
            <a:r>
              <a:rPr lang="en-US" altLang="en-US" sz="2000" dirty="0"/>
              <a:t>. . .</a:t>
            </a:r>
            <a:r>
              <a:rPr lang="en-IN" altLang="en-US" sz="2000" dirty="0">
                <a:ea typeface="MS PGothic" panose="020B0600070205080204" pitchFamily="34" charset="-128"/>
              </a:rPr>
              <a:t> ⨝</a:t>
            </a:r>
            <a:r>
              <a:rPr lang="en-US" altLang="en-US" sz="2000" dirty="0"/>
              <a:t>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n</a:t>
            </a:r>
            <a:r>
              <a:rPr lang="en-US" altLang="en-US" sz="2000" dirty="0"/>
              <a:t>.</a:t>
            </a:r>
          </a:p>
          <a:p>
            <a:pPr marL="0" indent="0">
              <a:buNone/>
            </a:pPr>
            <a:endParaRPr lang="en-US" altLang="en-US" sz="2000" dirty="0"/>
          </a:p>
          <a:p>
            <a:r>
              <a:rPr lang="en-US" altLang="en-US" sz="2000" dirty="0"/>
              <a:t>There are (2(</a:t>
            </a:r>
            <a:r>
              <a:rPr lang="en-US" altLang="en-US" sz="2000" i="1" dirty="0"/>
              <a:t>n</a:t>
            </a:r>
            <a:r>
              <a:rPr lang="en-US" altLang="en-US" sz="2000" dirty="0"/>
              <a:t> – 1))!/(</a:t>
            </a:r>
            <a:r>
              <a:rPr lang="en-US" altLang="en-US" sz="2000" i="1" dirty="0"/>
              <a:t>n</a:t>
            </a:r>
            <a:r>
              <a:rPr lang="en-US" altLang="en-US" sz="2000" dirty="0"/>
              <a:t> – 1)! different join orders for above expression.  With </a:t>
            </a:r>
            <a:r>
              <a:rPr lang="en-US" altLang="en-US" sz="2000" i="1" dirty="0"/>
              <a:t>n</a:t>
            </a:r>
            <a:r>
              <a:rPr lang="en-US" altLang="en-US" sz="2000" dirty="0"/>
              <a:t> = 7, the number is 665280, with </a:t>
            </a:r>
            <a:r>
              <a:rPr lang="en-US" altLang="en-US" sz="2000" i="1" dirty="0"/>
              <a:t>n = </a:t>
            </a:r>
            <a:r>
              <a:rPr lang="en-US" altLang="en-US" sz="2000" dirty="0"/>
              <a:t>10, the</a:t>
            </a:r>
            <a:r>
              <a:rPr lang="en-US" altLang="en-US" sz="2000" i="1" dirty="0"/>
              <a:t> </a:t>
            </a:r>
            <a:r>
              <a:rPr lang="en-US" altLang="en-US" sz="2000" dirty="0"/>
              <a:t>number is greater than 176 billion!</a:t>
            </a:r>
          </a:p>
          <a:p>
            <a:pPr marL="0" indent="0">
              <a:buNone/>
            </a:pPr>
            <a:endParaRPr lang="en-US" altLang="en-US" sz="2000" dirty="0"/>
          </a:p>
          <a:p>
            <a:r>
              <a:rPr lang="en-US" altLang="en-US" sz="2000" dirty="0"/>
              <a:t>No need to generate all the join orders.  Using dynamic programming, the least-cost join order for any subset of </a:t>
            </a:r>
            <a:br>
              <a:rPr lang="en-US" altLang="en-US" sz="2000" dirty="0"/>
            </a:br>
            <a:r>
              <a:rPr lang="en-US" altLang="en-US" sz="2000" dirty="0"/>
              <a:t>{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 . .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n</a:t>
            </a:r>
            <a:r>
              <a:rPr lang="en-US" altLang="en-US" sz="2000" dirty="0"/>
              <a:t>} is computed only once and stored for future use.  </a:t>
            </a:r>
          </a:p>
        </p:txBody>
      </p:sp>
    </p:spTree>
    <p:extLst>
      <p:ext uri="{BB962C8B-B14F-4D97-AF65-F5344CB8AC3E}">
        <p14:creationId xmlns:p14="http://schemas.microsoft.com/office/powerpoint/2010/main" val="228693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xmlns="" id="{36C33A86-0E87-40A0-BB64-63FE7EDCD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2986" y="117474"/>
            <a:ext cx="8500910" cy="6841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Cost Based Optimization with Equivalence Rules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xmlns="" id="{37F3FC48-150E-4702-BC63-9E104CADB7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0703" y="1073622"/>
            <a:ext cx="8723193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Physical equivalence rules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allow logical query plan to be converted to physical query plan specifying what algorithms are used for each operation.</a:t>
            </a:r>
          </a:p>
          <a:p>
            <a:r>
              <a:rPr lang="en-US" altLang="en-US" sz="2000" dirty="0"/>
              <a:t>Efficient optimizer based on equivalent rules depends on</a:t>
            </a:r>
          </a:p>
          <a:p>
            <a:pPr lvl="1"/>
            <a:r>
              <a:rPr lang="en-US" altLang="en-US" sz="2000" dirty="0"/>
              <a:t>A space efficient representation of expressions which avoids making multiple copies of subexpressions</a:t>
            </a:r>
          </a:p>
          <a:p>
            <a:pPr lvl="1"/>
            <a:r>
              <a:rPr lang="en-US" altLang="en-US" sz="2000" dirty="0"/>
              <a:t>Efficient techniques for detecting duplicate derivations of expressions</a:t>
            </a:r>
          </a:p>
          <a:p>
            <a:pPr lvl="1"/>
            <a:r>
              <a:rPr lang="en-US" altLang="en-US" sz="2000" dirty="0"/>
              <a:t>A form of dynamic programming based on </a:t>
            </a:r>
            <a:r>
              <a:rPr lang="en-US" altLang="en-US" sz="2000" b="1" dirty="0" err="1">
                <a:solidFill>
                  <a:srgbClr val="002060"/>
                </a:solidFill>
              </a:rPr>
              <a:t>memoization</a:t>
            </a:r>
            <a:r>
              <a:rPr lang="en-US" altLang="en-US" sz="2000" dirty="0"/>
              <a:t>, which stores the best plan for a subexpression the first time it is optimized, and reuses in on repeated optimization calls on same subexpression</a:t>
            </a:r>
          </a:p>
          <a:p>
            <a:pPr lvl="1"/>
            <a:r>
              <a:rPr lang="en-US" altLang="en-US" sz="2000" dirty="0"/>
              <a:t>Cost-based pruning techniques that avoid generating all plans</a:t>
            </a:r>
          </a:p>
          <a:p>
            <a:r>
              <a:rPr lang="en-US" altLang="en-US" sz="2000" dirty="0"/>
              <a:t>Pioneered by the Volcano project and implemented in the SQL Server optimizer</a:t>
            </a:r>
          </a:p>
        </p:txBody>
      </p:sp>
    </p:spTree>
    <p:extLst>
      <p:ext uri="{BB962C8B-B14F-4D97-AF65-F5344CB8AC3E}">
        <p14:creationId xmlns:p14="http://schemas.microsoft.com/office/powerpoint/2010/main" val="34269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>
            <a:extLst>
              <a:ext uri="{FF2B5EF4-FFF2-40B4-BE49-F238E27FC236}">
                <a16:creationId xmlns:a16="http://schemas.microsoft.com/office/drawing/2014/main" xmlns="" id="{1160E76A-7C72-4325-B3D5-146F069D4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Structure of Query Optimizers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666527D1-471A-42D8-BD11-CBBE0266AB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5268" y="1073622"/>
            <a:ext cx="7690586" cy="5367972"/>
          </a:xfrm>
        </p:spPr>
        <p:txBody>
          <a:bodyPr/>
          <a:lstStyle/>
          <a:p>
            <a:r>
              <a:rPr lang="en-US" altLang="en-US" dirty="0"/>
              <a:t>Many optimizers considers only left-deep join orders.</a:t>
            </a:r>
          </a:p>
          <a:p>
            <a:pPr lvl="1"/>
            <a:r>
              <a:rPr lang="en-US" altLang="en-US" dirty="0"/>
              <a:t>Plus heuristics to push selections and projections down the query tree</a:t>
            </a:r>
          </a:p>
          <a:p>
            <a:pPr lvl="1"/>
            <a:r>
              <a:rPr lang="en-US" altLang="en-US" dirty="0"/>
              <a:t>Reduces optimization complexity and generates plans amenable to pipelined evaluation.</a:t>
            </a:r>
          </a:p>
          <a:p>
            <a:r>
              <a:rPr lang="en-US" altLang="en-US" dirty="0"/>
              <a:t>Heuristic optimization used in some versions of Oracle:</a:t>
            </a:r>
          </a:p>
          <a:p>
            <a:pPr lvl="1"/>
            <a:r>
              <a:rPr lang="en-US" altLang="en-US" dirty="0"/>
              <a:t>Repeatedly pick </a:t>
            </a:r>
            <a:r>
              <a:rPr lang="ja-JP" altLang="en-US" dirty="0"/>
              <a:t>“</a:t>
            </a:r>
            <a:r>
              <a:rPr lang="en-US" altLang="ja-JP" dirty="0"/>
              <a:t>best</a:t>
            </a:r>
            <a:r>
              <a:rPr lang="ja-JP" altLang="en-US" dirty="0"/>
              <a:t>”</a:t>
            </a:r>
            <a:r>
              <a:rPr lang="en-US" altLang="ja-JP" dirty="0"/>
              <a:t> relation to join next </a:t>
            </a:r>
          </a:p>
          <a:p>
            <a:pPr lvl="2"/>
            <a:r>
              <a:rPr lang="en-US" altLang="en-US" dirty="0"/>
              <a:t>Starting from each of n starting points.  Pick best among these</a:t>
            </a:r>
          </a:p>
          <a:p>
            <a:r>
              <a:rPr lang="en-US" altLang="en-US" dirty="0"/>
              <a:t>Intricacies of SQL complicate query optimization</a:t>
            </a:r>
          </a:p>
          <a:p>
            <a:pPr lvl="1"/>
            <a:r>
              <a:rPr lang="en-US" altLang="en-US" dirty="0"/>
              <a:t>E.g., nested subqueries</a:t>
            </a:r>
          </a:p>
        </p:txBody>
      </p:sp>
    </p:spTree>
    <p:extLst>
      <p:ext uri="{BB962C8B-B14F-4D97-AF65-F5344CB8AC3E}">
        <p14:creationId xmlns:p14="http://schemas.microsoft.com/office/powerpoint/2010/main" val="347197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>
            <a:extLst>
              <a:ext uri="{FF2B5EF4-FFF2-40B4-BE49-F238E27FC236}">
                <a16:creationId xmlns:a16="http://schemas.microsoft.com/office/drawing/2014/main" xmlns="" id="{70984037-126D-4816-9FDF-2766D9086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Structure of Query Optimizers (Cont.)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xmlns="" id="{A973CE15-B33B-4C04-AFE3-28A3481905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5642" y="943276"/>
            <a:ext cx="7786838" cy="5527193"/>
          </a:xfrm>
        </p:spPr>
        <p:txBody>
          <a:bodyPr/>
          <a:lstStyle/>
          <a:p>
            <a:r>
              <a:rPr lang="en-US" altLang="en-US" dirty="0"/>
              <a:t>Some query optimizers integrate heuristic selection and the generation of alternative access plans.</a:t>
            </a:r>
          </a:p>
          <a:p>
            <a:pPr lvl="1"/>
            <a:r>
              <a:rPr lang="en-US" altLang="en-US" dirty="0"/>
              <a:t>Frequently used approach</a:t>
            </a:r>
          </a:p>
          <a:p>
            <a:pPr lvl="2"/>
            <a:r>
              <a:rPr lang="en-US" altLang="en-US" sz="1600" dirty="0"/>
              <a:t>heuristic rewriting of nested block structure and aggregation</a:t>
            </a:r>
          </a:p>
          <a:p>
            <a:pPr lvl="2"/>
            <a:r>
              <a:rPr lang="en-US" altLang="en-US" sz="1600" dirty="0"/>
              <a:t>followed by cost-based join-order optimization for each block</a:t>
            </a:r>
          </a:p>
          <a:p>
            <a:pPr lvl="1"/>
            <a:r>
              <a:rPr lang="en-US" altLang="en-US" dirty="0"/>
              <a:t>Some optimizers (e.g. SQL Server) apply transformations to entire query and do not depend on block structure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Optimization cost budget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to stop optimization early (if cost of plan is less than cost of optimization)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Plan caching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to reuse previously computed plan if query is resubmitted</a:t>
            </a:r>
          </a:p>
          <a:p>
            <a:pPr lvl="2"/>
            <a:r>
              <a:rPr lang="en-US" altLang="en-US" sz="1600" dirty="0"/>
              <a:t>Even with different constants in query  </a:t>
            </a:r>
          </a:p>
          <a:p>
            <a:r>
              <a:rPr lang="en-US" altLang="en-US" dirty="0"/>
              <a:t>Even with the use of heuristics, cost-based query optimization imposes a substantial overhead.</a:t>
            </a:r>
          </a:p>
          <a:p>
            <a:pPr lvl="1"/>
            <a:r>
              <a:rPr lang="en-US" altLang="en-US" dirty="0"/>
              <a:t>But is worth it for expensive queries</a:t>
            </a:r>
          </a:p>
          <a:p>
            <a:pPr lvl="1"/>
            <a:r>
              <a:rPr lang="en-US" altLang="en-US" dirty="0"/>
              <a:t>Optimizers often use simple heuristics for very cheap queries, and perform exhaustive enumeration for more expensive queries </a:t>
            </a:r>
          </a:p>
        </p:txBody>
      </p:sp>
    </p:spTree>
    <p:extLst>
      <p:ext uri="{BB962C8B-B14F-4D97-AF65-F5344CB8AC3E}">
        <p14:creationId xmlns:p14="http://schemas.microsoft.com/office/powerpoint/2010/main" val="77210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976" y="3015003"/>
            <a:ext cx="4169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charset="0"/>
              </a:rPr>
              <a:t>End of Chapter</a:t>
            </a:r>
          </a:p>
        </p:txBody>
      </p:sp>
    </p:spTree>
    <p:extLst>
      <p:ext uri="{BB962C8B-B14F-4D97-AF65-F5344CB8AC3E}">
        <p14:creationId xmlns:p14="http://schemas.microsoft.com/office/powerpoint/2010/main" val="4031272942"/>
      </p:ext>
    </p:extLst>
  </p:cSld>
  <p:clrMapOvr>
    <a:masterClrMapping/>
  </p:clrMapOvr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1B40F190-8F0E-46FA-A03B-CD59DA3B9BE7}" vid="{5BEDA3C5-9F17-4237-A302-9E1B73B082A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131485</TotalTime>
  <Words>1139</Words>
  <Application>Microsoft Office PowerPoint</Application>
  <PresentationFormat>On-screen Show (4:3)</PresentationFormat>
  <Paragraphs>230</Paragraphs>
  <Slides>27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MS PGothic</vt:lpstr>
      <vt:lpstr>MS PGothic</vt:lpstr>
      <vt:lpstr>Arial</vt:lpstr>
      <vt:lpstr>Cambria Math</vt:lpstr>
      <vt:lpstr>Greek Symbols</vt:lpstr>
      <vt:lpstr>Helvetica</vt:lpstr>
      <vt:lpstr>Monotype Sorts</vt:lpstr>
      <vt:lpstr>Symbol</vt:lpstr>
      <vt:lpstr>Times New Roman</vt:lpstr>
      <vt:lpstr>Webdings</vt:lpstr>
      <vt:lpstr>Wingdings</vt:lpstr>
      <vt:lpstr>db</vt:lpstr>
      <vt:lpstr>UNIT-5, PART-2 Query Optimization</vt:lpstr>
      <vt:lpstr>Outline</vt:lpstr>
      <vt:lpstr>Introduction</vt:lpstr>
      <vt:lpstr>Introduction (Cont.)</vt:lpstr>
      <vt:lpstr>Introduction (Cont.)</vt:lpstr>
      <vt:lpstr>PowerPoint Presentation</vt:lpstr>
      <vt:lpstr>Transformation of Relational Expressions</vt:lpstr>
      <vt:lpstr>Equivalence Rules</vt:lpstr>
      <vt:lpstr>Equivalence Rules (Cont.)</vt:lpstr>
      <vt:lpstr>Pictorial Depiction of Equivalence Rules</vt:lpstr>
      <vt:lpstr>Equivalence Rules (Cont.)</vt:lpstr>
      <vt:lpstr>Equivalence Rules (Cont.)</vt:lpstr>
      <vt:lpstr>Equivalence Rules (Cont.)</vt:lpstr>
      <vt:lpstr>Equivalence Rules (Cont.)</vt:lpstr>
      <vt:lpstr>Equivalence Rules (Cont.)</vt:lpstr>
      <vt:lpstr>Transformation Example: Pushing Selections</vt:lpstr>
      <vt:lpstr>Example with Multiple Transformations</vt:lpstr>
      <vt:lpstr>Multiple Transformations (Cont.)</vt:lpstr>
      <vt:lpstr>Transformation Example: Pushing Projections</vt:lpstr>
      <vt:lpstr>Join Ordering Example</vt:lpstr>
      <vt:lpstr>Join Ordering Example (Cont.)</vt:lpstr>
      <vt:lpstr>Enumeration of Equivalent Expressions</vt:lpstr>
      <vt:lpstr>Cost-Based Optimization</vt:lpstr>
      <vt:lpstr>Cost Based Optimization with Equivalence Rules</vt:lpstr>
      <vt:lpstr>Structure of Query Optimizers</vt:lpstr>
      <vt:lpstr>Structure of Query Optimizers (Cont.)</vt:lpstr>
      <vt:lpstr>PowerPoint Presentation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16: Query Optimization</dc:title>
  <dc:creator>Silberschatz;Korth;Sudarshan</dc:creator>
  <cp:lastModifiedBy>Sirisha Alamanda</cp:lastModifiedBy>
  <cp:revision>726</cp:revision>
  <cp:lastPrinted>2001-02-16T16:44:23Z</cp:lastPrinted>
  <dcterms:created xsi:type="dcterms:W3CDTF">2000-02-23T18:58:38Z</dcterms:created>
  <dcterms:modified xsi:type="dcterms:W3CDTF">2025-04-24T04:40:45Z</dcterms:modified>
</cp:coreProperties>
</file>