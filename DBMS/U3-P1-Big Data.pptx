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2" r:id="rId1"/>
  </p:sldMasterIdLst>
  <p:notesMasterIdLst>
    <p:notesMasterId r:id="rId18"/>
  </p:notesMasterIdLst>
  <p:handoutMasterIdLst>
    <p:handoutMasterId r:id="rId19"/>
  </p:handoutMasterIdLst>
  <p:sldIdLst>
    <p:sldId id="335" r:id="rId2"/>
    <p:sldId id="480" r:id="rId3"/>
    <p:sldId id="465" r:id="rId4"/>
    <p:sldId id="467" r:id="rId5"/>
    <p:sldId id="445" r:id="rId6"/>
    <p:sldId id="471" r:id="rId7"/>
    <p:sldId id="456" r:id="rId8"/>
    <p:sldId id="470" r:id="rId9"/>
    <p:sldId id="472" r:id="rId10"/>
    <p:sldId id="477" r:id="rId11"/>
    <p:sldId id="473" r:id="rId12"/>
    <p:sldId id="474" r:id="rId13"/>
    <p:sldId id="479" r:id="rId14"/>
    <p:sldId id="475" r:id="rId15"/>
    <p:sldId id="476" r:id="rId16"/>
    <p:sldId id="478" r:id="rId17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64" autoAdjust="0"/>
    <p:restoredTop sz="73958" autoAdjust="0"/>
  </p:normalViewPr>
  <p:slideViewPr>
    <p:cSldViewPr snapToGrid="0">
      <p:cViewPr varScale="1">
        <p:scale>
          <a:sx n="51" d="100"/>
          <a:sy n="51" d="100"/>
        </p:scale>
        <p:origin x="1636" y="40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22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xmlns="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xmlns="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xmlns="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xmlns="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xmlns="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xmlns="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xmlns="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xmlns="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xmlns="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xmlns="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001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xmlns="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xmlns="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xmlns="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063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 Many real-world services like Amazon, Facebook,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Instagram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Times New Roman" charset="0"/>
                <a:ea typeface="MS PGothic" panose="020B0600070205080204" pitchFamily="34" charset="-128"/>
                <a:cs typeface="ＭＳ Ｐゴシック" charset="0"/>
              </a:rPr>
              <a:t>, Netflix, and many more use primary-key access to a data store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617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45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xmlns="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xmlns="" id="{2CA2315C-69FF-4E53-AA47-8DBB975110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609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9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0714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9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903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71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17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45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57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21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6621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2429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7653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CCC6F45F-FF9D-4CDF-A1C0-8CB1B712ED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xmlns="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xmlns="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10.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xmlns="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xmlns="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8" descr="Cover-6Ed">
            <a:extLst>
              <a:ext uri="{FF2B5EF4-FFF2-40B4-BE49-F238E27FC236}">
                <a16:creationId xmlns:a16="http://schemas.microsoft.com/office/drawing/2014/main" xmlns="" id="{50EA20A4-E349-4502-9306-52BDD2ADAD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54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61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manual/reference/glossary/#std-term-BSON" TargetMode="External"/><Relationship Id="rId2" Type="http://schemas.openxmlformats.org/officeDocument/2006/relationships/hyperlink" Target="https://www.mongodb.com/docs/manual/core/databases-and-collections/#std-label-collection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xmlns="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Unit-3, Part-1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Big Data :</a:t>
            </a:r>
            <a:r>
              <a:rPr lang="en-US" sz="2800" dirty="0"/>
              <a:t> Key-value Stores and Semi structured Data, using JSON and </a:t>
            </a:r>
            <a:r>
              <a:rPr lang="en-US" sz="2800" dirty="0" err="1"/>
              <a:t>MongoDB</a:t>
            </a:r>
            <a:r>
              <a:rPr lang="en-US" sz="2800" dirty="0"/>
              <a:t>, or other combinations</a:t>
            </a:r>
            <a:endParaRPr lang="en-IN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26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ED9709-6504-4DC1-97DC-128E2F05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8DE4EC8-FCF8-4F26-9684-E89BFAB45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102497"/>
            <a:ext cx="7601209" cy="5025171"/>
          </a:xfrm>
        </p:spPr>
        <p:txBody>
          <a:bodyPr/>
          <a:lstStyle/>
          <a:p>
            <a:r>
              <a:rPr lang="en-IN" sz="2000" dirty="0"/>
              <a:t>Very large volumes of data being collected</a:t>
            </a:r>
          </a:p>
          <a:p>
            <a:pPr lvl="1"/>
            <a:r>
              <a:rPr lang="en-IN" sz="2000" dirty="0"/>
              <a:t>Driven by growth of web, social media, and more recently internet-of-things</a:t>
            </a:r>
          </a:p>
          <a:p>
            <a:pPr lvl="1"/>
            <a:r>
              <a:rPr lang="en-IN" sz="2000" dirty="0"/>
              <a:t>Web logs were an early source of data</a:t>
            </a:r>
          </a:p>
          <a:p>
            <a:pPr lvl="2"/>
            <a:r>
              <a:rPr lang="en-IN" sz="2000" dirty="0"/>
              <a:t>Analytics on web logs has great value for advertisements, web site structuring, what posts to show to a user, </a:t>
            </a:r>
            <a:r>
              <a:rPr lang="en-IN" sz="2000" dirty="0" err="1" smtClean="0"/>
              <a:t>etc</a:t>
            </a:r>
            <a:endParaRPr lang="en-IN" sz="2000" dirty="0" smtClean="0"/>
          </a:p>
          <a:p>
            <a:pPr marL="857250" lvl="2" indent="0">
              <a:buNone/>
            </a:pPr>
            <a:endParaRPr lang="en-IN" sz="2000" dirty="0"/>
          </a:p>
          <a:p>
            <a:r>
              <a:rPr lang="en-IN" sz="2000" dirty="0"/>
              <a:t>Big Data:  differentiated from data handled by earlier generation databases</a:t>
            </a:r>
          </a:p>
          <a:p>
            <a:pPr lvl="1"/>
            <a:r>
              <a:rPr lang="en-IN" sz="2000" b="1" dirty="0">
                <a:solidFill>
                  <a:srgbClr val="002060"/>
                </a:solidFill>
              </a:rPr>
              <a:t>Volume</a:t>
            </a:r>
            <a:r>
              <a:rPr lang="en-IN" sz="2000" dirty="0"/>
              <a:t>: much larger amounts of data stored</a:t>
            </a:r>
          </a:p>
          <a:p>
            <a:pPr lvl="1"/>
            <a:r>
              <a:rPr lang="en-IN" sz="2000" b="1" dirty="0">
                <a:solidFill>
                  <a:srgbClr val="002060"/>
                </a:solidFill>
              </a:rPr>
              <a:t>Velocity</a:t>
            </a:r>
            <a:r>
              <a:rPr lang="en-IN" sz="2000" dirty="0"/>
              <a:t>: much higher rates of insertions</a:t>
            </a:r>
          </a:p>
          <a:p>
            <a:pPr lvl="1"/>
            <a:r>
              <a:rPr lang="en-IN" sz="2000" b="1" dirty="0">
                <a:solidFill>
                  <a:srgbClr val="002060"/>
                </a:solidFill>
              </a:rPr>
              <a:t>Variety</a:t>
            </a:r>
            <a:r>
              <a:rPr lang="en-IN" sz="2000" dirty="0"/>
              <a:t>: many types of data, beyond relational data</a:t>
            </a:r>
          </a:p>
        </p:txBody>
      </p:sp>
    </p:spTree>
    <p:extLst>
      <p:ext uri="{BB962C8B-B14F-4D97-AF65-F5344CB8AC3E}">
        <p14:creationId xmlns:p14="http://schemas.microsoft.com/office/powerpoint/2010/main" val="160909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400DA9-4F83-4317-8E37-25A16BD9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Big Data Storage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4F1A78-258B-46CA-BED1-F17A22CFC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945223"/>
            <a:ext cx="7545226" cy="54864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rgbClr val="000099"/>
                </a:solidFill>
              </a:rPr>
              <a:t>Key-value </a:t>
            </a:r>
            <a:r>
              <a:rPr lang="en-IN" dirty="0">
                <a:solidFill>
                  <a:srgbClr val="000099"/>
                </a:solidFill>
              </a:rPr>
              <a:t>storage </a:t>
            </a:r>
            <a:r>
              <a:rPr lang="en-IN" dirty="0" smtClean="0">
                <a:solidFill>
                  <a:srgbClr val="000099"/>
                </a:solidFill>
              </a:rPr>
              <a:t>systems</a:t>
            </a:r>
          </a:p>
          <a:p>
            <a:pPr algn="just"/>
            <a:r>
              <a:rPr lang="en-US" b="1" dirty="0" smtClean="0"/>
              <a:t>Key-value </a:t>
            </a:r>
            <a:r>
              <a:rPr lang="en-US" b="1" dirty="0"/>
              <a:t>stores</a:t>
            </a:r>
            <a:r>
              <a:rPr lang="en-US" dirty="0"/>
              <a:t> are distributed hash tables (DHTs</a:t>
            </a:r>
            <a:r>
              <a:rPr lang="en-US" dirty="0" smtClean="0"/>
              <a:t>)</a:t>
            </a:r>
          </a:p>
          <a:p>
            <a:pPr algn="just"/>
            <a:r>
              <a:rPr lang="en-US" altLang="en-US" sz="1800" dirty="0"/>
              <a:t>Key-value storage systems store large numbers (billions or even more) of small (KB-MB) sized </a:t>
            </a:r>
            <a:r>
              <a:rPr lang="en-US" altLang="en-US" sz="1800" dirty="0" smtClean="0"/>
              <a:t>records.</a:t>
            </a:r>
          </a:p>
          <a:p>
            <a:pPr marL="0" indent="0" algn="just">
              <a:buNone/>
            </a:pPr>
            <a:endParaRPr lang="en-US" altLang="en-US" sz="1800" dirty="0" smtClean="0"/>
          </a:p>
          <a:p>
            <a:pPr algn="just"/>
            <a:r>
              <a:rPr lang="en-US" sz="1800" dirty="0"/>
              <a:t>In a key-value store, a key binds to a specific value and doesn’t assume anything about the structure of the value. A value can be a blob, image, server name, or anything the user wants to store against a unique key</a:t>
            </a:r>
            <a:r>
              <a:rPr lang="en-US" sz="1800" dirty="0" smtClean="0"/>
              <a:t>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We can put large data in the blob store and put links to that data in the value field</a:t>
            </a:r>
            <a:r>
              <a:rPr lang="en-US" sz="1800" dirty="0" smtClean="0"/>
              <a:t>.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algn="just"/>
            <a:r>
              <a:rPr lang="en-US" sz="1800" dirty="0"/>
              <a:t>Examples of key-value store usage include bestseller lists, shopping carts, customer </a:t>
            </a:r>
            <a:r>
              <a:rPr lang="en-US" sz="1800" dirty="0" smtClean="0"/>
              <a:t>preferences and </a:t>
            </a:r>
            <a:r>
              <a:rPr lang="en-US" sz="1800" dirty="0"/>
              <a:t>product catalogs</a:t>
            </a:r>
            <a:r>
              <a:rPr lang="en-US" sz="1800" dirty="0" smtClean="0"/>
              <a:t>.</a:t>
            </a:r>
          </a:p>
          <a:p>
            <a:pPr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2245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xmlns="" id="{C1E588B7-25D0-4E17-AEF4-E162C96A2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Key Value Storage Systems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xmlns="" id="{D07E5EAC-81F9-41A5-8809-4EE1DD13D7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1" y="1102497"/>
            <a:ext cx="7610540" cy="3635758"/>
          </a:xfrm>
        </p:spPr>
        <p:txBody>
          <a:bodyPr/>
          <a:lstStyle/>
          <a:p>
            <a:pPr algn="just"/>
            <a:r>
              <a:rPr lang="en-US" altLang="en-US" sz="2000" dirty="0" smtClean="0"/>
              <a:t>Records </a:t>
            </a:r>
            <a:r>
              <a:rPr lang="en-US" altLang="en-US" sz="2000" dirty="0"/>
              <a:t>are </a:t>
            </a:r>
            <a:r>
              <a:rPr lang="en-US" altLang="en-US" sz="2000" b="1" dirty="0">
                <a:solidFill>
                  <a:srgbClr val="002060"/>
                </a:solidFill>
              </a:rPr>
              <a:t>partitioned</a:t>
            </a:r>
            <a:r>
              <a:rPr lang="en-US" altLang="en-US" sz="2000" dirty="0"/>
              <a:t> across multiple machines and </a:t>
            </a:r>
          </a:p>
          <a:p>
            <a:pPr algn="just"/>
            <a:r>
              <a:rPr lang="en-US" altLang="en-US" sz="2000" dirty="0"/>
              <a:t>Queries are routed by the system to appropriate machine</a:t>
            </a:r>
          </a:p>
          <a:p>
            <a:pPr marL="0" indent="0" algn="just">
              <a:buNone/>
            </a:pPr>
            <a:endParaRPr lang="en-US" altLang="en-US" sz="2000" dirty="0"/>
          </a:p>
          <a:p>
            <a:pPr algn="just"/>
            <a:r>
              <a:rPr lang="en-US" altLang="en-US" sz="2000" dirty="0"/>
              <a:t>Records are also </a:t>
            </a:r>
            <a:r>
              <a:rPr lang="en-US" altLang="en-US" sz="2000" b="1" dirty="0">
                <a:solidFill>
                  <a:srgbClr val="002060"/>
                </a:solidFill>
              </a:rPr>
              <a:t>replicated</a:t>
            </a:r>
            <a:r>
              <a:rPr lang="en-US" altLang="en-US" sz="2000" dirty="0"/>
              <a:t> across multiple machines, to ensure availability even if a machine fails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lvl="1" algn="just"/>
            <a:r>
              <a:rPr lang="en-US" altLang="en-US" sz="2000" dirty="0"/>
              <a:t>Key-value stores ensure that updates are applied to all replicas, to ensure that their values are </a:t>
            </a:r>
            <a:r>
              <a:rPr lang="en-US" altLang="en-US" sz="2000" b="1" dirty="0">
                <a:solidFill>
                  <a:srgbClr val="002060"/>
                </a:solidFill>
              </a:rPr>
              <a:t>consistent</a:t>
            </a:r>
          </a:p>
          <a:p>
            <a:pPr marL="457200" lvl="1" indent="0">
              <a:buNone/>
            </a:pPr>
            <a:endParaRPr lang="en-US" altLang="en-US" sz="2000" b="1" dirty="0">
              <a:solidFill>
                <a:srgbClr val="002060"/>
              </a:solidFill>
            </a:endParaRPr>
          </a:p>
          <a:p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854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xmlns="" id="{C1E588B7-25D0-4E17-AEF4-E162C96A2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Key Value Storage Systems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xmlns="" id="{D07E5EAC-81F9-41A5-8809-4EE1DD13D7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1" y="1102497"/>
            <a:ext cx="7600950" cy="5440807"/>
          </a:xfrm>
        </p:spPr>
        <p:txBody>
          <a:bodyPr/>
          <a:lstStyle/>
          <a:p>
            <a:pPr algn="just"/>
            <a:r>
              <a:rPr lang="en-US" altLang="en-US" sz="2000" dirty="0"/>
              <a:t>Key-value stores may store </a:t>
            </a:r>
          </a:p>
          <a:p>
            <a:pPr lvl="1" algn="just"/>
            <a:r>
              <a:rPr lang="en-US" altLang="en-US" sz="2000" b="1" dirty="0">
                <a:solidFill>
                  <a:srgbClr val="002060"/>
                </a:solidFill>
              </a:rPr>
              <a:t>uninterpreted bytes</a:t>
            </a:r>
            <a:r>
              <a:rPr lang="en-US" altLang="en-US" sz="2000" dirty="0"/>
              <a:t>, with an associated key</a:t>
            </a:r>
          </a:p>
          <a:p>
            <a:pPr lvl="2" algn="just"/>
            <a:r>
              <a:rPr lang="en-US" altLang="en-US" sz="2000" dirty="0"/>
              <a:t>E.g., Amazon S3, Amazon Dynamo</a:t>
            </a:r>
          </a:p>
          <a:p>
            <a:pPr lvl="1" algn="just"/>
            <a:r>
              <a:rPr lang="en-US" altLang="en-US" sz="2000" b="1" dirty="0">
                <a:solidFill>
                  <a:srgbClr val="002060"/>
                </a:solidFill>
              </a:rPr>
              <a:t>Wide-table</a:t>
            </a:r>
            <a:r>
              <a:rPr lang="en-US" altLang="en-US" sz="2000" dirty="0"/>
              <a:t> (can have arbitrarily many attribute names) with associated key</a:t>
            </a:r>
          </a:p>
          <a:p>
            <a:pPr lvl="3" algn="just"/>
            <a:r>
              <a:rPr lang="en-US" altLang="en-US" sz="2000" dirty="0"/>
              <a:t>Google </a:t>
            </a:r>
            <a:r>
              <a:rPr lang="en-US" altLang="en-US" sz="2000" dirty="0" err="1"/>
              <a:t>BigTable</a:t>
            </a:r>
            <a:r>
              <a:rPr lang="en-US" altLang="en-US" sz="2000" dirty="0"/>
              <a:t>, Apache Cassandra, Apache </a:t>
            </a:r>
            <a:r>
              <a:rPr lang="en-US" altLang="en-US" sz="2000" dirty="0" err="1"/>
              <a:t>Hbase</a:t>
            </a:r>
            <a:r>
              <a:rPr lang="en-US" altLang="en-US" sz="2000" dirty="0"/>
              <a:t>, Amazon DynamoDB</a:t>
            </a:r>
          </a:p>
          <a:p>
            <a:pPr lvl="3" algn="just"/>
            <a:r>
              <a:rPr lang="en-US" altLang="en-US" sz="2000" dirty="0"/>
              <a:t>Allows some operations (e.g., filtering) to execute on storage node</a:t>
            </a:r>
          </a:p>
          <a:p>
            <a:pPr lvl="1" algn="just"/>
            <a:r>
              <a:rPr lang="en-US" altLang="en-US" sz="2000" b="1" dirty="0"/>
              <a:t>JSON</a:t>
            </a:r>
          </a:p>
          <a:p>
            <a:pPr lvl="2" algn="just"/>
            <a:r>
              <a:rPr lang="en-US" altLang="en-US" sz="2000" b="1" dirty="0"/>
              <a:t>MongoDB</a:t>
            </a:r>
            <a:r>
              <a:rPr lang="en-US" altLang="en-US" sz="2000" dirty="0"/>
              <a:t>, CouchDB (</a:t>
            </a:r>
            <a:r>
              <a:rPr lang="en-US" altLang="en-US" sz="2000" b="1" dirty="0"/>
              <a:t>document model)</a:t>
            </a:r>
          </a:p>
          <a:p>
            <a:pPr algn="just"/>
            <a:r>
              <a:rPr lang="en-US" altLang="en-US" sz="2000" b="1" dirty="0">
                <a:solidFill>
                  <a:srgbClr val="002060"/>
                </a:solidFill>
              </a:rPr>
              <a:t>Document stores </a:t>
            </a:r>
            <a:r>
              <a:rPr lang="en-US" altLang="en-US" sz="2000" dirty="0"/>
              <a:t>store semi-structured data, typically JSON</a:t>
            </a:r>
          </a:p>
          <a:p>
            <a:pPr algn="just"/>
            <a:r>
              <a:rPr lang="en-US" altLang="en-US" sz="2000" dirty="0"/>
              <a:t>Some key-value stores support multiple versions of data, with timestamps/version numbers</a:t>
            </a:r>
          </a:p>
          <a:p>
            <a:pPr lvl="1"/>
            <a:endParaRPr lang="en-US" altLang="en-US" b="1" dirty="0">
              <a:solidFill>
                <a:srgbClr val="002060"/>
              </a:solidFill>
            </a:endParaRP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8170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xmlns="" id="{20E8F409-3B03-41B9-9D9A-49B3AEB3E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Data Representation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xmlns="" id="{ADB4EE68-0E2E-4E0F-A6AA-B45D41CAE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1178697"/>
            <a:ext cx="7968732" cy="492522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An example of a </a:t>
            </a:r>
            <a:r>
              <a:rPr lang="en-US" altLang="en-US" sz="2000" b="1" dirty="0"/>
              <a:t>JSON object </a:t>
            </a:r>
            <a:r>
              <a:rPr lang="en-US" altLang="en-US" sz="2000" dirty="0"/>
              <a:t>is: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{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"ID": "22222",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"name": {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"</a:t>
            </a:r>
            <a:r>
              <a:rPr lang="en-US" altLang="en-US" sz="2000" dirty="0" err="1"/>
              <a:t>firstname</a:t>
            </a:r>
            <a:r>
              <a:rPr lang="en-US" altLang="en-US" sz="2000" dirty="0"/>
              <a:t>: "Albert",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"</a:t>
            </a:r>
            <a:r>
              <a:rPr lang="en-US" altLang="en-US" sz="2000" dirty="0" err="1"/>
              <a:t>lastname</a:t>
            </a:r>
            <a:r>
              <a:rPr lang="en-US" altLang="en-US" sz="2000" dirty="0"/>
              <a:t>: "Einstein"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},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"</a:t>
            </a:r>
            <a:r>
              <a:rPr lang="en-US" altLang="en-US" sz="2000" dirty="0" err="1"/>
              <a:t>deptname</a:t>
            </a:r>
            <a:r>
              <a:rPr lang="en-US" altLang="en-US" sz="2000" dirty="0"/>
              <a:t>": "Physics",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"children": [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{ "</a:t>
            </a:r>
            <a:r>
              <a:rPr lang="en-US" altLang="en-US" sz="2000" dirty="0" err="1"/>
              <a:t>firstname</a:t>
            </a:r>
            <a:r>
              <a:rPr lang="en-US" altLang="en-US" sz="2000" dirty="0"/>
              <a:t>": "Hans", "</a:t>
            </a:r>
            <a:r>
              <a:rPr lang="en-US" altLang="en-US" sz="2000" dirty="0" err="1"/>
              <a:t>lastname</a:t>
            </a:r>
            <a:r>
              <a:rPr lang="en-US" altLang="en-US" sz="2000" dirty="0"/>
              <a:t>": "Einstein" },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{ "</a:t>
            </a:r>
            <a:r>
              <a:rPr lang="en-US" altLang="en-US" sz="2000" dirty="0" err="1"/>
              <a:t>firstname</a:t>
            </a:r>
            <a:r>
              <a:rPr lang="en-US" altLang="en-US" sz="2000" dirty="0"/>
              <a:t>": "Eduard", "</a:t>
            </a:r>
            <a:r>
              <a:rPr lang="en-US" altLang="en-US" sz="2000" dirty="0" err="1"/>
              <a:t>lastname</a:t>
            </a:r>
            <a:r>
              <a:rPr lang="en-US" altLang="en-US" sz="2000" dirty="0"/>
              <a:t>": "Einstein" }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</a:t>
            </a:r>
            <a:r>
              <a:rPr lang="en-US" altLang="en-US" sz="2000" dirty="0" smtClean="0"/>
              <a:t>                   </a:t>
            </a:r>
            <a:r>
              <a:rPr lang="en-US" altLang="en-US" sz="2000" dirty="0"/>
              <a:t>]</a:t>
            </a:r>
          </a:p>
          <a:p>
            <a:pPr lvl="1"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}</a:t>
            </a:r>
          </a:p>
          <a:p>
            <a:pPr>
              <a:lnSpc>
                <a:spcPct val="8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543315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xmlns="" id="{C1E588B7-25D0-4E17-AEF4-E162C96A2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Key Value Storage Systems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xmlns="" id="{D07E5EAC-81F9-41A5-8809-4EE1DD13D7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1268" y="727075"/>
            <a:ext cx="7774945" cy="5899356"/>
          </a:xfrm>
        </p:spPr>
        <p:txBody>
          <a:bodyPr/>
          <a:lstStyle/>
          <a:p>
            <a:pPr algn="just"/>
            <a:r>
              <a:rPr lang="en-US" altLang="en-US" sz="2000" b="1" dirty="0"/>
              <a:t>Key-value stores support</a:t>
            </a:r>
          </a:p>
          <a:p>
            <a:pPr lvl="1" algn="just"/>
            <a:r>
              <a:rPr lang="en-US" altLang="en-US" sz="2000" b="1" i="1" dirty="0"/>
              <a:t>put</a:t>
            </a:r>
            <a:r>
              <a:rPr lang="en-US" altLang="en-US" sz="2000" dirty="0"/>
              <a:t>(key, value):  used to store values with an associated key, </a:t>
            </a:r>
          </a:p>
          <a:p>
            <a:pPr lvl="1" algn="just"/>
            <a:r>
              <a:rPr lang="en-US" altLang="en-US" sz="2000" b="1" i="1" dirty="0"/>
              <a:t>get</a:t>
            </a:r>
            <a:r>
              <a:rPr lang="en-US" altLang="en-US" sz="2000" dirty="0"/>
              <a:t>(key):  which retrieves the stored value associated with the specified key</a:t>
            </a:r>
          </a:p>
          <a:p>
            <a:pPr lvl="1" algn="just"/>
            <a:r>
              <a:rPr lang="en-US" altLang="en-US" sz="2000" b="1" i="1" dirty="0"/>
              <a:t>delete</a:t>
            </a:r>
            <a:r>
              <a:rPr lang="en-US" altLang="en-US" sz="2000" dirty="0"/>
              <a:t>(key) -- Remove the key and its associated value</a:t>
            </a:r>
          </a:p>
          <a:p>
            <a:pPr marL="0" indent="0" algn="just">
              <a:buNone/>
            </a:pPr>
            <a:endParaRPr lang="en-US" altLang="en-US" sz="2000" dirty="0"/>
          </a:p>
          <a:p>
            <a:pPr algn="just"/>
            <a:r>
              <a:rPr lang="en-US" altLang="en-US" sz="2000" dirty="0"/>
              <a:t>Document stores also support queries on non-key attributes</a:t>
            </a:r>
          </a:p>
          <a:p>
            <a:pPr lvl="1" algn="just"/>
            <a:r>
              <a:rPr lang="en-US" altLang="en-US" sz="2000" dirty="0"/>
              <a:t>See book for </a:t>
            </a:r>
            <a:r>
              <a:rPr lang="en-US" altLang="en-US" sz="2000" dirty="0" err="1"/>
              <a:t>MongoDB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queries</a:t>
            </a:r>
          </a:p>
          <a:p>
            <a:pPr lvl="1" algn="just"/>
            <a:endParaRPr lang="en-US" altLang="en-US" sz="2000" dirty="0"/>
          </a:p>
          <a:p>
            <a:pPr algn="just"/>
            <a:r>
              <a:rPr lang="en-US" altLang="en-US" sz="2000" dirty="0"/>
              <a:t>Key value stores are not full database systems</a:t>
            </a:r>
          </a:p>
          <a:p>
            <a:pPr lvl="1" algn="just"/>
            <a:r>
              <a:rPr lang="en-US" altLang="en-US" sz="2000" dirty="0"/>
              <a:t>Have no/limited support for transactional updates</a:t>
            </a:r>
          </a:p>
          <a:p>
            <a:pPr lvl="1" algn="just"/>
            <a:r>
              <a:rPr lang="en-US" altLang="en-US" sz="2000" dirty="0"/>
              <a:t>Applications must manage query processing on their own</a:t>
            </a:r>
          </a:p>
          <a:p>
            <a:pPr algn="just"/>
            <a:r>
              <a:rPr lang="en-US" altLang="en-US" sz="2000" dirty="0"/>
              <a:t>Not supporting above features makes it easier to build scalable data storage systems</a:t>
            </a:r>
          </a:p>
          <a:p>
            <a:pPr lvl="1" algn="just"/>
            <a:r>
              <a:rPr lang="en-US" altLang="en-US" sz="2000" dirty="0"/>
              <a:t>Also called </a:t>
            </a:r>
            <a:r>
              <a:rPr lang="en-US" altLang="en-US" sz="2000" b="1" dirty="0">
                <a:solidFill>
                  <a:srgbClr val="002060"/>
                </a:solidFill>
              </a:rPr>
              <a:t>NoSQL</a:t>
            </a:r>
            <a:r>
              <a:rPr lang="en-US" altLang="en-US" sz="2000" dirty="0"/>
              <a:t> systems</a:t>
            </a:r>
          </a:p>
          <a:p>
            <a:pPr algn="just"/>
            <a:endParaRPr lang="en-US" altLang="en-US" sz="2000" dirty="0"/>
          </a:p>
          <a:p>
            <a:pPr algn="just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7513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 smtClean="0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801384"/>
            <a:ext cx="8408126" cy="6056615"/>
          </a:xfrm>
        </p:spPr>
        <p:txBody>
          <a:bodyPr/>
          <a:lstStyle/>
          <a:p>
            <a:pPr marL="0" indent="0" algn="just">
              <a:buNone/>
            </a:pPr>
            <a:r>
              <a:rPr lang="en-US" sz="2200" dirty="0"/>
              <a:t>A record in </a:t>
            </a:r>
            <a:r>
              <a:rPr lang="en-US" sz="2200" dirty="0" err="1"/>
              <a:t>MongoDB</a:t>
            </a:r>
            <a:r>
              <a:rPr lang="en-US" sz="2200" dirty="0"/>
              <a:t> is a document, which is a data structure composed of field and value pairs. </a:t>
            </a:r>
            <a:endParaRPr lang="en-US" sz="2200" dirty="0" smtClean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dirty="0" err="1" smtClean="0"/>
              <a:t>MongoDB</a:t>
            </a:r>
            <a:r>
              <a:rPr lang="en-US" sz="2200" dirty="0" smtClean="0"/>
              <a:t> </a:t>
            </a:r>
            <a:r>
              <a:rPr lang="en-US" sz="2200" dirty="0"/>
              <a:t>documents are similar to JSON objects. </a:t>
            </a:r>
            <a:endParaRPr lang="en-US" sz="2200" dirty="0" smtClean="0"/>
          </a:p>
          <a:p>
            <a:pPr marL="0" indent="0" algn="just">
              <a:buNone/>
            </a:pPr>
            <a:endParaRPr lang="en-US" sz="2200" dirty="0" smtClean="0"/>
          </a:p>
          <a:p>
            <a:pPr marL="0" indent="0" algn="just">
              <a:buNone/>
            </a:pPr>
            <a:r>
              <a:rPr lang="en-US" sz="2200" dirty="0" smtClean="0"/>
              <a:t>The </a:t>
            </a:r>
            <a:r>
              <a:rPr lang="en-US" sz="2200" dirty="0"/>
              <a:t>values of fields may include other documents, arrays, and arrays of </a:t>
            </a:r>
            <a:r>
              <a:rPr lang="en-US" sz="2200" dirty="0" smtClean="0"/>
              <a:t>documents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2" y="3699689"/>
            <a:ext cx="6893490" cy="299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9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1800" dirty="0" err="1"/>
              <a:t>MongoDB</a:t>
            </a:r>
            <a:r>
              <a:rPr lang="en-IN" sz="1800" dirty="0"/>
              <a:t> stores documents in </a:t>
            </a:r>
            <a:r>
              <a:rPr lang="en-IN" sz="1800" dirty="0">
                <a:hlinkClick r:id="rId2"/>
              </a:rPr>
              <a:t>collections</a:t>
            </a:r>
            <a:r>
              <a:rPr lang="en-IN" sz="1800" dirty="0"/>
              <a:t>. Collections are analogous to tables in relational databases.</a:t>
            </a:r>
          </a:p>
          <a:p>
            <a:pPr marL="0" indent="0" algn="just">
              <a:buNone/>
            </a:pPr>
            <a:endParaRPr lang="en-IN" sz="1800" dirty="0"/>
          </a:p>
          <a:p>
            <a:pPr marL="0" indent="0" algn="just">
              <a:buNone/>
            </a:pPr>
            <a:r>
              <a:rPr lang="en-US" sz="1800" dirty="0">
                <a:hlinkClick r:id="rId3"/>
              </a:rPr>
              <a:t>BSON</a:t>
            </a:r>
            <a:r>
              <a:rPr lang="en-US" sz="1800" dirty="0"/>
              <a:t> is a binary serialization format used to store documents</a:t>
            </a:r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54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BSON type has both integer and string identifiers as listed in the following </a:t>
            </a:r>
            <a:r>
              <a:rPr lang="en-US" dirty="0" smtClean="0"/>
              <a:t>table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216" y="1492151"/>
            <a:ext cx="5568000" cy="512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3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The $type operator supports using these values to query fields by their BSON type. $type also supports the number alias</a:t>
            </a:r>
            <a:r>
              <a:rPr lang="en-US" sz="2200" dirty="0" smtClean="0"/>
              <a:t>,</a:t>
            </a:r>
          </a:p>
          <a:p>
            <a:endParaRPr lang="en-US" sz="2200" dirty="0"/>
          </a:p>
          <a:p>
            <a:r>
              <a:rPr lang="en-US" sz="2200" dirty="0"/>
              <a:t>Create or insert operations add new documents to a collection. If the collection does not currently exist, insert operations will create the collection.</a:t>
            </a:r>
          </a:p>
          <a:p>
            <a:endParaRPr lang="en-US" sz="2200" dirty="0"/>
          </a:p>
          <a:p>
            <a:r>
              <a:rPr lang="en-US" sz="2200" dirty="0" err="1"/>
              <a:t>MongoDB</a:t>
            </a:r>
            <a:r>
              <a:rPr lang="en-US" sz="2200" dirty="0"/>
              <a:t> provides the following methods to insert documents into a collection:</a:t>
            </a:r>
          </a:p>
          <a:p>
            <a:pPr lvl="1"/>
            <a:r>
              <a:rPr lang="en-US" sz="2200" dirty="0" err="1" smtClean="0"/>
              <a:t>db.collection.insertOne</a:t>
            </a:r>
            <a:r>
              <a:rPr lang="en-US" sz="2200" dirty="0"/>
              <a:t>()</a:t>
            </a:r>
          </a:p>
          <a:p>
            <a:pPr lvl="1"/>
            <a:r>
              <a:rPr lang="en-US" sz="2200" dirty="0" err="1" smtClean="0"/>
              <a:t>db.collection.insertMany</a:t>
            </a:r>
            <a:r>
              <a:rPr lang="en-US" sz="2200" dirty="0" smtClean="0"/>
              <a:t>()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6842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538138"/>
              </p:ext>
            </p:extLst>
          </p:nvPr>
        </p:nvGraphicFramePr>
        <p:xfrm>
          <a:off x="375781" y="889345"/>
          <a:ext cx="5862181" cy="2194560"/>
        </p:xfrm>
        <a:graphic>
          <a:graphicData uri="http://schemas.openxmlformats.org/drawingml/2006/table">
            <a:tbl>
              <a:tblPr/>
              <a:tblGrid>
                <a:gridCol w="5862181"/>
              </a:tblGrid>
              <a:tr h="32567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effectLst/>
                        </a:rPr>
                        <a:t>db.</a:t>
                      </a:r>
                      <a:r>
                        <a:rPr lang="en-IN" dirty="0" err="1">
                          <a:solidFill>
                            <a:srgbClr val="016EE9"/>
                          </a:solidFill>
                          <a:effectLst/>
                        </a:rPr>
                        <a:t>collection</a:t>
                      </a:r>
                      <a:r>
                        <a:rPr lang="en-IN" dirty="0">
                          <a:effectLst/>
                        </a:rPr>
                        <a:t>(</a:t>
                      </a:r>
                      <a:r>
                        <a:rPr lang="en-IN" b="1" dirty="0">
                          <a:solidFill>
                            <a:srgbClr val="12824D"/>
                          </a:solidFill>
                          <a:effectLst/>
                        </a:rPr>
                        <a:t>'inventory'</a:t>
                      </a:r>
                      <a:r>
                        <a:rPr lang="en-IN" dirty="0">
                          <a:effectLst/>
                        </a:rPr>
                        <a:t>).</a:t>
                      </a:r>
                      <a:r>
                        <a:rPr lang="en-IN" dirty="0" err="1">
                          <a:solidFill>
                            <a:srgbClr val="016EE9"/>
                          </a:solidFill>
                          <a:effectLst/>
                        </a:rPr>
                        <a:t>insertOne</a:t>
                      </a:r>
                      <a:r>
                        <a:rPr lang="en-IN" dirty="0">
                          <a:effectLst/>
                        </a:rPr>
                        <a:t>({</a:t>
                      </a: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32567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D83713"/>
                          </a:solidFill>
                          <a:effectLst/>
                        </a:rPr>
                        <a:t>item</a:t>
                      </a:r>
                      <a:r>
                        <a:rPr lang="en-IN" dirty="0">
                          <a:effectLst/>
                        </a:rPr>
                        <a:t>: </a:t>
                      </a:r>
                      <a:r>
                        <a:rPr lang="en-IN" b="1" dirty="0">
                          <a:solidFill>
                            <a:srgbClr val="12824D"/>
                          </a:solidFill>
                          <a:effectLst/>
                        </a:rPr>
                        <a:t>'canvas'</a:t>
                      </a:r>
                      <a:r>
                        <a:rPr lang="en-IN" dirty="0">
                          <a:effectLst/>
                        </a:rPr>
                        <a:t>,</a:t>
                      </a: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298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 err="1">
                          <a:solidFill>
                            <a:srgbClr val="D83713"/>
                          </a:solidFill>
                          <a:effectLst/>
                        </a:rPr>
                        <a:t>qty</a:t>
                      </a:r>
                      <a:r>
                        <a:rPr lang="en-IN" dirty="0">
                          <a:effectLst/>
                        </a:rPr>
                        <a:t>: </a:t>
                      </a:r>
                      <a:r>
                        <a:rPr lang="en-IN" dirty="0">
                          <a:solidFill>
                            <a:srgbClr val="016EE9"/>
                          </a:solidFill>
                          <a:effectLst/>
                        </a:rPr>
                        <a:t>100</a:t>
                      </a:r>
                      <a:r>
                        <a:rPr lang="en-IN" dirty="0">
                          <a:effectLst/>
                        </a:rPr>
                        <a:t>,</a:t>
                      </a: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32567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D83713"/>
                          </a:solidFill>
                          <a:effectLst/>
                        </a:rPr>
                        <a:t>tags</a:t>
                      </a:r>
                      <a:r>
                        <a:rPr lang="en-IN" dirty="0">
                          <a:effectLst/>
                        </a:rPr>
                        <a:t>: [</a:t>
                      </a:r>
                      <a:r>
                        <a:rPr lang="en-IN" b="1" dirty="0">
                          <a:solidFill>
                            <a:srgbClr val="12824D"/>
                          </a:solidFill>
                          <a:effectLst/>
                        </a:rPr>
                        <a:t>'cotton'</a:t>
                      </a:r>
                      <a:r>
                        <a:rPr lang="en-IN" dirty="0">
                          <a:effectLst/>
                        </a:rPr>
                        <a:t>],</a:t>
                      </a: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325677">
                <a:tc>
                  <a:txBody>
                    <a:bodyPr/>
                    <a:lstStyle/>
                    <a:p>
                      <a:pPr algn="l" fontAlgn="t"/>
                      <a:r>
                        <a:rPr lang="pl-PL" dirty="0">
                          <a:solidFill>
                            <a:srgbClr val="D83713"/>
                          </a:solidFill>
                          <a:effectLst/>
                        </a:rPr>
                        <a:t>size</a:t>
                      </a:r>
                      <a:r>
                        <a:rPr lang="pl-PL" dirty="0">
                          <a:effectLst/>
                        </a:rPr>
                        <a:t>: { </a:t>
                      </a:r>
                      <a:r>
                        <a:rPr lang="pl-PL" dirty="0">
                          <a:solidFill>
                            <a:srgbClr val="D83713"/>
                          </a:solidFill>
                          <a:effectLst/>
                        </a:rPr>
                        <a:t>h</a:t>
                      </a:r>
                      <a:r>
                        <a:rPr lang="pl-PL" dirty="0">
                          <a:effectLst/>
                        </a:rPr>
                        <a:t>: </a:t>
                      </a:r>
                      <a:r>
                        <a:rPr lang="pl-PL" dirty="0">
                          <a:solidFill>
                            <a:srgbClr val="016EE9"/>
                          </a:solidFill>
                          <a:effectLst/>
                        </a:rPr>
                        <a:t>28</a:t>
                      </a:r>
                      <a:r>
                        <a:rPr lang="pl-PL" dirty="0">
                          <a:effectLst/>
                        </a:rPr>
                        <a:t>, </a:t>
                      </a:r>
                      <a:r>
                        <a:rPr lang="pl-PL" dirty="0">
                          <a:solidFill>
                            <a:srgbClr val="D83713"/>
                          </a:solidFill>
                          <a:effectLst/>
                        </a:rPr>
                        <a:t>w</a:t>
                      </a:r>
                      <a:r>
                        <a:rPr lang="pl-PL" dirty="0">
                          <a:effectLst/>
                        </a:rPr>
                        <a:t>: </a:t>
                      </a:r>
                      <a:r>
                        <a:rPr lang="pl-PL" dirty="0">
                          <a:solidFill>
                            <a:srgbClr val="016EE9"/>
                          </a:solidFill>
                          <a:effectLst/>
                        </a:rPr>
                        <a:t>35.5</a:t>
                      </a:r>
                      <a:r>
                        <a:rPr lang="pl-PL" dirty="0">
                          <a:effectLst/>
                        </a:rPr>
                        <a:t>, </a:t>
                      </a:r>
                      <a:r>
                        <a:rPr lang="pl-PL" dirty="0">
                          <a:solidFill>
                            <a:srgbClr val="D83713"/>
                          </a:solidFill>
                          <a:effectLst/>
                        </a:rPr>
                        <a:t>uom</a:t>
                      </a:r>
                      <a:r>
                        <a:rPr lang="pl-PL" dirty="0">
                          <a:effectLst/>
                        </a:rPr>
                        <a:t>: </a:t>
                      </a:r>
                      <a:r>
                        <a:rPr lang="pl-PL" b="1" dirty="0">
                          <a:solidFill>
                            <a:srgbClr val="12824D"/>
                          </a:solidFill>
                          <a:effectLst/>
                        </a:rPr>
                        <a:t>'cm'</a:t>
                      </a:r>
                      <a:r>
                        <a:rPr lang="pl-PL" dirty="0">
                          <a:effectLst/>
                        </a:rPr>
                        <a:t> }</a:t>
                      </a: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32567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});</a:t>
                      </a:r>
                    </a:p>
                  </a:txBody>
                  <a:tcPr marL="101600" marR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017067"/>
              </p:ext>
            </p:extLst>
          </p:nvPr>
        </p:nvGraphicFramePr>
        <p:xfrm>
          <a:off x="4246322" y="2981194"/>
          <a:ext cx="4471793" cy="3738622"/>
        </p:xfrm>
        <a:graphic>
          <a:graphicData uri="http://schemas.openxmlformats.org/drawingml/2006/table">
            <a:tbl>
              <a:tblPr/>
              <a:tblGrid>
                <a:gridCol w="4471793"/>
              </a:tblGrid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effectLst/>
                        </a:rPr>
                        <a:t>db.</a:t>
                      </a:r>
                      <a:r>
                        <a:rPr lang="en-IN" sz="1200">
                          <a:solidFill>
                            <a:srgbClr val="016EE9"/>
                          </a:solidFill>
                          <a:effectLst/>
                        </a:rPr>
                        <a:t>collection</a:t>
                      </a:r>
                      <a:r>
                        <a:rPr lang="en-IN" sz="1200">
                          <a:effectLst/>
                        </a:rPr>
                        <a:t>(</a:t>
                      </a:r>
                      <a:r>
                        <a:rPr lang="en-IN" sz="1200" b="1">
                          <a:solidFill>
                            <a:srgbClr val="12824D"/>
                          </a:solidFill>
                          <a:effectLst/>
                        </a:rPr>
                        <a:t>'inventory'</a:t>
                      </a:r>
                      <a:r>
                        <a:rPr lang="en-IN" sz="1200">
                          <a:effectLst/>
                        </a:rPr>
                        <a:t>).</a:t>
                      </a:r>
                      <a:r>
                        <a:rPr lang="en-IN" sz="1200">
                          <a:solidFill>
                            <a:srgbClr val="016EE9"/>
                          </a:solidFill>
                          <a:effectLst/>
                        </a:rPr>
                        <a:t>insertMany</a:t>
                      </a:r>
                      <a:r>
                        <a:rPr lang="en-IN" sz="1200">
                          <a:effectLst/>
                        </a:rPr>
                        <a:t>([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effectLst/>
                        </a:rPr>
                        <a:t>{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D83713"/>
                          </a:solidFill>
                          <a:effectLst/>
                        </a:rPr>
                        <a:t>item</a:t>
                      </a:r>
                      <a:r>
                        <a:rPr lang="en-IN" sz="1200">
                          <a:effectLst/>
                        </a:rPr>
                        <a:t>: </a:t>
                      </a:r>
                      <a:r>
                        <a:rPr lang="en-IN" sz="1200" b="1">
                          <a:solidFill>
                            <a:srgbClr val="12824D"/>
                          </a:solidFill>
                          <a:effectLst/>
                        </a:rPr>
                        <a:t>'journal'</a:t>
                      </a:r>
                      <a:r>
                        <a:rPr lang="en-IN" sz="1200">
                          <a:effectLst/>
                        </a:rPr>
                        <a:t>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dirty="0" err="1">
                          <a:solidFill>
                            <a:srgbClr val="D83713"/>
                          </a:solidFill>
                          <a:effectLst/>
                        </a:rPr>
                        <a:t>qty</a:t>
                      </a:r>
                      <a:r>
                        <a:rPr lang="en-IN" sz="1200" dirty="0">
                          <a:effectLst/>
                        </a:rPr>
                        <a:t>: </a:t>
                      </a:r>
                      <a:r>
                        <a:rPr lang="en-IN" sz="1200" dirty="0">
                          <a:solidFill>
                            <a:srgbClr val="016EE9"/>
                          </a:solidFill>
                          <a:effectLst/>
                        </a:rPr>
                        <a:t>25</a:t>
                      </a:r>
                      <a:r>
                        <a:rPr lang="en-IN" sz="1200" dirty="0">
                          <a:effectLst/>
                        </a:rPr>
                        <a:t>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dirty="0">
                          <a:solidFill>
                            <a:srgbClr val="D83713"/>
                          </a:solidFill>
                          <a:effectLst/>
                        </a:rPr>
                        <a:t>tags</a:t>
                      </a:r>
                      <a:r>
                        <a:rPr lang="en-IN" sz="1200" dirty="0">
                          <a:effectLst/>
                        </a:rPr>
                        <a:t>: [</a:t>
                      </a:r>
                      <a:r>
                        <a:rPr lang="en-IN" sz="1200" b="1" dirty="0">
                          <a:solidFill>
                            <a:srgbClr val="12824D"/>
                          </a:solidFill>
                          <a:effectLst/>
                        </a:rPr>
                        <a:t>'blank'</a:t>
                      </a:r>
                      <a:r>
                        <a:rPr lang="en-IN" sz="1200" dirty="0">
                          <a:effectLst/>
                        </a:rPr>
                        <a:t>, </a:t>
                      </a:r>
                      <a:r>
                        <a:rPr lang="en-IN" sz="1200" b="1" dirty="0">
                          <a:solidFill>
                            <a:srgbClr val="12824D"/>
                          </a:solidFill>
                          <a:effectLst/>
                        </a:rPr>
                        <a:t>'red'</a:t>
                      </a:r>
                      <a:r>
                        <a:rPr lang="en-IN" sz="1200" dirty="0">
                          <a:effectLst/>
                        </a:rPr>
                        <a:t>],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size</a:t>
                      </a:r>
                      <a:r>
                        <a:rPr lang="pl-PL" sz="1200">
                          <a:effectLst/>
                        </a:rPr>
                        <a:t>: { </a:t>
                      </a:r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h</a:t>
                      </a:r>
                      <a:r>
                        <a:rPr lang="pl-PL" sz="1200">
                          <a:effectLst/>
                        </a:rPr>
                        <a:t>: </a:t>
                      </a:r>
                      <a:r>
                        <a:rPr lang="pl-PL" sz="1200">
                          <a:solidFill>
                            <a:srgbClr val="016EE9"/>
                          </a:solidFill>
                          <a:effectLst/>
                        </a:rPr>
                        <a:t>14</a:t>
                      </a:r>
                      <a:r>
                        <a:rPr lang="pl-PL" sz="1200">
                          <a:effectLst/>
                        </a:rPr>
                        <a:t>, </a:t>
                      </a:r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w</a:t>
                      </a:r>
                      <a:r>
                        <a:rPr lang="pl-PL" sz="1200">
                          <a:effectLst/>
                        </a:rPr>
                        <a:t>: </a:t>
                      </a:r>
                      <a:r>
                        <a:rPr lang="pl-PL" sz="1200">
                          <a:solidFill>
                            <a:srgbClr val="016EE9"/>
                          </a:solidFill>
                          <a:effectLst/>
                        </a:rPr>
                        <a:t>21</a:t>
                      </a:r>
                      <a:r>
                        <a:rPr lang="pl-PL" sz="1200">
                          <a:effectLst/>
                        </a:rPr>
                        <a:t>, </a:t>
                      </a:r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uom</a:t>
                      </a:r>
                      <a:r>
                        <a:rPr lang="pl-PL" sz="1200">
                          <a:effectLst/>
                        </a:rPr>
                        <a:t>: </a:t>
                      </a:r>
                      <a:r>
                        <a:rPr lang="pl-PL" sz="1200" b="1">
                          <a:solidFill>
                            <a:srgbClr val="12824D"/>
                          </a:solidFill>
                          <a:effectLst/>
                        </a:rPr>
                        <a:t>'cm'</a:t>
                      </a:r>
                      <a:r>
                        <a:rPr lang="pl-PL" sz="1200">
                          <a:effectLst/>
                        </a:rPr>
                        <a:t> }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30110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effectLst/>
                        </a:rPr>
                        <a:t>},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endParaRPr lang="en-IN" sz="1200" dirty="0">
                        <a:effectLst/>
                      </a:endParaRP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effectLst/>
                        </a:rPr>
                        <a:t>{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63206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D83713"/>
                          </a:solidFill>
                          <a:effectLst/>
                        </a:rPr>
                        <a:t>item</a:t>
                      </a:r>
                      <a:r>
                        <a:rPr lang="en-IN" sz="1200">
                          <a:effectLst/>
                        </a:rPr>
                        <a:t>: </a:t>
                      </a:r>
                      <a:r>
                        <a:rPr lang="en-IN" sz="1200" b="1">
                          <a:solidFill>
                            <a:srgbClr val="12824D"/>
                          </a:solidFill>
                          <a:effectLst/>
                        </a:rPr>
                        <a:t>'mousepad'</a:t>
                      </a:r>
                      <a:r>
                        <a:rPr lang="en-IN" sz="1200">
                          <a:effectLst/>
                        </a:rPr>
                        <a:t>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dirty="0" err="1">
                          <a:solidFill>
                            <a:srgbClr val="D83713"/>
                          </a:solidFill>
                          <a:effectLst/>
                        </a:rPr>
                        <a:t>qty</a:t>
                      </a:r>
                      <a:r>
                        <a:rPr lang="en-IN" sz="1200" dirty="0">
                          <a:effectLst/>
                        </a:rPr>
                        <a:t>: </a:t>
                      </a:r>
                      <a:r>
                        <a:rPr lang="en-IN" sz="1200" dirty="0">
                          <a:solidFill>
                            <a:srgbClr val="016EE9"/>
                          </a:solidFill>
                          <a:effectLst/>
                        </a:rPr>
                        <a:t>25</a:t>
                      </a:r>
                      <a:r>
                        <a:rPr lang="en-IN" sz="1200" dirty="0">
                          <a:effectLst/>
                        </a:rPr>
                        <a:t>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>
                          <a:solidFill>
                            <a:srgbClr val="D83713"/>
                          </a:solidFill>
                          <a:effectLst/>
                        </a:rPr>
                        <a:t>tags</a:t>
                      </a:r>
                      <a:r>
                        <a:rPr lang="en-IN" sz="1200">
                          <a:effectLst/>
                        </a:rPr>
                        <a:t>: [</a:t>
                      </a:r>
                      <a:r>
                        <a:rPr lang="en-IN" sz="1200" b="1">
                          <a:solidFill>
                            <a:srgbClr val="12824D"/>
                          </a:solidFill>
                          <a:effectLst/>
                        </a:rPr>
                        <a:t>'gel'</a:t>
                      </a:r>
                      <a:r>
                        <a:rPr lang="en-IN" sz="1200">
                          <a:effectLst/>
                        </a:rPr>
                        <a:t>, </a:t>
                      </a:r>
                      <a:r>
                        <a:rPr lang="en-IN" sz="1200" b="1">
                          <a:solidFill>
                            <a:srgbClr val="12824D"/>
                          </a:solidFill>
                          <a:effectLst/>
                        </a:rPr>
                        <a:t>'blue'</a:t>
                      </a:r>
                      <a:r>
                        <a:rPr lang="en-IN" sz="1200">
                          <a:effectLst/>
                        </a:rPr>
                        <a:t>],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size</a:t>
                      </a:r>
                      <a:r>
                        <a:rPr lang="pl-PL" sz="1200">
                          <a:effectLst/>
                        </a:rPr>
                        <a:t>: { </a:t>
                      </a:r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h</a:t>
                      </a:r>
                      <a:r>
                        <a:rPr lang="pl-PL" sz="1200">
                          <a:effectLst/>
                        </a:rPr>
                        <a:t>: </a:t>
                      </a:r>
                      <a:r>
                        <a:rPr lang="pl-PL" sz="1200">
                          <a:solidFill>
                            <a:srgbClr val="016EE9"/>
                          </a:solidFill>
                          <a:effectLst/>
                        </a:rPr>
                        <a:t>19</a:t>
                      </a:r>
                      <a:r>
                        <a:rPr lang="pl-PL" sz="1200">
                          <a:effectLst/>
                        </a:rPr>
                        <a:t>, </a:t>
                      </a:r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w</a:t>
                      </a:r>
                      <a:r>
                        <a:rPr lang="pl-PL" sz="1200">
                          <a:effectLst/>
                        </a:rPr>
                        <a:t>: </a:t>
                      </a:r>
                      <a:r>
                        <a:rPr lang="pl-PL" sz="1200">
                          <a:solidFill>
                            <a:srgbClr val="016EE9"/>
                          </a:solidFill>
                          <a:effectLst/>
                        </a:rPr>
                        <a:t>22.85</a:t>
                      </a:r>
                      <a:r>
                        <a:rPr lang="pl-PL" sz="1200">
                          <a:effectLst/>
                        </a:rPr>
                        <a:t>, </a:t>
                      </a:r>
                      <a:r>
                        <a:rPr lang="pl-PL" sz="1200">
                          <a:solidFill>
                            <a:srgbClr val="D83713"/>
                          </a:solidFill>
                          <a:effectLst/>
                        </a:rPr>
                        <a:t>uom</a:t>
                      </a:r>
                      <a:r>
                        <a:rPr lang="pl-PL" sz="1200">
                          <a:effectLst/>
                        </a:rPr>
                        <a:t>: </a:t>
                      </a:r>
                      <a:r>
                        <a:rPr lang="pl-PL" sz="1200" b="1">
                          <a:solidFill>
                            <a:srgbClr val="12824D"/>
                          </a:solidFill>
                          <a:effectLst/>
                        </a:rPr>
                        <a:t>'cm'</a:t>
                      </a:r>
                      <a:r>
                        <a:rPr lang="pl-PL" sz="1200">
                          <a:effectLst/>
                        </a:rPr>
                        <a:t> }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dirty="0">
                          <a:effectLst/>
                        </a:rPr>
                        <a:t>}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  <a:tr h="231652">
                <a:tc>
                  <a:txBody>
                    <a:bodyPr/>
                    <a:lstStyle/>
                    <a:p>
                      <a:pPr algn="l" fontAlgn="t"/>
                      <a:r>
                        <a:rPr lang="en-IN" sz="1200" dirty="0">
                          <a:effectLst/>
                        </a:rPr>
                        <a:t>]);</a:t>
                      </a:r>
                    </a:p>
                  </a:txBody>
                  <a:tcPr marL="68108" marR="68108" marT="30649" marB="30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B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73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200" dirty="0" smtClean="0"/>
          </a:p>
          <a:p>
            <a:pPr marL="342900" lvl="1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200" dirty="0" err="1"/>
              <a:t>MongoDB</a:t>
            </a:r>
            <a:r>
              <a:rPr lang="en-US" sz="2200" dirty="0"/>
              <a:t> provides the following methods to read documents from a collection:</a:t>
            </a:r>
          </a:p>
          <a:p>
            <a:pPr lvl="1"/>
            <a:r>
              <a:rPr lang="en-US" sz="2200" dirty="0" err="1"/>
              <a:t>db.collection.find</a:t>
            </a:r>
            <a:r>
              <a:rPr lang="en-US" sz="2200" dirty="0"/>
              <a:t>()</a:t>
            </a:r>
          </a:p>
          <a:p>
            <a:pPr lvl="1"/>
            <a:r>
              <a:rPr lang="en-US" sz="2200" dirty="0"/>
              <a:t>You can specify query filters or criteria that identify the documents to return.</a:t>
            </a:r>
          </a:p>
          <a:p>
            <a:endParaRPr lang="en-IN" sz="2200" dirty="0"/>
          </a:p>
          <a:p>
            <a:endParaRPr lang="en-IN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08" y="3915443"/>
            <a:ext cx="8499284" cy="154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1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200" dirty="0"/>
              <a:t>Update operations modify existing documents in a collection. </a:t>
            </a:r>
            <a:r>
              <a:rPr lang="en-IN" sz="2200" dirty="0" err="1"/>
              <a:t>MongoDB</a:t>
            </a:r>
            <a:r>
              <a:rPr lang="en-IN" sz="2200" dirty="0"/>
              <a:t> provides the following methods to update documents of a collection:</a:t>
            </a:r>
          </a:p>
          <a:p>
            <a:pPr lvl="1"/>
            <a:r>
              <a:rPr lang="en-IN" sz="2200" dirty="0" err="1" smtClean="0"/>
              <a:t>db.collection.updateOne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 smtClean="0"/>
              <a:t>db.collection.updateMany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 smtClean="0"/>
              <a:t>db.collection.replaceOne</a:t>
            </a:r>
            <a:r>
              <a:rPr lang="en-IN" sz="2200" dirty="0" smtClean="0"/>
              <a:t>()</a:t>
            </a:r>
          </a:p>
          <a:p>
            <a:pPr lvl="1"/>
            <a:endParaRPr lang="en-IN" sz="2200" dirty="0"/>
          </a:p>
          <a:p>
            <a:pPr marL="342900" lvl="1" indent="-342900" algn="just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US" sz="2200" dirty="0"/>
              <a:t>we can specify criteria, or filters, that identify the documents to update</a:t>
            </a:r>
            <a:r>
              <a:rPr lang="en-US" sz="2200" dirty="0" smtClean="0"/>
              <a:t>.</a:t>
            </a:r>
          </a:p>
          <a:p>
            <a:pPr marL="342900" lvl="1" indent="-342900" algn="just"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US" sz="2200" dirty="0"/>
          </a:p>
          <a:p>
            <a:pPr marL="342900" lvl="1" indent="-342900" algn="just"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25" y="4880655"/>
            <a:ext cx="8017082" cy="15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3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Introduction to </a:t>
            </a:r>
            <a:r>
              <a:rPr lang="en-IN" b="0" dirty="0" err="1">
                <a:effectLst/>
              </a:rPr>
              <a:t>MongoDB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Delete operations remove documents from a collection. </a:t>
            </a:r>
            <a:r>
              <a:rPr lang="en-US" sz="2200" dirty="0" err="1"/>
              <a:t>MongoDB</a:t>
            </a:r>
            <a:r>
              <a:rPr lang="en-US" sz="2200" dirty="0"/>
              <a:t> provides the following methods to delete documents of a collection:</a:t>
            </a:r>
          </a:p>
          <a:p>
            <a:endParaRPr lang="en-US" sz="2200" dirty="0"/>
          </a:p>
          <a:p>
            <a:pPr lvl="1"/>
            <a:r>
              <a:rPr lang="en-US" sz="2200" dirty="0" err="1"/>
              <a:t>db.collection.deleteOne</a:t>
            </a:r>
            <a:r>
              <a:rPr lang="en-US" sz="2200" dirty="0"/>
              <a:t>()</a:t>
            </a:r>
          </a:p>
          <a:p>
            <a:pPr lvl="1"/>
            <a:r>
              <a:rPr lang="en-US" sz="2200" dirty="0" err="1" smtClean="0"/>
              <a:t>db.collection.deleteMany</a:t>
            </a:r>
            <a:r>
              <a:rPr lang="en-US" sz="2200" dirty="0" smtClean="0"/>
              <a:t>()</a:t>
            </a:r>
          </a:p>
          <a:p>
            <a:pPr lvl="1"/>
            <a:endParaRPr lang="en-US" sz="2200" dirty="0"/>
          </a:p>
          <a:p>
            <a:pPr lvl="1"/>
            <a:endParaRPr lang="en-IN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24" y="3786483"/>
            <a:ext cx="851653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96032</TotalTime>
  <Words>794</Words>
  <Application>Microsoft Office PowerPoint</Application>
  <PresentationFormat>On-screen Show (4:3)</PresentationFormat>
  <Paragraphs>134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  <vt:variant>
        <vt:lpstr>Custom Shows</vt:lpstr>
      </vt:variant>
      <vt:variant>
        <vt:i4>1</vt:i4>
      </vt:variant>
    </vt:vector>
  </HeadingPairs>
  <TitlesOfParts>
    <vt:vector size="26" baseType="lpstr">
      <vt:lpstr>ＭＳ Ｐゴシック</vt:lpstr>
      <vt:lpstr>ＭＳ Ｐゴシック</vt:lpstr>
      <vt:lpstr>Arial</vt:lpstr>
      <vt:lpstr>Helvetica</vt:lpstr>
      <vt:lpstr>Monotype Sorts</vt:lpstr>
      <vt:lpstr>Times New Roman</vt:lpstr>
      <vt:lpstr>Webdings</vt:lpstr>
      <vt:lpstr>Wingdings</vt:lpstr>
      <vt:lpstr>db</vt:lpstr>
      <vt:lpstr>Unit-3, Part-1 Big Data</vt:lpstr>
      <vt:lpstr>PowerPoint Presentation</vt:lpstr>
      <vt:lpstr>Motivation</vt:lpstr>
      <vt:lpstr>Big Data Storage Systems</vt:lpstr>
      <vt:lpstr>Key Value Storage Systems</vt:lpstr>
      <vt:lpstr>Key Value Storage Systems</vt:lpstr>
      <vt:lpstr>Data Representation</vt:lpstr>
      <vt:lpstr>Key Value Storage Systems</vt:lpstr>
      <vt:lpstr>Introduction to MongoDB</vt:lpstr>
      <vt:lpstr>Introduction to MongoDB</vt:lpstr>
      <vt:lpstr>Introduction to MongoDB</vt:lpstr>
      <vt:lpstr>Introduction to MongoDB</vt:lpstr>
      <vt:lpstr>Introduction to MongoDB</vt:lpstr>
      <vt:lpstr>Introduction to MongoDB</vt:lpstr>
      <vt:lpstr>Introduction to MongoDB</vt:lpstr>
      <vt:lpstr>Introduction to MongoDB</vt:lpstr>
      <vt:lpstr>Custom Show 1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Sirisha Alamanda</cp:lastModifiedBy>
  <cp:revision>511</cp:revision>
  <cp:lastPrinted>1999-06-28T19:27:31Z</cp:lastPrinted>
  <dcterms:created xsi:type="dcterms:W3CDTF">2009-12-21T15:40:22Z</dcterms:created>
  <dcterms:modified xsi:type="dcterms:W3CDTF">2025-04-29T08:34:01Z</dcterms:modified>
</cp:coreProperties>
</file>