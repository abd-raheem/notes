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25"/>
  </p:notesMasterIdLst>
  <p:handoutMasterIdLst>
    <p:handoutMasterId r:id="rId26"/>
  </p:handoutMasterIdLst>
  <p:sldIdLst>
    <p:sldId id="346" r:id="rId2"/>
    <p:sldId id="256" r:id="rId3"/>
    <p:sldId id="257" r:id="rId4"/>
    <p:sldId id="258" r:id="rId5"/>
    <p:sldId id="259" r:id="rId6"/>
    <p:sldId id="335" r:id="rId7"/>
    <p:sldId id="262" r:id="rId8"/>
    <p:sldId id="354" r:id="rId9"/>
    <p:sldId id="348" r:id="rId10"/>
    <p:sldId id="275" r:id="rId11"/>
    <p:sldId id="277" r:id="rId12"/>
    <p:sldId id="276" r:id="rId13"/>
    <p:sldId id="364" r:id="rId14"/>
    <p:sldId id="278" r:id="rId15"/>
    <p:sldId id="334" r:id="rId16"/>
    <p:sldId id="344" r:id="rId17"/>
    <p:sldId id="279" r:id="rId18"/>
    <p:sldId id="284" r:id="rId19"/>
    <p:sldId id="365" r:id="rId20"/>
    <p:sldId id="285" r:id="rId21"/>
    <p:sldId id="287" r:id="rId22"/>
    <p:sldId id="264" r:id="rId23"/>
    <p:sldId id="363" r:id="rId24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00" y="36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xmlns="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xmlns="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xmlns="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xmlns="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xmlns="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xmlns="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xmlns="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xmlns="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3636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249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xmlns="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xmlns="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xmlns="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8739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xmlns="" id="{E6A61727-5893-4388-9008-C2143E22B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xmlns="" id="{C8BFB265-E11E-47B2-BE6B-C8A9F6A3E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xmlns="" id="{F62FBC9D-FE5C-4325-9C3D-F324D70AD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8127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5548085A-D25E-4939-827D-300A7A339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029481-F7C6-4D7E-8CCD-B0BD43431326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01124E80-D0DC-4932-B542-DFB399744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166882AB-D16E-4B3F-A02D-193DE371D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8934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xmlns="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xmlns="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xmlns="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776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xmlns="" id="{4B95BF98-7E43-4891-90E1-9BAA59B9C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56A9B6-8725-447A-9321-4854013A78C1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xmlns="" id="{FDC555F4-958C-4FD7-9960-339F2A059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xmlns="" id="{EB175AFF-3A9E-4C16-BE72-C67C1E34A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122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xmlns="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xmlns="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0591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xmlns="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xmlns="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192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xmlns="" id="{9431BE85-134C-45C2-841D-83F2DF7DEB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7169180C-7763-4278-9D11-7BC6EC1EC517}" type="slidenum">
              <a:rPr lang="en-US" altLang="en-US" sz="1300"/>
              <a:pPr algn="r"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xmlns="" id="{0BA0B7EA-541F-493F-AD5E-6A7E36288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xmlns="" id="{80C7B06E-F917-45BD-A079-6C73087A5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1192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xmlns="" id="{24C0E946-5AD3-45F8-ACED-33EBCE4B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xmlns="" id="{1D3F2765-981A-499E-95AC-CF3808A73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xmlns="" id="{E41FBC5B-83A2-4A9A-A1B0-28128EFEA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351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xmlns="" id="{D13A4289-C234-4822-8F80-760116837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679EC6-AB91-4B19-8CF1-6882286BA947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xmlns="" id="{B387304B-D3DF-4E38-92DB-5D4BCE46F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xmlns="" id="{3BB620EF-1AE8-4EBF-9C1B-4CAA36678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4582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xmlns="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xmlns="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xmlns="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7657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xmlns="" id="{D0365CAA-984C-4D5A-8917-E4657D9DB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51E0D87-7048-4B74-B1DF-2AF9DA51A87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xmlns="" id="{84BD6879-3B1A-4164-A8A5-4F223FB72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xmlns="" id="{54D6EF25-97D7-4168-982F-CC5359FC6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831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xmlns="" id="{88042581-1980-4B12-A9F3-07484395D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AFDCA1-D0BD-4EE3-B84B-B245344EAE6D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xmlns="" id="{A15DD8C8-9D07-4212-8097-6DF934C349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xmlns="" id="{D1CDDFF4-AC53-4860-9138-DCD6819BE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864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xmlns="" id="{E820A2E4-B987-4EA5-B8FB-1D3DE01E4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AA5CC6D-5ABE-49B7-A447-1FFC5073AB7E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xmlns="" id="{E4B9858F-DA21-428E-83D3-353EE3F15A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xmlns="" id="{2367EC13-7DE2-4B5B-8D33-AB15B9A7D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164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xmlns="" id="{6186B664-24D4-47FE-9BA7-BB2E13D2A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8903F0-31AD-45B7-BCF1-F759BF484E5E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xmlns="" id="{8C0D0BE4-6FD3-417D-9A1D-5D9F86ACA5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xmlns="" id="{CF60DFE1-B1A8-411A-A468-19A545E4C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9422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xmlns="" id="{F14EB24E-1992-449A-AD28-FF477E1F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36D8E-1942-4B6F-B492-DC8CBE44093B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xmlns="" id="{2FD7109D-2297-4F46-9A8F-16F23C6FA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xmlns="" id="{D63074D6-C005-48DF-B89D-3BD9BDA7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319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xmlns="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xmlns="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xmlns="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5286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xmlns="" id="{9C51CAF2-9CEA-43E4-9F13-33B4816150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FA7D35-4712-41D8-B665-A94477D35433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xmlns="" id="{5E9F84F8-5007-4AFA-B1CA-32DECFCA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xmlns="" id="{DC503CC5-3C73-48F3-94C8-DD3EE462B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1694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xmlns="" id="{A73E5832-2ABE-4BFE-BB50-28F915EA8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CB8EA5F-502C-43A9-830F-42CE989F4625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xmlns="" id="{9902172E-A11B-4483-A0E5-C19110049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xmlns="" id="{D621418C-DB3C-4B2B-8C64-6143806C6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326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xmlns="" id="{6D654B33-BC99-47A5-93CC-4F991970F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6370A2-C9CC-4121-BAFB-25936DC797BE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xmlns="" id="{E96E3140-7FEA-474E-B9D0-609C76109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xmlns="" id="{B635C07C-4FB6-4E4B-8EF5-756580B01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417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5B23C462-273B-47CE-B464-FA0DEA18F6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xmlns="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xmlns="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15.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xmlns="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C51EB6E8-DB40-47B3-A1ED-7368CB8F40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/>
          <a:stretch>
            <a:fillRect/>
          </a:stretch>
        </p:blipFill>
        <p:spPr bwMode="auto">
          <a:xfrm>
            <a:off x="2304" y="0"/>
            <a:ext cx="812084" cy="103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  <p:sldLayoutId id="214748373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xmlns="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/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UNIT-5,Part-1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 Query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xmlns="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Overview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Measures of Query Cost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Sorting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Join Operation </a:t>
            </a:r>
          </a:p>
        </p:txBody>
      </p:sp>
    </p:spTree>
  </p:cSld>
  <p:clrMapOvr>
    <a:masterClrMapping/>
  </p:clrMapOvr>
  <p:transition advTm="501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xmlns="" id="{C4F7EECF-E672-4EC7-A229-C16B8BBF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2D2522C3-D90D-4FC0-8084-00D008867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Parsing and translation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	Optimization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3.	Evaluation</a:t>
            </a:r>
          </a:p>
        </p:txBody>
      </p:sp>
      <p:pic>
        <p:nvPicPr>
          <p:cNvPr id="9220" name="Picture 11">
            <a:extLst>
              <a:ext uri="{FF2B5EF4-FFF2-40B4-BE49-F238E27FC236}">
                <a16:creationId xmlns:a16="http://schemas.microsoft.com/office/drawing/2014/main" xmlns="" id="{CDACD50C-619F-4E1E-97A1-AEC99C2D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xmlns="" id="{4E89BB60-2D0A-430C-B904-1D17058D3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6428F809-F71E-403F-A785-3D6B01E4D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50626"/>
            <a:ext cx="7470445" cy="3433408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Parsing and translation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translate the query into its internal form.  This is then translated into relational algebra.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Parser checks syntax, verifies </a:t>
            </a:r>
            <a:r>
              <a:rPr lang="en-US" altLang="en-US" dirty="0" smtClean="0">
                <a:ea typeface="MS PGothic" panose="020B0600070205080204" pitchFamily="34" charset="-128"/>
              </a:rPr>
              <a:t>relations</a:t>
            </a:r>
          </a:p>
          <a:p>
            <a:pPr marL="457200" lvl="1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The query-execution engine takes a query-evaluation plan, executes that plan, and returns the answers to the query.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99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xmlns="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137228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A relational algebra expression may have many equivalent expressions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</a:rPr>
              <a:t>., </a:t>
            </a:r>
            <a:r>
              <a:rPr lang="en-US" altLang="en-US" sz="19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9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sz="19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19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is equivalent to </a:t>
            </a:r>
            <a:b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       </a:t>
            </a:r>
            <a:r>
              <a:rPr lang="en-US" altLang="en-US" sz="19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en-US" sz="19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19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en-US" i="1" dirty="0" smtClean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))</a:t>
            </a:r>
          </a:p>
          <a:p>
            <a:pPr marL="457200" lvl="1" indent="0">
              <a:buNone/>
            </a:pPr>
            <a:endParaRPr lang="en-US" altLang="en-US" i="1" dirty="0">
              <a:solidFill>
                <a:srgbClr val="0070C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Each relational algebra operation can be evaluated using one of several different algorithms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relational-algebra expression can be evaluated in many ways. 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Annotated expression specifying detailed evaluation strategy is called an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salary &lt; 75000,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salary  75000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1026">
            <a:extLst>
              <a:ext uri="{FF2B5EF4-FFF2-40B4-BE49-F238E27FC236}">
                <a16:creationId xmlns:a16="http://schemas.microsoft.com/office/drawing/2014/main" xmlns="" id="{E41234F1-7767-4810-97CE-92405F4C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Steps: Optimization (Cont.)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xmlns="" id="{15285419-BB0E-4298-9661-E1BFD3567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33439" cy="4996746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Amongst all equivalent evaluation plans choose the one with lowest cost.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database catalog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  <a:p>
            <a:pPr marL="857250" lvl="2" indent="0">
              <a:buNone/>
            </a:pP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this chapter we study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How to measure query costs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Algorithms for evaluating relational algebra operations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How to combine algorithms for individual operations in order to evaluate a complete 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expression</a:t>
            </a:r>
          </a:p>
          <a:p>
            <a:pPr marL="457200" lvl="1" indent="0">
              <a:buNone/>
            </a:pP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next Chapter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We study how to optimize queries, that is, how to find an evaluation plan with lowest estimated cost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xmlns="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013" y="1138593"/>
            <a:ext cx="7663796" cy="513574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disk access, CPU</a:t>
            </a:r>
            <a:r>
              <a:rPr lang="en-US" altLang="en-US" dirty="0">
                <a:ea typeface="MS PGothic" panose="020B0600070205080204" pitchFamily="34" charset="-128"/>
              </a:rPr>
              <a:t>, and network </a:t>
            </a:r>
            <a:r>
              <a:rPr lang="en-US" altLang="en-US" i="1" dirty="0" smtClean="0">
                <a:ea typeface="MS PGothic" panose="020B0600070205080204" pitchFamily="34" charset="-128"/>
              </a:rPr>
              <a:t>communication</a:t>
            </a:r>
          </a:p>
          <a:p>
            <a:pPr marL="457200" lvl="1" indent="0">
              <a:buNone/>
            </a:pPr>
            <a:endParaRPr lang="en-US" altLang="en-US" i="1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Cost can be measured based on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response time</a:t>
            </a:r>
            <a:r>
              <a:rPr lang="en-US" altLang="en-US" dirty="0">
                <a:ea typeface="MS PGothic" panose="020B0600070205080204" pitchFamily="34" charset="-128"/>
              </a:rPr>
              <a:t>, i.e. total elapsed time for answering query, or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total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resource </a:t>
            </a:r>
            <a:r>
              <a:rPr lang="en-US" altLang="en-US" b="1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consumption</a:t>
            </a:r>
          </a:p>
          <a:p>
            <a:r>
              <a:rPr lang="en-US" altLang="en-US" dirty="0" smtClean="0">
                <a:ea typeface="MS PGothic" panose="020B0600070205080204" pitchFamily="34" charset="-128"/>
              </a:rPr>
              <a:t>We </a:t>
            </a:r>
            <a:r>
              <a:rPr lang="en-US" altLang="en-US" dirty="0">
                <a:ea typeface="MS PGothic" panose="020B0600070205080204" pitchFamily="34" charset="-128"/>
              </a:rPr>
              <a:t>use total resource consumption as cost metric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Response time harder to estimate, and minimizing resource consumption is a good idea in a shared database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ignore CPU costs for simplicity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Real systems do take CPU cost into account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Network costs must be considered for parallel systems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describe how estimate the cost of each operation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We do not include cost to writing output to disk</a:t>
            </a: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xmlns="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Disk cost can be estimated as: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</a:rPr>
              <a:t>Number of seeks             </a:t>
            </a:r>
            <a:r>
              <a:rPr lang="en-US" altLang="en-US" dirty="0">
                <a:ea typeface="MS PGothic" panose="020B0600070205080204" pitchFamily="34" charset="-128"/>
              </a:rPr>
              <a:t>* average-seek-cost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</a:rPr>
              <a:t>Number of blocks read     </a:t>
            </a:r>
            <a:r>
              <a:rPr lang="en-US" altLang="en-US" dirty="0">
                <a:ea typeface="MS PGothic" panose="020B0600070205080204" pitchFamily="34" charset="-128"/>
              </a:rPr>
              <a:t>* average-block-read-cost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  <a:ea typeface="MS PGothic" panose="020B0600070205080204" pitchFamily="34" charset="-128"/>
              </a:rPr>
              <a:t>Number of blocks written </a:t>
            </a:r>
            <a:r>
              <a:rPr lang="en-US" altLang="en-US" dirty="0">
                <a:ea typeface="MS PGothic" panose="020B0600070205080204" pitchFamily="34" charset="-128"/>
              </a:rPr>
              <a:t>* </a:t>
            </a:r>
            <a:r>
              <a:rPr lang="en-US" altLang="en-US" dirty="0" smtClean="0">
                <a:ea typeface="MS PGothic" panose="020B0600070205080204" pitchFamily="34" charset="-128"/>
              </a:rPr>
              <a:t>average-block-write-cost</a:t>
            </a:r>
          </a:p>
          <a:p>
            <a:pPr marL="457200" lvl="1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as the cost measures</a:t>
            </a:r>
          </a:p>
          <a:p>
            <a:pPr lvl="1"/>
            <a:r>
              <a:rPr lang="en-US" altLang="en-US" b="1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– time to transfer one block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Assuming for simplicity that write cost is same as read cost</a:t>
            </a:r>
          </a:p>
          <a:p>
            <a:pPr lvl="1"/>
            <a:r>
              <a:rPr lang="en-US" altLang="en-US" b="1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– time for one seek</a:t>
            </a:r>
          </a:p>
          <a:p>
            <a:pPr lvl="1"/>
            <a:r>
              <a:rPr lang="en-US" altLang="en-US" b="1" dirty="0">
                <a:ea typeface="MS PGothic" panose="020B0600070205080204" pitchFamily="34" charset="-128"/>
              </a:rPr>
              <a:t>Cost for </a:t>
            </a:r>
            <a:r>
              <a:rPr lang="en-US" altLang="en-US" b="1" dirty="0">
                <a:solidFill>
                  <a:srgbClr val="0070C0"/>
                </a:solidFill>
                <a:ea typeface="MS PGothic" panose="020B0600070205080204" pitchFamily="34" charset="-128"/>
              </a:rPr>
              <a:t>b </a:t>
            </a:r>
            <a:r>
              <a:rPr lang="en-US" altLang="en-US" b="1" dirty="0">
                <a:ea typeface="MS PGothic" panose="020B0600070205080204" pitchFamily="34" charset="-128"/>
              </a:rPr>
              <a:t>block transfers plus</a:t>
            </a:r>
            <a:r>
              <a:rPr lang="en-US" altLang="en-US" b="1" dirty="0">
                <a:solidFill>
                  <a:srgbClr val="0070C0"/>
                </a:solidFill>
                <a:ea typeface="MS PGothic" panose="020B0600070205080204" pitchFamily="34" charset="-128"/>
              </a:rPr>
              <a:t> S </a:t>
            </a:r>
            <a:r>
              <a:rPr lang="en-US" altLang="en-US" b="1" dirty="0">
                <a:ea typeface="MS PGothic" panose="020B0600070205080204" pitchFamily="34" charset="-128"/>
              </a:rPr>
              <a:t>seeks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        </a:t>
            </a:r>
            <a:r>
              <a:rPr lang="en-US" altLang="en-US" b="1" i="1" dirty="0">
                <a:ea typeface="MS PGothic" panose="020B0600070205080204" pitchFamily="34" charset="-128"/>
              </a:rPr>
              <a:t>b * </a:t>
            </a:r>
            <a:r>
              <a:rPr lang="en-US" altLang="en-US" b="1" i="1" dirty="0" err="1"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b="1" i="1" dirty="0">
                <a:ea typeface="MS PGothic" panose="020B0600070205080204" pitchFamily="34" charset="-128"/>
              </a:rPr>
              <a:t> + S * </a:t>
            </a:r>
            <a:r>
              <a:rPr lang="en-US" altLang="en-US" b="1" i="1" dirty="0" err="1"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</a:p>
          <a:p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4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=0.1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SSD: 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20-90 microsec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 2-10 microsec for 4KB 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8277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1026">
            <a:extLst>
              <a:ext uri="{FF2B5EF4-FFF2-40B4-BE49-F238E27FC236}">
                <a16:creationId xmlns:a16="http://schemas.microsoft.com/office/drawing/2014/main" xmlns="" id="{A3E1E502-3E9D-494A-A6D9-C6467FFE5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 (Cont.)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xmlns="" id="{B3CCAC2C-F516-42ED-A047-876AE173F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8" y="1198753"/>
            <a:ext cx="7670306" cy="3645621"/>
          </a:xfrm>
        </p:spPr>
        <p:txBody>
          <a:bodyPr/>
          <a:lstStyle/>
          <a:p>
            <a:pPr algn="just"/>
            <a:r>
              <a:rPr lang="en-US" altLang="en-US" dirty="0">
                <a:ea typeface="MS PGothic" panose="020B0600070205080204" pitchFamily="34" charset="-128"/>
              </a:rPr>
              <a:t>Required data may be buffer resident already, avoiding disk I/O</a:t>
            </a:r>
          </a:p>
          <a:p>
            <a:pPr lvl="1" algn="just"/>
            <a:r>
              <a:rPr lang="en-US" altLang="en-US" dirty="0">
                <a:ea typeface="MS PGothic" panose="020B0600070205080204" pitchFamily="34" charset="-128"/>
              </a:rPr>
              <a:t>But hard to take into account for cost </a:t>
            </a:r>
            <a:r>
              <a:rPr lang="en-US" altLang="en-US" dirty="0" smtClean="0">
                <a:ea typeface="MS PGothic" panose="020B0600070205080204" pitchFamily="34" charset="-128"/>
              </a:rPr>
              <a:t>estimation</a:t>
            </a:r>
          </a:p>
          <a:p>
            <a:pPr marL="457200" lvl="1" indent="0" algn="just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 algn="just"/>
            <a:r>
              <a:rPr lang="en-US" altLang="en-US" dirty="0">
                <a:ea typeface="MS PGothic" panose="020B0600070205080204" pitchFamily="34" charset="-128"/>
              </a:rPr>
              <a:t>Several algorithms can reduce disk IO by using extra buffer space </a:t>
            </a:r>
          </a:p>
          <a:p>
            <a:pPr lvl="1" algn="just"/>
            <a:r>
              <a:rPr lang="en-US" altLang="en-US" dirty="0">
                <a:ea typeface="MS PGothic" panose="020B0600070205080204" pitchFamily="34" charset="-128"/>
              </a:rPr>
              <a:t>Amount of real memory available to buffer depends on other concurrent queries and OS processes, known only during </a:t>
            </a:r>
            <a:r>
              <a:rPr lang="en-US" altLang="en-US" dirty="0" smtClean="0">
                <a:ea typeface="MS PGothic" panose="020B0600070205080204" pitchFamily="34" charset="-128"/>
              </a:rPr>
              <a:t>execution</a:t>
            </a:r>
          </a:p>
          <a:p>
            <a:pPr algn="just"/>
            <a:endParaRPr lang="en-US" altLang="en-US" dirty="0">
              <a:ea typeface="MS PGothic" panose="020B0600070205080204" pitchFamily="34" charset="-128"/>
            </a:endParaRPr>
          </a:p>
          <a:p>
            <a:pPr algn="just"/>
            <a:r>
              <a:rPr lang="en-US" altLang="en-US" dirty="0" smtClean="0">
                <a:ea typeface="MS PGothic" panose="020B0600070205080204" pitchFamily="34" charset="-128"/>
              </a:rPr>
              <a:t>Worst </a:t>
            </a:r>
            <a:r>
              <a:rPr lang="en-US" altLang="en-US" dirty="0">
                <a:ea typeface="MS PGothic" panose="020B0600070205080204" pitchFamily="34" charset="-128"/>
              </a:rPr>
              <a:t>case estimates assume that no data is initially in buffer  and only the minimum amount of memory needed for the operation is available</a:t>
            </a:r>
          </a:p>
          <a:p>
            <a:pPr lvl="1" algn="just"/>
            <a:r>
              <a:rPr lang="en-US" altLang="en-US" dirty="0">
                <a:ea typeface="MS PGothic" panose="020B0600070205080204" pitchFamily="34" charset="-128"/>
              </a:rPr>
              <a:t>But more optimistic estimates are used in practice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7472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xmlns="" id="{30ADAA97-BAE6-4F68-846B-69138BFF1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xmlns="" id="{363E5989-E98B-420C-AFB3-5AD92AE20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234849"/>
            <a:ext cx="7501630" cy="208586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We may build an index on the relation, and then use the index to read the relation in sorted order.  May lead to one disk block access for each tuple</a:t>
            </a:r>
            <a:r>
              <a:rPr lang="en-US" altLang="en-US" dirty="0" smtClean="0">
                <a:ea typeface="MS PGothic" panose="020B0600070205080204" pitchFamily="34" charset="-128"/>
              </a:rPr>
              <a:t>.</a:t>
            </a: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For relations that fit in memory, techniques like quicksort can be used. 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For relations that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fit in memory, </a:t>
            </a:r>
            <a:r>
              <a:rPr lang="en-US" altLang="ja-JP" b="1" dirty="0">
                <a:ea typeface="MS PGothic" panose="020B0600070205080204" pitchFamily="34" charset="-128"/>
              </a:rPr>
              <a:t>external sort-merge </a:t>
            </a:r>
            <a:r>
              <a:rPr lang="en-US" altLang="ja-JP" dirty="0">
                <a:ea typeface="MS PGothic" panose="020B0600070205080204" pitchFamily="34" charset="-128"/>
              </a:rPr>
              <a:t>is a good choice. 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xmlns="" id="{2E05F04B-6D1D-4332-BF78-7954D146D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7288" y="272720"/>
            <a:ext cx="7812088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External Sorting Using Sort-Merge</a:t>
            </a:r>
          </a:p>
        </p:txBody>
      </p:sp>
      <p:pic>
        <p:nvPicPr>
          <p:cNvPr id="37891" name="Picture 8">
            <a:extLst>
              <a:ext uri="{FF2B5EF4-FFF2-40B4-BE49-F238E27FC236}">
                <a16:creationId xmlns:a16="http://schemas.microsoft.com/office/drawing/2014/main" xmlns="" id="{721DF48C-363E-4408-8053-3C04462AC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39" y="1285591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xmlns="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3F6CCD75-942C-439D-82FA-FF88628B29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5526" y="1530227"/>
            <a:ext cx="6951215" cy="24040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  </a:t>
            </a:r>
            <a:r>
              <a:rPr lang="en-US" altLang="en-US" b="1" dirty="0">
                <a:ea typeface="MS PGothic" panose="020B0600070205080204" pitchFamily="34" charset="-128"/>
              </a:rPr>
              <a:t>Create sorted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runs</a:t>
            </a:r>
            <a:r>
              <a:rPr lang="en-US" altLang="en-US" dirty="0">
                <a:ea typeface="MS PGothic" panose="020B0600070205080204" pitchFamily="34" charset="-128"/>
              </a:rPr>
              <a:t>.  Let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be 0 initially.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Repeatedly do the following till the end of the relation: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(a)  Read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blocks of relation into memory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(b)  Sort the in-memory blocks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(c)  Write sorted data to run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; increment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br>
              <a:rPr lang="en-US" altLang="en-US" i="1" dirty="0">
                <a:ea typeface="MS PGothic" panose="020B0600070205080204" pitchFamily="34" charset="-128"/>
              </a:rPr>
            </a:br>
            <a:r>
              <a:rPr lang="en-US" altLang="en-US" sz="800" i="1" dirty="0">
                <a:ea typeface="MS PGothic" panose="020B0600070205080204" pitchFamily="34" charset="-128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Let the final value of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be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  </a:t>
            </a:r>
            <a:r>
              <a:rPr lang="en-US" altLang="en-US" b="1" i="1" dirty="0">
                <a:ea typeface="MS PGothic" panose="020B0600070205080204" pitchFamily="34" charset="-128"/>
              </a:rPr>
              <a:t>Merge the runs </a:t>
            </a:r>
            <a:r>
              <a:rPr lang="en-US" altLang="en-US" i="1" dirty="0">
                <a:ea typeface="MS PGothic" panose="020B0600070205080204" pitchFamily="34" charset="-128"/>
              </a:rPr>
              <a:t>(next slide)…..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xmlns="" id="{19586A7C-CFE1-4107-AB21-0043BE6F0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80" y="1124655"/>
            <a:ext cx="545976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 Let </a:t>
            </a:r>
            <a:r>
              <a:rPr kumimoji="0" lang="en-US" altLang="en-US" sz="1700" i="1" dirty="0"/>
              <a:t>M</a:t>
            </a:r>
            <a:r>
              <a:rPr kumimoji="0" lang="en-US" altLang="en-US" sz="1700" dirty="0"/>
              <a:t> denote memory size (in pages).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xmlns="" id="{B455E99A-6E33-4D71-AC5E-6946BAEB2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xmlns="" id="{D55E9DD6-1995-4144-A54F-C000727D8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8380"/>
            <a:ext cx="7483876" cy="3945043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b="1" dirty="0">
                <a:ea typeface="MS PGothic" panose="020B0600070205080204" pitchFamily="34" charset="-128"/>
              </a:rPr>
              <a:t>Merge the runs (N-way merge)</a:t>
            </a:r>
            <a:r>
              <a:rPr lang="en-US" altLang="en-US" dirty="0">
                <a:ea typeface="MS PGothic" panose="020B0600070205080204" pitchFamily="34" charset="-128"/>
              </a:rPr>
              <a:t>. We assume (for now) that </a:t>
            </a:r>
            <a:r>
              <a:rPr lang="en-US" altLang="en-US" b="1" i="1" dirty="0">
                <a:ea typeface="MS PGothic" panose="020B0600070205080204" pitchFamily="34" charset="-128"/>
              </a:rPr>
              <a:t>N</a:t>
            </a:r>
            <a:r>
              <a:rPr lang="en-US" altLang="en-US" b="1" dirty="0">
                <a:ea typeface="MS PGothic" panose="020B0600070205080204" pitchFamily="34" charset="-128"/>
              </a:rPr>
              <a:t> &lt; </a:t>
            </a:r>
            <a:r>
              <a:rPr lang="en-US" altLang="en-US" b="1" i="1" dirty="0">
                <a:ea typeface="MS PGothic" panose="020B0600070205080204" pitchFamily="34" charset="-128"/>
              </a:rPr>
              <a:t>M</a:t>
            </a:r>
            <a:r>
              <a:rPr lang="en-US" altLang="en-US" b="1" dirty="0">
                <a:ea typeface="MS PGothic" panose="020B0600070205080204" pitchFamily="34" charset="-128"/>
              </a:rPr>
              <a:t>. 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1.</a:t>
            </a:r>
            <a:r>
              <a:rPr lang="en-US" altLang="en-US" dirty="0">
                <a:ea typeface="MS PGothic" panose="020B0600070205080204" pitchFamily="34" charset="-128"/>
              </a:rPr>
              <a:t>	Use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blocks of memory to buffer input runs, and 1 block to buffer 	output. Read the first block of each run into its buffer page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b="1" dirty="0">
                <a:ea typeface="MS PGothic" panose="020B0600070205080204" pitchFamily="34" charset="-128"/>
              </a:rPr>
              <a:t>repeat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If</a:t>
            </a:r>
            <a:r>
              <a:rPr lang="en-US" altLang="en-US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b="1" dirty="0">
                <a:ea typeface="MS PGothic" panose="020B0600070205080204" pitchFamily="34" charset="-128"/>
              </a:rPr>
              <a:t>then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3.</a:t>
            </a:r>
            <a:r>
              <a:rPr lang="en-US" altLang="en-US" b="1" dirty="0">
                <a:ea typeface="MS PGothic" panose="020B0600070205080204" pitchFamily="34" charset="-128"/>
              </a:rPr>
              <a:t>    until</a:t>
            </a:r>
            <a:r>
              <a:rPr lang="en-US" altLang="en-US" dirty="0">
                <a:ea typeface="MS PGothic" panose="020B0600070205080204" pitchFamily="34" charset="-128"/>
              </a:rPr>
              <a:t> all input buffer pages are empty:</a:t>
            </a:r>
          </a:p>
        </p:txBody>
      </p:sp>
    </p:spTree>
    <p:extLst>
      <p:ext uri="{BB962C8B-B14F-4D97-AF65-F5344CB8AC3E}">
        <p14:creationId xmlns:p14="http://schemas.microsoft.com/office/powerpoint/2010/main" val="15207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xmlns="" id="{7F8477BF-A00E-4926-BD0B-683BCBA0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xmlns="" id="{08BC4BBE-E990-4F52-8483-E23470A74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62657"/>
            <a:ext cx="7482474" cy="2735577"/>
          </a:xfrm>
        </p:spPr>
        <p:txBody>
          <a:bodyPr/>
          <a:lstStyle/>
          <a:p>
            <a:pPr>
              <a:tabLst>
                <a:tab pos="2120900" algn="l"/>
              </a:tabLst>
            </a:pPr>
            <a:r>
              <a:rPr lang="en-US" altLang="en-US" b="1" dirty="0">
                <a:ea typeface="MS PGothic" panose="020B0600070205080204" pitchFamily="34" charset="-128"/>
              </a:rPr>
              <a:t>If </a:t>
            </a:r>
            <a:r>
              <a:rPr lang="en-US" altLang="en-US" b="1" i="1" dirty="0">
                <a:ea typeface="MS PGothic" panose="020B0600070205080204" pitchFamily="34" charset="-128"/>
              </a:rPr>
              <a:t>N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several merge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passes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are required.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In each pass, contiguous groups of </a:t>
            </a:r>
            <a:r>
              <a:rPr lang="en-US" altLang="en-US" i="1" dirty="0">
                <a:ea typeface="MS PGothic" panose="020B0600070205080204" pitchFamily="34" charset="-128"/>
              </a:rPr>
              <a:t>M </a:t>
            </a:r>
            <a:r>
              <a:rPr lang="en-US" altLang="en-US" dirty="0">
                <a:ea typeface="MS PGothic" panose="020B0600070205080204" pitchFamily="34" charset="-128"/>
              </a:rPr>
              <a:t>- 1 runs are merged. 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A pass reduces the number of runs by a factor of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-1, and creates runs longer by the same factor. </a:t>
            </a:r>
          </a:p>
          <a:p>
            <a:pPr lvl="2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E.g.  If M=11, and there are 90 runs, one pass reduces the number of runs to 9, each 10 times the size of the initial runs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Repeated passes are performed till all runs have been merged into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026">
            <a:extLst>
              <a:ext uri="{FF2B5EF4-FFF2-40B4-BE49-F238E27FC236}">
                <a16:creationId xmlns:a16="http://schemas.microsoft.com/office/drawing/2014/main" xmlns="" id="{DFC73E65-9AFD-4ECD-9AF3-77E9B19EF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</a:t>
            </a:r>
          </a:p>
        </p:txBody>
      </p:sp>
      <p:sp>
        <p:nvSpPr>
          <p:cNvPr id="46083" name="Rectangle 1027">
            <a:extLst>
              <a:ext uri="{FF2B5EF4-FFF2-40B4-BE49-F238E27FC236}">
                <a16:creationId xmlns:a16="http://schemas.microsoft.com/office/drawing/2014/main" xmlns="" id="{DE302D56-8B04-422C-8D1F-3315935AF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0625"/>
            <a:ext cx="7510508" cy="42154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analysis: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1  block per run leads to too many seeks during merge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Instead use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b</a:t>
            </a:r>
            <a:r>
              <a:rPr lang="en-US" altLang="en-US" dirty="0">
                <a:ea typeface="MS PGothic" panose="020B0600070205080204" pitchFamily="34" charset="-128"/>
              </a:rPr>
              <a:t> buffer blocks per run</a:t>
            </a:r>
            <a:endParaRPr lang="en-US" altLang="en-US" baseline="-25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dirty="0">
                <a:ea typeface="MS PGothic" panose="020B0600070205080204" pitchFamily="34" charset="-128"/>
                <a:sym typeface="Wingdings" panose="05000000000000000000" pitchFamily="2" charset="2"/>
              </a:rPr>
              <a:t>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read/write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blocks at a time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Can merge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M/b</a:t>
            </a:r>
            <a:r>
              <a:rPr lang="en-US" altLang="en-US" b="1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–1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runs in one pass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Total number of merge passes required</a:t>
            </a:r>
            <a:r>
              <a:rPr lang="en-US" altLang="en-US" b="1" dirty="0">
                <a:ea typeface="MS PGothic" panose="020B0600070205080204" pitchFamily="34" charset="-128"/>
              </a:rPr>
              <a:t>: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b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b="1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b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.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Block transfers for initial run creation as well as in each pass is </a:t>
            </a:r>
            <a:r>
              <a:rPr lang="en-US" altLang="en-US" b="1" dirty="0">
                <a:ea typeface="MS PGothic" panose="020B0600070205080204" pitchFamily="34" charset="-128"/>
              </a:rPr>
              <a:t>2</a:t>
            </a:r>
            <a:r>
              <a:rPr lang="en-US" altLang="en-US" b="1" i="1" dirty="0">
                <a:ea typeface="MS PGothic" panose="020B0600070205080204" pitchFamily="34" charset="-128"/>
              </a:rPr>
              <a:t>b</a:t>
            </a:r>
            <a:r>
              <a:rPr lang="en-US" altLang="en-US" b="1" i="1" baseline="-25000" dirty="0">
                <a:ea typeface="MS PGothic" panose="020B0600070205080204" pitchFamily="34" charset="-128"/>
              </a:rPr>
              <a:t>r</a:t>
            </a:r>
            <a:endParaRPr lang="en-US" altLang="en-US" b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final pass, we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count write cost 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we ignore final write cost for all operations since the output of an operation may be sent to the parent operation without being written to disk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Thus total number of block transfers for external sorting: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( 2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log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+ 1) 	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Seeks: next slide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xmlns="" id="{37F47688-C60A-4B93-A080-91044678D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xmlns="" id="{00ABE10F-E8EA-413F-AB31-270B5A863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2657"/>
            <a:ext cx="7103771" cy="316871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Cost of seeks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During run generation: one seek to read each run and one seek to write each run</a:t>
            </a:r>
          </a:p>
          <a:p>
            <a:pPr lvl="2"/>
            <a:r>
              <a:rPr lang="en-US" altLang="en-US" i="1" dirty="0">
                <a:ea typeface="MS PGothic" panose="020B0600070205080204" pitchFamily="34" charset="-128"/>
              </a:rPr>
              <a:t> 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During the merge phase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Need 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seeks for each merge pass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except the final one which does not require a write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Total number of seeks: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(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-1)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xmlns="" id="{879B8AA5-A0A8-4838-ADA1-686E9F72F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Join Operation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xmlns="" id="{229C29A8-5587-4BF6-ABF6-F0C97C489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3195"/>
            <a:ext cx="7542632" cy="3770292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Several different algorithms to implement joins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Nested-loop join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Block 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Indexed nested-loop join</a:t>
            </a:r>
          </a:p>
          <a:p>
            <a:pPr marL="457200" lvl="1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Choice based on cost estimate</a:t>
            </a: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Examples use the following information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records of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:  5,000     </a:t>
            </a:r>
            <a:r>
              <a:rPr lang="en-US" altLang="en-US" i="1" dirty="0">
                <a:solidFill>
                  <a:srgbClr val="FF0000"/>
                </a:solidFill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: 10,000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of  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:     100     </a:t>
            </a:r>
            <a:r>
              <a:rPr lang="en-US" altLang="en-US" i="1" dirty="0">
                <a:solidFill>
                  <a:srgbClr val="FF0000"/>
                </a:solidFill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:      400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xmlns="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52227" name="Rectangle 1027">
            <a:extLst>
              <a:ext uri="{FF2B5EF4-FFF2-40B4-BE49-F238E27FC236}">
                <a16:creationId xmlns:a16="http://schemas.microsoft.com/office/drawing/2014/main" xmlns="" id="{D21FCF93-DB51-4923-B080-101A70BED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4944"/>
            <a:ext cx="7729413" cy="5080486"/>
          </a:xfrm>
        </p:spPr>
        <p:txBody>
          <a:bodyPr/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To compute the theta join        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IN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⨝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000" baseline="-25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/>
            </a:r>
            <a:b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for each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tuple 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in 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do begin</a:t>
            </a:r>
            <a:b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	        for each tuple 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in 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 do begin</a:t>
            </a:r>
            <a:b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		     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test pair (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,t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/>
            </a:r>
            <a:b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</a:b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		     if they do, add 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r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• </a:t>
            </a:r>
            <a:r>
              <a:rPr lang="en-US" altLang="en-US" sz="2000" i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to the result.</a:t>
            </a:r>
            <a:b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</a:b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	        </a:t>
            </a: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end</a:t>
            </a:r>
            <a:b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</a:br>
            <a:r>
              <a:rPr lang="en-US" altLang="en-US" sz="20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    </a:t>
            </a:r>
            <a:r>
              <a:rPr lang="en-US" altLang="en-US" sz="2000" b="1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end</a:t>
            </a:r>
            <a:endParaRPr lang="en-US" altLang="en-US" sz="2000" b="1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Greek Symbols" pitchFamily="18" charset="2"/>
            </a:endParaRP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endParaRPr lang="en-US" altLang="en-US" sz="200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r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 is called the </a:t>
            </a: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outer</a:t>
            </a:r>
            <a:r>
              <a:rPr lang="en-US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relation</a:t>
            </a:r>
            <a:r>
              <a:rPr lang="en-US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and </a:t>
            </a: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the </a:t>
            </a: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inner relation</a:t>
            </a:r>
            <a:r>
              <a:rPr lang="en-US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of the join.</a:t>
            </a:r>
          </a:p>
          <a:p>
            <a:pPr marL="0" indent="0">
              <a:buNone/>
              <a:tabLst>
                <a:tab pos="461963" algn="l"/>
                <a:tab pos="850900" algn="l"/>
              </a:tabLst>
            </a:pPr>
            <a:endParaRPr lang="en-US" altLang="en-US" sz="200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Requires no indices and can be used with any kind of join condition.</a:t>
            </a:r>
          </a:p>
          <a:p>
            <a:pPr>
              <a:tabLst>
                <a:tab pos="461963" algn="l"/>
                <a:tab pos="850900" algn="l"/>
              </a:tabLst>
            </a:pPr>
            <a:endParaRPr lang="en-US" altLang="en-US" sz="200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Expensive since it examines every pair of tuples in the </a:t>
            </a:r>
            <a:r>
              <a:rPr lang="en-US" altLang="en-US" sz="22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Greek Symbols" pitchFamily="18" charset="2"/>
              </a:rPr>
              <a:t>two relations.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3AEE4F-6EE6-3426-BC45-F227772C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27C82D-7645-4229-0B30-53612570F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0" lvl="2" indent="0">
              <a:buNone/>
            </a:pPr>
            <a:r>
              <a:rPr lang="en-IN" dirty="0" smtClean="0"/>
              <a:t>Let</a:t>
            </a:r>
          </a:p>
          <a:p>
            <a:pPr lvl="2"/>
            <a:r>
              <a:rPr lang="en-IN" dirty="0" smtClean="0"/>
              <a:t> </a:t>
            </a:r>
            <a:r>
              <a:rPr lang="en-US" altLang="en-US" sz="1800" b="1" i="1" dirty="0" smtClean="0">
                <a:ea typeface="MS PGothic" panose="020B0600070205080204" pitchFamily="34" charset="-128"/>
              </a:rPr>
              <a:t>n</a:t>
            </a:r>
            <a:r>
              <a:rPr lang="en-US" altLang="en-US" sz="1800" b="1" i="1" baseline="-25000" dirty="0" smtClean="0">
                <a:ea typeface="MS PGothic" panose="020B0600070205080204" pitchFamily="34" charset="-128"/>
              </a:rPr>
              <a:t>r</a:t>
            </a:r>
            <a:r>
              <a:rPr lang="en-US" altLang="en-US" sz="1800" b="1" i="1" dirty="0" smtClean="0">
                <a:ea typeface="MS PGothic" panose="020B0600070205080204" pitchFamily="34" charset="-128"/>
              </a:rPr>
              <a:t>  </a:t>
            </a:r>
            <a:r>
              <a:rPr lang="en-US" altLang="en-US" sz="1800" b="1" i="1" dirty="0">
                <a:ea typeface="MS PGothic" panose="020B0600070205080204" pitchFamily="34" charset="-128"/>
              </a:rPr>
              <a:t>- be the no of tuple of outer relation</a:t>
            </a:r>
          </a:p>
          <a:p>
            <a:pPr lvl="2"/>
            <a:r>
              <a:rPr lang="en-US" altLang="en-US" sz="1800" b="1" i="1" dirty="0">
                <a:ea typeface="MS PGothic" panose="020B0600070205080204" pitchFamily="34" charset="-128"/>
              </a:rPr>
              <a:t>n</a:t>
            </a:r>
            <a:r>
              <a:rPr lang="en-US" altLang="en-US" sz="1800" b="1" i="1" baseline="-25000" dirty="0">
                <a:ea typeface="MS PGothic" panose="020B0600070205080204" pitchFamily="34" charset="-128"/>
              </a:rPr>
              <a:t>s   </a:t>
            </a:r>
            <a:r>
              <a:rPr lang="en-US" altLang="en-US" sz="1800" b="1" i="1" dirty="0">
                <a:ea typeface="MS PGothic" panose="020B0600070205080204" pitchFamily="34" charset="-128"/>
              </a:rPr>
              <a:t>be the no of tuple of inner relation</a:t>
            </a:r>
          </a:p>
          <a:p>
            <a:pPr lvl="2"/>
            <a:r>
              <a:rPr lang="en-US" altLang="en-US" sz="1800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b="1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1800" b="1" i="1" dirty="0">
                <a:ea typeface="MS PGothic" panose="020B0600070205080204" pitchFamily="34" charset="-128"/>
              </a:rPr>
              <a:t>no of blocks of outer relation</a:t>
            </a:r>
          </a:p>
          <a:p>
            <a:pPr lvl="2"/>
            <a:r>
              <a:rPr lang="en-US" altLang="en-US" sz="1800" b="1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b="1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ea typeface="MS PGothic" panose="020B0600070205080204" pitchFamily="34" charset="-128"/>
              </a:rPr>
              <a:t>no of blocks of inner relation</a:t>
            </a:r>
            <a:r>
              <a:rPr lang="en-US" sz="2000" dirty="0"/>
              <a:t> </a:t>
            </a:r>
          </a:p>
          <a:p>
            <a:pPr marL="857250" lvl="2" indent="0">
              <a:buNone/>
            </a:pPr>
            <a:endParaRPr lang="en-US" sz="2000" dirty="0"/>
          </a:p>
          <a:p>
            <a:pPr marL="354013" lvl="2"/>
            <a:r>
              <a:rPr lang="en-US" sz="2000" dirty="0"/>
              <a:t>For each record in</a:t>
            </a:r>
            <a:r>
              <a:rPr lang="en-US" sz="2000" b="1" dirty="0"/>
              <a:t> r</a:t>
            </a:r>
            <a:r>
              <a:rPr lang="en-US" sz="2000" dirty="0"/>
              <a:t>, we have to perform a complete scan on</a:t>
            </a:r>
            <a:r>
              <a:rPr lang="en-US" sz="2000" b="1" dirty="0"/>
              <a:t> s.</a:t>
            </a:r>
          </a:p>
          <a:p>
            <a:pPr marL="125413" lvl="2" indent="0">
              <a:buNone/>
            </a:pPr>
            <a:endParaRPr lang="en-US" sz="2000" b="1" dirty="0"/>
          </a:p>
          <a:p>
            <a:pPr marL="354013" lvl="2"/>
            <a:r>
              <a:rPr lang="en-US" altLang="en-US" sz="1800" b="1" dirty="0">
                <a:ea typeface="MS PGothic" panose="020B0600070205080204" pitchFamily="34" charset="-128"/>
              </a:rPr>
              <a:t>In the worst case, </a:t>
            </a:r>
            <a:r>
              <a:rPr lang="en-US" altLang="en-US" sz="1800" b="1" dirty="0">
                <a:solidFill>
                  <a:srgbClr val="3366CC"/>
                </a:solidFill>
                <a:ea typeface="MS PGothic" panose="020B0600070205080204" pitchFamily="34" charset="-128"/>
              </a:rPr>
              <a:t>if there is enough memory only to hold one block of each relation,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ea typeface="MS PGothic" panose="020B0600070205080204" pitchFamily="34" charset="-128"/>
              </a:rPr>
              <a:t>the estimated cost is </a:t>
            </a:r>
            <a:r>
              <a:rPr lang="en-US" altLang="en-US" sz="1800" dirty="0">
                <a:ea typeface="MS PGothic" panose="020B0600070205080204" pitchFamily="34" charset="-128"/>
              </a:rPr>
              <a:t/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b="1" dirty="0">
                <a:ea typeface="MS PGothic" panose="020B0600070205080204" pitchFamily="34" charset="-128"/>
              </a:rPr>
              <a:t> </a:t>
            </a:r>
            <a:r>
              <a:rPr lang="en-US" altLang="en-US" sz="1800" b="1" dirty="0" smtClean="0">
                <a:ea typeface="MS PGothic" panose="020B0600070205080204" pitchFamily="34" charset="-128"/>
              </a:rPr>
              <a:t>    </a:t>
            </a:r>
            <a:r>
              <a:rPr lang="en-US" altLang="en-US" sz="2000" b="1" i="1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b="1" i="1" baseline="-25000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b="1" i="1" baseline="-25000" dirty="0" smtClean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+ </a:t>
            </a:r>
            <a:r>
              <a:rPr lang="en-US" altLang="en-US" sz="2400" b="1" i="1" dirty="0" smtClean="0">
                <a:ea typeface="MS PGothic" panose="020B0600070205080204" pitchFamily="34" charset="-128"/>
              </a:rPr>
              <a:t>n</a:t>
            </a:r>
            <a:r>
              <a:rPr lang="en-US" altLang="en-US" sz="2400" b="1" i="1" baseline="-25000" dirty="0" smtClean="0">
                <a:ea typeface="MS PGothic" panose="020B0600070205080204" pitchFamily="34" charset="-128"/>
              </a:rPr>
              <a:t>r</a:t>
            </a:r>
            <a:r>
              <a:rPr lang="en-US" altLang="en-US" sz="2400" b="1" i="1" dirty="0" smtClean="0">
                <a:ea typeface="MS PGothic" panose="020B0600070205080204" pitchFamily="34" charset="-128"/>
              </a:rPr>
              <a:t> </a:t>
            </a:r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400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400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400" b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b="1" dirty="0" smtClean="0">
                <a:ea typeface="MS PGothic" panose="020B0600070205080204" pitchFamily="34" charset="-128"/>
                <a:sym typeface="Symbol" panose="05050102010706020507" pitchFamily="18" charset="2"/>
              </a:rPr>
              <a:t>block </a:t>
            </a: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transfers.</a:t>
            </a:r>
          </a:p>
          <a:p>
            <a:pPr marL="354013" lvl="2"/>
            <a:r>
              <a:rPr lang="en-US" sz="2000" dirty="0"/>
              <a:t>We need only one seek for each scan on the inner relation s since it is read sequentially.</a:t>
            </a:r>
          </a:p>
          <a:p>
            <a:pPr marL="354013" lvl="2"/>
            <a:r>
              <a:rPr lang="en-US" sz="2000" dirty="0"/>
              <a:t>So a total of </a:t>
            </a:r>
            <a:r>
              <a:rPr lang="en-US" altLang="en-US" sz="2000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sz="2000" dirty="0"/>
              <a:t> seeks to read r, leading to a total of</a:t>
            </a:r>
            <a:r>
              <a:rPr lang="en-US" altLang="en-US" sz="1600" b="1" dirty="0">
                <a:ea typeface="MS PGothic" panose="020B0600070205080204" pitchFamily="34" charset="-128"/>
              </a:rPr>
              <a:t> </a:t>
            </a:r>
            <a:r>
              <a:rPr lang="en-US" altLang="en-US" sz="2000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b="1" i="1" dirty="0">
                <a:ea typeface="MS PGothic" panose="020B0600070205080204" pitchFamily="34" charset="-128"/>
              </a:rPr>
              <a:t> </a:t>
            </a:r>
            <a:r>
              <a:rPr lang="en-US" sz="2000" dirty="0"/>
              <a:t>+ </a:t>
            </a:r>
            <a:r>
              <a:rPr lang="en-US" altLang="en-US" sz="2000" b="1" i="1" dirty="0">
                <a:ea typeface="MS PGothic" panose="020B0600070205080204" pitchFamily="34" charset="-128"/>
              </a:rPr>
              <a:t>n</a:t>
            </a:r>
            <a:r>
              <a:rPr lang="en-US" altLang="en-US" sz="2000" b="1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000" b="1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z="2000" b="1" dirty="0"/>
              <a:t>seeks</a:t>
            </a:r>
            <a:r>
              <a:rPr lang="en-US" sz="2000" dirty="0"/>
              <a:t>.</a:t>
            </a:r>
            <a:endParaRPr lang="en-US" altLang="en-US" sz="1800" b="1" i="1" dirty="0">
              <a:ea typeface="MS PGothic" panose="020B0600070205080204" pitchFamily="34" charset="-128"/>
            </a:endParaRPr>
          </a:p>
          <a:p>
            <a:pPr marL="857250" lvl="2" indent="0">
              <a:buNone/>
            </a:pPr>
            <a:endParaRPr lang="en-US" altLang="en-US" sz="1800" b="1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857250" lvl="2" indent="0">
              <a:buNone/>
            </a:pPr>
            <a:endParaRPr lang="en-US" altLang="en-US" sz="1800" b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857250" lvl="2" indent="0">
              <a:buNone/>
            </a:pPr>
            <a:r>
              <a:rPr lang="en-US" altLang="en-US" sz="1800" b="1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altLang="en-US" sz="1800" b="1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987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xmlns="" id="{857CDEC3-6BD7-4F5B-9D23-EF0F2519A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 (Cont.)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xmlns="" id="{F91C2E64-0FB9-436E-9F23-CCE048FE2E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7131" y="1165225"/>
            <a:ext cx="7567778" cy="5203825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C00000"/>
                </a:solidFill>
                <a:ea typeface="MS PGothic" panose="020B0600070205080204" pitchFamily="34" charset="-128"/>
              </a:rPr>
              <a:t>So </a:t>
            </a:r>
            <a:r>
              <a:rPr lang="en-US" altLang="en-US" b="1" dirty="0">
                <a:solidFill>
                  <a:srgbClr val="C00000"/>
                </a:solidFill>
                <a:ea typeface="MS PGothic" panose="020B0600070205080204" pitchFamily="34" charset="-128"/>
              </a:rPr>
              <a:t>the estimated  total cost is </a:t>
            </a:r>
            <a:r>
              <a:rPr lang="en-US" altLang="en-US" dirty="0">
                <a:ea typeface="MS PGothic" panose="020B0600070205080204" pitchFamily="34" charset="-128"/>
              </a:rPr>
              <a:t/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 </a:t>
            </a:r>
            <a:r>
              <a:rPr lang="en-US" altLang="en-US" sz="1800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 smtClean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2000" b="1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b="1" i="1" dirty="0" smtClean="0">
                <a:ea typeface="MS PGothic" panose="020B0600070205080204" pitchFamily="34" charset="-128"/>
              </a:rPr>
              <a:t>n</a:t>
            </a:r>
            <a:r>
              <a:rPr lang="en-US" altLang="en-US" sz="2000" b="1" i="1" baseline="-25000" dirty="0" smtClean="0">
                <a:ea typeface="MS PGothic" panose="020B0600070205080204" pitchFamily="34" charset="-128"/>
              </a:rPr>
              <a:t>r</a:t>
            </a:r>
            <a:r>
              <a:rPr lang="en-US" altLang="en-US" sz="2000" b="1" i="1" dirty="0" smtClean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000" b="1" i="1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b="1" i="1" baseline="-25000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b="1" dirty="0" smtClean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 smtClean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</a:t>
            </a:r>
            <a:r>
              <a:rPr lang="en-US" altLang="en-US" b="1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transfers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b="1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plus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2000" b="1" i="1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b="1" i="1" baseline="-25000" dirty="0" err="1" smtClean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b="1" i="1" dirty="0" smtClean="0">
                <a:ea typeface="MS PGothic" panose="020B0600070205080204" pitchFamily="34" charset="-128"/>
              </a:rPr>
              <a:t>n</a:t>
            </a:r>
            <a:r>
              <a:rPr lang="en-US" altLang="en-US" sz="2000" b="1" i="1" baseline="-25000" dirty="0" smtClean="0">
                <a:ea typeface="MS PGothic" panose="020B0600070205080204" pitchFamily="34" charset="-128"/>
              </a:rPr>
              <a:t>r</a:t>
            </a:r>
            <a:r>
              <a:rPr lang="en-US" altLang="en-US" sz="2000" b="1" i="1" dirty="0" smtClean="0">
                <a:ea typeface="MS PGothic" panose="020B0600070205080204" pitchFamily="34" charset="-128"/>
              </a:rPr>
              <a:t> </a:t>
            </a:r>
            <a:r>
              <a:rPr lang="en-US" altLang="en-US" b="1" dirty="0" smtClean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seeks</a:t>
            </a:r>
            <a:endParaRPr lang="en-US" altLang="en-US" sz="1600" b="1" dirty="0">
              <a:solidFill>
                <a:srgbClr val="3366CC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rgbClr val="C0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If the smaller relation fits entirely in memory, use that as the inner relation.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Reduces cost to </a:t>
            </a:r>
            <a:r>
              <a:rPr lang="en-US" altLang="en-US" b="1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b="1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b="1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and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2 seeks</a:t>
            </a:r>
          </a:p>
          <a:p>
            <a:r>
              <a:rPr lang="en-US" altLang="en-US" dirty="0">
                <a:solidFill>
                  <a:srgbClr val="C0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Assuming worst case memory availability cost estimate is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student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as outer relation: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5000  400 + 100 = 2,000,100 block transfers,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5000 + 100 = 5100 seeks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takes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as the outer relation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10000  100 + 400 = 1,000,400 block transfers and </a:t>
            </a:r>
            <a:endParaRPr lang="en-US" altLang="en-US" dirty="0" smtClean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10,400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seeks</a:t>
            </a:r>
          </a:p>
          <a:p>
            <a:pPr marL="857250" lvl="2" indent="0">
              <a:buNone/>
            </a:pP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smaller relation 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fits entirely in memory, the cost estimate will be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500 block transfers.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xmlns="" id="{AC6F6974-A8C7-4393-82EB-2846C81D0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Indexed Nested-Loop Join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xmlns="" id="{4D40F014-D3E9-4914-80EE-CCDD23D00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727075"/>
            <a:ext cx="7626251" cy="5559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Index lookups can replace file scans if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join is an </a:t>
            </a:r>
            <a:r>
              <a:rPr lang="en-US" altLang="en-US" dirty="0" err="1">
                <a:solidFill>
                  <a:srgbClr val="3366CC"/>
                </a:solidFill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-join or natural join and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an index is available on the inner relation</a:t>
            </a:r>
            <a:r>
              <a:rPr lang="ja-JP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’</a:t>
            </a:r>
            <a:r>
              <a:rPr lang="en-US" altLang="ja-JP" dirty="0">
                <a:solidFill>
                  <a:srgbClr val="3366CC"/>
                </a:solidFill>
                <a:ea typeface="MS PGothic" panose="020B0600070205080204" pitchFamily="34" charset="-128"/>
              </a:rPr>
              <a:t>s join attribute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Can construct an index just to compute a join.</a:t>
            </a:r>
          </a:p>
          <a:p>
            <a:pPr marL="857250" lvl="2" indent="0">
              <a:lnSpc>
                <a:spcPct val="90000"/>
              </a:lnSpc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For each tuple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solidFill>
                  <a:srgbClr val="3366CC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in the outer relation </a:t>
            </a:r>
            <a:r>
              <a:rPr lang="en-US" altLang="en-US" i="1" dirty="0">
                <a:ea typeface="MS PGothic" panose="020B0600070205080204" pitchFamily="34" charset="-128"/>
              </a:rPr>
              <a:t>r,</a:t>
            </a:r>
            <a:r>
              <a:rPr lang="en-US" altLang="en-US" dirty="0">
                <a:ea typeface="MS PGothic" panose="020B0600070205080204" pitchFamily="34" charset="-128"/>
              </a:rPr>
              <a:t> use the index to 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look up tuples in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that satisfy the join condition with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i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Worst case:  </a:t>
            </a:r>
            <a:r>
              <a:rPr lang="en-US" altLang="en-US" dirty="0">
                <a:ea typeface="MS PGothic" panose="020B0600070205080204" pitchFamily="34" charset="-128"/>
              </a:rPr>
              <a:t>buffer has space for only one page of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and, for each tuple in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we perform an index lookup on </a:t>
            </a:r>
            <a:r>
              <a:rPr lang="en-US" altLang="en-US" i="1" dirty="0">
                <a:ea typeface="MS PGothic" panose="020B0600070205080204" pitchFamily="34" charset="-128"/>
              </a:rPr>
              <a:t>s.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Cost of the join:  </a:t>
            </a:r>
            <a:r>
              <a:rPr lang="en-US" altLang="en-US" b="1" i="1" dirty="0" err="1">
                <a:solidFill>
                  <a:srgbClr val="C0000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b="1" i="1" baseline="-25000" dirty="0" err="1">
                <a:solidFill>
                  <a:srgbClr val="C0000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b="1" i="1" dirty="0">
                <a:solidFill>
                  <a:srgbClr val="C0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ea typeface="MS PGothic" panose="020B0600070205080204" pitchFamily="34" charset="-128"/>
              </a:rPr>
              <a:t>(</a:t>
            </a:r>
            <a:r>
              <a:rPr lang="en-US" altLang="en-US" b="1" i="1" dirty="0" err="1">
                <a:solidFill>
                  <a:srgbClr val="C0000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solidFill>
                  <a:srgbClr val="C0000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>
                <a:solidFill>
                  <a:srgbClr val="C0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b="1" i="1" dirty="0">
                <a:solidFill>
                  <a:srgbClr val="C00000"/>
                </a:solidFill>
                <a:ea typeface="MS PGothic" panose="020B0600070205080204" pitchFamily="34" charset="-128"/>
              </a:rPr>
              <a:t>+ </a:t>
            </a:r>
            <a:r>
              <a:rPr lang="en-US" altLang="en-US" b="1" i="1" dirty="0" err="1">
                <a:solidFill>
                  <a:srgbClr val="C0000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b="1" i="1" baseline="-25000" dirty="0" err="1">
                <a:solidFill>
                  <a:srgbClr val="C0000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solidFill>
                  <a:srgbClr val="C00000"/>
                </a:solidFill>
                <a:ea typeface="MS PGothic" panose="020B0600070205080204" pitchFamily="34" charset="-128"/>
              </a:rPr>
              <a:t>) + </a:t>
            </a:r>
            <a:r>
              <a:rPr lang="en-US" altLang="en-US" b="1" i="1" dirty="0" err="1">
                <a:solidFill>
                  <a:srgbClr val="C00000"/>
                </a:solidFill>
                <a:ea typeface="MS PGothic" panose="020B0600070205080204" pitchFamily="34" charset="-128"/>
              </a:rPr>
              <a:t>n</a:t>
            </a:r>
            <a:r>
              <a:rPr lang="en-US" altLang="en-US" b="1" i="1" baseline="-25000" dirty="0" err="1">
                <a:solidFill>
                  <a:srgbClr val="C0000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b="1" i="1" dirty="0">
                <a:solidFill>
                  <a:srgbClr val="C0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b="1" i="1" dirty="0">
                <a:solidFill>
                  <a:srgbClr val="C0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endParaRPr lang="en-US" altLang="en-US" b="1" dirty="0">
              <a:solidFill>
                <a:srgbClr val="C0000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Where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is the cost of traversing index and fetching all matching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tuples for one tuple or </a:t>
            </a:r>
            <a:r>
              <a:rPr lang="en-US" altLang="en-US" i="1" dirty="0">
                <a:solidFill>
                  <a:srgbClr val="3366CC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solidFill>
                <a:srgbClr val="3366CC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can be estimated as cost of a single selection 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using the join condition.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If indices are available on join attributes of both 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and </a:t>
            </a:r>
            <a: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  <a:t>s,</a:t>
            </a:r>
            <a:br>
              <a:rPr lang="en-US" altLang="en-US" b="1" i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use the relation with fewer tuples as the outer relation.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xmlns="" id="{E260B1DB-F028-424C-8475-29B2DDDA2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Nested-Loop Join Costs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DCE07011-A9E6-40D9-A07C-CCA35253E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868680"/>
            <a:ext cx="8002172" cy="562356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Compute </a:t>
            </a:r>
            <a:r>
              <a:rPr lang="en-US" altLang="en-US" sz="2000" b="1" i="1" dirty="0">
                <a:ea typeface="MS PGothic" panose="020B0600070205080204" pitchFamily="34" charset="-128"/>
              </a:rPr>
              <a:t>student </a:t>
            </a:r>
            <a:r>
              <a:rPr lang="en-IN" altLang="en-US" sz="2000" b="1" dirty="0">
                <a:ea typeface="MS PGothic" panose="020B0600070205080204" pitchFamily="34" charset="-128"/>
              </a:rPr>
              <a:t>⨝</a:t>
            </a:r>
            <a:r>
              <a:rPr lang="en-US" altLang="en-US" sz="2000" b="1" i="1" dirty="0">
                <a:ea typeface="MS PGothic" panose="020B0600070205080204" pitchFamily="34" charset="-128"/>
              </a:rPr>
              <a:t> takes</a:t>
            </a:r>
            <a:r>
              <a:rPr lang="en-US" altLang="en-US" sz="2000" i="1" dirty="0">
                <a:ea typeface="MS PGothic" panose="020B0600070205080204" pitchFamily="34" charset="-128"/>
              </a:rPr>
              <a:t>, </a:t>
            </a:r>
            <a:r>
              <a:rPr lang="en-US" altLang="en-US" sz="2000" dirty="0">
                <a:ea typeface="MS PGothic" panose="020B0600070205080204" pitchFamily="34" charset="-128"/>
              </a:rPr>
              <a:t>with </a:t>
            </a:r>
            <a:r>
              <a:rPr lang="en-US" altLang="en-US" sz="2000" b="1" i="1" dirty="0">
                <a:solidFill>
                  <a:srgbClr val="3366CC"/>
                </a:solidFill>
                <a:ea typeface="MS PGothic" panose="020B0600070205080204" pitchFamily="34" charset="-128"/>
              </a:rPr>
              <a:t>student</a:t>
            </a:r>
            <a:r>
              <a:rPr lang="en-US" altLang="en-US" sz="2000" b="1" dirty="0">
                <a:solidFill>
                  <a:srgbClr val="3366CC"/>
                </a:solidFill>
                <a:ea typeface="MS PGothic" panose="020B0600070205080204" pitchFamily="34" charset="-128"/>
              </a:rPr>
              <a:t> as the outer relation</a:t>
            </a:r>
            <a:r>
              <a:rPr lang="en-US" altLang="en-US" sz="2000" dirty="0">
                <a:ea typeface="MS PGothic" panose="020B0600070205080204" pitchFamily="34" charset="-128"/>
              </a:rPr>
              <a:t>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Let </a:t>
            </a:r>
            <a:r>
              <a:rPr lang="en-US" altLang="en-US" sz="2000" i="1" dirty="0">
                <a:ea typeface="MS PGothic" panose="020B0600070205080204" pitchFamily="34" charset="-128"/>
              </a:rPr>
              <a:t>takes</a:t>
            </a:r>
            <a:r>
              <a:rPr lang="en-US" altLang="en-US" sz="2000" dirty="0">
                <a:ea typeface="MS PGothic" panose="020B0600070205080204" pitchFamily="34" charset="-128"/>
              </a:rPr>
              <a:t> have a primary B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+</a:t>
            </a:r>
            <a:r>
              <a:rPr lang="en-US" altLang="en-US" sz="2000" dirty="0">
                <a:ea typeface="MS PGothic" panose="020B0600070205080204" pitchFamily="34" charset="-128"/>
              </a:rPr>
              <a:t>-tree index on the attribute </a:t>
            </a:r>
            <a:r>
              <a:rPr lang="en-US" altLang="en-US" sz="2000" i="1" dirty="0">
                <a:ea typeface="MS PGothic" panose="020B0600070205080204" pitchFamily="34" charset="-128"/>
              </a:rPr>
              <a:t>ID, </a:t>
            </a:r>
            <a:r>
              <a:rPr lang="en-US" altLang="en-US" sz="2000" dirty="0">
                <a:ea typeface="MS PGothic" panose="020B0600070205080204" pitchFamily="34" charset="-128"/>
              </a:rPr>
              <a:t>which contains 20 entries in each index node.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Since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="1" i="1" dirty="0">
                <a:solidFill>
                  <a:srgbClr val="3366CC"/>
                </a:solidFill>
                <a:ea typeface="MS PGothic" panose="020B0600070205080204" pitchFamily="34" charset="-128"/>
              </a:rPr>
              <a:t>takes </a:t>
            </a:r>
            <a:r>
              <a:rPr lang="en-US" altLang="en-US" sz="2000" b="1" dirty="0">
                <a:solidFill>
                  <a:srgbClr val="3366CC"/>
                </a:solidFill>
                <a:ea typeface="MS PGothic" panose="020B0600070205080204" pitchFamily="34" charset="-128"/>
              </a:rPr>
              <a:t>has 10,000 tuples</a:t>
            </a:r>
            <a:r>
              <a:rPr lang="en-US" altLang="en-US" sz="2000" dirty="0">
                <a:ea typeface="MS PGothic" panose="020B0600070205080204" pitchFamily="34" charset="-128"/>
              </a:rPr>
              <a:t>, the height of the tree is 4, and one more access is needed to find the actual data</a:t>
            </a:r>
          </a:p>
          <a:p>
            <a:r>
              <a:rPr lang="en-US" altLang="en-US" sz="2000" b="1" i="1" dirty="0">
                <a:solidFill>
                  <a:srgbClr val="3366CC"/>
                </a:solidFill>
                <a:ea typeface="MS PGothic" panose="020B0600070205080204" pitchFamily="34" charset="-128"/>
              </a:rPr>
              <a:t>student</a:t>
            </a:r>
            <a:r>
              <a:rPr lang="en-US" altLang="en-US" sz="2000" b="1" dirty="0">
                <a:solidFill>
                  <a:srgbClr val="3366CC"/>
                </a:solidFill>
                <a:ea typeface="MS PGothic" panose="020B0600070205080204" pitchFamily="34" charset="-128"/>
              </a:rPr>
              <a:t> has 5000 tuples</a:t>
            </a:r>
          </a:p>
          <a:p>
            <a:pPr marL="0" indent="0">
              <a:buNone/>
            </a:pPr>
            <a:endParaRPr lang="en-US" altLang="en-US" sz="2000" b="1" dirty="0">
              <a:solidFill>
                <a:srgbClr val="3366CC"/>
              </a:solidFill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</a:rPr>
              <a:t>Cost of indexed nested loops join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100 + 5000 * 5 = 25,100  disk accesses(block transfers and seeks</a:t>
            </a:r>
            <a:r>
              <a:rPr lang="en-US" altLang="en-US" sz="2000" dirty="0" smtClean="0">
                <a:ea typeface="MS PGothic" panose="020B0600070205080204" pitchFamily="34" charset="-128"/>
                <a:sym typeface="Greek Symbols" pitchFamily="18" charset="2"/>
              </a:rPr>
              <a:t>.)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69618</TotalTime>
  <Words>1235</Words>
  <Application>Microsoft Office PowerPoint</Application>
  <PresentationFormat>On-screen Show (4:3)</PresentationFormat>
  <Paragraphs>213</Paragraphs>
  <Slides>23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ＭＳ Ｐゴシック</vt:lpstr>
      <vt:lpstr>ＭＳ Ｐゴシック</vt:lpstr>
      <vt:lpstr>Arial</vt:lpstr>
      <vt:lpstr>Greek Symbols</vt:lpstr>
      <vt:lpstr>Helvetica</vt:lpstr>
      <vt:lpstr>Monotype Sorts</vt:lpstr>
      <vt:lpstr>Symbol</vt:lpstr>
      <vt:lpstr>Times New Roman</vt:lpstr>
      <vt:lpstr>Webdings</vt:lpstr>
      <vt:lpstr>Wingdings</vt:lpstr>
      <vt:lpstr>db</vt:lpstr>
      <vt:lpstr> UNIT-5,Part-1  Query Processing</vt:lpstr>
      <vt:lpstr>Query Processing</vt:lpstr>
      <vt:lpstr>Basic Steps in Query Processing</vt:lpstr>
      <vt:lpstr>Basic Steps in Query Processing (Cont.)</vt:lpstr>
      <vt:lpstr>Basic Steps in Query Processing: Optimization</vt:lpstr>
      <vt:lpstr>Basic Steps: Optimization (Cont.)</vt:lpstr>
      <vt:lpstr>Measures of Query Cost</vt:lpstr>
      <vt:lpstr>Measures of Query Cost</vt:lpstr>
      <vt:lpstr>Measures of Query Cost (Cont.)</vt:lpstr>
      <vt:lpstr>Sorting</vt:lpstr>
      <vt:lpstr>Example: External Sorting Using Sort-Merge</vt:lpstr>
      <vt:lpstr>External Sort-Merge</vt:lpstr>
      <vt:lpstr>External Sort-Merge (Cont.)</vt:lpstr>
      <vt:lpstr>External Sort-Merge (Cont.)</vt:lpstr>
      <vt:lpstr>External Merge Sort (Cont.)</vt:lpstr>
      <vt:lpstr>External Merge Sort (Cont.)</vt:lpstr>
      <vt:lpstr>Join Operation</vt:lpstr>
      <vt:lpstr>Nested-Loop Join</vt:lpstr>
      <vt:lpstr>Nested-Loop Join (Cont.)</vt:lpstr>
      <vt:lpstr>Nested-Loop Join (Cont.)</vt:lpstr>
      <vt:lpstr>Indexed Nested-Loop Join</vt:lpstr>
      <vt:lpstr>Example of Nested-Loop Join Costs</vt:lpstr>
      <vt:lpstr>End of Chapter 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Sirisha Alamanda</cp:lastModifiedBy>
  <cp:revision>600</cp:revision>
  <cp:lastPrinted>1999-06-28T19:27:31Z</cp:lastPrinted>
  <dcterms:created xsi:type="dcterms:W3CDTF">2000-02-23T18:58:38Z</dcterms:created>
  <dcterms:modified xsi:type="dcterms:W3CDTF">2025-04-23T04:32:01Z</dcterms:modified>
</cp:coreProperties>
</file>